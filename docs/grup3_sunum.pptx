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93C83C-5392-4183-9727-79645D0AB389}">
  <a:tblStyle styleId="{2C93C83C-5392-4183-9727-79645D0AB3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7" name="Google Shape;127;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8" name="Google Shape;128;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30" name="Google Shape;130;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1" name="Google Shape;131;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5" name="Google Shape;22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6" name="Google Shape;22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228" name="Google Shape;22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9" name="Google Shape;22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4" name="Google Shape;374;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5" name="Google Shape;375;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377" name="Google Shape;377;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8" name="Google Shape;378;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19" name="Google Shape;419;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0" name="Google Shape;420;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422" name="Google Shape;422;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3" name="Google Shape;423;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41" name="Google Shape;541;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42" name="Google Shape;542;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544" name="Google Shape;544;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45" name="Google Shape;545;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21" name="Google Shape;621;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22" name="Google Shape;622;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624" name="Google Shape;624;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25" name="Google Shape;625;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21" name="Google Shape;721;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22" name="Google Shape;722;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724" name="Google Shape;724;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25" name="Google Shape;725;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764" name="Google Shape;764;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765" name="Google Shape;765;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767" name="Google Shape;767;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768" name="Google Shape;768;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8" name="Google Shape;868;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69" name="Google Shape;869;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0" name="Google Shape;870;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871" name="Google Shape;871;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872" name="Google Shape;872;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63" name="Google Shape;963;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64" name="Google Shape;964;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966" name="Google Shape;966;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67" name="Google Shape;967;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02" name="Google Shape;1002;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03" name="Google Shape;1003;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4" name="Google Shape;1004;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005" name="Google Shape;1005;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06" name="Google Shape;1006;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26" name="Google Shape;1126;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27" name="Google Shape;1127;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8" name="Google Shape;1128;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129" name="Google Shape;1129;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30" name="Google Shape;1130;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84" name="Google Shape;1184;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85" name="Google Shape;1185;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6" name="Google Shape;1186;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187" name="Google Shape;1187;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88" name="Google Shape;1188;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80" name="Google Shape;1280;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81" name="Google Shape;1281;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2" name="Google Shape;1282;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283" name="Google Shape;1283;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84" name="Google Shape;1284;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35" name="Google Shape;1335;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36" name="Google Shape;1336;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7" name="Google Shape;1337;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338" name="Google Shape;1338;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39" name="Google Shape;1339;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93" name="Google Shape;1393;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94" name="Google Shape;1394;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5" name="Google Shape;1395;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396" name="Google Shape;1396;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97" name="Google Shape;1397;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48" name="Google Shape;1448;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49" name="Google Shape;1449;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0" name="Google Shape;1450;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451" name="Google Shape;1451;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52" name="Google Shape;1452;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03" name="Google Shape;1503;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04" name="Google Shape;1504;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5" name="Google Shape;1505;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506" name="Google Shape;1506;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07" name="Google Shape;1507;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13" name="Google Shape;1613;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14" name="Google Shape;1614;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5" name="Google Shape;1615;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
            </a:r>
            <a:endParaRPr/>
          </a:p>
        </p:txBody>
      </p:sp>
      <p:sp>
        <p:nvSpPr>
          <p:cNvPr id="1616" name="Google Shape;1616;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17" name="Google Shape;1617;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8.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15.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91" name="Shape 91"/>
        <p:cNvGrpSpPr/>
        <p:nvPr/>
      </p:nvGrpSpPr>
      <p:grpSpPr>
        <a:xfrm>
          <a:off x="0" y="0"/>
          <a:ext cx="0" cy="0"/>
          <a:chOff x="0" y="0"/>
          <a:chExt cx="0" cy="0"/>
        </a:xfrm>
      </p:grpSpPr>
      <p:grpSp>
        <p:nvGrpSpPr>
          <p:cNvPr id="92" name="Google Shape;92;p13"/>
          <p:cNvGrpSpPr/>
          <p:nvPr/>
        </p:nvGrpSpPr>
        <p:grpSpPr>
          <a:xfrm>
            <a:off x="-12697" y="-12697"/>
            <a:ext cx="354520" cy="10312336"/>
            <a:chOff x="0" y="0"/>
            <a:chExt cx="472694" cy="13749782"/>
          </a:xfrm>
        </p:grpSpPr>
        <p:sp>
          <p:nvSpPr>
            <p:cNvPr id="93" name="Google Shape;93;p13"/>
            <p:cNvSpPr/>
            <p:nvPr/>
          </p:nvSpPr>
          <p:spPr>
            <a:xfrm>
              <a:off x="16891" y="16891"/>
              <a:ext cx="438912" cy="13715999"/>
            </a:xfrm>
            <a:custGeom>
              <a:rect b="b" l="l" r="r" t="t"/>
              <a:pathLst>
                <a:path extrusionOk="0" h="13715999" w="438912">
                  <a:moveTo>
                    <a:pt x="0" y="0"/>
                  </a:moveTo>
                  <a:lnTo>
                    <a:pt x="438912" y="0"/>
                  </a:lnTo>
                  <a:lnTo>
                    <a:pt x="438912" y="13715999"/>
                  </a:lnTo>
                  <a:lnTo>
                    <a:pt x="0" y="13715999"/>
                  </a:lnTo>
                  <a:close/>
                </a:path>
              </a:pathLst>
            </a:custGeom>
            <a:solidFill>
              <a:srgbClr val="1DB954"/>
            </a:solidFill>
            <a:ln>
              <a:noFill/>
            </a:ln>
          </p:spPr>
        </p:sp>
        <p:sp>
          <p:nvSpPr>
            <p:cNvPr id="94" name="Google Shape;94;p13"/>
            <p:cNvSpPr/>
            <p:nvPr/>
          </p:nvSpPr>
          <p:spPr>
            <a:xfrm>
              <a:off x="0" y="0"/>
              <a:ext cx="472694" cy="13749782"/>
            </a:xfrm>
            <a:custGeom>
              <a:rect b="b" l="l" r="r" t="t"/>
              <a:pathLst>
                <a:path extrusionOk="0" h="13749782" w="472694">
                  <a:moveTo>
                    <a:pt x="16891" y="0"/>
                  </a:moveTo>
                  <a:lnTo>
                    <a:pt x="455803" y="0"/>
                  </a:lnTo>
                  <a:cubicBezTo>
                    <a:pt x="465201" y="0"/>
                    <a:pt x="472694" y="7620"/>
                    <a:pt x="472694" y="16891"/>
                  </a:cubicBezTo>
                  <a:lnTo>
                    <a:pt x="472694" y="13732890"/>
                  </a:lnTo>
                  <a:cubicBezTo>
                    <a:pt x="472694" y="13742290"/>
                    <a:pt x="465074" y="13749782"/>
                    <a:pt x="455803"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455803" y="13716000"/>
                  </a:lnTo>
                  <a:lnTo>
                    <a:pt x="455803" y="13732890"/>
                  </a:lnTo>
                  <a:lnTo>
                    <a:pt x="438912" y="13732890"/>
                  </a:lnTo>
                  <a:lnTo>
                    <a:pt x="438912" y="16891"/>
                  </a:lnTo>
                  <a:lnTo>
                    <a:pt x="455803" y="16891"/>
                  </a:lnTo>
                  <a:lnTo>
                    <a:pt x="455803"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13"/>
          <p:cNvGrpSpPr/>
          <p:nvPr/>
        </p:nvGrpSpPr>
        <p:grpSpPr>
          <a:xfrm>
            <a:off x="-12697" y="8216903"/>
            <a:ext cx="18313336" cy="2082736"/>
            <a:chOff x="0" y="0"/>
            <a:chExt cx="24417782" cy="2776982"/>
          </a:xfrm>
        </p:grpSpPr>
        <p:sp>
          <p:nvSpPr>
            <p:cNvPr id="96" name="Google Shape;96;p13"/>
            <p:cNvSpPr/>
            <p:nvPr/>
          </p:nvSpPr>
          <p:spPr>
            <a:xfrm>
              <a:off x="16891" y="16891"/>
              <a:ext cx="24383999" cy="2743200"/>
            </a:xfrm>
            <a:custGeom>
              <a:rect b="b" l="l" r="r" t="t"/>
              <a:pathLst>
                <a:path extrusionOk="0" h="2743200" w="24383999">
                  <a:moveTo>
                    <a:pt x="0" y="0"/>
                  </a:moveTo>
                  <a:lnTo>
                    <a:pt x="24383999" y="0"/>
                  </a:lnTo>
                  <a:lnTo>
                    <a:pt x="24383999" y="2743200"/>
                  </a:lnTo>
                  <a:lnTo>
                    <a:pt x="0" y="2743200"/>
                  </a:lnTo>
                  <a:close/>
                </a:path>
              </a:pathLst>
            </a:custGeom>
            <a:solidFill>
              <a:srgbClr val="1E1E1E"/>
            </a:solidFill>
            <a:ln>
              <a:noFill/>
            </a:ln>
          </p:spPr>
        </p:sp>
        <p:sp>
          <p:nvSpPr>
            <p:cNvPr id="97" name="Google Shape;97;p13"/>
            <p:cNvSpPr/>
            <p:nvPr/>
          </p:nvSpPr>
          <p:spPr>
            <a:xfrm>
              <a:off x="0" y="0"/>
              <a:ext cx="24417782" cy="2776982"/>
            </a:xfrm>
            <a:custGeom>
              <a:rect b="b" l="l" r="r" t="t"/>
              <a:pathLst>
                <a:path extrusionOk="0" h="2776982" w="24417782">
                  <a:moveTo>
                    <a:pt x="16891" y="0"/>
                  </a:moveTo>
                  <a:lnTo>
                    <a:pt x="24400890" y="0"/>
                  </a:lnTo>
                  <a:cubicBezTo>
                    <a:pt x="24410290" y="0"/>
                    <a:pt x="24417782" y="7620"/>
                    <a:pt x="24417782" y="16891"/>
                  </a:cubicBezTo>
                  <a:lnTo>
                    <a:pt x="24417782" y="2760091"/>
                  </a:lnTo>
                  <a:cubicBezTo>
                    <a:pt x="24417782" y="2769489"/>
                    <a:pt x="24410163" y="2776982"/>
                    <a:pt x="24400890" y="2776982"/>
                  </a:cubicBezTo>
                  <a:lnTo>
                    <a:pt x="16891" y="2776982"/>
                  </a:lnTo>
                  <a:cubicBezTo>
                    <a:pt x="7493" y="2776982"/>
                    <a:pt x="0" y="2769362"/>
                    <a:pt x="0" y="2760091"/>
                  </a:cubicBezTo>
                  <a:lnTo>
                    <a:pt x="0" y="16891"/>
                  </a:lnTo>
                  <a:cubicBezTo>
                    <a:pt x="0" y="7620"/>
                    <a:pt x="7620" y="0"/>
                    <a:pt x="16891" y="0"/>
                  </a:cubicBezTo>
                  <a:moveTo>
                    <a:pt x="16891" y="33909"/>
                  </a:moveTo>
                  <a:lnTo>
                    <a:pt x="16891" y="16891"/>
                  </a:lnTo>
                  <a:lnTo>
                    <a:pt x="33909" y="16891"/>
                  </a:lnTo>
                  <a:lnTo>
                    <a:pt x="33909" y="2760091"/>
                  </a:lnTo>
                  <a:lnTo>
                    <a:pt x="16891" y="2760091"/>
                  </a:lnTo>
                  <a:lnTo>
                    <a:pt x="16891" y="2743200"/>
                  </a:lnTo>
                  <a:lnTo>
                    <a:pt x="24400890" y="2743200"/>
                  </a:lnTo>
                  <a:lnTo>
                    <a:pt x="24400890" y="2760091"/>
                  </a:lnTo>
                  <a:lnTo>
                    <a:pt x="24384000" y="2760091"/>
                  </a:lnTo>
                  <a:lnTo>
                    <a:pt x="24384000" y="16891"/>
                  </a:lnTo>
                  <a:lnTo>
                    <a:pt x="24400890" y="16891"/>
                  </a:lnTo>
                  <a:lnTo>
                    <a:pt x="24400890" y="33909"/>
                  </a:lnTo>
                  <a:lnTo>
                    <a:pt x="16891" y="33909"/>
                  </a:lnTo>
                  <a:close/>
                </a:path>
              </a:pathLst>
            </a:cu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 name="Google Shape;98;p13"/>
          <p:cNvGrpSpPr/>
          <p:nvPr/>
        </p:nvGrpSpPr>
        <p:grpSpPr>
          <a:xfrm>
            <a:off x="731520" y="1187291"/>
            <a:ext cx="16459200" cy="1373029"/>
            <a:chOff x="0" y="-123825"/>
            <a:chExt cx="21945600" cy="1830705"/>
          </a:xfrm>
        </p:grpSpPr>
        <p:sp>
          <p:nvSpPr>
            <p:cNvPr id="99" name="Google Shape;99;p13"/>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sp>
        <p:sp>
          <p:nvSpPr>
            <p:cNvPr id="100" name="Google Shape;100;p13"/>
            <p:cNvSpPr txBox="1"/>
            <p:nvPr/>
          </p:nvSpPr>
          <p:spPr>
            <a:xfrm>
              <a:off x="0" y="-123825"/>
              <a:ext cx="21945600" cy="18307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000" u="none" cap="none" strike="noStrike">
                  <a:solidFill>
                    <a:srgbClr val="1DB954"/>
                  </a:solidFill>
                  <a:latin typeface="Calibri"/>
                  <a:ea typeface="Calibri"/>
                  <a:cs typeface="Calibri"/>
                  <a:sym typeface="Calibri"/>
                </a:rPr>
                <a:t>🎵 Spotify</a:t>
              </a:r>
              <a:endParaRPr/>
            </a:p>
          </p:txBody>
        </p:sp>
      </p:grpSp>
      <p:grpSp>
        <p:nvGrpSpPr>
          <p:cNvPr id="101" name="Google Shape;101;p13"/>
          <p:cNvGrpSpPr/>
          <p:nvPr/>
        </p:nvGrpSpPr>
        <p:grpSpPr>
          <a:xfrm>
            <a:off x="731520" y="2354580"/>
            <a:ext cx="16459200" cy="1760220"/>
            <a:chOff x="0" y="-152400"/>
            <a:chExt cx="21945600" cy="2346960"/>
          </a:xfrm>
        </p:grpSpPr>
        <p:sp>
          <p:nvSpPr>
            <p:cNvPr id="102" name="Google Shape;102;p13"/>
            <p:cNvSpPr/>
            <p:nvPr/>
          </p:nvSpPr>
          <p:spPr>
            <a:xfrm>
              <a:off x="0" y="0"/>
              <a:ext cx="21945600" cy="2194560"/>
            </a:xfrm>
            <a:custGeom>
              <a:rect b="b" l="l" r="r" t="t"/>
              <a:pathLst>
                <a:path extrusionOk="0" h="2194560" w="21945600">
                  <a:moveTo>
                    <a:pt x="0" y="0"/>
                  </a:moveTo>
                  <a:lnTo>
                    <a:pt x="21945600" y="0"/>
                  </a:lnTo>
                  <a:lnTo>
                    <a:pt x="21945600" y="2194560"/>
                  </a:lnTo>
                  <a:lnTo>
                    <a:pt x="0" y="2194560"/>
                  </a:lnTo>
                  <a:close/>
                </a:path>
              </a:pathLst>
            </a:custGeom>
            <a:blipFill rotWithShape="1">
              <a:blip r:embed="rId3">
                <a:alphaModFix amt="0"/>
              </a:blip>
              <a:stretch>
                <a:fillRect b="-144856" l="0" r="0" t="-144856"/>
              </a:stretch>
            </a:blipFill>
            <a:ln>
              <a:noFill/>
            </a:ln>
          </p:spPr>
        </p:sp>
        <p:sp>
          <p:nvSpPr>
            <p:cNvPr id="103" name="Google Shape;103;p13"/>
            <p:cNvSpPr txBox="1"/>
            <p:nvPr/>
          </p:nvSpPr>
          <p:spPr>
            <a:xfrm>
              <a:off x="0" y="-152400"/>
              <a:ext cx="21945600" cy="2346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Calibri"/>
                  <a:ea typeface="Calibri"/>
                  <a:cs typeface="Calibri"/>
                  <a:sym typeface="Calibri"/>
                </a:rPr>
                <a:t>Büyük Veri Pipeline Projesi</a:t>
              </a:r>
              <a:endParaRPr/>
            </a:p>
          </p:txBody>
        </p:sp>
      </p:grpSp>
      <p:grpSp>
        <p:nvGrpSpPr>
          <p:cNvPr id="104" name="Google Shape;104;p13"/>
          <p:cNvGrpSpPr/>
          <p:nvPr/>
        </p:nvGrpSpPr>
        <p:grpSpPr>
          <a:xfrm>
            <a:off x="731520" y="4261961"/>
            <a:ext cx="16459200" cy="858679"/>
            <a:chOff x="0" y="-47625"/>
            <a:chExt cx="21945600" cy="1144905"/>
          </a:xfrm>
        </p:grpSpPr>
        <p:sp>
          <p:nvSpPr>
            <p:cNvPr id="105" name="Google Shape;105;p13"/>
            <p:cNvSpPr/>
            <p:nvPr/>
          </p:nvSpPr>
          <p:spPr>
            <a:xfrm>
              <a:off x="0" y="0"/>
              <a:ext cx="21945600" cy="1097280"/>
            </a:xfrm>
            <a:custGeom>
              <a:rect b="b" l="l" r="r" t="t"/>
              <a:pathLst>
                <a:path extrusionOk="0" h="1097280" w="21945600">
                  <a:moveTo>
                    <a:pt x="0" y="0"/>
                  </a:moveTo>
                  <a:lnTo>
                    <a:pt x="21945600" y="0"/>
                  </a:lnTo>
                  <a:lnTo>
                    <a:pt x="21945600" y="1097280"/>
                  </a:lnTo>
                  <a:lnTo>
                    <a:pt x="0" y="1097280"/>
                  </a:lnTo>
                  <a:close/>
                </a:path>
              </a:pathLst>
            </a:custGeom>
            <a:blipFill rotWithShape="1">
              <a:blip r:embed="rId3">
                <a:alphaModFix amt="0"/>
              </a:blip>
              <a:stretch>
                <a:fillRect b="-339712" l="0" r="0" t="-339712"/>
              </a:stretch>
            </a:blipFill>
            <a:ln>
              <a:noFill/>
            </a:ln>
          </p:spPr>
        </p:sp>
        <p:sp>
          <p:nvSpPr>
            <p:cNvPr id="106" name="Google Shape;106;p13"/>
            <p:cNvSpPr txBox="1"/>
            <p:nvPr/>
          </p:nvSpPr>
          <p:spPr>
            <a:xfrm>
              <a:off x="0" y="-47625"/>
              <a:ext cx="21945600" cy="114490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0" lang="en-US" sz="2799" u="none" cap="none" strike="noStrike">
                  <a:solidFill>
                    <a:srgbClr val="AAAAAA"/>
                  </a:solidFill>
                  <a:latin typeface="Calibri"/>
                  <a:ea typeface="Calibri"/>
                  <a:cs typeface="Calibri"/>
                  <a:sym typeface="Calibri"/>
                </a:rPr>
                <a:t>Docker  •  Kafka  •  Spark  •  Delta Lake  •  MLflow</a:t>
              </a:r>
              <a:endParaRPr/>
            </a:p>
          </p:txBody>
        </p:sp>
      </p:grpSp>
      <p:grpSp>
        <p:nvGrpSpPr>
          <p:cNvPr id="107" name="Google Shape;107;p13"/>
          <p:cNvGrpSpPr/>
          <p:nvPr/>
        </p:nvGrpSpPr>
        <p:grpSpPr>
          <a:xfrm>
            <a:off x="718823" y="5327399"/>
            <a:ext cx="6426136" cy="116778"/>
            <a:chOff x="0" y="0"/>
            <a:chExt cx="8568182" cy="155704"/>
          </a:xfrm>
        </p:grpSpPr>
        <p:sp>
          <p:nvSpPr>
            <p:cNvPr id="108" name="Google Shape;108;p13"/>
            <p:cNvSpPr/>
            <p:nvPr/>
          </p:nvSpPr>
          <p:spPr>
            <a:xfrm>
              <a:off x="16891" y="16891"/>
              <a:ext cx="8534400" cy="121920"/>
            </a:xfrm>
            <a:custGeom>
              <a:rect b="b" l="l" r="r" t="t"/>
              <a:pathLst>
                <a:path extrusionOk="0" h="121920" w="8534400">
                  <a:moveTo>
                    <a:pt x="0" y="0"/>
                  </a:moveTo>
                  <a:lnTo>
                    <a:pt x="8534400" y="0"/>
                  </a:lnTo>
                  <a:lnTo>
                    <a:pt x="8534400" y="121920"/>
                  </a:lnTo>
                  <a:lnTo>
                    <a:pt x="0" y="121920"/>
                  </a:lnTo>
                  <a:close/>
                </a:path>
              </a:pathLst>
            </a:custGeom>
            <a:solidFill>
              <a:srgbClr val="1DB954"/>
            </a:solidFill>
            <a:ln>
              <a:noFill/>
            </a:ln>
          </p:spPr>
        </p:sp>
        <p:sp>
          <p:nvSpPr>
            <p:cNvPr id="109" name="Google Shape;109;p13"/>
            <p:cNvSpPr/>
            <p:nvPr/>
          </p:nvSpPr>
          <p:spPr>
            <a:xfrm>
              <a:off x="0" y="0"/>
              <a:ext cx="8568182" cy="155704"/>
            </a:xfrm>
            <a:custGeom>
              <a:rect b="b" l="l" r="r" t="t"/>
              <a:pathLst>
                <a:path extrusionOk="0" h="155704" w="8568182">
                  <a:moveTo>
                    <a:pt x="16891" y="0"/>
                  </a:moveTo>
                  <a:lnTo>
                    <a:pt x="8551291" y="0"/>
                  </a:lnTo>
                  <a:cubicBezTo>
                    <a:pt x="8560689" y="0"/>
                    <a:pt x="8568182" y="7620"/>
                    <a:pt x="8568182" y="16891"/>
                  </a:cubicBezTo>
                  <a:lnTo>
                    <a:pt x="8568182" y="138811"/>
                  </a:lnTo>
                  <a:cubicBezTo>
                    <a:pt x="8568182" y="148209"/>
                    <a:pt x="8560562" y="155702"/>
                    <a:pt x="855129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8551291" y="121920"/>
                  </a:lnTo>
                  <a:lnTo>
                    <a:pt x="8551291" y="138811"/>
                  </a:lnTo>
                  <a:lnTo>
                    <a:pt x="8534400" y="138811"/>
                  </a:lnTo>
                  <a:lnTo>
                    <a:pt x="8534400" y="16891"/>
                  </a:lnTo>
                  <a:lnTo>
                    <a:pt x="8551291" y="16891"/>
                  </a:lnTo>
                  <a:lnTo>
                    <a:pt x="8551291"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 name="Google Shape;110;p13"/>
          <p:cNvGrpSpPr/>
          <p:nvPr/>
        </p:nvGrpSpPr>
        <p:grpSpPr>
          <a:xfrm>
            <a:off x="731520" y="5725001"/>
            <a:ext cx="10972800" cy="511207"/>
            <a:chOff x="0" y="-47625"/>
            <a:chExt cx="14630400" cy="681609"/>
          </a:xfrm>
        </p:grpSpPr>
        <p:sp>
          <p:nvSpPr>
            <p:cNvPr id="111" name="Google Shape;111;p13"/>
            <p:cNvSpPr/>
            <p:nvPr/>
          </p:nvSpPr>
          <p:spPr>
            <a:xfrm>
              <a:off x="0" y="0"/>
              <a:ext cx="14630400" cy="633984"/>
            </a:xfrm>
            <a:custGeom>
              <a:rect b="b" l="l" r="r" t="t"/>
              <a:pathLst>
                <a:path extrusionOk="0" h="633984" w="14630400">
                  <a:moveTo>
                    <a:pt x="0" y="0"/>
                  </a:moveTo>
                  <a:lnTo>
                    <a:pt x="14630400" y="0"/>
                  </a:lnTo>
                  <a:lnTo>
                    <a:pt x="14630400" y="633984"/>
                  </a:lnTo>
                  <a:lnTo>
                    <a:pt x="0" y="633984"/>
                  </a:lnTo>
                  <a:close/>
                </a:path>
              </a:pathLst>
            </a:custGeom>
            <a:blipFill rotWithShape="1">
              <a:blip r:embed="rId3">
                <a:alphaModFix amt="0"/>
              </a:blip>
              <a:stretch>
                <a:fillRect b="-399640" l="0" r="0" t="-399640"/>
              </a:stretch>
            </a:blipFill>
            <a:ln>
              <a:noFill/>
            </a:ln>
          </p:spPr>
        </p:sp>
        <p:sp>
          <p:nvSpPr>
            <p:cNvPr id="112" name="Google Shape;112;p13"/>
            <p:cNvSpPr txBox="1"/>
            <p:nvPr/>
          </p:nvSpPr>
          <p:spPr>
            <a:xfrm>
              <a:off x="0" y="-47625"/>
              <a:ext cx="14630400" cy="68160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Sabri Eren Yeşildağ  •  220201013</a:t>
              </a:r>
              <a:endParaRPr/>
            </a:p>
          </p:txBody>
        </p:sp>
      </p:grpSp>
      <p:grpSp>
        <p:nvGrpSpPr>
          <p:cNvPr id="113" name="Google Shape;113;p13"/>
          <p:cNvGrpSpPr/>
          <p:nvPr/>
        </p:nvGrpSpPr>
        <p:grpSpPr>
          <a:xfrm>
            <a:off x="731520" y="6237065"/>
            <a:ext cx="10972800" cy="511207"/>
            <a:chOff x="0" y="-47625"/>
            <a:chExt cx="14630400" cy="681609"/>
          </a:xfrm>
        </p:grpSpPr>
        <p:sp>
          <p:nvSpPr>
            <p:cNvPr id="114" name="Google Shape;114;p13"/>
            <p:cNvSpPr/>
            <p:nvPr/>
          </p:nvSpPr>
          <p:spPr>
            <a:xfrm>
              <a:off x="0" y="0"/>
              <a:ext cx="14630400" cy="633984"/>
            </a:xfrm>
            <a:custGeom>
              <a:rect b="b" l="l" r="r" t="t"/>
              <a:pathLst>
                <a:path extrusionOk="0" h="633984" w="14630400">
                  <a:moveTo>
                    <a:pt x="0" y="0"/>
                  </a:moveTo>
                  <a:lnTo>
                    <a:pt x="14630400" y="0"/>
                  </a:lnTo>
                  <a:lnTo>
                    <a:pt x="14630400" y="633984"/>
                  </a:lnTo>
                  <a:lnTo>
                    <a:pt x="0" y="633984"/>
                  </a:lnTo>
                  <a:close/>
                </a:path>
              </a:pathLst>
            </a:custGeom>
            <a:blipFill rotWithShape="1">
              <a:blip r:embed="rId3">
                <a:alphaModFix amt="0"/>
              </a:blip>
              <a:stretch>
                <a:fillRect b="-399640" l="0" r="0" t="-399640"/>
              </a:stretch>
            </a:blipFill>
            <a:ln>
              <a:noFill/>
            </a:ln>
          </p:spPr>
        </p:sp>
        <p:sp>
          <p:nvSpPr>
            <p:cNvPr id="115" name="Google Shape;115;p13"/>
            <p:cNvSpPr txBox="1"/>
            <p:nvPr/>
          </p:nvSpPr>
          <p:spPr>
            <a:xfrm>
              <a:off x="0" y="-47625"/>
              <a:ext cx="14630400" cy="68160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Kezban Ceylin Atlı  •  220201047</a:t>
              </a:r>
              <a:endParaRPr/>
            </a:p>
          </p:txBody>
        </p:sp>
      </p:grpSp>
      <p:grpSp>
        <p:nvGrpSpPr>
          <p:cNvPr id="116" name="Google Shape;116;p13"/>
          <p:cNvGrpSpPr/>
          <p:nvPr/>
        </p:nvGrpSpPr>
        <p:grpSpPr>
          <a:xfrm>
            <a:off x="731520" y="6749129"/>
            <a:ext cx="10972800" cy="511207"/>
            <a:chOff x="0" y="-47625"/>
            <a:chExt cx="14630400" cy="681609"/>
          </a:xfrm>
        </p:grpSpPr>
        <p:sp>
          <p:nvSpPr>
            <p:cNvPr id="117" name="Google Shape;117;p13"/>
            <p:cNvSpPr/>
            <p:nvPr/>
          </p:nvSpPr>
          <p:spPr>
            <a:xfrm>
              <a:off x="0" y="0"/>
              <a:ext cx="14630400" cy="633984"/>
            </a:xfrm>
            <a:custGeom>
              <a:rect b="b" l="l" r="r" t="t"/>
              <a:pathLst>
                <a:path extrusionOk="0" h="633984" w="14630400">
                  <a:moveTo>
                    <a:pt x="0" y="0"/>
                  </a:moveTo>
                  <a:lnTo>
                    <a:pt x="14630400" y="0"/>
                  </a:lnTo>
                  <a:lnTo>
                    <a:pt x="14630400" y="633984"/>
                  </a:lnTo>
                  <a:lnTo>
                    <a:pt x="0" y="633984"/>
                  </a:lnTo>
                  <a:close/>
                </a:path>
              </a:pathLst>
            </a:custGeom>
            <a:blipFill rotWithShape="1">
              <a:blip r:embed="rId3">
                <a:alphaModFix amt="0"/>
              </a:blip>
              <a:stretch>
                <a:fillRect b="-399640" l="0" r="0" t="-399640"/>
              </a:stretch>
            </a:blipFill>
            <a:ln>
              <a:noFill/>
            </a:ln>
          </p:spPr>
        </p:sp>
        <p:sp>
          <p:nvSpPr>
            <p:cNvPr id="118" name="Google Shape;118;p13"/>
            <p:cNvSpPr txBox="1"/>
            <p:nvPr/>
          </p:nvSpPr>
          <p:spPr>
            <a:xfrm>
              <a:off x="0" y="-47625"/>
              <a:ext cx="14630400" cy="68160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Zehra Karabektaş  •  220201121</a:t>
              </a:r>
              <a:endParaRPr/>
            </a:p>
          </p:txBody>
        </p:sp>
      </p:grpSp>
      <p:grpSp>
        <p:nvGrpSpPr>
          <p:cNvPr id="119" name="Google Shape;119;p13"/>
          <p:cNvGrpSpPr/>
          <p:nvPr/>
        </p:nvGrpSpPr>
        <p:grpSpPr>
          <a:xfrm>
            <a:off x="731520" y="7261193"/>
            <a:ext cx="10972800" cy="511207"/>
            <a:chOff x="0" y="-47625"/>
            <a:chExt cx="14630400" cy="681609"/>
          </a:xfrm>
        </p:grpSpPr>
        <p:sp>
          <p:nvSpPr>
            <p:cNvPr id="120" name="Google Shape;120;p13"/>
            <p:cNvSpPr/>
            <p:nvPr/>
          </p:nvSpPr>
          <p:spPr>
            <a:xfrm>
              <a:off x="0" y="0"/>
              <a:ext cx="14630400" cy="633984"/>
            </a:xfrm>
            <a:custGeom>
              <a:rect b="b" l="l" r="r" t="t"/>
              <a:pathLst>
                <a:path extrusionOk="0" h="633984" w="14630400">
                  <a:moveTo>
                    <a:pt x="0" y="0"/>
                  </a:moveTo>
                  <a:lnTo>
                    <a:pt x="14630400" y="0"/>
                  </a:lnTo>
                  <a:lnTo>
                    <a:pt x="14630400" y="633984"/>
                  </a:lnTo>
                  <a:lnTo>
                    <a:pt x="0" y="633984"/>
                  </a:lnTo>
                  <a:close/>
                </a:path>
              </a:pathLst>
            </a:custGeom>
            <a:blipFill rotWithShape="1">
              <a:blip r:embed="rId3">
                <a:alphaModFix amt="0"/>
              </a:blip>
              <a:stretch>
                <a:fillRect b="-399640" l="0" r="0" t="-399640"/>
              </a:stretch>
            </a:blipFill>
            <a:ln>
              <a:noFill/>
            </a:ln>
          </p:spPr>
        </p:sp>
        <p:sp>
          <p:nvSpPr>
            <p:cNvPr id="121" name="Google Shape;121;p13"/>
            <p:cNvSpPr txBox="1"/>
            <p:nvPr/>
          </p:nvSpPr>
          <p:spPr>
            <a:xfrm>
              <a:off x="0" y="-47625"/>
              <a:ext cx="14630400" cy="68160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Tolga Ferhan Küçük  •  220201009</a:t>
              </a:r>
              <a:endParaRPr/>
            </a:p>
          </p:txBody>
        </p:sp>
      </p:grpSp>
      <p:grpSp>
        <p:nvGrpSpPr>
          <p:cNvPr id="122" name="Google Shape;122;p13"/>
          <p:cNvGrpSpPr/>
          <p:nvPr/>
        </p:nvGrpSpPr>
        <p:grpSpPr>
          <a:xfrm>
            <a:off x="731520" y="8383905"/>
            <a:ext cx="16459200" cy="577215"/>
            <a:chOff x="0" y="-38100"/>
            <a:chExt cx="21945600" cy="769620"/>
          </a:xfrm>
        </p:grpSpPr>
        <p:sp>
          <p:nvSpPr>
            <p:cNvPr id="123" name="Google Shape;123;p13"/>
            <p:cNvSpPr/>
            <p:nvPr/>
          </p:nvSpPr>
          <p:spPr>
            <a:xfrm>
              <a:off x="0" y="0"/>
              <a:ext cx="21945600" cy="731520"/>
            </a:xfrm>
            <a:custGeom>
              <a:rect b="b" l="l" r="r" t="t"/>
              <a:pathLst>
                <a:path extrusionOk="0" h="731520" w="21945600">
                  <a:moveTo>
                    <a:pt x="0" y="0"/>
                  </a:moveTo>
                  <a:lnTo>
                    <a:pt x="21945600" y="0"/>
                  </a:lnTo>
                  <a:lnTo>
                    <a:pt x="21945600" y="731520"/>
                  </a:lnTo>
                  <a:lnTo>
                    <a:pt x="0" y="731520"/>
                  </a:lnTo>
                  <a:close/>
                </a:path>
              </a:pathLst>
            </a:custGeom>
            <a:blipFill rotWithShape="1">
              <a:blip r:embed="rId3">
                <a:alphaModFix amt="0"/>
              </a:blip>
              <a:stretch>
                <a:fillRect b="-534522" l="0" r="0" t="-534522"/>
              </a:stretch>
            </a:blipFill>
            <a:ln>
              <a:noFill/>
            </a:ln>
          </p:spPr>
        </p:sp>
        <p:sp>
          <p:nvSpPr>
            <p:cNvPr id="124" name="Google Shape;124;p13"/>
            <p:cNvSpPr txBox="1"/>
            <p:nvPr/>
          </p:nvSpPr>
          <p:spPr>
            <a:xfrm>
              <a:off x="0" y="-38100"/>
              <a:ext cx="21945600" cy="7696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555555"/>
                  </a:solidFill>
                  <a:latin typeface="Calibri"/>
                  <a:ea typeface="Calibri"/>
                  <a:cs typeface="Calibri"/>
                  <a:sym typeface="Calibri"/>
                </a:rPr>
                <a:t>Büyük Veri Analizine Giriş  |  Dr. Ayşe Gül Eker  |  Mayıs 2026</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grpSp>
        <p:nvGrpSpPr>
          <p:cNvPr id="133" name="Google Shape;133;p14"/>
          <p:cNvGrpSpPr/>
          <p:nvPr/>
        </p:nvGrpSpPr>
        <p:grpSpPr>
          <a:xfrm>
            <a:off x="-12697" y="-12697"/>
            <a:ext cx="18313336" cy="1579816"/>
            <a:chOff x="0" y="0"/>
            <a:chExt cx="24417782" cy="2106422"/>
          </a:xfrm>
        </p:grpSpPr>
        <p:sp>
          <p:nvSpPr>
            <p:cNvPr id="134" name="Google Shape;134;p14"/>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35" name="Google Shape;135;p14"/>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14"/>
          <p:cNvGrpSpPr/>
          <p:nvPr/>
        </p:nvGrpSpPr>
        <p:grpSpPr>
          <a:xfrm>
            <a:off x="-12697" y="-12697"/>
            <a:ext cx="244792" cy="1579816"/>
            <a:chOff x="0" y="0"/>
            <a:chExt cx="326390" cy="2106422"/>
          </a:xfrm>
        </p:grpSpPr>
        <p:sp>
          <p:nvSpPr>
            <p:cNvPr id="137" name="Google Shape;137;p14"/>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38" name="Google Shape;138;p14"/>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 name="Google Shape;139;p14"/>
          <p:cNvGrpSpPr/>
          <p:nvPr/>
        </p:nvGrpSpPr>
        <p:grpSpPr>
          <a:xfrm>
            <a:off x="548640" y="89154"/>
            <a:ext cx="12801600" cy="880110"/>
            <a:chOff x="0" y="-76200"/>
            <a:chExt cx="17068800" cy="1173480"/>
          </a:xfrm>
        </p:grpSpPr>
        <p:sp>
          <p:nvSpPr>
            <p:cNvPr id="140" name="Google Shape;140;p14"/>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41" name="Google Shape;141;p14"/>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Projenin Amacı</a:t>
              </a:r>
              <a:endParaRPr/>
            </a:p>
          </p:txBody>
        </p:sp>
      </p:grpSp>
      <p:grpSp>
        <p:nvGrpSpPr>
          <p:cNvPr id="142" name="Google Shape;142;p14"/>
          <p:cNvGrpSpPr/>
          <p:nvPr/>
        </p:nvGrpSpPr>
        <p:grpSpPr>
          <a:xfrm>
            <a:off x="548640" y="915257"/>
            <a:ext cx="16459200" cy="547783"/>
            <a:chOff x="0" y="-47625"/>
            <a:chExt cx="21945600" cy="730377"/>
          </a:xfrm>
        </p:grpSpPr>
        <p:sp>
          <p:nvSpPr>
            <p:cNvPr id="143" name="Google Shape;143;p14"/>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44" name="Google Shape;144;p14"/>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Neden bu proje? Ne yapmak istedik?</a:t>
              </a:r>
              <a:endParaRPr/>
            </a:p>
          </p:txBody>
        </p:sp>
      </p:grpSp>
      <p:grpSp>
        <p:nvGrpSpPr>
          <p:cNvPr id="145" name="Google Shape;145;p14"/>
          <p:cNvGrpSpPr/>
          <p:nvPr/>
        </p:nvGrpSpPr>
        <p:grpSpPr>
          <a:xfrm>
            <a:off x="-12697" y="1541783"/>
            <a:ext cx="18313336" cy="98490"/>
            <a:chOff x="0" y="0"/>
            <a:chExt cx="24417782" cy="131320"/>
          </a:xfrm>
        </p:grpSpPr>
        <p:sp>
          <p:nvSpPr>
            <p:cNvPr id="146" name="Google Shape;146;p14"/>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47" name="Google Shape;147;p14"/>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4"/>
          <p:cNvGrpSpPr/>
          <p:nvPr/>
        </p:nvGrpSpPr>
        <p:grpSpPr>
          <a:xfrm>
            <a:off x="731520" y="1983105"/>
            <a:ext cx="16824960" cy="1308735"/>
            <a:chOff x="0" y="-38100"/>
            <a:chExt cx="22433280" cy="1744980"/>
          </a:xfrm>
        </p:grpSpPr>
        <p:sp>
          <p:nvSpPr>
            <p:cNvPr id="149" name="Google Shape;149;p14"/>
            <p:cNvSpPr/>
            <p:nvPr/>
          </p:nvSpPr>
          <p:spPr>
            <a:xfrm>
              <a:off x="0" y="0"/>
              <a:ext cx="22433280" cy="1706880"/>
            </a:xfrm>
            <a:custGeom>
              <a:rect b="b" l="l" r="r" t="t"/>
              <a:pathLst>
                <a:path extrusionOk="0" h="1706880" w="22433280">
                  <a:moveTo>
                    <a:pt x="0" y="0"/>
                  </a:moveTo>
                  <a:lnTo>
                    <a:pt x="22433280" y="0"/>
                  </a:lnTo>
                  <a:lnTo>
                    <a:pt x="22433280" y="1706880"/>
                  </a:lnTo>
                  <a:lnTo>
                    <a:pt x="0" y="1706880"/>
                  </a:lnTo>
                  <a:close/>
                </a:path>
              </a:pathLst>
            </a:custGeom>
            <a:blipFill rotWithShape="1">
              <a:blip r:embed="rId3">
                <a:alphaModFix amt="0"/>
              </a:blip>
              <a:stretch>
                <a:fillRect b="-206095" l="0" r="0" t="-206095"/>
              </a:stretch>
            </a:blipFill>
            <a:ln>
              <a:noFill/>
            </a:ln>
          </p:spPr>
        </p:sp>
        <p:sp>
          <p:nvSpPr>
            <p:cNvPr id="150" name="Google Shape;150;p14"/>
            <p:cNvSpPr txBox="1"/>
            <p:nvPr/>
          </p:nvSpPr>
          <p:spPr>
            <a:xfrm>
              <a:off x="0" y="-38100"/>
              <a:ext cx="22433280" cy="1744980"/>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0" i="0" lang="en-US" sz="2400" u="none" cap="none" strike="noStrike">
                  <a:solidFill>
                    <a:srgbClr val="333333"/>
                  </a:solidFill>
                  <a:latin typeface="Calibri"/>
                  <a:ea typeface="Calibri"/>
                  <a:cs typeface="Calibri"/>
                  <a:sym typeface="Calibri"/>
                </a:rPr>
                <a:t>Spotify'ın 114.000 şarkısını gerçek zamanlı bir veri akışı simülasyonu ile işleyerek uçtan uca bir büyük veri pipeline'ı kurmak. Hedefimiz; Kafka ile veriyi akıtmak, Spark ile işlemek, Delta Lake ile depolamak ve ML modelleriyle müzik türünü tahmin etmekti.</a:t>
              </a:r>
              <a:endParaRPr/>
            </a:p>
          </p:txBody>
        </p:sp>
      </p:grpSp>
      <p:grpSp>
        <p:nvGrpSpPr>
          <p:cNvPr id="151" name="Google Shape;151;p14"/>
          <p:cNvGrpSpPr/>
          <p:nvPr/>
        </p:nvGrpSpPr>
        <p:grpSpPr>
          <a:xfrm>
            <a:off x="539115" y="3556635"/>
            <a:ext cx="5505450" cy="2487930"/>
            <a:chOff x="0" y="0"/>
            <a:chExt cx="7340600" cy="3317240"/>
          </a:xfrm>
        </p:grpSpPr>
        <p:sp>
          <p:nvSpPr>
            <p:cNvPr id="152" name="Google Shape;152;p14"/>
            <p:cNvSpPr/>
            <p:nvPr/>
          </p:nvSpPr>
          <p:spPr>
            <a:xfrm>
              <a:off x="12700" y="12700"/>
              <a:ext cx="7315200" cy="3291840"/>
            </a:xfrm>
            <a:custGeom>
              <a:rect b="b" l="l" r="r" t="t"/>
              <a:pathLst>
                <a:path extrusionOk="0" h="3291840" w="7315200">
                  <a:moveTo>
                    <a:pt x="0" y="0"/>
                  </a:moveTo>
                  <a:lnTo>
                    <a:pt x="7315200" y="0"/>
                  </a:lnTo>
                  <a:lnTo>
                    <a:pt x="7315200" y="3291840"/>
                  </a:lnTo>
                  <a:lnTo>
                    <a:pt x="0" y="3291840"/>
                  </a:lnTo>
                  <a:close/>
                </a:path>
              </a:pathLst>
            </a:custGeom>
            <a:solidFill>
              <a:srgbClr val="F4F4F4"/>
            </a:solidFill>
            <a:ln>
              <a:noFill/>
            </a:ln>
          </p:spPr>
        </p:sp>
        <p:sp>
          <p:nvSpPr>
            <p:cNvPr id="153" name="Google Shape;153;p14"/>
            <p:cNvSpPr/>
            <p:nvPr/>
          </p:nvSpPr>
          <p:spPr>
            <a:xfrm>
              <a:off x="0" y="0"/>
              <a:ext cx="7340600" cy="3317240"/>
            </a:xfrm>
            <a:custGeom>
              <a:rect b="b" l="l" r="r" t="t"/>
              <a:pathLst>
                <a:path extrusionOk="0" h="3317240" w="7340600">
                  <a:moveTo>
                    <a:pt x="12700" y="0"/>
                  </a:moveTo>
                  <a:lnTo>
                    <a:pt x="7327900" y="0"/>
                  </a:lnTo>
                  <a:cubicBezTo>
                    <a:pt x="7334885" y="0"/>
                    <a:pt x="7340600" y="5715"/>
                    <a:pt x="7340600" y="12700"/>
                  </a:cubicBezTo>
                  <a:lnTo>
                    <a:pt x="7340600" y="3304540"/>
                  </a:lnTo>
                  <a:cubicBezTo>
                    <a:pt x="7340600" y="3311525"/>
                    <a:pt x="7334885" y="3317240"/>
                    <a:pt x="7327900" y="3317240"/>
                  </a:cubicBezTo>
                  <a:lnTo>
                    <a:pt x="12700" y="3317240"/>
                  </a:lnTo>
                  <a:cubicBezTo>
                    <a:pt x="5715" y="3317240"/>
                    <a:pt x="0" y="3311525"/>
                    <a:pt x="0" y="3304540"/>
                  </a:cubicBezTo>
                  <a:lnTo>
                    <a:pt x="0" y="12700"/>
                  </a:lnTo>
                  <a:cubicBezTo>
                    <a:pt x="0" y="5715"/>
                    <a:pt x="5715" y="0"/>
                    <a:pt x="12700" y="0"/>
                  </a:cubicBezTo>
                  <a:moveTo>
                    <a:pt x="12700" y="25400"/>
                  </a:moveTo>
                  <a:lnTo>
                    <a:pt x="12700" y="12700"/>
                  </a:lnTo>
                  <a:lnTo>
                    <a:pt x="25400" y="12700"/>
                  </a:lnTo>
                  <a:lnTo>
                    <a:pt x="25400" y="3304540"/>
                  </a:lnTo>
                  <a:lnTo>
                    <a:pt x="12700" y="3304540"/>
                  </a:lnTo>
                  <a:lnTo>
                    <a:pt x="12700" y="3291840"/>
                  </a:lnTo>
                  <a:lnTo>
                    <a:pt x="7327900" y="3291840"/>
                  </a:lnTo>
                  <a:lnTo>
                    <a:pt x="7327900" y="3304540"/>
                  </a:lnTo>
                  <a:lnTo>
                    <a:pt x="7315200" y="330454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4"/>
          <p:cNvGrpSpPr/>
          <p:nvPr/>
        </p:nvGrpSpPr>
        <p:grpSpPr>
          <a:xfrm>
            <a:off x="535943" y="3553463"/>
            <a:ext cx="5511736" cy="610554"/>
            <a:chOff x="0" y="0"/>
            <a:chExt cx="7348982" cy="814072"/>
          </a:xfrm>
        </p:grpSpPr>
        <p:sp>
          <p:nvSpPr>
            <p:cNvPr id="155" name="Google Shape;155;p14"/>
            <p:cNvSpPr/>
            <p:nvPr/>
          </p:nvSpPr>
          <p:spPr>
            <a:xfrm>
              <a:off x="16891" y="16891"/>
              <a:ext cx="7315200" cy="780288"/>
            </a:xfrm>
            <a:custGeom>
              <a:rect b="b" l="l" r="r" t="t"/>
              <a:pathLst>
                <a:path extrusionOk="0" h="780288" w="7315200">
                  <a:moveTo>
                    <a:pt x="0" y="0"/>
                  </a:moveTo>
                  <a:lnTo>
                    <a:pt x="7315200" y="0"/>
                  </a:lnTo>
                  <a:lnTo>
                    <a:pt x="7315200" y="780288"/>
                  </a:lnTo>
                  <a:lnTo>
                    <a:pt x="0" y="780288"/>
                  </a:lnTo>
                  <a:close/>
                </a:path>
              </a:pathLst>
            </a:custGeom>
            <a:solidFill>
              <a:srgbClr val="121212"/>
            </a:solidFill>
            <a:ln>
              <a:noFill/>
            </a:ln>
          </p:spPr>
        </p:sp>
        <p:sp>
          <p:nvSpPr>
            <p:cNvPr id="156" name="Google Shape;156;p14"/>
            <p:cNvSpPr/>
            <p:nvPr/>
          </p:nvSpPr>
          <p:spPr>
            <a:xfrm>
              <a:off x="0" y="0"/>
              <a:ext cx="7348982" cy="814072"/>
            </a:xfrm>
            <a:custGeom>
              <a:rect b="b" l="l" r="r" t="t"/>
              <a:pathLst>
                <a:path extrusionOk="0" h="814072" w="7348982">
                  <a:moveTo>
                    <a:pt x="16891" y="0"/>
                  </a:moveTo>
                  <a:lnTo>
                    <a:pt x="7332091" y="0"/>
                  </a:lnTo>
                  <a:cubicBezTo>
                    <a:pt x="7341489" y="0"/>
                    <a:pt x="7348982" y="7620"/>
                    <a:pt x="7348982" y="16891"/>
                  </a:cubicBezTo>
                  <a:lnTo>
                    <a:pt x="7348982" y="797179"/>
                  </a:lnTo>
                  <a:cubicBezTo>
                    <a:pt x="7348982" y="806577"/>
                    <a:pt x="7341362" y="814070"/>
                    <a:pt x="73320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7332091" y="780288"/>
                  </a:lnTo>
                  <a:lnTo>
                    <a:pt x="7332091" y="797179"/>
                  </a:lnTo>
                  <a:lnTo>
                    <a:pt x="7315200" y="797179"/>
                  </a:lnTo>
                  <a:lnTo>
                    <a:pt x="7315200" y="16891"/>
                  </a:lnTo>
                  <a:lnTo>
                    <a:pt x="7332091" y="16891"/>
                  </a:lnTo>
                  <a:lnTo>
                    <a:pt x="733209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14"/>
          <p:cNvGrpSpPr/>
          <p:nvPr/>
        </p:nvGrpSpPr>
        <p:grpSpPr>
          <a:xfrm>
            <a:off x="731520" y="3610737"/>
            <a:ext cx="5120640" cy="504063"/>
            <a:chOff x="0" y="-38100"/>
            <a:chExt cx="6827520" cy="672084"/>
          </a:xfrm>
        </p:grpSpPr>
        <p:sp>
          <p:nvSpPr>
            <p:cNvPr id="158" name="Google Shape;158;p14"/>
            <p:cNvSpPr/>
            <p:nvPr/>
          </p:nvSpPr>
          <p:spPr>
            <a:xfrm>
              <a:off x="0" y="0"/>
              <a:ext cx="6827520" cy="633984"/>
            </a:xfrm>
            <a:custGeom>
              <a:rect b="b" l="l" r="r" t="t"/>
              <a:pathLst>
                <a:path extrusionOk="0" h="633984" w="6827520">
                  <a:moveTo>
                    <a:pt x="0" y="0"/>
                  </a:moveTo>
                  <a:lnTo>
                    <a:pt x="6827520" y="0"/>
                  </a:lnTo>
                  <a:lnTo>
                    <a:pt x="6827520" y="633984"/>
                  </a:lnTo>
                  <a:lnTo>
                    <a:pt x="0" y="633984"/>
                  </a:lnTo>
                  <a:close/>
                </a:path>
              </a:pathLst>
            </a:custGeom>
            <a:blipFill rotWithShape="1">
              <a:blip r:embed="rId3">
                <a:alphaModFix amt="0"/>
              </a:blip>
              <a:stretch>
                <a:fillRect b="-159837" l="0" r="0" t="-159837"/>
              </a:stretch>
            </a:blipFill>
            <a:ln>
              <a:noFill/>
            </a:ln>
          </p:spPr>
        </p:sp>
        <p:sp>
          <p:nvSpPr>
            <p:cNvPr id="159" name="Google Shape;159;p14"/>
            <p:cNvSpPr txBox="1"/>
            <p:nvPr/>
          </p:nvSpPr>
          <p:spPr>
            <a:xfrm>
              <a:off x="0" y="-38100"/>
              <a:ext cx="6827520" cy="6720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Konteynerize Ortam</a:t>
              </a:r>
              <a:endParaRPr/>
            </a:p>
          </p:txBody>
        </p:sp>
      </p:grpSp>
      <p:grpSp>
        <p:nvGrpSpPr>
          <p:cNvPr id="160" name="Google Shape;160;p14"/>
          <p:cNvGrpSpPr/>
          <p:nvPr/>
        </p:nvGrpSpPr>
        <p:grpSpPr>
          <a:xfrm>
            <a:off x="731520" y="4232529"/>
            <a:ext cx="5120640" cy="1674495"/>
            <a:chOff x="0" y="-38100"/>
            <a:chExt cx="6827520" cy="2232660"/>
          </a:xfrm>
        </p:grpSpPr>
        <p:sp>
          <p:nvSpPr>
            <p:cNvPr id="161" name="Google Shape;161;p14"/>
            <p:cNvSpPr/>
            <p:nvPr/>
          </p:nvSpPr>
          <p:spPr>
            <a:xfrm>
              <a:off x="0" y="0"/>
              <a:ext cx="6827520" cy="2194560"/>
            </a:xfrm>
            <a:custGeom>
              <a:rect b="b" l="l" r="r" t="t"/>
              <a:pathLst>
                <a:path extrusionOk="0" h="2194560" w="6827520">
                  <a:moveTo>
                    <a:pt x="0" y="0"/>
                  </a:moveTo>
                  <a:lnTo>
                    <a:pt x="6827520" y="0"/>
                  </a:lnTo>
                  <a:lnTo>
                    <a:pt x="6827520" y="2194560"/>
                  </a:lnTo>
                  <a:lnTo>
                    <a:pt x="0" y="2194560"/>
                  </a:lnTo>
                  <a:close/>
                </a:path>
              </a:pathLst>
            </a:custGeom>
            <a:blipFill rotWithShape="1">
              <a:blip r:embed="rId3">
                <a:alphaModFix amt="0"/>
              </a:blip>
              <a:stretch>
                <a:fillRect b="-10619" l="0" r="0" t="-10619"/>
              </a:stretch>
            </a:blipFill>
            <a:ln>
              <a:noFill/>
            </a:ln>
          </p:spPr>
        </p:sp>
        <p:sp>
          <p:nvSpPr>
            <p:cNvPr id="162" name="Google Shape;162;p14"/>
            <p:cNvSpPr txBox="1"/>
            <p:nvPr/>
          </p:nvSpPr>
          <p:spPr>
            <a:xfrm>
              <a:off x="0" y="-38100"/>
              <a:ext cx="6827520" cy="22326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Docker ile izole, tekrarlanabilir ortam. 6 servis tek komutla ayağa kalkar.</a:t>
              </a:r>
              <a:endParaRPr/>
            </a:p>
          </p:txBody>
        </p:sp>
      </p:grpSp>
      <p:grpSp>
        <p:nvGrpSpPr>
          <p:cNvPr id="163" name="Google Shape;163;p14"/>
          <p:cNvGrpSpPr/>
          <p:nvPr/>
        </p:nvGrpSpPr>
        <p:grpSpPr>
          <a:xfrm>
            <a:off x="6391275" y="3556635"/>
            <a:ext cx="5505450" cy="2487930"/>
            <a:chOff x="0" y="0"/>
            <a:chExt cx="7340600" cy="3317240"/>
          </a:xfrm>
        </p:grpSpPr>
        <p:sp>
          <p:nvSpPr>
            <p:cNvPr id="164" name="Google Shape;164;p14"/>
            <p:cNvSpPr/>
            <p:nvPr/>
          </p:nvSpPr>
          <p:spPr>
            <a:xfrm>
              <a:off x="12700" y="12700"/>
              <a:ext cx="7315200" cy="3291840"/>
            </a:xfrm>
            <a:custGeom>
              <a:rect b="b" l="l" r="r" t="t"/>
              <a:pathLst>
                <a:path extrusionOk="0" h="3291840" w="7315200">
                  <a:moveTo>
                    <a:pt x="0" y="0"/>
                  </a:moveTo>
                  <a:lnTo>
                    <a:pt x="7315200" y="0"/>
                  </a:lnTo>
                  <a:lnTo>
                    <a:pt x="7315200" y="3291840"/>
                  </a:lnTo>
                  <a:lnTo>
                    <a:pt x="0" y="3291840"/>
                  </a:lnTo>
                  <a:close/>
                </a:path>
              </a:pathLst>
            </a:custGeom>
            <a:solidFill>
              <a:srgbClr val="F4F4F4"/>
            </a:solidFill>
            <a:ln>
              <a:noFill/>
            </a:ln>
          </p:spPr>
        </p:sp>
        <p:sp>
          <p:nvSpPr>
            <p:cNvPr id="165" name="Google Shape;165;p14"/>
            <p:cNvSpPr/>
            <p:nvPr/>
          </p:nvSpPr>
          <p:spPr>
            <a:xfrm>
              <a:off x="0" y="0"/>
              <a:ext cx="7340600" cy="3317240"/>
            </a:xfrm>
            <a:custGeom>
              <a:rect b="b" l="l" r="r" t="t"/>
              <a:pathLst>
                <a:path extrusionOk="0" h="3317240" w="7340600">
                  <a:moveTo>
                    <a:pt x="12700" y="0"/>
                  </a:moveTo>
                  <a:lnTo>
                    <a:pt x="7327900" y="0"/>
                  </a:lnTo>
                  <a:cubicBezTo>
                    <a:pt x="7334885" y="0"/>
                    <a:pt x="7340600" y="5715"/>
                    <a:pt x="7340600" y="12700"/>
                  </a:cubicBezTo>
                  <a:lnTo>
                    <a:pt x="7340600" y="3304540"/>
                  </a:lnTo>
                  <a:cubicBezTo>
                    <a:pt x="7340600" y="3311525"/>
                    <a:pt x="7334885" y="3317240"/>
                    <a:pt x="7327900" y="3317240"/>
                  </a:cubicBezTo>
                  <a:lnTo>
                    <a:pt x="12700" y="3317240"/>
                  </a:lnTo>
                  <a:cubicBezTo>
                    <a:pt x="5715" y="3317240"/>
                    <a:pt x="0" y="3311525"/>
                    <a:pt x="0" y="3304540"/>
                  </a:cubicBezTo>
                  <a:lnTo>
                    <a:pt x="0" y="12700"/>
                  </a:lnTo>
                  <a:cubicBezTo>
                    <a:pt x="0" y="5715"/>
                    <a:pt x="5715" y="0"/>
                    <a:pt x="12700" y="0"/>
                  </a:cubicBezTo>
                  <a:moveTo>
                    <a:pt x="12700" y="25400"/>
                  </a:moveTo>
                  <a:lnTo>
                    <a:pt x="12700" y="12700"/>
                  </a:lnTo>
                  <a:lnTo>
                    <a:pt x="25400" y="12700"/>
                  </a:lnTo>
                  <a:lnTo>
                    <a:pt x="25400" y="3304540"/>
                  </a:lnTo>
                  <a:lnTo>
                    <a:pt x="12700" y="3304540"/>
                  </a:lnTo>
                  <a:lnTo>
                    <a:pt x="12700" y="3291840"/>
                  </a:lnTo>
                  <a:lnTo>
                    <a:pt x="7327900" y="3291840"/>
                  </a:lnTo>
                  <a:lnTo>
                    <a:pt x="7327900" y="3304540"/>
                  </a:lnTo>
                  <a:lnTo>
                    <a:pt x="7315200" y="330454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 name="Google Shape;166;p14"/>
          <p:cNvGrpSpPr/>
          <p:nvPr/>
        </p:nvGrpSpPr>
        <p:grpSpPr>
          <a:xfrm>
            <a:off x="6388103" y="3553463"/>
            <a:ext cx="5511736" cy="610554"/>
            <a:chOff x="0" y="0"/>
            <a:chExt cx="7348982" cy="814072"/>
          </a:xfrm>
        </p:grpSpPr>
        <p:sp>
          <p:nvSpPr>
            <p:cNvPr id="167" name="Google Shape;167;p14"/>
            <p:cNvSpPr/>
            <p:nvPr/>
          </p:nvSpPr>
          <p:spPr>
            <a:xfrm>
              <a:off x="16891" y="16891"/>
              <a:ext cx="7315200" cy="780288"/>
            </a:xfrm>
            <a:custGeom>
              <a:rect b="b" l="l" r="r" t="t"/>
              <a:pathLst>
                <a:path extrusionOk="0" h="780288" w="7315200">
                  <a:moveTo>
                    <a:pt x="0" y="0"/>
                  </a:moveTo>
                  <a:lnTo>
                    <a:pt x="7315200" y="0"/>
                  </a:lnTo>
                  <a:lnTo>
                    <a:pt x="7315200" y="780288"/>
                  </a:lnTo>
                  <a:lnTo>
                    <a:pt x="0" y="780288"/>
                  </a:lnTo>
                  <a:close/>
                </a:path>
              </a:pathLst>
            </a:custGeom>
            <a:solidFill>
              <a:srgbClr val="121212"/>
            </a:solidFill>
            <a:ln>
              <a:noFill/>
            </a:ln>
          </p:spPr>
        </p:sp>
        <p:sp>
          <p:nvSpPr>
            <p:cNvPr id="168" name="Google Shape;168;p14"/>
            <p:cNvSpPr/>
            <p:nvPr/>
          </p:nvSpPr>
          <p:spPr>
            <a:xfrm>
              <a:off x="0" y="0"/>
              <a:ext cx="7348982" cy="814072"/>
            </a:xfrm>
            <a:custGeom>
              <a:rect b="b" l="l" r="r" t="t"/>
              <a:pathLst>
                <a:path extrusionOk="0" h="814072" w="7348982">
                  <a:moveTo>
                    <a:pt x="16891" y="0"/>
                  </a:moveTo>
                  <a:lnTo>
                    <a:pt x="7332091" y="0"/>
                  </a:lnTo>
                  <a:cubicBezTo>
                    <a:pt x="7341489" y="0"/>
                    <a:pt x="7348982" y="7620"/>
                    <a:pt x="7348982" y="16891"/>
                  </a:cubicBezTo>
                  <a:lnTo>
                    <a:pt x="7348982" y="797179"/>
                  </a:lnTo>
                  <a:cubicBezTo>
                    <a:pt x="7348982" y="806577"/>
                    <a:pt x="7341362" y="814070"/>
                    <a:pt x="73320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7332091" y="780288"/>
                  </a:lnTo>
                  <a:lnTo>
                    <a:pt x="7332091" y="797179"/>
                  </a:lnTo>
                  <a:lnTo>
                    <a:pt x="7315200" y="797179"/>
                  </a:lnTo>
                  <a:lnTo>
                    <a:pt x="7315200" y="16891"/>
                  </a:lnTo>
                  <a:lnTo>
                    <a:pt x="7332091" y="16891"/>
                  </a:lnTo>
                  <a:lnTo>
                    <a:pt x="733209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4"/>
          <p:cNvGrpSpPr/>
          <p:nvPr/>
        </p:nvGrpSpPr>
        <p:grpSpPr>
          <a:xfrm>
            <a:off x="6583680" y="3610737"/>
            <a:ext cx="5120640" cy="504063"/>
            <a:chOff x="0" y="-38100"/>
            <a:chExt cx="6827520" cy="672084"/>
          </a:xfrm>
        </p:grpSpPr>
        <p:sp>
          <p:nvSpPr>
            <p:cNvPr id="170" name="Google Shape;170;p14"/>
            <p:cNvSpPr/>
            <p:nvPr/>
          </p:nvSpPr>
          <p:spPr>
            <a:xfrm>
              <a:off x="0" y="0"/>
              <a:ext cx="6827520" cy="633984"/>
            </a:xfrm>
            <a:custGeom>
              <a:rect b="b" l="l" r="r" t="t"/>
              <a:pathLst>
                <a:path extrusionOk="0" h="633984" w="6827520">
                  <a:moveTo>
                    <a:pt x="0" y="0"/>
                  </a:moveTo>
                  <a:lnTo>
                    <a:pt x="6827520" y="0"/>
                  </a:lnTo>
                  <a:lnTo>
                    <a:pt x="6827520" y="633984"/>
                  </a:lnTo>
                  <a:lnTo>
                    <a:pt x="0" y="633984"/>
                  </a:lnTo>
                  <a:close/>
                </a:path>
              </a:pathLst>
            </a:custGeom>
            <a:blipFill rotWithShape="1">
              <a:blip r:embed="rId3">
                <a:alphaModFix amt="0"/>
              </a:blip>
              <a:stretch>
                <a:fillRect b="-159837" l="0" r="0" t="-159837"/>
              </a:stretch>
            </a:blipFill>
            <a:ln>
              <a:noFill/>
            </a:ln>
          </p:spPr>
        </p:sp>
        <p:sp>
          <p:nvSpPr>
            <p:cNvPr id="171" name="Google Shape;171;p14"/>
            <p:cNvSpPr txBox="1"/>
            <p:nvPr/>
          </p:nvSpPr>
          <p:spPr>
            <a:xfrm>
              <a:off x="0" y="-38100"/>
              <a:ext cx="6827520" cy="6720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Gerçek Zamanlı Akış</a:t>
              </a:r>
              <a:endParaRPr/>
            </a:p>
          </p:txBody>
        </p:sp>
      </p:grpSp>
      <p:grpSp>
        <p:nvGrpSpPr>
          <p:cNvPr id="172" name="Google Shape;172;p14"/>
          <p:cNvGrpSpPr/>
          <p:nvPr/>
        </p:nvGrpSpPr>
        <p:grpSpPr>
          <a:xfrm>
            <a:off x="6583680" y="4232529"/>
            <a:ext cx="5120640" cy="1674495"/>
            <a:chOff x="0" y="-38100"/>
            <a:chExt cx="6827520" cy="2232660"/>
          </a:xfrm>
        </p:grpSpPr>
        <p:sp>
          <p:nvSpPr>
            <p:cNvPr id="173" name="Google Shape;173;p14"/>
            <p:cNvSpPr/>
            <p:nvPr/>
          </p:nvSpPr>
          <p:spPr>
            <a:xfrm>
              <a:off x="0" y="0"/>
              <a:ext cx="6827520" cy="2194560"/>
            </a:xfrm>
            <a:custGeom>
              <a:rect b="b" l="l" r="r" t="t"/>
              <a:pathLst>
                <a:path extrusionOk="0" h="2194560" w="6827520">
                  <a:moveTo>
                    <a:pt x="0" y="0"/>
                  </a:moveTo>
                  <a:lnTo>
                    <a:pt x="6827520" y="0"/>
                  </a:lnTo>
                  <a:lnTo>
                    <a:pt x="6827520" y="2194560"/>
                  </a:lnTo>
                  <a:lnTo>
                    <a:pt x="0" y="2194560"/>
                  </a:lnTo>
                  <a:close/>
                </a:path>
              </a:pathLst>
            </a:custGeom>
            <a:blipFill rotWithShape="1">
              <a:blip r:embed="rId3">
                <a:alphaModFix amt="0"/>
              </a:blip>
              <a:stretch>
                <a:fillRect b="-10619" l="0" r="0" t="-10619"/>
              </a:stretch>
            </a:blipFill>
            <a:ln>
              <a:noFill/>
            </a:ln>
          </p:spPr>
        </p:sp>
        <p:sp>
          <p:nvSpPr>
            <p:cNvPr id="174" name="Google Shape;174;p14"/>
            <p:cNvSpPr txBox="1"/>
            <p:nvPr/>
          </p:nvSpPr>
          <p:spPr>
            <a:xfrm>
              <a:off x="0" y="-38100"/>
              <a:ext cx="6827520" cy="22326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Kafka Producer 500 mesaj/sn ile 114K şarkıyı ~4 dakikada akıttı.</a:t>
              </a:r>
              <a:endParaRPr/>
            </a:p>
          </p:txBody>
        </p:sp>
      </p:grpSp>
      <p:grpSp>
        <p:nvGrpSpPr>
          <p:cNvPr id="175" name="Google Shape;175;p14"/>
          <p:cNvGrpSpPr/>
          <p:nvPr/>
        </p:nvGrpSpPr>
        <p:grpSpPr>
          <a:xfrm>
            <a:off x="12243435" y="3556635"/>
            <a:ext cx="5505450" cy="2487930"/>
            <a:chOff x="0" y="0"/>
            <a:chExt cx="7340600" cy="3317240"/>
          </a:xfrm>
        </p:grpSpPr>
        <p:sp>
          <p:nvSpPr>
            <p:cNvPr id="176" name="Google Shape;176;p14"/>
            <p:cNvSpPr/>
            <p:nvPr/>
          </p:nvSpPr>
          <p:spPr>
            <a:xfrm>
              <a:off x="12700" y="12700"/>
              <a:ext cx="7315200" cy="3291840"/>
            </a:xfrm>
            <a:custGeom>
              <a:rect b="b" l="l" r="r" t="t"/>
              <a:pathLst>
                <a:path extrusionOk="0" h="3291840" w="7315200">
                  <a:moveTo>
                    <a:pt x="0" y="0"/>
                  </a:moveTo>
                  <a:lnTo>
                    <a:pt x="7315200" y="0"/>
                  </a:lnTo>
                  <a:lnTo>
                    <a:pt x="7315200" y="3291840"/>
                  </a:lnTo>
                  <a:lnTo>
                    <a:pt x="0" y="3291840"/>
                  </a:lnTo>
                  <a:close/>
                </a:path>
              </a:pathLst>
            </a:custGeom>
            <a:solidFill>
              <a:srgbClr val="F4F4F4"/>
            </a:solidFill>
            <a:ln>
              <a:noFill/>
            </a:ln>
          </p:spPr>
        </p:sp>
        <p:sp>
          <p:nvSpPr>
            <p:cNvPr id="177" name="Google Shape;177;p14"/>
            <p:cNvSpPr/>
            <p:nvPr/>
          </p:nvSpPr>
          <p:spPr>
            <a:xfrm>
              <a:off x="0" y="0"/>
              <a:ext cx="7340600" cy="3317240"/>
            </a:xfrm>
            <a:custGeom>
              <a:rect b="b" l="l" r="r" t="t"/>
              <a:pathLst>
                <a:path extrusionOk="0" h="3317240" w="7340600">
                  <a:moveTo>
                    <a:pt x="12700" y="0"/>
                  </a:moveTo>
                  <a:lnTo>
                    <a:pt x="7327900" y="0"/>
                  </a:lnTo>
                  <a:cubicBezTo>
                    <a:pt x="7334885" y="0"/>
                    <a:pt x="7340600" y="5715"/>
                    <a:pt x="7340600" y="12700"/>
                  </a:cubicBezTo>
                  <a:lnTo>
                    <a:pt x="7340600" y="3304540"/>
                  </a:lnTo>
                  <a:cubicBezTo>
                    <a:pt x="7340600" y="3311525"/>
                    <a:pt x="7334885" y="3317240"/>
                    <a:pt x="7327900" y="3317240"/>
                  </a:cubicBezTo>
                  <a:lnTo>
                    <a:pt x="12700" y="3317240"/>
                  </a:lnTo>
                  <a:cubicBezTo>
                    <a:pt x="5715" y="3317240"/>
                    <a:pt x="0" y="3311525"/>
                    <a:pt x="0" y="3304540"/>
                  </a:cubicBezTo>
                  <a:lnTo>
                    <a:pt x="0" y="12700"/>
                  </a:lnTo>
                  <a:cubicBezTo>
                    <a:pt x="0" y="5715"/>
                    <a:pt x="5715" y="0"/>
                    <a:pt x="12700" y="0"/>
                  </a:cubicBezTo>
                  <a:moveTo>
                    <a:pt x="12700" y="25400"/>
                  </a:moveTo>
                  <a:lnTo>
                    <a:pt x="12700" y="12700"/>
                  </a:lnTo>
                  <a:lnTo>
                    <a:pt x="25400" y="12700"/>
                  </a:lnTo>
                  <a:lnTo>
                    <a:pt x="25400" y="3304540"/>
                  </a:lnTo>
                  <a:lnTo>
                    <a:pt x="12700" y="3304540"/>
                  </a:lnTo>
                  <a:lnTo>
                    <a:pt x="12700" y="3291840"/>
                  </a:lnTo>
                  <a:lnTo>
                    <a:pt x="7327900" y="3291840"/>
                  </a:lnTo>
                  <a:lnTo>
                    <a:pt x="7327900" y="3304540"/>
                  </a:lnTo>
                  <a:lnTo>
                    <a:pt x="7315200" y="330454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4"/>
          <p:cNvGrpSpPr/>
          <p:nvPr/>
        </p:nvGrpSpPr>
        <p:grpSpPr>
          <a:xfrm>
            <a:off x="12240263" y="3553463"/>
            <a:ext cx="5511736" cy="610554"/>
            <a:chOff x="0" y="0"/>
            <a:chExt cx="7348982" cy="814072"/>
          </a:xfrm>
        </p:grpSpPr>
        <p:sp>
          <p:nvSpPr>
            <p:cNvPr id="179" name="Google Shape;179;p14"/>
            <p:cNvSpPr/>
            <p:nvPr/>
          </p:nvSpPr>
          <p:spPr>
            <a:xfrm>
              <a:off x="16891" y="16891"/>
              <a:ext cx="7315200" cy="780288"/>
            </a:xfrm>
            <a:custGeom>
              <a:rect b="b" l="l" r="r" t="t"/>
              <a:pathLst>
                <a:path extrusionOk="0" h="780288" w="7315200">
                  <a:moveTo>
                    <a:pt x="0" y="0"/>
                  </a:moveTo>
                  <a:lnTo>
                    <a:pt x="7315200" y="0"/>
                  </a:lnTo>
                  <a:lnTo>
                    <a:pt x="7315200" y="780288"/>
                  </a:lnTo>
                  <a:lnTo>
                    <a:pt x="0" y="780288"/>
                  </a:lnTo>
                  <a:close/>
                </a:path>
              </a:pathLst>
            </a:custGeom>
            <a:solidFill>
              <a:srgbClr val="121212"/>
            </a:solidFill>
            <a:ln>
              <a:noFill/>
            </a:ln>
          </p:spPr>
        </p:sp>
        <p:sp>
          <p:nvSpPr>
            <p:cNvPr id="180" name="Google Shape;180;p14"/>
            <p:cNvSpPr/>
            <p:nvPr/>
          </p:nvSpPr>
          <p:spPr>
            <a:xfrm>
              <a:off x="0" y="0"/>
              <a:ext cx="7348982" cy="814072"/>
            </a:xfrm>
            <a:custGeom>
              <a:rect b="b" l="l" r="r" t="t"/>
              <a:pathLst>
                <a:path extrusionOk="0" h="814072" w="7348982">
                  <a:moveTo>
                    <a:pt x="16891" y="0"/>
                  </a:moveTo>
                  <a:lnTo>
                    <a:pt x="7332091" y="0"/>
                  </a:lnTo>
                  <a:cubicBezTo>
                    <a:pt x="7341489" y="0"/>
                    <a:pt x="7348982" y="7620"/>
                    <a:pt x="7348982" y="16891"/>
                  </a:cubicBezTo>
                  <a:lnTo>
                    <a:pt x="7348982" y="797179"/>
                  </a:lnTo>
                  <a:cubicBezTo>
                    <a:pt x="7348982" y="806577"/>
                    <a:pt x="7341362" y="814070"/>
                    <a:pt x="73320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7332091" y="780288"/>
                  </a:lnTo>
                  <a:lnTo>
                    <a:pt x="7332091" y="797179"/>
                  </a:lnTo>
                  <a:lnTo>
                    <a:pt x="7315200" y="797179"/>
                  </a:lnTo>
                  <a:lnTo>
                    <a:pt x="7315200" y="16891"/>
                  </a:lnTo>
                  <a:lnTo>
                    <a:pt x="7332091" y="16891"/>
                  </a:lnTo>
                  <a:lnTo>
                    <a:pt x="733209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 name="Google Shape;181;p14"/>
          <p:cNvGrpSpPr/>
          <p:nvPr/>
        </p:nvGrpSpPr>
        <p:grpSpPr>
          <a:xfrm>
            <a:off x="12435840" y="3610737"/>
            <a:ext cx="5120640" cy="504063"/>
            <a:chOff x="0" y="-38100"/>
            <a:chExt cx="6827520" cy="672084"/>
          </a:xfrm>
        </p:grpSpPr>
        <p:sp>
          <p:nvSpPr>
            <p:cNvPr id="182" name="Google Shape;182;p14"/>
            <p:cNvSpPr/>
            <p:nvPr/>
          </p:nvSpPr>
          <p:spPr>
            <a:xfrm>
              <a:off x="0" y="0"/>
              <a:ext cx="6827520" cy="633984"/>
            </a:xfrm>
            <a:custGeom>
              <a:rect b="b" l="l" r="r" t="t"/>
              <a:pathLst>
                <a:path extrusionOk="0" h="633984" w="6827520">
                  <a:moveTo>
                    <a:pt x="0" y="0"/>
                  </a:moveTo>
                  <a:lnTo>
                    <a:pt x="6827520" y="0"/>
                  </a:lnTo>
                  <a:lnTo>
                    <a:pt x="6827520" y="633984"/>
                  </a:lnTo>
                  <a:lnTo>
                    <a:pt x="0" y="633984"/>
                  </a:lnTo>
                  <a:close/>
                </a:path>
              </a:pathLst>
            </a:custGeom>
            <a:blipFill rotWithShape="1">
              <a:blip r:embed="rId3">
                <a:alphaModFix amt="0"/>
              </a:blip>
              <a:stretch>
                <a:fillRect b="-159837" l="0" r="0" t="-159837"/>
              </a:stretch>
            </a:blipFill>
            <a:ln>
              <a:noFill/>
            </a:ln>
          </p:spPr>
        </p:sp>
        <p:sp>
          <p:nvSpPr>
            <p:cNvPr id="183" name="Google Shape;183;p14"/>
            <p:cNvSpPr txBox="1"/>
            <p:nvPr/>
          </p:nvSpPr>
          <p:spPr>
            <a:xfrm>
              <a:off x="0" y="-38100"/>
              <a:ext cx="6827520" cy="6720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Büyük Veri İşleme</a:t>
              </a:r>
              <a:endParaRPr/>
            </a:p>
          </p:txBody>
        </p:sp>
      </p:grpSp>
      <p:grpSp>
        <p:nvGrpSpPr>
          <p:cNvPr id="184" name="Google Shape;184;p14"/>
          <p:cNvGrpSpPr/>
          <p:nvPr/>
        </p:nvGrpSpPr>
        <p:grpSpPr>
          <a:xfrm>
            <a:off x="12435840" y="4232529"/>
            <a:ext cx="5120640" cy="1674495"/>
            <a:chOff x="0" y="-38100"/>
            <a:chExt cx="6827520" cy="2232660"/>
          </a:xfrm>
        </p:grpSpPr>
        <p:sp>
          <p:nvSpPr>
            <p:cNvPr id="185" name="Google Shape;185;p14"/>
            <p:cNvSpPr/>
            <p:nvPr/>
          </p:nvSpPr>
          <p:spPr>
            <a:xfrm>
              <a:off x="0" y="0"/>
              <a:ext cx="6827520" cy="2194560"/>
            </a:xfrm>
            <a:custGeom>
              <a:rect b="b" l="l" r="r" t="t"/>
              <a:pathLst>
                <a:path extrusionOk="0" h="2194560" w="6827520">
                  <a:moveTo>
                    <a:pt x="0" y="0"/>
                  </a:moveTo>
                  <a:lnTo>
                    <a:pt x="6827520" y="0"/>
                  </a:lnTo>
                  <a:lnTo>
                    <a:pt x="6827520" y="2194560"/>
                  </a:lnTo>
                  <a:lnTo>
                    <a:pt x="0" y="2194560"/>
                  </a:lnTo>
                  <a:close/>
                </a:path>
              </a:pathLst>
            </a:custGeom>
            <a:blipFill rotWithShape="1">
              <a:blip r:embed="rId3">
                <a:alphaModFix amt="0"/>
              </a:blip>
              <a:stretch>
                <a:fillRect b="-10619" l="0" r="0" t="-10619"/>
              </a:stretch>
            </a:blipFill>
            <a:ln>
              <a:noFill/>
            </a:ln>
          </p:spPr>
        </p:sp>
        <p:sp>
          <p:nvSpPr>
            <p:cNvPr id="186" name="Google Shape;186;p14"/>
            <p:cNvSpPr txBox="1"/>
            <p:nvPr/>
          </p:nvSpPr>
          <p:spPr>
            <a:xfrm>
              <a:off x="0" y="-38100"/>
              <a:ext cx="6827520" cy="22326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Spark Structured Streaming ile veri okundu, Bronze/Silver/Gold katmanlarına yazıldı.</a:t>
              </a:r>
              <a:endParaRPr/>
            </a:p>
          </p:txBody>
        </p:sp>
      </p:grpSp>
      <p:grpSp>
        <p:nvGrpSpPr>
          <p:cNvPr id="187" name="Google Shape;187;p14"/>
          <p:cNvGrpSpPr/>
          <p:nvPr/>
        </p:nvGrpSpPr>
        <p:grpSpPr>
          <a:xfrm>
            <a:off x="539115" y="6299835"/>
            <a:ext cx="5505450" cy="2487930"/>
            <a:chOff x="0" y="0"/>
            <a:chExt cx="7340600" cy="3317240"/>
          </a:xfrm>
        </p:grpSpPr>
        <p:sp>
          <p:nvSpPr>
            <p:cNvPr id="188" name="Google Shape;188;p14"/>
            <p:cNvSpPr/>
            <p:nvPr/>
          </p:nvSpPr>
          <p:spPr>
            <a:xfrm>
              <a:off x="12700" y="12700"/>
              <a:ext cx="7315200" cy="3291840"/>
            </a:xfrm>
            <a:custGeom>
              <a:rect b="b" l="l" r="r" t="t"/>
              <a:pathLst>
                <a:path extrusionOk="0" h="3291840" w="7315200">
                  <a:moveTo>
                    <a:pt x="0" y="0"/>
                  </a:moveTo>
                  <a:lnTo>
                    <a:pt x="7315200" y="0"/>
                  </a:lnTo>
                  <a:lnTo>
                    <a:pt x="7315200" y="3291840"/>
                  </a:lnTo>
                  <a:lnTo>
                    <a:pt x="0" y="3291840"/>
                  </a:lnTo>
                  <a:close/>
                </a:path>
              </a:pathLst>
            </a:custGeom>
            <a:solidFill>
              <a:srgbClr val="F4F4F4"/>
            </a:solidFill>
            <a:ln>
              <a:noFill/>
            </a:ln>
          </p:spPr>
        </p:sp>
        <p:sp>
          <p:nvSpPr>
            <p:cNvPr id="189" name="Google Shape;189;p14"/>
            <p:cNvSpPr/>
            <p:nvPr/>
          </p:nvSpPr>
          <p:spPr>
            <a:xfrm>
              <a:off x="0" y="0"/>
              <a:ext cx="7340600" cy="3317240"/>
            </a:xfrm>
            <a:custGeom>
              <a:rect b="b" l="l" r="r" t="t"/>
              <a:pathLst>
                <a:path extrusionOk="0" h="3317240" w="7340600">
                  <a:moveTo>
                    <a:pt x="12700" y="0"/>
                  </a:moveTo>
                  <a:lnTo>
                    <a:pt x="7327900" y="0"/>
                  </a:lnTo>
                  <a:cubicBezTo>
                    <a:pt x="7334885" y="0"/>
                    <a:pt x="7340600" y="5715"/>
                    <a:pt x="7340600" y="12700"/>
                  </a:cubicBezTo>
                  <a:lnTo>
                    <a:pt x="7340600" y="3304540"/>
                  </a:lnTo>
                  <a:cubicBezTo>
                    <a:pt x="7340600" y="3311525"/>
                    <a:pt x="7334885" y="3317240"/>
                    <a:pt x="7327900" y="3317240"/>
                  </a:cubicBezTo>
                  <a:lnTo>
                    <a:pt x="12700" y="3317240"/>
                  </a:lnTo>
                  <a:cubicBezTo>
                    <a:pt x="5715" y="3317240"/>
                    <a:pt x="0" y="3311525"/>
                    <a:pt x="0" y="3304540"/>
                  </a:cubicBezTo>
                  <a:lnTo>
                    <a:pt x="0" y="12700"/>
                  </a:lnTo>
                  <a:cubicBezTo>
                    <a:pt x="0" y="5715"/>
                    <a:pt x="5715" y="0"/>
                    <a:pt x="12700" y="0"/>
                  </a:cubicBezTo>
                  <a:moveTo>
                    <a:pt x="12700" y="25400"/>
                  </a:moveTo>
                  <a:lnTo>
                    <a:pt x="12700" y="12700"/>
                  </a:lnTo>
                  <a:lnTo>
                    <a:pt x="25400" y="12700"/>
                  </a:lnTo>
                  <a:lnTo>
                    <a:pt x="25400" y="3304540"/>
                  </a:lnTo>
                  <a:lnTo>
                    <a:pt x="12700" y="3304540"/>
                  </a:lnTo>
                  <a:lnTo>
                    <a:pt x="12700" y="3291840"/>
                  </a:lnTo>
                  <a:lnTo>
                    <a:pt x="7327900" y="3291840"/>
                  </a:lnTo>
                  <a:lnTo>
                    <a:pt x="7327900" y="3304540"/>
                  </a:lnTo>
                  <a:lnTo>
                    <a:pt x="7315200" y="330454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 name="Google Shape;190;p14"/>
          <p:cNvGrpSpPr/>
          <p:nvPr/>
        </p:nvGrpSpPr>
        <p:grpSpPr>
          <a:xfrm>
            <a:off x="535943" y="6296663"/>
            <a:ext cx="5511736" cy="610554"/>
            <a:chOff x="0" y="0"/>
            <a:chExt cx="7348982" cy="814072"/>
          </a:xfrm>
        </p:grpSpPr>
        <p:sp>
          <p:nvSpPr>
            <p:cNvPr id="191" name="Google Shape;191;p14"/>
            <p:cNvSpPr/>
            <p:nvPr/>
          </p:nvSpPr>
          <p:spPr>
            <a:xfrm>
              <a:off x="16891" y="16891"/>
              <a:ext cx="7315200" cy="780288"/>
            </a:xfrm>
            <a:custGeom>
              <a:rect b="b" l="l" r="r" t="t"/>
              <a:pathLst>
                <a:path extrusionOk="0" h="780288" w="7315200">
                  <a:moveTo>
                    <a:pt x="0" y="0"/>
                  </a:moveTo>
                  <a:lnTo>
                    <a:pt x="7315200" y="0"/>
                  </a:lnTo>
                  <a:lnTo>
                    <a:pt x="7315200" y="780288"/>
                  </a:lnTo>
                  <a:lnTo>
                    <a:pt x="0" y="780288"/>
                  </a:lnTo>
                  <a:close/>
                </a:path>
              </a:pathLst>
            </a:custGeom>
            <a:solidFill>
              <a:srgbClr val="121212"/>
            </a:solidFill>
            <a:ln>
              <a:noFill/>
            </a:ln>
          </p:spPr>
        </p:sp>
        <p:sp>
          <p:nvSpPr>
            <p:cNvPr id="192" name="Google Shape;192;p14"/>
            <p:cNvSpPr/>
            <p:nvPr/>
          </p:nvSpPr>
          <p:spPr>
            <a:xfrm>
              <a:off x="0" y="0"/>
              <a:ext cx="7348982" cy="814072"/>
            </a:xfrm>
            <a:custGeom>
              <a:rect b="b" l="l" r="r" t="t"/>
              <a:pathLst>
                <a:path extrusionOk="0" h="814072" w="7348982">
                  <a:moveTo>
                    <a:pt x="16891" y="0"/>
                  </a:moveTo>
                  <a:lnTo>
                    <a:pt x="7332091" y="0"/>
                  </a:lnTo>
                  <a:cubicBezTo>
                    <a:pt x="7341489" y="0"/>
                    <a:pt x="7348982" y="7620"/>
                    <a:pt x="7348982" y="16891"/>
                  </a:cubicBezTo>
                  <a:lnTo>
                    <a:pt x="7348982" y="797179"/>
                  </a:lnTo>
                  <a:cubicBezTo>
                    <a:pt x="7348982" y="806577"/>
                    <a:pt x="7341362" y="814070"/>
                    <a:pt x="73320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7332091" y="780288"/>
                  </a:lnTo>
                  <a:lnTo>
                    <a:pt x="7332091" y="797179"/>
                  </a:lnTo>
                  <a:lnTo>
                    <a:pt x="7315200" y="797179"/>
                  </a:lnTo>
                  <a:lnTo>
                    <a:pt x="7315200" y="16891"/>
                  </a:lnTo>
                  <a:lnTo>
                    <a:pt x="7332091" y="16891"/>
                  </a:lnTo>
                  <a:lnTo>
                    <a:pt x="733209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 name="Google Shape;193;p14"/>
          <p:cNvGrpSpPr/>
          <p:nvPr/>
        </p:nvGrpSpPr>
        <p:grpSpPr>
          <a:xfrm>
            <a:off x="731520" y="6353937"/>
            <a:ext cx="5120640" cy="504063"/>
            <a:chOff x="0" y="-38100"/>
            <a:chExt cx="6827520" cy="672084"/>
          </a:xfrm>
        </p:grpSpPr>
        <p:sp>
          <p:nvSpPr>
            <p:cNvPr id="194" name="Google Shape;194;p14"/>
            <p:cNvSpPr/>
            <p:nvPr/>
          </p:nvSpPr>
          <p:spPr>
            <a:xfrm>
              <a:off x="0" y="0"/>
              <a:ext cx="6827520" cy="633984"/>
            </a:xfrm>
            <a:custGeom>
              <a:rect b="b" l="l" r="r" t="t"/>
              <a:pathLst>
                <a:path extrusionOk="0" h="633984" w="6827520">
                  <a:moveTo>
                    <a:pt x="0" y="0"/>
                  </a:moveTo>
                  <a:lnTo>
                    <a:pt x="6827520" y="0"/>
                  </a:lnTo>
                  <a:lnTo>
                    <a:pt x="6827520" y="633984"/>
                  </a:lnTo>
                  <a:lnTo>
                    <a:pt x="0" y="633984"/>
                  </a:lnTo>
                  <a:close/>
                </a:path>
              </a:pathLst>
            </a:custGeom>
            <a:blipFill rotWithShape="1">
              <a:blip r:embed="rId3">
                <a:alphaModFix amt="0"/>
              </a:blip>
              <a:stretch>
                <a:fillRect b="-159837" l="0" r="0" t="-159837"/>
              </a:stretch>
            </a:blipFill>
            <a:ln>
              <a:noFill/>
            </a:ln>
          </p:spPr>
        </p:sp>
        <p:sp>
          <p:nvSpPr>
            <p:cNvPr id="195" name="Google Shape;195;p14"/>
            <p:cNvSpPr txBox="1"/>
            <p:nvPr/>
          </p:nvSpPr>
          <p:spPr>
            <a:xfrm>
              <a:off x="0" y="-38100"/>
              <a:ext cx="6827520" cy="6720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ML ile Tür Tahmini</a:t>
              </a:r>
              <a:endParaRPr/>
            </a:p>
          </p:txBody>
        </p:sp>
      </p:grpSp>
      <p:grpSp>
        <p:nvGrpSpPr>
          <p:cNvPr id="196" name="Google Shape;196;p14"/>
          <p:cNvGrpSpPr/>
          <p:nvPr/>
        </p:nvGrpSpPr>
        <p:grpSpPr>
          <a:xfrm>
            <a:off x="731520" y="6975729"/>
            <a:ext cx="5120640" cy="1674495"/>
            <a:chOff x="0" y="-38100"/>
            <a:chExt cx="6827520" cy="2232660"/>
          </a:xfrm>
        </p:grpSpPr>
        <p:sp>
          <p:nvSpPr>
            <p:cNvPr id="197" name="Google Shape;197;p14"/>
            <p:cNvSpPr/>
            <p:nvPr/>
          </p:nvSpPr>
          <p:spPr>
            <a:xfrm>
              <a:off x="0" y="0"/>
              <a:ext cx="6827520" cy="2194560"/>
            </a:xfrm>
            <a:custGeom>
              <a:rect b="b" l="l" r="r" t="t"/>
              <a:pathLst>
                <a:path extrusionOk="0" h="2194560" w="6827520">
                  <a:moveTo>
                    <a:pt x="0" y="0"/>
                  </a:moveTo>
                  <a:lnTo>
                    <a:pt x="6827520" y="0"/>
                  </a:lnTo>
                  <a:lnTo>
                    <a:pt x="6827520" y="2194560"/>
                  </a:lnTo>
                  <a:lnTo>
                    <a:pt x="0" y="2194560"/>
                  </a:lnTo>
                  <a:close/>
                </a:path>
              </a:pathLst>
            </a:custGeom>
            <a:blipFill rotWithShape="1">
              <a:blip r:embed="rId3">
                <a:alphaModFix amt="0"/>
              </a:blip>
              <a:stretch>
                <a:fillRect b="-10619" l="0" r="0" t="-10619"/>
              </a:stretch>
            </a:blipFill>
            <a:ln>
              <a:noFill/>
            </a:ln>
          </p:spPr>
        </p:sp>
        <p:sp>
          <p:nvSpPr>
            <p:cNvPr id="198" name="Google Shape;198;p14"/>
            <p:cNvSpPr txBox="1"/>
            <p:nvPr/>
          </p:nvSpPr>
          <p:spPr>
            <a:xfrm>
              <a:off x="0" y="-38100"/>
              <a:ext cx="6827520" cy="22326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5 model eğitildi. Random Forest en iyi sonucu verdi: AUC-ROC 0.944.</a:t>
              </a:r>
              <a:endParaRPr/>
            </a:p>
          </p:txBody>
        </p:sp>
      </p:grpSp>
      <p:grpSp>
        <p:nvGrpSpPr>
          <p:cNvPr id="199" name="Google Shape;199;p14"/>
          <p:cNvGrpSpPr/>
          <p:nvPr/>
        </p:nvGrpSpPr>
        <p:grpSpPr>
          <a:xfrm>
            <a:off x="6391275" y="6299835"/>
            <a:ext cx="5505450" cy="2487930"/>
            <a:chOff x="0" y="0"/>
            <a:chExt cx="7340600" cy="3317240"/>
          </a:xfrm>
        </p:grpSpPr>
        <p:sp>
          <p:nvSpPr>
            <p:cNvPr id="200" name="Google Shape;200;p14"/>
            <p:cNvSpPr/>
            <p:nvPr/>
          </p:nvSpPr>
          <p:spPr>
            <a:xfrm>
              <a:off x="12700" y="12700"/>
              <a:ext cx="7315200" cy="3291840"/>
            </a:xfrm>
            <a:custGeom>
              <a:rect b="b" l="l" r="r" t="t"/>
              <a:pathLst>
                <a:path extrusionOk="0" h="3291840" w="7315200">
                  <a:moveTo>
                    <a:pt x="0" y="0"/>
                  </a:moveTo>
                  <a:lnTo>
                    <a:pt x="7315200" y="0"/>
                  </a:lnTo>
                  <a:lnTo>
                    <a:pt x="7315200" y="3291840"/>
                  </a:lnTo>
                  <a:lnTo>
                    <a:pt x="0" y="3291840"/>
                  </a:lnTo>
                  <a:close/>
                </a:path>
              </a:pathLst>
            </a:custGeom>
            <a:solidFill>
              <a:srgbClr val="F4F4F4"/>
            </a:solidFill>
            <a:ln>
              <a:noFill/>
            </a:ln>
          </p:spPr>
        </p:sp>
        <p:sp>
          <p:nvSpPr>
            <p:cNvPr id="201" name="Google Shape;201;p14"/>
            <p:cNvSpPr/>
            <p:nvPr/>
          </p:nvSpPr>
          <p:spPr>
            <a:xfrm>
              <a:off x="0" y="0"/>
              <a:ext cx="7340600" cy="3317240"/>
            </a:xfrm>
            <a:custGeom>
              <a:rect b="b" l="l" r="r" t="t"/>
              <a:pathLst>
                <a:path extrusionOk="0" h="3317240" w="7340600">
                  <a:moveTo>
                    <a:pt x="12700" y="0"/>
                  </a:moveTo>
                  <a:lnTo>
                    <a:pt x="7327900" y="0"/>
                  </a:lnTo>
                  <a:cubicBezTo>
                    <a:pt x="7334885" y="0"/>
                    <a:pt x="7340600" y="5715"/>
                    <a:pt x="7340600" y="12700"/>
                  </a:cubicBezTo>
                  <a:lnTo>
                    <a:pt x="7340600" y="3304540"/>
                  </a:lnTo>
                  <a:cubicBezTo>
                    <a:pt x="7340600" y="3311525"/>
                    <a:pt x="7334885" y="3317240"/>
                    <a:pt x="7327900" y="3317240"/>
                  </a:cubicBezTo>
                  <a:lnTo>
                    <a:pt x="12700" y="3317240"/>
                  </a:lnTo>
                  <a:cubicBezTo>
                    <a:pt x="5715" y="3317240"/>
                    <a:pt x="0" y="3311525"/>
                    <a:pt x="0" y="3304540"/>
                  </a:cubicBezTo>
                  <a:lnTo>
                    <a:pt x="0" y="12700"/>
                  </a:lnTo>
                  <a:cubicBezTo>
                    <a:pt x="0" y="5715"/>
                    <a:pt x="5715" y="0"/>
                    <a:pt x="12700" y="0"/>
                  </a:cubicBezTo>
                  <a:moveTo>
                    <a:pt x="12700" y="25400"/>
                  </a:moveTo>
                  <a:lnTo>
                    <a:pt x="12700" y="12700"/>
                  </a:lnTo>
                  <a:lnTo>
                    <a:pt x="25400" y="12700"/>
                  </a:lnTo>
                  <a:lnTo>
                    <a:pt x="25400" y="3304540"/>
                  </a:lnTo>
                  <a:lnTo>
                    <a:pt x="12700" y="3304540"/>
                  </a:lnTo>
                  <a:lnTo>
                    <a:pt x="12700" y="3291840"/>
                  </a:lnTo>
                  <a:lnTo>
                    <a:pt x="7327900" y="3291840"/>
                  </a:lnTo>
                  <a:lnTo>
                    <a:pt x="7327900" y="3304540"/>
                  </a:lnTo>
                  <a:lnTo>
                    <a:pt x="7315200" y="330454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 name="Google Shape;202;p14"/>
          <p:cNvGrpSpPr/>
          <p:nvPr/>
        </p:nvGrpSpPr>
        <p:grpSpPr>
          <a:xfrm>
            <a:off x="6388103" y="6296663"/>
            <a:ext cx="5511736" cy="610554"/>
            <a:chOff x="0" y="0"/>
            <a:chExt cx="7348982" cy="814072"/>
          </a:xfrm>
        </p:grpSpPr>
        <p:sp>
          <p:nvSpPr>
            <p:cNvPr id="203" name="Google Shape;203;p14"/>
            <p:cNvSpPr/>
            <p:nvPr/>
          </p:nvSpPr>
          <p:spPr>
            <a:xfrm>
              <a:off x="16891" y="16891"/>
              <a:ext cx="7315200" cy="780288"/>
            </a:xfrm>
            <a:custGeom>
              <a:rect b="b" l="l" r="r" t="t"/>
              <a:pathLst>
                <a:path extrusionOk="0" h="780288" w="7315200">
                  <a:moveTo>
                    <a:pt x="0" y="0"/>
                  </a:moveTo>
                  <a:lnTo>
                    <a:pt x="7315200" y="0"/>
                  </a:lnTo>
                  <a:lnTo>
                    <a:pt x="7315200" y="780288"/>
                  </a:lnTo>
                  <a:lnTo>
                    <a:pt x="0" y="780288"/>
                  </a:lnTo>
                  <a:close/>
                </a:path>
              </a:pathLst>
            </a:custGeom>
            <a:solidFill>
              <a:srgbClr val="121212"/>
            </a:solidFill>
            <a:ln>
              <a:noFill/>
            </a:ln>
          </p:spPr>
        </p:sp>
        <p:sp>
          <p:nvSpPr>
            <p:cNvPr id="204" name="Google Shape;204;p14"/>
            <p:cNvSpPr/>
            <p:nvPr/>
          </p:nvSpPr>
          <p:spPr>
            <a:xfrm>
              <a:off x="0" y="0"/>
              <a:ext cx="7348982" cy="814072"/>
            </a:xfrm>
            <a:custGeom>
              <a:rect b="b" l="l" r="r" t="t"/>
              <a:pathLst>
                <a:path extrusionOk="0" h="814072" w="7348982">
                  <a:moveTo>
                    <a:pt x="16891" y="0"/>
                  </a:moveTo>
                  <a:lnTo>
                    <a:pt x="7332091" y="0"/>
                  </a:lnTo>
                  <a:cubicBezTo>
                    <a:pt x="7341489" y="0"/>
                    <a:pt x="7348982" y="7620"/>
                    <a:pt x="7348982" y="16891"/>
                  </a:cubicBezTo>
                  <a:lnTo>
                    <a:pt x="7348982" y="797179"/>
                  </a:lnTo>
                  <a:cubicBezTo>
                    <a:pt x="7348982" y="806577"/>
                    <a:pt x="7341362" y="814070"/>
                    <a:pt x="73320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7332091" y="780288"/>
                  </a:lnTo>
                  <a:lnTo>
                    <a:pt x="7332091" y="797179"/>
                  </a:lnTo>
                  <a:lnTo>
                    <a:pt x="7315200" y="797179"/>
                  </a:lnTo>
                  <a:lnTo>
                    <a:pt x="7315200" y="16891"/>
                  </a:lnTo>
                  <a:lnTo>
                    <a:pt x="7332091" y="16891"/>
                  </a:lnTo>
                  <a:lnTo>
                    <a:pt x="733209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 name="Google Shape;205;p14"/>
          <p:cNvGrpSpPr/>
          <p:nvPr/>
        </p:nvGrpSpPr>
        <p:grpSpPr>
          <a:xfrm>
            <a:off x="6583680" y="6353937"/>
            <a:ext cx="5120640" cy="504063"/>
            <a:chOff x="0" y="-38100"/>
            <a:chExt cx="6827520" cy="672084"/>
          </a:xfrm>
        </p:grpSpPr>
        <p:sp>
          <p:nvSpPr>
            <p:cNvPr id="206" name="Google Shape;206;p14"/>
            <p:cNvSpPr/>
            <p:nvPr/>
          </p:nvSpPr>
          <p:spPr>
            <a:xfrm>
              <a:off x="0" y="0"/>
              <a:ext cx="6827520" cy="633984"/>
            </a:xfrm>
            <a:custGeom>
              <a:rect b="b" l="l" r="r" t="t"/>
              <a:pathLst>
                <a:path extrusionOk="0" h="633984" w="6827520">
                  <a:moveTo>
                    <a:pt x="0" y="0"/>
                  </a:moveTo>
                  <a:lnTo>
                    <a:pt x="6827520" y="0"/>
                  </a:lnTo>
                  <a:lnTo>
                    <a:pt x="6827520" y="633984"/>
                  </a:lnTo>
                  <a:lnTo>
                    <a:pt x="0" y="633984"/>
                  </a:lnTo>
                  <a:close/>
                </a:path>
              </a:pathLst>
            </a:custGeom>
            <a:blipFill rotWithShape="1">
              <a:blip r:embed="rId3">
                <a:alphaModFix amt="0"/>
              </a:blip>
              <a:stretch>
                <a:fillRect b="-159837" l="0" r="0" t="-159837"/>
              </a:stretch>
            </a:blipFill>
            <a:ln>
              <a:noFill/>
            </a:ln>
          </p:spPr>
        </p:sp>
        <p:sp>
          <p:nvSpPr>
            <p:cNvPr id="207" name="Google Shape;207;p14"/>
            <p:cNvSpPr txBox="1"/>
            <p:nvPr/>
          </p:nvSpPr>
          <p:spPr>
            <a:xfrm>
              <a:off x="0" y="-38100"/>
              <a:ext cx="6827520" cy="6720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MLflow + Dashboard</a:t>
              </a:r>
              <a:endParaRPr/>
            </a:p>
          </p:txBody>
        </p:sp>
      </p:grpSp>
      <p:grpSp>
        <p:nvGrpSpPr>
          <p:cNvPr id="208" name="Google Shape;208;p14"/>
          <p:cNvGrpSpPr/>
          <p:nvPr/>
        </p:nvGrpSpPr>
        <p:grpSpPr>
          <a:xfrm>
            <a:off x="6583680" y="6975729"/>
            <a:ext cx="5120640" cy="1674495"/>
            <a:chOff x="0" y="-38100"/>
            <a:chExt cx="6827520" cy="2232660"/>
          </a:xfrm>
        </p:grpSpPr>
        <p:sp>
          <p:nvSpPr>
            <p:cNvPr id="209" name="Google Shape;209;p14"/>
            <p:cNvSpPr/>
            <p:nvPr/>
          </p:nvSpPr>
          <p:spPr>
            <a:xfrm>
              <a:off x="0" y="0"/>
              <a:ext cx="6827520" cy="2194560"/>
            </a:xfrm>
            <a:custGeom>
              <a:rect b="b" l="l" r="r" t="t"/>
              <a:pathLst>
                <a:path extrusionOk="0" h="2194560" w="6827520">
                  <a:moveTo>
                    <a:pt x="0" y="0"/>
                  </a:moveTo>
                  <a:lnTo>
                    <a:pt x="6827520" y="0"/>
                  </a:lnTo>
                  <a:lnTo>
                    <a:pt x="6827520" y="2194560"/>
                  </a:lnTo>
                  <a:lnTo>
                    <a:pt x="0" y="2194560"/>
                  </a:lnTo>
                  <a:close/>
                </a:path>
              </a:pathLst>
            </a:custGeom>
            <a:blipFill rotWithShape="1">
              <a:blip r:embed="rId3">
                <a:alphaModFix amt="0"/>
              </a:blip>
              <a:stretch>
                <a:fillRect b="-10619" l="0" r="0" t="-10619"/>
              </a:stretch>
            </a:blipFill>
            <a:ln>
              <a:noFill/>
            </a:ln>
          </p:spPr>
        </p:sp>
        <p:sp>
          <p:nvSpPr>
            <p:cNvPr id="210" name="Google Shape;210;p14"/>
            <p:cNvSpPr txBox="1"/>
            <p:nvPr/>
          </p:nvSpPr>
          <p:spPr>
            <a:xfrm>
              <a:off x="0" y="-38100"/>
              <a:ext cx="6827520" cy="22326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Tüm modeller MLflow'a loglandı. 11 görsel ile sonuçlar görselleştirildi.</a:t>
              </a:r>
              <a:endParaRPr/>
            </a:p>
          </p:txBody>
        </p:sp>
      </p:grpSp>
      <p:grpSp>
        <p:nvGrpSpPr>
          <p:cNvPr id="211" name="Google Shape;211;p14"/>
          <p:cNvGrpSpPr/>
          <p:nvPr/>
        </p:nvGrpSpPr>
        <p:grpSpPr>
          <a:xfrm>
            <a:off x="12243435" y="6299835"/>
            <a:ext cx="5505450" cy="2487930"/>
            <a:chOff x="0" y="0"/>
            <a:chExt cx="7340600" cy="3317240"/>
          </a:xfrm>
        </p:grpSpPr>
        <p:sp>
          <p:nvSpPr>
            <p:cNvPr id="212" name="Google Shape;212;p14"/>
            <p:cNvSpPr/>
            <p:nvPr/>
          </p:nvSpPr>
          <p:spPr>
            <a:xfrm>
              <a:off x="12700" y="12700"/>
              <a:ext cx="7315200" cy="3291840"/>
            </a:xfrm>
            <a:custGeom>
              <a:rect b="b" l="l" r="r" t="t"/>
              <a:pathLst>
                <a:path extrusionOk="0" h="3291840" w="7315200">
                  <a:moveTo>
                    <a:pt x="0" y="0"/>
                  </a:moveTo>
                  <a:lnTo>
                    <a:pt x="7315200" y="0"/>
                  </a:lnTo>
                  <a:lnTo>
                    <a:pt x="7315200" y="3291840"/>
                  </a:lnTo>
                  <a:lnTo>
                    <a:pt x="0" y="3291840"/>
                  </a:lnTo>
                  <a:close/>
                </a:path>
              </a:pathLst>
            </a:custGeom>
            <a:solidFill>
              <a:srgbClr val="F4F4F4"/>
            </a:solidFill>
            <a:ln>
              <a:noFill/>
            </a:ln>
          </p:spPr>
        </p:sp>
        <p:sp>
          <p:nvSpPr>
            <p:cNvPr id="213" name="Google Shape;213;p14"/>
            <p:cNvSpPr/>
            <p:nvPr/>
          </p:nvSpPr>
          <p:spPr>
            <a:xfrm>
              <a:off x="0" y="0"/>
              <a:ext cx="7340600" cy="3317240"/>
            </a:xfrm>
            <a:custGeom>
              <a:rect b="b" l="l" r="r" t="t"/>
              <a:pathLst>
                <a:path extrusionOk="0" h="3317240" w="7340600">
                  <a:moveTo>
                    <a:pt x="12700" y="0"/>
                  </a:moveTo>
                  <a:lnTo>
                    <a:pt x="7327900" y="0"/>
                  </a:lnTo>
                  <a:cubicBezTo>
                    <a:pt x="7334885" y="0"/>
                    <a:pt x="7340600" y="5715"/>
                    <a:pt x="7340600" y="12700"/>
                  </a:cubicBezTo>
                  <a:lnTo>
                    <a:pt x="7340600" y="3304540"/>
                  </a:lnTo>
                  <a:cubicBezTo>
                    <a:pt x="7340600" y="3311525"/>
                    <a:pt x="7334885" y="3317240"/>
                    <a:pt x="7327900" y="3317240"/>
                  </a:cubicBezTo>
                  <a:lnTo>
                    <a:pt x="12700" y="3317240"/>
                  </a:lnTo>
                  <a:cubicBezTo>
                    <a:pt x="5715" y="3317240"/>
                    <a:pt x="0" y="3311525"/>
                    <a:pt x="0" y="3304540"/>
                  </a:cubicBezTo>
                  <a:lnTo>
                    <a:pt x="0" y="12700"/>
                  </a:lnTo>
                  <a:cubicBezTo>
                    <a:pt x="0" y="5715"/>
                    <a:pt x="5715" y="0"/>
                    <a:pt x="12700" y="0"/>
                  </a:cubicBezTo>
                  <a:moveTo>
                    <a:pt x="12700" y="25400"/>
                  </a:moveTo>
                  <a:lnTo>
                    <a:pt x="12700" y="12700"/>
                  </a:lnTo>
                  <a:lnTo>
                    <a:pt x="25400" y="12700"/>
                  </a:lnTo>
                  <a:lnTo>
                    <a:pt x="25400" y="3304540"/>
                  </a:lnTo>
                  <a:lnTo>
                    <a:pt x="12700" y="3304540"/>
                  </a:lnTo>
                  <a:lnTo>
                    <a:pt x="12700" y="3291840"/>
                  </a:lnTo>
                  <a:lnTo>
                    <a:pt x="7327900" y="3291840"/>
                  </a:lnTo>
                  <a:lnTo>
                    <a:pt x="7327900" y="3304540"/>
                  </a:lnTo>
                  <a:lnTo>
                    <a:pt x="7315200" y="330454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4"/>
          <p:cNvGrpSpPr/>
          <p:nvPr/>
        </p:nvGrpSpPr>
        <p:grpSpPr>
          <a:xfrm>
            <a:off x="12240263" y="6296663"/>
            <a:ext cx="5511736" cy="610554"/>
            <a:chOff x="0" y="0"/>
            <a:chExt cx="7348982" cy="814072"/>
          </a:xfrm>
        </p:grpSpPr>
        <p:sp>
          <p:nvSpPr>
            <p:cNvPr id="215" name="Google Shape;215;p14"/>
            <p:cNvSpPr/>
            <p:nvPr/>
          </p:nvSpPr>
          <p:spPr>
            <a:xfrm>
              <a:off x="16891" y="16891"/>
              <a:ext cx="7315200" cy="780288"/>
            </a:xfrm>
            <a:custGeom>
              <a:rect b="b" l="l" r="r" t="t"/>
              <a:pathLst>
                <a:path extrusionOk="0" h="780288" w="7315200">
                  <a:moveTo>
                    <a:pt x="0" y="0"/>
                  </a:moveTo>
                  <a:lnTo>
                    <a:pt x="7315200" y="0"/>
                  </a:lnTo>
                  <a:lnTo>
                    <a:pt x="7315200" y="780288"/>
                  </a:lnTo>
                  <a:lnTo>
                    <a:pt x="0" y="780288"/>
                  </a:lnTo>
                  <a:close/>
                </a:path>
              </a:pathLst>
            </a:custGeom>
            <a:solidFill>
              <a:srgbClr val="121212"/>
            </a:solidFill>
            <a:ln>
              <a:noFill/>
            </a:ln>
          </p:spPr>
        </p:sp>
        <p:sp>
          <p:nvSpPr>
            <p:cNvPr id="216" name="Google Shape;216;p14"/>
            <p:cNvSpPr/>
            <p:nvPr/>
          </p:nvSpPr>
          <p:spPr>
            <a:xfrm>
              <a:off x="0" y="0"/>
              <a:ext cx="7348982" cy="814072"/>
            </a:xfrm>
            <a:custGeom>
              <a:rect b="b" l="l" r="r" t="t"/>
              <a:pathLst>
                <a:path extrusionOk="0" h="814072" w="7348982">
                  <a:moveTo>
                    <a:pt x="16891" y="0"/>
                  </a:moveTo>
                  <a:lnTo>
                    <a:pt x="7332091" y="0"/>
                  </a:lnTo>
                  <a:cubicBezTo>
                    <a:pt x="7341489" y="0"/>
                    <a:pt x="7348982" y="7620"/>
                    <a:pt x="7348982" y="16891"/>
                  </a:cubicBezTo>
                  <a:lnTo>
                    <a:pt x="7348982" y="797179"/>
                  </a:lnTo>
                  <a:cubicBezTo>
                    <a:pt x="7348982" y="806577"/>
                    <a:pt x="7341362" y="814070"/>
                    <a:pt x="73320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7332091" y="780288"/>
                  </a:lnTo>
                  <a:lnTo>
                    <a:pt x="7332091" y="797179"/>
                  </a:lnTo>
                  <a:lnTo>
                    <a:pt x="7315200" y="797179"/>
                  </a:lnTo>
                  <a:lnTo>
                    <a:pt x="7315200" y="16891"/>
                  </a:lnTo>
                  <a:lnTo>
                    <a:pt x="7332091" y="16891"/>
                  </a:lnTo>
                  <a:lnTo>
                    <a:pt x="733209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 name="Google Shape;217;p14"/>
          <p:cNvGrpSpPr/>
          <p:nvPr/>
        </p:nvGrpSpPr>
        <p:grpSpPr>
          <a:xfrm>
            <a:off x="12435840" y="6353937"/>
            <a:ext cx="5120640" cy="504063"/>
            <a:chOff x="0" y="-38100"/>
            <a:chExt cx="6827520" cy="672084"/>
          </a:xfrm>
        </p:grpSpPr>
        <p:sp>
          <p:nvSpPr>
            <p:cNvPr id="218" name="Google Shape;218;p14"/>
            <p:cNvSpPr/>
            <p:nvPr/>
          </p:nvSpPr>
          <p:spPr>
            <a:xfrm>
              <a:off x="0" y="0"/>
              <a:ext cx="6827520" cy="633984"/>
            </a:xfrm>
            <a:custGeom>
              <a:rect b="b" l="l" r="r" t="t"/>
              <a:pathLst>
                <a:path extrusionOk="0" h="633984" w="6827520">
                  <a:moveTo>
                    <a:pt x="0" y="0"/>
                  </a:moveTo>
                  <a:lnTo>
                    <a:pt x="6827520" y="0"/>
                  </a:lnTo>
                  <a:lnTo>
                    <a:pt x="6827520" y="633984"/>
                  </a:lnTo>
                  <a:lnTo>
                    <a:pt x="0" y="633984"/>
                  </a:lnTo>
                  <a:close/>
                </a:path>
              </a:pathLst>
            </a:custGeom>
            <a:blipFill rotWithShape="1">
              <a:blip r:embed="rId3">
                <a:alphaModFix amt="0"/>
              </a:blip>
              <a:stretch>
                <a:fillRect b="-159837" l="0" r="0" t="-159837"/>
              </a:stretch>
            </a:blipFill>
            <a:ln>
              <a:noFill/>
            </a:ln>
          </p:spPr>
        </p:sp>
        <p:sp>
          <p:nvSpPr>
            <p:cNvPr id="219" name="Google Shape;219;p14"/>
            <p:cNvSpPr txBox="1"/>
            <p:nvPr/>
          </p:nvSpPr>
          <p:spPr>
            <a:xfrm>
              <a:off x="0" y="-38100"/>
              <a:ext cx="6827520" cy="6720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113 Müzik Türü</a:t>
              </a:r>
              <a:endParaRPr/>
            </a:p>
          </p:txBody>
        </p:sp>
      </p:grpSp>
      <p:grpSp>
        <p:nvGrpSpPr>
          <p:cNvPr id="220" name="Google Shape;220;p14"/>
          <p:cNvGrpSpPr/>
          <p:nvPr/>
        </p:nvGrpSpPr>
        <p:grpSpPr>
          <a:xfrm>
            <a:off x="12435840" y="6975729"/>
            <a:ext cx="5120640" cy="1674495"/>
            <a:chOff x="0" y="-38100"/>
            <a:chExt cx="6827520" cy="2232660"/>
          </a:xfrm>
        </p:grpSpPr>
        <p:sp>
          <p:nvSpPr>
            <p:cNvPr id="221" name="Google Shape;221;p14"/>
            <p:cNvSpPr/>
            <p:nvPr/>
          </p:nvSpPr>
          <p:spPr>
            <a:xfrm>
              <a:off x="0" y="0"/>
              <a:ext cx="6827520" cy="2194560"/>
            </a:xfrm>
            <a:custGeom>
              <a:rect b="b" l="l" r="r" t="t"/>
              <a:pathLst>
                <a:path extrusionOk="0" h="2194560" w="6827520">
                  <a:moveTo>
                    <a:pt x="0" y="0"/>
                  </a:moveTo>
                  <a:lnTo>
                    <a:pt x="6827520" y="0"/>
                  </a:lnTo>
                  <a:lnTo>
                    <a:pt x="6827520" y="2194560"/>
                  </a:lnTo>
                  <a:lnTo>
                    <a:pt x="0" y="2194560"/>
                  </a:lnTo>
                  <a:close/>
                </a:path>
              </a:pathLst>
            </a:custGeom>
            <a:blipFill rotWithShape="1">
              <a:blip r:embed="rId3">
                <a:alphaModFix amt="0"/>
              </a:blip>
              <a:stretch>
                <a:fillRect b="-10619" l="0" r="0" t="-10619"/>
              </a:stretch>
            </a:blipFill>
            <a:ln>
              <a:noFill/>
            </a:ln>
          </p:spPr>
        </p:sp>
        <p:sp>
          <p:nvSpPr>
            <p:cNvPr id="222" name="Google Shape;222;p14"/>
            <p:cNvSpPr txBox="1"/>
            <p:nvPr/>
          </p:nvSpPr>
          <p:spPr>
            <a:xfrm>
              <a:off x="0" y="-38100"/>
              <a:ext cx="6827520" cy="22326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track_genre hedef değişkeni. 113 farklı türü müzik özellikleriyle tahmin ettik.</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grpSp>
        <p:nvGrpSpPr>
          <p:cNvPr id="231" name="Google Shape;231;p15"/>
          <p:cNvGrpSpPr/>
          <p:nvPr/>
        </p:nvGrpSpPr>
        <p:grpSpPr>
          <a:xfrm>
            <a:off x="-12697" y="-12697"/>
            <a:ext cx="18313336" cy="1579816"/>
            <a:chOff x="0" y="0"/>
            <a:chExt cx="24417782" cy="2106422"/>
          </a:xfrm>
        </p:grpSpPr>
        <p:sp>
          <p:nvSpPr>
            <p:cNvPr id="232" name="Google Shape;232;p15"/>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233" name="Google Shape;233;p15"/>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5"/>
          <p:cNvGrpSpPr/>
          <p:nvPr/>
        </p:nvGrpSpPr>
        <p:grpSpPr>
          <a:xfrm>
            <a:off x="-12697" y="-12697"/>
            <a:ext cx="244792" cy="1579816"/>
            <a:chOff x="0" y="0"/>
            <a:chExt cx="326390" cy="2106422"/>
          </a:xfrm>
        </p:grpSpPr>
        <p:sp>
          <p:nvSpPr>
            <p:cNvPr id="235" name="Google Shape;235;p15"/>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236" name="Google Shape;236;p15"/>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 name="Google Shape;237;p15"/>
          <p:cNvGrpSpPr/>
          <p:nvPr/>
        </p:nvGrpSpPr>
        <p:grpSpPr>
          <a:xfrm>
            <a:off x="548640" y="89154"/>
            <a:ext cx="12801600" cy="880110"/>
            <a:chOff x="0" y="-76200"/>
            <a:chExt cx="17068800" cy="1173480"/>
          </a:xfrm>
        </p:grpSpPr>
        <p:sp>
          <p:nvSpPr>
            <p:cNvPr id="238" name="Google Shape;238;p15"/>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239" name="Google Shape;239;p15"/>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Sistem Mimarisi</a:t>
              </a:r>
              <a:endParaRPr/>
            </a:p>
          </p:txBody>
        </p:sp>
      </p:grpSp>
      <p:grpSp>
        <p:nvGrpSpPr>
          <p:cNvPr id="240" name="Google Shape;240;p15"/>
          <p:cNvGrpSpPr/>
          <p:nvPr/>
        </p:nvGrpSpPr>
        <p:grpSpPr>
          <a:xfrm>
            <a:off x="548640" y="915257"/>
            <a:ext cx="16459200" cy="547783"/>
            <a:chOff x="0" y="-47625"/>
            <a:chExt cx="21945600" cy="730377"/>
          </a:xfrm>
        </p:grpSpPr>
        <p:sp>
          <p:nvSpPr>
            <p:cNvPr id="241" name="Google Shape;241;p15"/>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242" name="Google Shape;242;p15"/>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Uçtan uca pipeline — 6 servis, tek docker-compose up</a:t>
              </a:r>
              <a:endParaRPr/>
            </a:p>
          </p:txBody>
        </p:sp>
      </p:grpSp>
      <p:grpSp>
        <p:nvGrpSpPr>
          <p:cNvPr id="243" name="Google Shape;243;p15"/>
          <p:cNvGrpSpPr/>
          <p:nvPr/>
        </p:nvGrpSpPr>
        <p:grpSpPr>
          <a:xfrm>
            <a:off x="-12697" y="1541783"/>
            <a:ext cx="18313336" cy="98490"/>
            <a:chOff x="0" y="0"/>
            <a:chExt cx="24417782" cy="131320"/>
          </a:xfrm>
        </p:grpSpPr>
        <p:sp>
          <p:nvSpPr>
            <p:cNvPr id="244" name="Google Shape;244;p15"/>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245" name="Google Shape;245;p15"/>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 name="Google Shape;246;p15"/>
          <p:cNvGrpSpPr/>
          <p:nvPr/>
        </p:nvGrpSpPr>
        <p:grpSpPr>
          <a:xfrm>
            <a:off x="444503" y="1998983"/>
            <a:ext cx="2585656" cy="2037016"/>
            <a:chOff x="0" y="0"/>
            <a:chExt cx="3447542" cy="2716022"/>
          </a:xfrm>
        </p:grpSpPr>
        <p:sp>
          <p:nvSpPr>
            <p:cNvPr id="247" name="Google Shape;247;p15"/>
            <p:cNvSpPr/>
            <p:nvPr/>
          </p:nvSpPr>
          <p:spPr>
            <a:xfrm>
              <a:off x="16891" y="16891"/>
              <a:ext cx="3413760" cy="2682240"/>
            </a:xfrm>
            <a:custGeom>
              <a:rect b="b" l="l" r="r" t="t"/>
              <a:pathLst>
                <a:path extrusionOk="0" h="2682240" w="3413760">
                  <a:moveTo>
                    <a:pt x="0" y="0"/>
                  </a:moveTo>
                  <a:lnTo>
                    <a:pt x="3413760" y="0"/>
                  </a:lnTo>
                  <a:lnTo>
                    <a:pt x="3413760" y="2682240"/>
                  </a:lnTo>
                  <a:lnTo>
                    <a:pt x="0" y="2682240"/>
                  </a:lnTo>
                  <a:close/>
                </a:path>
              </a:pathLst>
            </a:custGeom>
            <a:solidFill>
              <a:srgbClr val="555555"/>
            </a:solidFill>
            <a:ln>
              <a:noFill/>
            </a:ln>
          </p:spPr>
        </p:sp>
        <p:sp>
          <p:nvSpPr>
            <p:cNvPr id="248" name="Google Shape;248;p15"/>
            <p:cNvSpPr/>
            <p:nvPr/>
          </p:nvSpPr>
          <p:spPr>
            <a:xfrm>
              <a:off x="0" y="0"/>
              <a:ext cx="3447542" cy="2716022"/>
            </a:xfrm>
            <a:custGeom>
              <a:rect b="b" l="l" r="r" t="t"/>
              <a:pathLst>
                <a:path extrusionOk="0" h="2716022" w="3447542">
                  <a:moveTo>
                    <a:pt x="16891" y="0"/>
                  </a:moveTo>
                  <a:lnTo>
                    <a:pt x="3430651" y="0"/>
                  </a:lnTo>
                  <a:cubicBezTo>
                    <a:pt x="3440049" y="0"/>
                    <a:pt x="3447542" y="7620"/>
                    <a:pt x="3447542" y="16891"/>
                  </a:cubicBezTo>
                  <a:lnTo>
                    <a:pt x="3447542" y="2699131"/>
                  </a:lnTo>
                  <a:cubicBezTo>
                    <a:pt x="3447542" y="2708529"/>
                    <a:pt x="3439922" y="2716022"/>
                    <a:pt x="34306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3430651" y="2682240"/>
                  </a:lnTo>
                  <a:lnTo>
                    <a:pt x="3430651" y="2699131"/>
                  </a:lnTo>
                  <a:lnTo>
                    <a:pt x="3413760" y="2699131"/>
                  </a:lnTo>
                  <a:lnTo>
                    <a:pt x="3413760" y="16891"/>
                  </a:lnTo>
                  <a:lnTo>
                    <a:pt x="3430651" y="16891"/>
                  </a:lnTo>
                  <a:lnTo>
                    <a:pt x="3430651" y="33909"/>
                  </a:lnTo>
                  <a:lnTo>
                    <a:pt x="16891" y="33909"/>
                  </a:lnTo>
                  <a:close/>
                </a:path>
              </a:pathLst>
            </a:custGeom>
            <a:solidFill>
              <a:srgbClr val="5555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5"/>
          <p:cNvGrpSpPr/>
          <p:nvPr/>
        </p:nvGrpSpPr>
        <p:grpSpPr>
          <a:xfrm>
            <a:off x="457200" y="1983105"/>
            <a:ext cx="2560320" cy="2040255"/>
            <a:chOff x="0" y="-38100"/>
            <a:chExt cx="3413760" cy="2720340"/>
          </a:xfrm>
        </p:grpSpPr>
        <p:sp>
          <p:nvSpPr>
            <p:cNvPr id="250" name="Google Shape;250;p15"/>
            <p:cNvSpPr/>
            <p:nvPr/>
          </p:nvSpPr>
          <p:spPr>
            <a:xfrm>
              <a:off x="0" y="0"/>
              <a:ext cx="3413760" cy="2682240"/>
            </a:xfrm>
            <a:custGeom>
              <a:rect b="b" l="l" r="r" t="t"/>
              <a:pathLst>
                <a:path extrusionOk="0" h="2682240" w="3413760">
                  <a:moveTo>
                    <a:pt x="0" y="0"/>
                  </a:moveTo>
                  <a:lnTo>
                    <a:pt x="3413760" y="0"/>
                  </a:lnTo>
                  <a:lnTo>
                    <a:pt x="3413760" y="2682240"/>
                  </a:lnTo>
                  <a:lnTo>
                    <a:pt x="0" y="2682240"/>
                  </a:lnTo>
                  <a:close/>
                </a:path>
              </a:pathLst>
            </a:custGeom>
            <a:blipFill rotWithShape="1">
              <a:blip r:embed="rId3">
                <a:alphaModFix amt="0"/>
              </a:blip>
              <a:stretch>
                <a:fillRect b="0" l="-50811" r="-50811" t="0"/>
              </a:stretch>
            </a:blipFill>
            <a:ln>
              <a:noFill/>
            </a:ln>
          </p:spPr>
        </p:sp>
        <p:sp>
          <p:nvSpPr>
            <p:cNvPr id="251" name="Google Shape;251;p15"/>
            <p:cNvSpPr txBox="1"/>
            <p:nvPr/>
          </p:nvSpPr>
          <p:spPr>
            <a:xfrm>
              <a:off x="0" y="-38100"/>
              <a:ext cx="3413760" cy="27203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dataset.csv</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114K şarkı</a:t>
              </a:r>
              <a:endParaRPr/>
            </a:p>
          </p:txBody>
        </p:sp>
      </p:grpSp>
      <p:grpSp>
        <p:nvGrpSpPr>
          <p:cNvPr id="252" name="Google Shape;252;p15"/>
          <p:cNvGrpSpPr/>
          <p:nvPr/>
        </p:nvGrpSpPr>
        <p:grpSpPr>
          <a:xfrm>
            <a:off x="3017520" y="2601754"/>
            <a:ext cx="365760" cy="781526"/>
            <a:chOff x="0" y="-66675"/>
            <a:chExt cx="487680" cy="1042035"/>
          </a:xfrm>
        </p:grpSpPr>
        <p:sp>
          <p:nvSpPr>
            <p:cNvPr id="253" name="Google Shape;253;p15"/>
            <p:cNvSpPr/>
            <p:nvPr/>
          </p:nvSpPr>
          <p:spPr>
            <a:xfrm>
              <a:off x="0" y="0"/>
              <a:ext cx="487680" cy="975360"/>
            </a:xfrm>
            <a:custGeom>
              <a:rect b="b" l="l" r="r" t="t"/>
              <a:pathLst>
                <a:path extrusionOk="0" h="975360" w="487680">
                  <a:moveTo>
                    <a:pt x="0" y="0"/>
                  </a:moveTo>
                  <a:lnTo>
                    <a:pt x="487680" y="0"/>
                  </a:lnTo>
                  <a:lnTo>
                    <a:pt x="487680" y="975360"/>
                  </a:lnTo>
                  <a:lnTo>
                    <a:pt x="0" y="975360"/>
                  </a:lnTo>
                  <a:close/>
                </a:path>
              </a:pathLst>
            </a:custGeom>
            <a:blipFill rotWithShape="1">
              <a:blip r:embed="rId3">
                <a:alphaModFix amt="0"/>
              </a:blip>
              <a:stretch>
                <a:fillRect b="0" l="-206594" r="-206594" t="0"/>
              </a:stretch>
            </a:blipFill>
            <a:ln>
              <a:noFill/>
            </a:ln>
          </p:spPr>
        </p:sp>
        <p:sp>
          <p:nvSpPr>
            <p:cNvPr id="254" name="Google Shape;254;p15"/>
            <p:cNvSpPr txBox="1"/>
            <p:nvPr/>
          </p:nvSpPr>
          <p:spPr>
            <a:xfrm>
              <a:off x="0" y="-66675"/>
              <a:ext cx="487680" cy="104203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3600" u="none" cap="none" strike="noStrike">
                  <a:solidFill>
                    <a:srgbClr val="AAAAAA"/>
                  </a:solidFill>
                  <a:latin typeface="Calibri"/>
                  <a:ea typeface="Calibri"/>
                  <a:cs typeface="Calibri"/>
                  <a:sym typeface="Calibri"/>
                </a:rPr>
                <a:t>→</a:t>
              </a:r>
              <a:endParaRPr/>
            </a:p>
          </p:txBody>
        </p:sp>
      </p:grpSp>
      <p:grpSp>
        <p:nvGrpSpPr>
          <p:cNvPr id="255" name="Google Shape;255;p15"/>
          <p:cNvGrpSpPr/>
          <p:nvPr/>
        </p:nvGrpSpPr>
        <p:grpSpPr>
          <a:xfrm>
            <a:off x="3370583" y="1998983"/>
            <a:ext cx="2585656" cy="2037016"/>
            <a:chOff x="0" y="0"/>
            <a:chExt cx="3447542" cy="2716022"/>
          </a:xfrm>
        </p:grpSpPr>
        <p:sp>
          <p:nvSpPr>
            <p:cNvPr id="256" name="Google Shape;256;p15"/>
            <p:cNvSpPr/>
            <p:nvPr/>
          </p:nvSpPr>
          <p:spPr>
            <a:xfrm>
              <a:off x="16891" y="16891"/>
              <a:ext cx="3413760" cy="2682240"/>
            </a:xfrm>
            <a:custGeom>
              <a:rect b="b" l="l" r="r" t="t"/>
              <a:pathLst>
                <a:path extrusionOk="0" h="2682240" w="3413760">
                  <a:moveTo>
                    <a:pt x="0" y="0"/>
                  </a:moveTo>
                  <a:lnTo>
                    <a:pt x="3413760" y="0"/>
                  </a:lnTo>
                  <a:lnTo>
                    <a:pt x="3413760" y="2682240"/>
                  </a:lnTo>
                  <a:lnTo>
                    <a:pt x="0" y="2682240"/>
                  </a:lnTo>
                  <a:close/>
                </a:path>
              </a:pathLst>
            </a:custGeom>
            <a:solidFill>
              <a:srgbClr val="E67E22"/>
            </a:solidFill>
            <a:ln>
              <a:noFill/>
            </a:ln>
          </p:spPr>
        </p:sp>
        <p:sp>
          <p:nvSpPr>
            <p:cNvPr id="257" name="Google Shape;257;p15"/>
            <p:cNvSpPr/>
            <p:nvPr/>
          </p:nvSpPr>
          <p:spPr>
            <a:xfrm>
              <a:off x="0" y="0"/>
              <a:ext cx="3447542" cy="2716022"/>
            </a:xfrm>
            <a:custGeom>
              <a:rect b="b" l="l" r="r" t="t"/>
              <a:pathLst>
                <a:path extrusionOk="0" h="2716022" w="3447542">
                  <a:moveTo>
                    <a:pt x="16891" y="0"/>
                  </a:moveTo>
                  <a:lnTo>
                    <a:pt x="3430651" y="0"/>
                  </a:lnTo>
                  <a:cubicBezTo>
                    <a:pt x="3440049" y="0"/>
                    <a:pt x="3447542" y="7620"/>
                    <a:pt x="3447542" y="16891"/>
                  </a:cubicBezTo>
                  <a:lnTo>
                    <a:pt x="3447542" y="2699131"/>
                  </a:lnTo>
                  <a:cubicBezTo>
                    <a:pt x="3447542" y="2708529"/>
                    <a:pt x="3439922" y="2716022"/>
                    <a:pt x="34306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3430651" y="2682240"/>
                  </a:lnTo>
                  <a:lnTo>
                    <a:pt x="3430651" y="2699131"/>
                  </a:lnTo>
                  <a:lnTo>
                    <a:pt x="3413760" y="2699131"/>
                  </a:lnTo>
                  <a:lnTo>
                    <a:pt x="3413760" y="16891"/>
                  </a:lnTo>
                  <a:lnTo>
                    <a:pt x="3430651" y="16891"/>
                  </a:lnTo>
                  <a:lnTo>
                    <a:pt x="3430651" y="33909"/>
                  </a:lnTo>
                  <a:lnTo>
                    <a:pt x="16891" y="33909"/>
                  </a:lnTo>
                  <a:close/>
                </a:path>
              </a:pathLst>
            </a:custGeom>
            <a:solidFill>
              <a:srgbClr val="E67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 name="Google Shape;258;p15"/>
          <p:cNvGrpSpPr/>
          <p:nvPr/>
        </p:nvGrpSpPr>
        <p:grpSpPr>
          <a:xfrm>
            <a:off x="3383280" y="1983105"/>
            <a:ext cx="2560320" cy="2040255"/>
            <a:chOff x="0" y="-38100"/>
            <a:chExt cx="3413760" cy="2720340"/>
          </a:xfrm>
        </p:grpSpPr>
        <p:sp>
          <p:nvSpPr>
            <p:cNvPr id="259" name="Google Shape;259;p15"/>
            <p:cNvSpPr/>
            <p:nvPr/>
          </p:nvSpPr>
          <p:spPr>
            <a:xfrm>
              <a:off x="0" y="0"/>
              <a:ext cx="3413760" cy="2682240"/>
            </a:xfrm>
            <a:custGeom>
              <a:rect b="b" l="l" r="r" t="t"/>
              <a:pathLst>
                <a:path extrusionOk="0" h="2682240" w="3413760">
                  <a:moveTo>
                    <a:pt x="0" y="0"/>
                  </a:moveTo>
                  <a:lnTo>
                    <a:pt x="3413760" y="0"/>
                  </a:lnTo>
                  <a:lnTo>
                    <a:pt x="3413760" y="2682240"/>
                  </a:lnTo>
                  <a:lnTo>
                    <a:pt x="0" y="2682240"/>
                  </a:lnTo>
                  <a:close/>
                </a:path>
              </a:pathLst>
            </a:custGeom>
            <a:blipFill rotWithShape="1">
              <a:blip r:embed="rId3">
                <a:alphaModFix amt="0"/>
              </a:blip>
              <a:stretch>
                <a:fillRect b="0" l="-50811" r="-50811" t="0"/>
              </a:stretch>
            </a:blipFill>
            <a:ln>
              <a:noFill/>
            </a:ln>
          </p:spPr>
        </p:sp>
        <p:sp>
          <p:nvSpPr>
            <p:cNvPr id="260" name="Google Shape;260;p15"/>
            <p:cNvSpPr txBox="1"/>
            <p:nvPr/>
          </p:nvSpPr>
          <p:spPr>
            <a:xfrm>
              <a:off x="0" y="-38100"/>
              <a:ext cx="3413760" cy="27203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Kafka</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Producer</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500 msg/sn</a:t>
              </a:r>
              <a:endParaRPr/>
            </a:p>
          </p:txBody>
        </p:sp>
      </p:grpSp>
      <p:grpSp>
        <p:nvGrpSpPr>
          <p:cNvPr id="261" name="Google Shape;261;p15"/>
          <p:cNvGrpSpPr/>
          <p:nvPr/>
        </p:nvGrpSpPr>
        <p:grpSpPr>
          <a:xfrm>
            <a:off x="5943600" y="2601754"/>
            <a:ext cx="365760" cy="781526"/>
            <a:chOff x="0" y="-66675"/>
            <a:chExt cx="487680" cy="1042035"/>
          </a:xfrm>
        </p:grpSpPr>
        <p:sp>
          <p:nvSpPr>
            <p:cNvPr id="262" name="Google Shape;262;p15"/>
            <p:cNvSpPr/>
            <p:nvPr/>
          </p:nvSpPr>
          <p:spPr>
            <a:xfrm>
              <a:off x="0" y="0"/>
              <a:ext cx="487680" cy="975360"/>
            </a:xfrm>
            <a:custGeom>
              <a:rect b="b" l="l" r="r" t="t"/>
              <a:pathLst>
                <a:path extrusionOk="0" h="975360" w="487680">
                  <a:moveTo>
                    <a:pt x="0" y="0"/>
                  </a:moveTo>
                  <a:lnTo>
                    <a:pt x="487680" y="0"/>
                  </a:lnTo>
                  <a:lnTo>
                    <a:pt x="487680" y="975360"/>
                  </a:lnTo>
                  <a:lnTo>
                    <a:pt x="0" y="975360"/>
                  </a:lnTo>
                  <a:close/>
                </a:path>
              </a:pathLst>
            </a:custGeom>
            <a:blipFill rotWithShape="1">
              <a:blip r:embed="rId3">
                <a:alphaModFix amt="0"/>
              </a:blip>
              <a:stretch>
                <a:fillRect b="0" l="-206594" r="-206594" t="0"/>
              </a:stretch>
            </a:blipFill>
            <a:ln>
              <a:noFill/>
            </a:ln>
          </p:spPr>
        </p:sp>
        <p:sp>
          <p:nvSpPr>
            <p:cNvPr id="263" name="Google Shape;263;p15"/>
            <p:cNvSpPr txBox="1"/>
            <p:nvPr/>
          </p:nvSpPr>
          <p:spPr>
            <a:xfrm>
              <a:off x="0" y="-66675"/>
              <a:ext cx="487680" cy="104203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3600" u="none" cap="none" strike="noStrike">
                  <a:solidFill>
                    <a:srgbClr val="AAAAAA"/>
                  </a:solidFill>
                  <a:latin typeface="Calibri"/>
                  <a:ea typeface="Calibri"/>
                  <a:cs typeface="Calibri"/>
                  <a:sym typeface="Calibri"/>
                </a:rPr>
                <a:t>→</a:t>
              </a:r>
              <a:endParaRPr/>
            </a:p>
          </p:txBody>
        </p:sp>
      </p:grpSp>
      <p:grpSp>
        <p:nvGrpSpPr>
          <p:cNvPr id="264" name="Google Shape;264;p15"/>
          <p:cNvGrpSpPr/>
          <p:nvPr/>
        </p:nvGrpSpPr>
        <p:grpSpPr>
          <a:xfrm>
            <a:off x="6296663" y="1998983"/>
            <a:ext cx="2585656" cy="2037016"/>
            <a:chOff x="0" y="0"/>
            <a:chExt cx="3447542" cy="2716022"/>
          </a:xfrm>
        </p:grpSpPr>
        <p:sp>
          <p:nvSpPr>
            <p:cNvPr id="265" name="Google Shape;265;p15"/>
            <p:cNvSpPr/>
            <p:nvPr/>
          </p:nvSpPr>
          <p:spPr>
            <a:xfrm>
              <a:off x="16891" y="16891"/>
              <a:ext cx="3413760" cy="2682240"/>
            </a:xfrm>
            <a:custGeom>
              <a:rect b="b" l="l" r="r" t="t"/>
              <a:pathLst>
                <a:path extrusionOk="0" h="2682240" w="3413760">
                  <a:moveTo>
                    <a:pt x="0" y="0"/>
                  </a:moveTo>
                  <a:lnTo>
                    <a:pt x="3413760" y="0"/>
                  </a:lnTo>
                  <a:lnTo>
                    <a:pt x="3413760" y="2682240"/>
                  </a:lnTo>
                  <a:lnTo>
                    <a:pt x="0" y="2682240"/>
                  </a:lnTo>
                  <a:close/>
                </a:path>
              </a:pathLst>
            </a:custGeom>
            <a:solidFill>
              <a:srgbClr val="8E44AD"/>
            </a:solidFill>
            <a:ln>
              <a:noFill/>
            </a:ln>
          </p:spPr>
        </p:sp>
        <p:sp>
          <p:nvSpPr>
            <p:cNvPr id="266" name="Google Shape;266;p15"/>
            <p:cNvSpPr/>
            <p:nvPr/>
          </p:nvSpPr>
          <p:spPr>
            <a:xfrm>
              <a:off x="0" y="0"/>
              <a:ext cx="3447542" cy="2716022"/>
            </a:xfrm>
            <a:custGeom>
              <a:rect b="b" l="l" r="r" t="t"/>
              <a:pathLst>
                <a:path extrusionOk="0" h="2716022" w="3447542">
                  <a:moveTo>
                    <a:pt x="16891" y="0"/>
                  </a:moveTo>
                  <a:lnTo>
                    <a:pt x="3430651" y="0"/>
                  </a:lnTo>
                  <a:cubicBezTo>
                    <a:pt x="3440049" y="0"/>
                    <a:pt x="3447542" y="7620"/>
                    <a:pt x="3447542" y="16891"/>
                  </a:cubicBezTo>
                  <a:lnTo>
                    <a:pt x="3447542" y="2699131"/>
                  </a:lnTo>
                  <a:cubicBezTo>
                    <a:pt x="3447542" y="2708529"/>
                    <a:pt x="3439922" y="2716022"/>
                    <a:pt x="34306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3430651" y="2682240"/>
                  </a:lnTo>
                  <a:lnTo>
                    <a:pt x="3430651" y="2699131"/>
                  </a:lnTo>
                  <a:lnTo>
                    <a:pt x="3413760" y="2699131"/>
                  </a:lnTo>
                  <a:lnTo>
                    <a:pt x="3413760" y="16891"/>
                  </a:lnTo>
                  <a:lnTo>
                    <a:pt x="3430651" y="16891"/>
                  </a:lnTo>
                  <a:lnTo>
                    <a:pt x="3430651" y="33909"/>
                  </a:lnTo>
                  <a:lnTo>
                    <a:pt x="16891" y="33909"/>
                  </a:lnTo>
                  <a:close/>
                </a:path>
              </a:pathLst>
            </a:cu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 name="Google Shape;267;p15"/>
          <p:cNvGrpSpPr/>
          <p:nvPr/>
        </p:nvGrpSpPr>
        <p:grpSpPr>
          <a:xfrm>
            <a:off x="6309360" y="1983105"/>
            <a:ext cx="2560320" cy="2040255"/>
            <a:chOff x="0" y="-38100"/>
            <a:chExt cx="3413760" cy="2720340"/>
          </a:xfrm>
        </p:grpSpPr>
        <p:sp>
          <p:nvSpPr>
            <p:cNvPr id="268" name="Google Shape;268;p15"/>
            <p:cNvSpPr/>
            <p:nvPr/>
          </p:nvSpPr>
          <p:spPr>
            <a:xfrm>
              <a:off x="0" y="0"/>
              <a:ext cx="3413760" cy="2682240"/>
            </a:xfrm>
            <a:custGeom>
              <a:rect b="b" l="l" r="r" t="t"/>
              <a:pathLst>
                <a:path extrusionOk="0" h="2682240" w="3413760">
                  <a:moveTo>
                    <a:pt x="0" y="0"/>
                  </a:moveTo>
                  <a:lnTo>
                    <a:pt x="3413760" y="0"/>
                  </a:lnTo>
                  <a:lnTo>
                    <a:pt x="3413760" y="2682240"/>
                  </a:lnTo>
                  <a:lnTo>
                    <a:pt x="0" y="2682240"/>
                  </a:lnTo>
                  <a:close/>
                </a:path>
              </a:pathLst>
            </a:custGeom>
            <a:blipFill rotWithShape="1">
              <a:blip r:embed="rId3">
                <a:alphaModFix amt="0"/>
              </a:blip>
              <a:stretch>
                <a:fillRect b="0" l="-50811" r="-50811" t="0"/>
              </a:stretch>
            </a:blipFill>
            <a:ln>
              <a:noFill/>
            </a:ln>
          </p:spPr>
        </p:sp>
        <p:sp>
          <p:nvSpPr>
            <p:cNvPr id="269" name="Google Shape;269;p15"/>
            <p:cNvSpPr txBox="1"/>
            <p:nvPr/>
          </p:nvSpPr>
          <p:spPr>
            <a:xfrm>
              <a:off x="0" y="-38100"/>
              <a:ext cx="3413760" cy="27203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Kafka Topic</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spotify-tracks</a:t>
              </a:r>
              <a:endParaRPr/>
            </a:p>
          </p:txBody>
        </p:sp>
      </p:grpSp>
      <p:grpSp>
        <p:nvGrpSpPr>
          <p:cNvPr id="270" name="Google Shape;270;p15"/>
          <p:cNvGrpSpPr/>
          <p:nvPr/>
        </p:nvGrpSpPr>
        <p:grpSpPr>
          <a:xfrm>
            <a:off x="8869680" y="2601754"/>
            <a:ext cx="365760" cy="781526"/>
            <a:chOff x="0" y="-66675"/>
            <a:chExt cx="487680" cy="1042035"/>
          </a:xfrm>
        </p:grpSpPr>
        <p:sp>
          <p:nvSpPr>
            <p:cNvPr id="271" name="Google Shape;271;p15"/>
            <p:cNvSpPr/>
            <p:nvPr/>
          </p:nvSpPr>
          <p:spPr>
            <a:xfrm>
              <a:off x="0" y="0"/>
              <a:ext cx="487680" cy="975360"/>
            </a:xfrm>
            <a:custGeom>
              <a:rect b="b" l="l" r="r" t="t"/>
              <a:pathLst>
                <a:path extrusionOk="0" h="975360" w="487680">
                  <a:moveTo>
                    <a:pt x="0" y="0"/>
                  </a:moveTo>
                  <a:lnTo>
                    <a:pt x="487680" y="0"/>
                  </a:lnTo>
                  <a:lnTo>
                    <a:pt x="487680" y="975360"/>
                  </a:lnTo>
                  <a:lnTo>
                    <a:pt x="0" y="975360"/>
                  </a:lnTo>
                  <a:close/>
                </a:path>
              </a:pathLst>
            </a:custGeom>
            <a:blipFill rotWithShape="1">
              <a:blip r:embed="rId3">
                <a:alphaModFix amt="0"/>
              </a:blip>
              <a:stretch>
                <a:fillRect b="0" l="-206594" r="-206594" t="0"/>
              </a:stretch>
            </a:blipFill>
            <a:ln>
              <a:noFill/>
            </a:ln>
          </p:spPr>
        </p:sp>
        <p:sp>
          <p:nvSpPr>
            <p:cNvPr id="272" name="Google Shape;272;p15"/>
            <p:cNvSpPr txBox="1"/>
            <p:nvPr/>
          </p:nvSpPr>
          <p:spPr>
            <a:xfrm>
              <a:off x="0" y="-66675"/>
              <a:ext cx="487680" cy="104203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3600" u="none" cap="none" strike="noStrike">
                  <a:solidFill>
                    <a:srgbClr val="AAAAAA"/>
                  </a:solidFill>
                  <a:latin typeface="Calibri"/>
                  <a:ea typeface="Calibri"/>
                  <a:cs typeface="Calibri"/>
                  <a:sym typeface="Calibri"/>
                </a:rPr>
                <a:t>→</a:t>
              </a:r>
              <a:endParaRPr/>
            </a:p>
          </p:txBody>
        </p:sp>
      </p:grpSp>
      <p:grpSp>
        <p:nvGrpSpPr>
          <p:cNvPr id="273" name="Google Shape;273;p15"/>
          <p:cNvGrpSpPr/>
          <p:nvPr/>
        </p:nvGrpSpPr>
        <p:grpSpPr>
          <a:xfrm>
            <a:off x="9222743" y="1998983"/>
            <a:ext cx="2585656" cy="2037016"/>
            <a:chOff x="0" y="0"/>
            <a:chExt cx="3447542" cy="2716022"/>
          </a:xfrm>
        </p:grpSpPr>
        <p:sp>
          <p:nvSpPr>
            <p:cNvPr id="274" name="Google Shape;274;p15"/>
            <p:cNvSpPr/>
            <p:nvPr/>
          </p:nvSpPr>
          <p:spPr>
            <a:xfrm>
              <a:off x="16891" y="16891"/>
              <a:ext cx="3413760" cy="2682240"/>
            </a:xfrm>
            <a:custGeom>
              <a:rect b="b" l="l" r="r" t="t"/>
              <a:pathLst>
                <a:path extrusionOk="0" h="2682240" w="3413760">
                  <a:moveTo>
                    <a:pt x="0" y="0"/>
                  </a:moveTo>
                  <a:lnTo>
                    <a:pt x="3413760" y="0"/>
                  </a:lnTo>
                  <a:lnTo>
                    <a:pt x="3413760" y="2682240"/>
                  </a:lnTo>
                  <a:lnTo>
                    <a:pt x="0" y="2682240"/>
                  </a:lnTo>
                  <a:close/>
                </a:path>
              </a:pathLst>
            </a:custGeom>
            <a:solidFill>
              <a:srgbClr val="2980B9"/>
            </a:solidFill>
            <a:ln>
              <a:noFill/>
            </a:ln>
          </p:spPr>
        </p:sp>
        <p:sp>
          <p:nvSpPr>
            <p:cNvPr id="275" name="Google Shape;275;p15"/>
            <p:cNvSpPr/>
            <p:nvPr/>
          </p:nvSpPr>
          <p:spPr>
            <a:xfrm>
              <a:off x="0" y="0"/>
              <a:ext cx="3447542" cy="2716022"/>
            </a:xfrm>
            <a:custGeom>
              <a:rect b="b" l="l" r="r" t="t"/>
              <a:pathLst>
                <a:path extrusionOk="0" h="2716022" w="3447542">
                  <a:moveTo>
                    <a:pt x="16891" y="0"/>
                  </a:moveTo>
                  <a:lnTo>
                    <a:pt x="3430651" y="0"/>
                  </a:lnTo>
                  <a:cubicBezTo>
                    <a:pt x="3440049" y="0"/>
                    <a:pt x="3447542" y="7620"/>
                    <a:pt x="3447542" y="16891"/>
                  </a:cubicBezTo>
                  <a:lnTo>
                    <a:pt x="3447542" y="2699131"/>
                  </a:lnTo>
                  <a:cubicBezTo>
                    <a:pt x="3447542" y="2708529"/>
                    <a:pt x="3439922" y="2716022"/>
                    <a:pt x="34306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3430651" y="2682240"/>
                  </a:lnTo>
                  <a:lnTo>
                    <a:pt x="3430651" y="2699131"/>
                  </a:lnTo>
                  <a:lnTo>
                    <a:pt x="3413760" y="2699131"/>
                  </a:lnTo>
                  <a:lnTo>
                    <a:pt x="3413760" y="16891"/>
                  </a:lnTo>
                  <a:lnTo>
                    <a:pt x="3430651" y="16891"/>
                  </a:lnTo>
                  <a:lnTo>
                    <a:pt x="3430651" y="33909"/>
                  </a:lnTo>
                  <a:lnTo>
                    <a:pt x="16891" y="33909"/>
                  </a:lnTo>
                  <a:close/>
                </a:path>
              </a:pathLst>
            </a:cu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15"/>
          <p:cNvGrpSpPr/>
          <p:nvPr/>
        </p:nvGrpSpPr>
        <p:grpSpPr>
          <a:xfrm>
            <a:off x="9235440" y="1983105"/>
            <a:ext cx="2560320" cy="2040255"/>
            <a:chOff x="0" y="-38100"/>
            <a:chExt cx="3413760" cy="2720340"/>
          </a:xfrm>
        </p:grpSpPr>
        <p:sp>
          <p:nvSpPr>
            <p:cNvPr id="277" name="Google Shape;277;p15"/>
            <p:cNvSpPr/>
            <p:nvPr/>
          </p:nvSpPr>
          <p:spPr>
            <a:xfrm>
              <a:off x="0" y="0"/>
              <a:ext cx="3413760" cy="2682240"/>
            </a:xfrm>
            <a:custGeom>
              <a:rect b="b" l="l" r="r" t="t"/>
              <a:pathLst>
                <a:path extrusionOk="0" h="2682240" w="3413760">
                  <a:moveTo>
                    <a:pt x="0" y="0"/>
                  </a:moveTo>
                  <a:lnTo>
                    <a:pt x="3413760" y="0"/>
                  </a:lnTo>
                  <a:lnTo>
                    <a:pt x="3413760" y="2682240"/>
                  </a:lnTo>
                  <a:lnTo>
                    <a:pt x="0" y="2682240"/>
                  </a:lnTo>
                  <a:close/>
                </a:path>
              </a:pathLst>
            </a:custGeom>
            <a:blipFill rotWithShape="1">
              <a:blip r:embed="rId3">
                <a:alphaModFix amt="0"/>
              </a:blip>
              <a:stretch>
                <a:fillRect b="0" l="-50811" r="-50811" t="0"/>
              </a:stretch>
            </a:blipFill>
            <a:ln>
              <a:noFill/>
            </a:ln>
          </p:spPr>
        </p:sp>
        <p:sp>
          <p:nvSpPr>
            <p:cNvPr id="278" name="Google Shape;278;p15"/>
            <p:cNvSpPr txBox="1"/>
            <p:nvPr/>
          </p:nvSpPr>
          <p:spPr>
            <a:xfrm>
              <a:off x="0" y="-38100"/>
              <a:ext cx="3413760" cy="27203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Spark</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Streaming</a:t>
              </a:r>
              <a:endParaRPr/>
            </a:p>
          </p:txBody>
        </p:sp>
      </p:grpSp>
      <p:grpSp>
        <p:nvGrpSpPr>
          <p:cNvPr id="279" name="Google Shape;279;p15"/>
          <p:cNvGrpSpPr/>
          <p:nvPr/>
        </p:nvGrpSpPr>
        <p:grpSpPr>
          <a:xfrm>
            <a:off x="11795760" y="2601754"/>
            <a:ext cx="365760" cy="781526"/>
            <a:chOff x="0" y="-66675"/>
            <a:chExt cx="487680" cy="1042035"/>
          </a:xfrm>
        </p:grpSpPr>
        <p:sp>
          <p:nvSpPr>
            <p:cNvPr id="280" name="Google Shape;280;p15"/>
            <p:cNvSpPr/>
            <p:nvPr/>
          </p:nvSpPr>
          <p:spPr>
            <a:xfrm>
              <a:off x="0" y="0"/>
              <a:ext cx="487680" cy="975360"/>
            </a:xfrm>
            <a:custGeom>
              <a:rect b="b" l="l" r="r" t="t"/>
              <a:pathLst>
                <a:path extrusionOk="0" h="975360" w="487680">
                  <a:moveTo>
                    <a:pt x="0" y="0"/>
                  </a:moveTo>
                  <a:lnTo>
                    <a:pt x="487680" y="0"/>
                  </a:lnTo>
                  <a:lnTo>
                    <a:pt x="487680" y="975360"/>
                  </a:lnTo>
                  <a:lnTo>
                    <a:pt x="0" y="975360"/>
                  </a:lnTo>
                  <a:close/>
                </a:path>
              </a:pathLst>
            </a:custGeom>
            <a:blipFill rotWithShape="1">
              <a:blip r:embed="rId3">
                <a:alphaModFix amt="0"/>
              </a:blip>
              <a:stretch>
                <a:fillRect b="0" l="-206594" r="-206594" t="0"/>
              </a:stretch>
            </a:blipFill>
            <a:ln>
              <a:noFill/>
            </a:ln>
          </p:spPr>
        </p:sp>
        <p:sp>
          <p:nvSpPr>
            <p:cNvPr id="281" name="Google Shape;281;p15"/>
            <p:cNvSpPr txBox="1"/>
            <p:nvPr/>
          </p:nvSpPr>
          <p:spPr>
            <a:xfrm>
              <a:off x="0" y="-66675"/>
              <a:ext cx="487680" cy="104203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3600" u="none" cap="none" strike="noStrike">
                  <a:solidFill>
                    <a:srgbClr val="AAAAAA"/>
                  </a:solidFill>
                  <a:latin typeface="Calibri"/>
                  <a:ea typeface="Calibri"/>
                  <a:cs typeface="Calibri"/>
                  <a:sym typeface="Calibri"/>
                </a:rPr>
                <a:t>→</a:t>
              </a:r>
              <a:endParaRPr/>
            </a:p>
          </p:txBody>
        </p:sp>
      </p:grpSp>
      <p:grpSp>
        <p:nvGrpSpPr>
          <p:cNvPr id="282" name="Google Shape;282;p15"/>
          <p:cNvGrpSpPr/>
          <p:nvPr/>
        </p:nvGrpSpPr>
        <p:grpSpPr>
          <a:xfrm>
            <a:off x="12148823" y="1998983"/>
            <a:ext cx="2585656" cy="2037016"/>
            <a:chOff x="0" y="0"/>
            <a:chExt cx="3447542" cy="2716022"/>
          </a:xfrm>
        </p:grpSpPr>
        <p:sp>
          <p:nvSpPr>
            <p:cNvPr id="283" name="Google Shape;283;p15"/>
            <p:cNvSpPr/>
            <p:nvPr/>
          </p:nvSpPr>
          <p:spPr>
            <a:xfrm>
              <a:off x="16891" y="16891"/>
              <a:ext cx="3413760" cy="2682240"/>
            </a:xfrm>
            <a:custGeom>
              <a:rect b="b" l="l" r="r" t="t"/>
              <a:pathLst>
                <a:path extrusionOk="0" h="2682240" w="3413760">
                  <a:moveTo>
                    <a:pt x="0" y="0"/>
                  </a:moveTo>
                  <a:lnTo>
                    <a:pt x="3413760" y="0"/>
                  </a:lnTo>
                  <a:lnTo>
                    <a:pt x="3413760" y="2682240"/>
                  </a:lnTo>
                  <a:lnTo>
                    <a:pt x="0" y="2682240"/>
                  </a:lnTo>
                  <a:close/>
                </a:path>
              </a:pathLst>
            </a:custGeom>
            <a:solidFill>
              <a:srgbClr val="27AE60"/>
            </a:solidFill>
            <a:ln>
              <a:noFill/>
            </a:ln>
          </p:spPr>
        </p:sp>
        <p:sp>
          <p:nvSpPr>
            <p:cNvPr id="284" name="Google Shape;284;p15"/>
            <p:cNvSpPr/>
            <p:nvPr/>
          </p:nvSpPr>
          <p:spPr>
            <a:xfrm>
              <a:off x="0" y="0"/>
              <a:ext cx="3447542" cy="2716022"/>
            </a:xfrm>
            <a:custGeom>
              <a:rect b="b" l="l" r="r" t="t"/>
              <a:pathLst>
                <a:path extrusionOk="0" h="2716022" w="3447542">
                  <a:moveTo>
                    <a:pt x="16891" y="0"/>
                  </a:moveTo>
                  <a:lnTo>
                    <a:pt x="3430651" y="0"/>
                  </a:lnTo>
                  <a:cubicBezTo>
                    <a:pt x="3440049" y="0"/>
                    <a:pt x="3447542" y="7620"/>
                    <a:pt x="3447542" y="16891"/>
                  </a:cubicBezTo>
                  <a:lnTo>
                    <a:pt x="3447542" y="2699131"/>
                  </a:lnTo>
                  <a:cubicBezTo>
                    <a:pt x="3447542" y="2708529"/>
                    <a:pt x="3439922" y="2716022"/>
                    <a:pt x="34306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3430651" y="2682240"/>
                  </a:lnTo>
                  <a:lnTo>
                    <a:pt x="3430651" y="2699131"/>
                  </a:lnTo>
                  <a:lnTo>
                    <a:pt x="3413760" y="2699131"/>
                  </a:lnTo>
                  <a:lnTo>
                    <a:pt x="3413760" y="16891"/>
                  </a:lnTo>
                  <a:lnTo>
                    <a:pt x="3430651" y="16891"/>
                  </a:lnTo>
                  <a:lnTo>
                    <a:pt x="3430651" y="33909"/>
                  </a:lnTo>
                  <a:lnTo>
                    <a:pt x="16891" y="33909"/>
                  </a:lnTo>
                  <a:close/>
                </a:path>
              </a:pathLst>
            </a:cu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15"/>
          <p:cNvGrpSpPr/>
          <p:nvPr/>
        </p:nvGrpSpPr>
        <p:grpSpPr>
          <a:xfrm>
            <a:off x="12161520" y="1983105"/>
            <a:ext cx="2560320" cy="2040255"/>
            <a:chOff x="0" y="-38100"/>
            <a:chExt cx="3413760" cy="2720340"/>
          </a:xfrm>
        </p:grpSpPr>
        <p:sp>
          <p:nvSpPr>
            <p:cNvPr id="286" name="Google Shape;286;p15"/>
            <p:cNvSpPr/>
            <p:nvPr/>
          </p:nvSpPr>
          <p:spPr>
            <a:xfrm>
              <a:off x="0" y="0"/>
              <a:ext cx="3413760" cy="2682240"/>
            </a:xfrm>
            <a:custGeom>
              <a:rect b="b" l="l" r="r" t="t"/>
              <a:pathLst>
                <a:path extrusionOk="0" h="2682240" w="3413760">
                  <a:moveTo>
                    <a:pt x="0" y="0"/>
                  </a:moveTo>
                  <a:lnTo>
                    <a:pt x="3413760" y="0"/>
                  </a:lnTo>
                  <a:lnTo>
                    <a:pt x="3413760" y="2682240"/>
                  </a:lnTo>
                  <a:lnTo>
                    <a:pt x="0" y="2682240"/>
                  </a:lnTo>
                  <a:close/>
                </a:path>
              </a:pathLst>
            </a:custGeom>
            <a:blipFill rotWithShape="1">
              <a:blip r:embed="rId3">
                <a:alphaModFix amt="0"/>
              </a:blip>
              <a:stretch>
                <a:fillRect b="0" l="-50811" r="-50811" t="0"/>
              </a:stretch>
            </a:blipFill>
            <a:ln>
              <a:noFill/>
            </a:ln>
          </p:spPr>
        </p:sp>
        <p:sp>
          <p:nvSpPr>
            <p:cNvPr id="287" name="Google Shape;287;p15"/>
            <p:cNvSpPr txBox="1"/>
            <p:nvPr/>
          </p:nvSpPr>
          <p:spPr>
            <a:xfrm>
              <a:off x="0" y="-38100"/>
              <a:ext cx="3413760" cy="27203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Delta Lake</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Bronze/Silver</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Gold</a:t>
              </a:r>
              <a:endParaRPr/>
            </a:p>
          </p:txBody>
        </p:sp>
      </p:grpSp>
      <p:grpSp>
        <p:nvGrpSpPr>
          <p:cNvPr id="288" name="Google Shape;288;p15"/>
          <p:cNvGrpSpPr/>
          <p:nvPr/>
        </p:nvGrpSpPr>
        <p:grpSpPr>
          <a:xfrm>
            <a:off x="14721840" y="2601754"/>
            <a:ext cx="365760" cy="781526"/>
            <a:chOff x="0" y="-66675"/>
            <a:chExt cx="487680" cy="1042035"/>
          </a:xfrm>
        </p:grpSpPr>
        <p:sp>
          <p:nvSpPr>
            <p:cNvPr id="289" name="Google Shape;289;p15"/>
            <p:cNvSpPr/>
            <p:nvPr/>
          </p:nvSpPr>
          <p:spPr>
            <a:xfrm>
              <a:off x="0" y="0"/>
              <a:ext cx="487680" cy="975360"/>
            </a:xfrm>
            <a:custGeom>
              <a:rect b="b" l="l" r="r" t="t"/>
              <a:pathLst>
                <a:path extrusionOk="0" h="975360" w="487680">
                  <a:moveTo>
                    <a:pt x="0" y="0"/>
                  </a:moveTo>
                  <a:lnTo>
                    <a:pt x="487680" y="0"/>
                  </a:lnTo>
                  <a:lnTo>
                    <a:pt x="487680" y="975360"/>
                  </a:lnTo>
                  <a:lnTo>
                    <a:pt x="0" y="975360"/>
                  </a:lnTo>
                  <a:close/>
                </a:path>
              </a:pathLst>
            </a:custGeom>
            <a:blipFill rotWithShape="1">
              <a:blip r:embed="rId3">
                <a:alphaModFix amt="0"/>
              </a:blip>
              <a:stretch>
                <a:fillRect b="0" l="-206594" r="-206594" t="0"/>
              </a:stretch>
            </a:blipFill>
            <a:ln>
              <a:noFill/>
            </a:ln>
          </p:spPr>
        </p:sp>
        <p:sp>
          <p:nvSpPr>
            <p:cNvPr id="290" name="Google Shape;290;p15"/>
            <p:cNvSpPr txBox="1"/>
            <p:nvPr/>
          </p:nvSpPr>
          <p:spPr>
            <a:xfrm>
              <a:off x="0" y="-66675"/>
              <a:ext cx="487680" cy="104203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3600" u="none" cap="none" strike="noStrike">
                  <a:solidFill>
                    <a:srgbClr val="AAAAAA"/>
                  </a:solidFill>
                  <a:latin typeface="Calibri"/>
                  <a:ea typeface="Calibri"/>
                  <a:cs typeface="Calibri"/>
                  <a:sym typeface="Calibri"/>
                </a:rPr>
                <a:t>→</a:t>
              </a:r>
              <a:endParaRPr/>
            </a:p>
          </p:txBody>
        </p:sp>
      </p:grpSp>
      <p:grpSp>
        <p:nvGrpSpPr>
          <p:cNvPr id="291" name="Google Shape;291;p15"/>
          <p:cNvGrpSpPr/>
          <p:nvPr/>
        </p:nvGrpSpPr>
        <p:grpSpPr>
          <a:xfrm>
            <a:off x="15074903" y="1998983"/>
            <a:ext cx="2585656" cy="2037016"/>
            <a:chOff x="0" y="0"/>
            <a:chExt cx="3447542" cy="2716022"/>
          </a:xfrm>
        </p:grpSpPr>
        <p:sp>
          <p:nvSpPr>
            <p:cNvPr id="292" name="Google Shape;292;p15"/>
            <p:cNvSpPr/>
            <p:nvPr/>
          </p:nvSpPr>
          <p:spPr>
            <a:xfrm>
              <a:off x="16891" y="16891"/>
              <a:ext cx="3413760" cy="2682240"/>
            </a:xfrm>
            <a:custGeom>
              <a:rect b="b" l="l" r="r" t="t"/>
              <a:pathLst>
                <a:path extrusionOk="0" h="2682240" w="3413760">
                  <a:moveTo>
                    <a:pt x="0" y="0"/>
                  </a:moveTo>
                  <a:lnTo>
                    <a:pt x="3413760" y="0"/>
                  </a:lnTo>
                  <a:lnTo>
                    <a:pt x="3413760" y="2682240"/>
                  </a:lnTo>
                  <a:lnTo>
                    <a:pt x="0" y="2682240"/>
                  </a:lnTo>
                  <a:close/>
                </a:path>
              </a:pathLst>
            </a:custGeom>
            <a:solidFill>
              <a:srgbClr val="1DB954"/>
            </a:solidFill>
            <a:ln>
              <a:noFill/>
            </a:ln>
          </p:spPr>
        </p:sp>
        <p:sp>
          <p:nvSpPr>
            <p:cNvPr id="293" name="Google Shape;293;p15"/>
            <p:cNvSpPr/>
            <p:nvPr/>
          </p:nvSpPr>
          <p:spPr>
            <a:xfrm>
              <a:off x="0" y="0"/>
              <a:ext cx="3447542" cy="2716022"/>
            </a:xfrm>
            <a:custGeom>
              <a:rect b="b" l="l" r="r" t="t"/>
              <a:pathLst>
                <a:path extrusionOk="0" h="2716022" w="3447542">
                  <a:moveTo>
                    <a:pt x="16891" y="0"/>
                  </a:moveTo>
                  <a:lnTo>
                    <a:pt x="3430651" y="0"/>
                  </a:lnTo>
                  <a:cubicBezTo>
                    <a:pt x="3440049" y="0"/>
                    <a:pt x="3447542" y="7620"/>
                    <a:pt x="3447542" y="16891"/>
                  </a:cubicBezTo>
                  <a:lnTo>
                    <a:pt x="3447542" y="2699131"/>
                  </a:lnTo>
                  <a:cubicBezTo>
                    <a:pt x="3447542" y="2708529"/>
                    <a:pt x="3439922" y="2716022"/>
                    <a:pt x="34306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3430651" y="2682240"/>
                  </a:lnTo>
                  <a:lnTo>
                    <a:pt x="3430651" y="2699131"/>
                  </a:lnTo>
                  <a:lnTo>
                    <a:pt x="3413760" y="2699131"/>
                  </a:lnTo>
                  <a:lnTo>
                    <a:pt x="3413760" y="16891"/>
                  </a:lnTo>
                  <a:lnTo>
                    <a:pt x="3430651" y="16891"/>
                  </a:lnTo>
                  <a:lnTo>
                    <a:pt x="3430651"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 name="Google Shape;294;p15"/>
          <p:cNvGrpSpPr/>
          <p:nvPr/>
        </p:nvGrpSpPr>
        <p:grpSpPr>
          <a:xfrm>
            <a:off x="15087600" y="1983105"/>
            <a:ext cx="2560320" cy="2040255"/>
            <a:chOff x="0" y="-38100"/>
            <a:chExt cx="3413760" cy="2720340"/>
          </a:xfrm>
        </p:grpSpPr>
        <p:sp>
          <p:nvSpPr>
            <p:cNvPr id="295" name="Google Shape;295;p15"/>
            <p:cNvSpPr/>
            <p:nvPr/>
          </p:nvSpPr>
          <p:spPr>
            <a:xfrm>
              <a:off x="0" y="0"/>
              <a:ext cx="3413760" cy="2682240"/>
            </a:xfrm>
            <a:custGeom>
              <a:rect b="b" l="l" r="r" t="t"/>
              <a:pathLst>
                <a:path extrusionOk="0" h="2682240" w="3413760">
                  <a:moveTo>
                    <a:pt x="0" y="0"/>
                  </a:moveTo>
                  <a:lnTo>
                    <a:pt x="3413760" y="0"/>
                  </a:lnTo>
                  <a:lnTo>
                    <a:pt x="3413760" y="2682240"/>
                  </a:lnTo>
                  <a:lnTo>
                    <a:pt x="0" y="2682240"/>
                  </a:lnTo>
                  <a:close/>
                </a:path>
              </a:pathLst>
            </a:custGeom>
            <a:blipFill rotWithShape="1">
              <a:blip r:embed="rId3">
                <a:alphaModFix amt="0"/>
              </a:blip>
              <a:stretch>
                <a:fillRect b="0" l="-50811" r="-50811" t="0"/>
              </a:stretch>
            </a:blipFill>
            <a:ln>
              <a:noFill/>
            </a:ln>
          </p:spPr>
        </p:sp>
        <p:sp>
          <p:nvSpPr>
            <p:cNvPr id="296" name="Google Shape;296;p15"/>
            <p:cNvSpPr txBox="1"/>
            <p:nvPr/>
          </p:nvSpPr>
          <p:spPr>
            <a:xfrm>
              <a:off x="0" y="-38100"/>
              <a:ext cx="3413760" cy="27203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ML</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MLflow</a:t>
              </a:r>
              <a:endParaRPr/>
            </a:p>
            <a:p>
              <a:pPr indent="0" lvl="0" marL="0" marR="0" rtl="0" algn="ctr">
                <a:lnSpc>
                  <a:spcPct val="120000"/>
                </a:lnSpc>
                <a:spcBef>
                  <a:spcPts val="0"/>
                </a:spcBef>
                <a:spcAft>
                  <a:spcPts val="0"/>
                </a:spcAft>
                <a:buNone/>
              </a:pPr>
              <a:r>
                <a:rPr b="1" i="0" lang="en-US" sz="1800" u="none" cap="none" strike="noStrike">
                  <a:solidFill>
                    <a:srgbClr val="FFFFFF"/>
                  </a:solidFill>
                  <a:latin typeface="Calibri"/>
                  <a:ea typeface="Calibri"/>
                  <a:cs typeface="Calibri"/>
                  <a:sym typeface="Calibri"/>
                </a:rPr>
                <a:t>Dashboard</a:t>
              </a:r>
              <a:endParaRPr/>
            </a:p>
          </p:txBody>
        </p:sp>
      </p:grpSp>
      <p:grpSp>
        <p:nvGrpSpPr>
          <p:cNvPr id="297" name="Google Shape;297;p15"/>
          <p:cNvGrpSpPr/>
          <p:nvPr/>
        </p:nvGrpSpPr>
        <p:grpSpPr>
          <a:xfrm>
            <a:off x="548640" y="4627721"/>
            <a:ext cx="16459200" cy="584359"/>
            <a:chOff x="0" y="-47625"/>
            <a:chExt cx="21945600" cy="779145"/>
          </a:xfrm>
        </p:grpSpPr>
        <p:sp>
          <p:nvSpPr>
            <p:cNvPr id="298" name="Google Shape;298;p15"/>
            <p:cNvSpPr/>
            <p:nvPr/>
          </p:nvSpPr>
          <p:spPr>
            <a:xfrm>
              <a:off x="0" y="0"/>
              <a:ext cx="21945600" cy="731520"/>
            </a:xfrm>
            <a:custGeom>
              <a:rect b="b" l="l" r="r" t="t"/>
              <a:pathLst>
                <a:path extrusionOk="0" h="731520" w="21945600">
                  <a:moveTo>
                    <a:pt x="0" y="0"/>
                  </a:moveTo>
                  <a:lnTo>
                    <a:pt x="21945600" y="0"/>
                  </a:lnTo>
                  <a:lnTo>
                    <a:pt x="21945600" y="731520"/>
                  </a:lnTo>
                  <a:lnTo>
                    <a:pt x="0" y="731520"/>
                  </a:lnTo>
                  <a:close/>
                </a:path>
              </a:pathLst>
            </a:custGeom>
            <a:blipFill rotWithShape="1">
              <a:blip r:embed="rId3">
                <a:alphaModFix amt="0"/>
              </a:blip>
              <a:stretch>
                <a:fillRect b="-534522" l="0" r="0" t="-534522"/>
              </a:stretch>
            </a:blipFill>
            <a:ln>
              <a:noFill/>
            </a:ln>
          </p:spPr>
        </p:sp>
        <p:sp>
          <p:nvSpPr>
            <p:cNvPr id="299" name="Google Shape;299;p15"/>
            <p:cNvSpPr txBox="1"/>
            <p:nvPr/>
          </p:nvSpPr>
          <p:spPr>
            <a:xfrm>
              <a:off x="0" y="-47625"/>
              <a:ext cx="2194560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21212"/>
                  </a:solidFill>
                  <a:latin typeface="Calibri"/>
                  <a:ea typeface="Calibri"/>
                  <a:cs typeface="Calibri"/>
                  <a:sym typeface="Calibri"/>
                </a:rPr>
                <a:t>Docker Servisleri:</a:t>
              </a:r>
              <a:endParaRPr/>
            </a:p>
          </p:txBody>
        </p:sp>
      </p:grpSp>
      <p:grpSp>
        <p:nvGrpSpPr>
          <p:cNvPr id="300" name="Google Shape;300;p15"/>
          <p:cNvGrpSpPr/>
          <p:nvPr/>
        </p:nvGrpSpPr>
        <p:grpSpPr>
          <a:xfrm>
            <a:off x="539115" y="5293995"/>
            <a:ext cx="5505450" cy="842010"/>
            <a:chOff x="0" y="0"/>
            <a:chExt cx="7340600" cy="1122680"/>
          </a:xfrm>
        </p:grpSpPr>
        <p:sp>
          <p:nvSpPr>
            <p:cNvPr id="301" name="Google Shape;301;p15"/>
            <p:cNvSpPr/>
            <p:nvPr/>
          </p:nvSpPr>
          <p:spPr>
            <a:xfrm>
              <a:off x="12700" y="12700"/>
              <a:ext cx="7315200" cy="1097280"/>
            </a:xfrm>
            <a:custGeom>
              <a:rect b="b" l="l" r="r" t="t"/>
              <a:pathLst>
                <a:path extrusionOk="0" h="1097280" w="7315200">
                  <a:moveTo>
                    <a:pt x="0" y="0"/>
                  </a:moveTo>
                  <a:lnTo>
                    <a:pt x="7315200" y="0"/>
                  </a:lnTo>
                  <a:lnTo>
                    <a:pt x="7315200" y="1097280"/>
                  </a:lnTo>
                  <a:lnTo>
                    <a:pt x="0" y="1097280"/>
                  </a:lnTo>
                  <a:close/>
                </a:path>
              </a:pathLst>
            </a:custGeom>
            <a:solidFill>
              <a:srgbClr val="F4F4F4"/>
            </a:solidFill>
            <a:ln>
              <a:noFill/>
            </a:ln>
          </p:spPr>
        </p:sp>
        <p:sp>
          <p:nvSpPr>
            <p:cNvPr id="302" name="Google Shape;302;p15"/>
            <p:cNvSpPr/>
            <p:nvPr/>
          </p:nvSpPr>
          <p:spPr>
            <a:xfrm>
              <a:off x="0" y="0"/>
              <a:ext cx="7340600" cy="1122680"/>
            </a:xfrm>
            <a:custGeom>
              <a:rect b="b" l="l" r="r" t="t"/>
              <a:pathLst>
                <a:path extrusionOk="0" h="1122680" w="7340600">
                  <a:moveTo>
                    <a:pt x="12700" y="0"/>
                  </a:moveTo>
                  <a:lnTo>
                    <a:pt x="7327900" y="0"/>
                  </a:lnTo>
                  <a:cubicBezTo>
                    <a:pt x="7334885" y="0"/>
                    <a:pt x="7340600" y="5715"/>
                    <a:pt x="7340600" y="12700"/>
                  </a:cubicBezTo>
                  <a:lnTo>
                    <a:pt x="7340600" y="1109980"/>
                  </a:lnTo>
                  <a:cubicBezTo>
                    <a:pt x="7340600" y="1116965"/>
                    <a:pt x="7334885" y="1122680"/>
                    <a:pt x="7327900" y="1122680"/>
                  </a:cubicBezTo>
                  <a:lnTo>
                    <a:pt x="12700" y="1122680"/>
                  </a:lnTo>
                  <a:cubicBezTo>
                    <a:pt x="5715" y="1122680"/>
                    <a:pt x="0" y="1116965"/>
                    <a:pt x="0" y="1109980"/>
                  </a:cubicBezTo>
                  <a:lnTo>
                    <a:pt x="0" y="12700"/>
                  </a:lnTo>
                  <a:cubicBezTo>
                    <a:pt x="0" y="5715"/>
                    <a:pt x="5715" y="0"/>
                    <a:pt x="12700" y="0"/>
                  </a:cubicBezTo>
                  <a:moveTo>
                    <a:pt x="12700" y="25400"/>
                  </a:moveTo>
                  <a:lnTo>
                    <a:pt x="12700" y="12700"/>
                  </a:lnTo>
                  <a:lnTo>
                    <a:pt x="25400" y="12700"/>
                  </a:lnTo>
                  <a:lnTo>
                    <a:pt x="25400" y="1109980"/>
                  </a:lnTo>
                  <a:lnTo>
                    <a:pt x="12700" y="1109980"/>
                  </a:lnTo>
                  <a:lnTo>
                    <a:pt x="12700" y="1097280"/>
                  </a:lnTo>
                  <a:lnTo>
                    <a:pt x="7327900" y="1097280"/>
                  </a:lnTo>
                  <a:lnTo>
                    <a:pt x="7327900" y="1109980"/>
                  </a:lnTo>
                  <a:lnTo>
                    <a:pt x="7315200" y="110998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 name="Google Shape;303;p15"/>
          <p:cNvGrpSpPr/>
          <p:nvPr/>
        </p:nvGrpSpPr>
        <p:grpSpPr>
          <a:xfrm>
            <a:off x="535943" y="5290823"/>
            <a:ext cx="171640" cy="848298"/>
            <a:chOff x="0" y="0"/>
            <a:chExt cx="228854" cy="1131064"/>
          </a:xfrm>
        </p:grpSpPr>
        <p:sp>
          <p:nvSpPr>
            <p:cNvPr id="304" name="Google Shape;304;p15"/>
            <p:cNvSpPr/>
            <p:nvPr/>
          </p:nvSpPr>
          <p:spPr>
            <a:xfrm>
              <a:off x="16891" y="16891"/>
              <a:ext cx="195072" cy="1097280"/>
            </a:xfrm>
            <a:custGeom>
              <a:rect b="b" l="l" r="r" t="t"/>
              <a:pathLst>
                <a:path extrusionOk="0" h="1097280" w="195072">
                  <a:moveTo>
                    <a:pt x="0" y="0"/>
                  </a:moveTo>
                  <a:lnTo>
                    <a:pt x="195072" y="0"/>
                  </a:lnTo>
                  <a:lnTo>
                    <a:pt x="195072" y="1097280"/>
                  </a:lnTo>
                  <a:lnTo>
                    <a:pt x="0" y="1097280"/>
                  </a:lnTo>
                  <a:close/>
                </a:path>
              </a:pathLst>
            </a:custGeom>
            <a:solidFill>
              <a:srgbClr val="8E44AD"/>
            </a:solidFill>
            <a:ln>
              <a:noFill/>
            </a:ln>
          </p:spPr>
        </p:sp>
        <p:sp>
          <p:nvSpPr>
            <p:cNvPr id="305" name="Google Shape;305;p15"/>
            <p:cNvSpPr/>
            <p:nvPr/>
          </p:nvSpPr>
          <p:spPr>
            <a:xfrm>
              <a:off x="0" y="0"/>
              <a:ext cx="228854" cy="1131064"/>
            </a:xfrm>
            <a:custGeom>
              <a:rect b="b" l="l" r="r" t="t"/>
              <a:pathLst>
                <a:path extrusionOk="0"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 name="Google Shape;306;p15"/>
          <p:cNvGrpSpPr/>
          <p:nvPr/>
        </p:nvGrpSpPr>
        <p:grpSpPr>
          <a:xfrm>
            <a:off x="822960" y="5421249"/>
            <a:ext cx="3657600" cy="540639"/>
            <a:chOff x="0" y="-38100"/>
            <a:chExt cx="4876800" cy="720852"/>
          </a:xfrm>
        </p:grpSpPr>
        <p:sp>
          <p:nvSpPr>
            <p:cNvPr id="307" name="Google Shape;307;p15"/>
            <p:cNvSpPr/>
            <p:nvPr/>
          </p:nvSpPr>
          <p:spPr>
            <a:xfrm>
              <a:off x="0" y="0"/>
              <a:ext cx="4876800" cy="682752"/>
            </a:xfrm>
            <a:custGeom>
              <a:rect b="b" l="l" r="r" t="t"/>
              <a:pathLst>
                <a:path extrusionOk="0" h="682752" w="4876800">
                  <a:moveTo>
                    <a:pt x="0" y="0"/>
                  </a:moveTo>
                  <a:lnTo>
                    <a:pt x="4876800" y="0"/>
                  </a:lnTo>
                  <a:lnTo>
                    <a:pt x="4876800" y="682752"/>
                  </a:lnTo>
                  <a:lnTo>
                    <a:pt x="0" y="682752"/>
                  </a:lnTo>
                  <a:close/>
                </a:path>
              </a:pathLst>
            </a:custGeom>
            <a:blipFill rotWithShape="1">
              <a:blip r:embed="rId3">
                <a:alphaModFix amt="0"/>
              </a:blip>
              <a:stretch>
                <a:fillRect b="-89175" l="0" r="0" t="-89175"/>
              </a:stretch>
            </a:blipFill>
            <a:ln>
              <a:noFill/>
            </a:ln>
          </p:spPr>
        </p:sp>
        <p:sp>
          <p:nvSpPr>
            <p:cNvPr id="308" name="Google Shape;308;p15"/>
            <p:cNvSpPr txBox="1"/>
            <p:nvPr/>
          </p:nvSpPr>
          <p:spPr>
            <a:xfrm>
              <a:off x="0" y="-38100"/>
              <a:ext cx="487680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Zookeeper</a:t>
              </a:r>
              <a:endParaRPr/>
            </a:p>
          </p:txBody>
        </p:sp>
      </p:grpSp>
      <p:grpSp>
        <p:nvGrpSpPr>
          <p:cNvPr id="309" name="Google Shape;309;p15"/>
          <p:cNvGrpSpPr/>
          <p:nvPr/>
        </p:nvGrpSpPr>
        <p:grpSpPr>
          <a:xfrm>
            <a:off x="4480560" y="5421249"/>
            <a:ext cx="1371600" cy="540639"/>
            <a:chOff x="0" y="-38100"/>
            <a:chExt cx="1828800" cy="720852"/>
          </a:xfrm>
        </p:grpSpPr>
        <p:sp>
          <p:nvSpPr>
            <p:cNvPr id="310" name="Google Shape;310;p15"/>
            <p:cNvSpPr/>
            <p:nvPr/>
          </p:nvSpPr>
          <p:spPr>
            <a:xfrm>
              <a:off x="0" y="0"/>
              <a:ext cx="1828800" cy="682752"/>
            </a:xfrm>
            <a:custGeom>
              <a:rect b="b" l="l" r="r" t="t"/>
              <a:pathLst>
                <a:path extrusionOk="0" h="682752" w="1828800">
                  <a:moveTo>
                    <a:pt x="0" y="0"/>
                  </a:moveTo>
                  <a:lnTo>
                    <a:pt x="1828800" y="0"/>
                  </a:lnTo>
                  <a:lnTo>
                    <a:pt x="1828800" y="682752"/>
                  </a:lnTo>
                  <a:lnTo>
                    <a:pt x="0" y="682752"/>
                  </a:lnTo>
                  <a:close/>
                </a:path>
              </a:pathLst>
            </a:custGeom>
            <a:blipFill rotWithShape="1">
              <a:blip r:embed="rId3">
                <a:alphaModFix amt="0"/>
              </a:blip>
              <a:stretch>
                <a:fillRect b="-2192" l="0" r="0" t="-2192"/>
              </a:stretch>
            </a:blipFill>
            <a:ln>
              <a:noFill/>
            </a:ln>
          </p:spPr>
        </p:sp>
        <p:sp>
          <p:nvSpPr>
            <p:cNvPr id="311" name="Google Shape;311;p15"/>
            <p:cNvSpPr txBox="1"/>
            <p:nvPr/>
          </p:nvSpPr>
          <p:spPr>
            <a:xfrm>
              <a:off x="0" y="-38100"/>
              <a:ext cx="1828800" cy="720852"/>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000" u="none" cap="none" strike="noStrike">
                  <a:solidFill>
                    <a:srgbClr val="8E44AD"/>
                  </a:solidFill>
                  <a:latin typeface="Calibri"/>
                  <a:ea typeface="Calibri"/>
                  <a:cs typeface="Calibri"/>
                  <a:sym typeface="Calibri"/>
                </a:rPr>
                <a:t>:2181</a:t>
              </a:r>
              <a:endParaRPr/>
            </a:p>
          </p:txBody>
        </p:sp>
      </p:grpSp>
      <p:grpSp>
        <p:nvGrpSpPr>
          <p:cNvPr id="312" name="Google Shape;312;p15"/>
          <p:cNvGrpSpPr/>
          <p:nvPr/>
        </p:nvGrpSpPr>
        <p:grpSpPr>
          <a:xfrm>
            <a:off x="6391275" y="5293995"/>
            <a:ext cx="5505450" cy="842010"/>
            <a:chOff x="0" y="0"/>
            <a:chExt cx="7340600" cy="1122680"/>
          </a:xfrm>
        </p:grpSpPr>
        <p:sp>
          <p:nvSpPr>
            <p:cNvPr id="313" name="Google Shape;313;p15"/>
            <p:cNvSpPr/>
            <p:nvPr/>
          </p:nvSpPr>
          <p:spPr>
            <a:xfrm>
              <a:off x="12700" y="12700"/>
              <a:ext cx="7315200" cy="1097280"/>
            </a:xfrm>
            <a:custGeom>
              <a:rect b="b" l="l" r="r" t="t"/>
              <a:pathLst>
                <a:path extrusionOk="0" h="1097280" w="7315200">
                  <a:moveTo>
                    <a:pt x="0" y="0"/>
                  </a:moveTo>
                  <a:lnTo>
                    <a:pt x="7315200" y="0"/>
                  </a:lnTo>
                  <a:lnTo>
                    <a:pt x="7315200" y="1097280"/>
                  </a:lnTo>
                  <a:lnTo>
                    <a:pt x="0" y="1097280"/>
                  </a:lnTo>
                  <a:close/>
                </a:path>
              </a:pathLst>
            </a:custGeom>
            <a:solidFill>
              <a:srgbClr val="F4F4F4"/>
            </a:solidFill>
            <a:ln>
              <a:noFill/>
            </a:ln>
          </p:spPr>
        </p:sp>
        <p:sp>
          <p:nvSpPr>
            <p:cNvPr id="314" name="Google Shape;314;p15"/>
            <p:cNvSpPr/>
            <p:nvPr/>
          </p:nvSpPr>
          <p:spPr>
            <a:xfrm>
              <a:off x="0" y="0"/>
              <a:ext cx="7340600" cy="1122680"/>
            </a:xfrm>
            <a:custGeom>
              <a:rect b="b" l="l" r="r" t="t"/>
              <a:pathLst>
                <a:path extrusionOk="0" h="1122680" w="7340600">
                  <a:moveTo>
                    <a:pt x="12700" y="0"/>
                  </a:moveTo>
                  <a:lnTo>
                    <a:pt x="7327900" y="0"/>
                  </a:lnTo>
                  <a:cubicBezTo>
                    <a:pt x="7334885" y="0"/>
                    <a:pt x="7340600" y="5715"/>
                    <a:pt x="7340600" y="12700"/>
                  </a:cubicBezTo>
                  <a:lnTo>
                    <a:pt x="7340600" y="1109980"/>
                  </a:lnTo>
                  <a:cubicBezTo>
                    <a:pt x="7340600" y="1116965"/>
                    <a:pt x="7334885" y="1122680"/>
                    <a:pt x="7327900" y="1122680"/>
                  </a:cubicBezTo>
                  <a:lnTo>
                    <a:pt x="12700" y="1122680"/>
                  </a:lnTo>
                  <a:cubicBezTo>
                    <a:pt x="5715" y="1122680"/>
                    <a:pt x="0" y="1116965"/>
                    <a:pt x="0" y="1109980"/>
                  </a:cubicBezTo>
                  <a:lnTo>
                    <a:pt x="0" y="12700"/>
                  </a:lnTo>
                  <a:cubicBezTo>
                    <a:pt x="0" y="5715"/>
                    <a:pt x="5715" y="0"/>
                    <a:pt x="12700" y="0"/>
                  </a:cubicBezTo>
                  <a:moveTo>
                    <a:pt x="12700" y="25400"/>
                  </a:moveTo>
                  <a:lnTo>
                    <a:pt x="12700" y="12700"/>
                  </a:lnTo>
                  <a:lnTo>
                    <a:pt x="25400" y="12700"/>
                  </a:lnTo>
                  <a:lnTo>
                    <a:pt x="25400" y="1109980"/>
                  </a:lnTo>
                  <a:lnTo>
                    <a:pt x="12700" y="1109980"/>
                  </a:lnTo>
                  <a:lnTo>
                    <a:pt x="12700" y="1097280"/>
                  </a:lnTo>
                  <a:lnTo>
                    <a:pt x="7327900" y="1097280"/>
                  </a:lnTo>
                  <a:lnTo>
                    <a:pt x="7327900" y="1109980"/>
                  </a:lnTo>
                  <a:lnTo>
                    <a:pt x="7315200" y="110998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 name="Google Shape;315;p15"/>
          <p:cNvGrpSpPr/>
          <p:nvPr/>
        </p:nvGrpSpPr>
        <p:grpSpPr>
          <a:xfrm>
            <a:off x="6388103" y="5290823"/>
            <a:ext cx="171640" cy="848298"/>
            <a:chOff x="0" y="0"/>
            <a:chExt cx="228854" cy="1131064"/>
          </a:xfrm>
        </p:grpSpPr>
        <p:sp>
          <p:nvSpPr>
            <p:cNvPr id="316" name="Google Shape;316;p15"/>
            <p:cNvSpPr/>
            <p:nvPr/>
          </p:nvSpPr>
          <p:spPr>
            <a:xfrm>
              <a:off x="16891" y="16891"/>
              <a:ext cx="195072" cy="1097280"/>
            </a:xfrm>
            <a:custGeom>
              <a:rect b="b" l="l" r="r" t="t"/>
              <a:pathLst>
                <a:path extrusionOk="0" h="1097280" w="195072">
                  <a:moveTo>
                    <a:pt x="0" y="0"/>
                  </a:moveTo>
                  <a:lnTo>
                    <a:pt x="195072" y="0"/>
                  </a:lnTo>
                  <a:lnTo>
                    <a:pt x="195072" y="1097280"/>
                  </a:lnTo>
                  <a:lnTo>
                    <a:pt x="0" y="1097280"/>
                  </a:lnTo>
                  <a:close/>
                </a:path>
              </a:pathLst>
            </a:custGeom>
            <a:solidFill>
              <a:srgbClr val="E67E22"/>
            </a:solidFill>
            <a:ln>
              <a:noFill/>
            </a:ln>
          </p:spPr>
        </p:sp>
        <p:sp>
          <p:nvSpPr>
            <p:cNvPr id="317" name="Google Shape;317;p15"/>
            <p:cNvSpPr/>
            <p:nvPr/>
          </p:nvSpPr>
          <p:spPr>
            <a:xfrm>
              <a:off x="0" y="0"/>
              <a:ext cx="228854" cy="1131064"/>
            </a:xfrm>
            <a:custGeom>
              <a:rect b="b" l="l" r="r" t="t"/>
              <a:pathLst>
                <a:path extrusionOk="0"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E67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 name="Google Shape;318;p15"/>
          <p:cNvGrpSpPr/>
          <p:nvPr/>
        </p:nvGrpSpPr>
        <p:grpSpPr>
          <a:xfrm>
            <a:off x="6675120" y="5421249"/>
            <a:ext cx="3657600" cy="540639"/>
            <a:chOff x="0" y="-38100"/>
            <a:chExt cx="4876800" cy="720852"/>
          </a:xfrm>
        </p:grpSpPr>
        <p:sp>
          <p:nvSpPr>
            <p:cNvPr id="319" name="Google Shape;319;p15"/>
            <p:cNvSpPr/>
            <p:nvPr/>
          </p:nvSpPr>
          <p:spPr>
            <a:xfrm>
              <a:off x="0" y="0"/>
              <a:ext cx="4876800" cy="682752"/>
            </a:xfrm>
            <a:custGeom>
              <a:rect b="b" l="l" r="r" t="t"/>
              <a:pathLst>
                <a:path extrusionOk="0" h="682752" w="4876800">
                  <a:moveTo>
                    <a:pt x="0" y="0"/>
                  </a:moveTo>
                  <a:lnTo>
                    <a:pt x="4876800" y="0"/>
                  </a:lnTo>
                  <a:lnTo>
                    <a:pt x="4876800" y="682752"/>
                  </a:lnTo>
                  <a:lnTo>
                    <a:pt x="0" y="682752"/>
                  </a:lnTo>
                  <a:close/>
                </a:path>
              </a:pathLst>
            </a:custGeom>
            <a:blipFill rotWithShape="1">
              <a:blip r:embed="rId3">
                <a:alphaModFix amt="0"/>
              </a:blip>
              <a:stretch>
                <a:fillRect b="-89175" l="0" r="0" t="-89175"/>
              </a:stretch>
            </a:blipFill>
            <a:ln>
              <a:noFill/>
            </a:ln>
          </p:spPr>
        </p:sp>
        <p:sp>
          <p:nvSpPr>
            <p:cNvPr id="320" name="Google Shape;320;p15"/>
            <p:cNvSpPr txBox="1"/>
            <p:nvPr/>
          </p:nvSpPr>
          <p:spPr>
            <a:xfrm>
              <a:off x="0" y="-38100"/>
              <a:ext cx="487680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Kafka Broker</a:t>
              </a:r>
              <a:endParaRPr/>
            </a:p>
          </p:txBody>
        </p:sp>
      </p:grpSp>
      <p:grpSp>
        <p:nvGrpSpPr>
          <p:cNvPr id="321" name="Google Shape;321;p15"/>
          <p:cNvGrpSpPr/>
          <p:nvPr/>
        </p:nvGrpSpPr>
        <p:grpSpPr>
          <a:xfrm>
            <a:off x="10332720" y="5421249"/>
            <a:ext cx="1371600" cy="540639"/>
            <a:chOff x="0" y="-38100"/>
            <a:chExt cx="1828800" cy="720852"/>
          </a:xfrm>
        </p:grpSpPr>
        <p:sp>
          <p:nvSpPr>
            <p:cNvPr id="322" name="Google Shape;322;p15"/>
            <p:cNvSpPr/>
            <p:nvPr/>
          </p:nvSpPr>
          <p:spPr>
            <a:xfrm>
              <a:off x="0" y="0"/>
              <a:ext cx="1828800" cy="682752"/>
            </a:xfrm>
            <a:custGeom>
              <a:rect b="b" l="l" r="r" t="t"/>
              <a:pathLst>
                <a:path extrusionOk="0" h="682752" w="1828800">
                  <a:moveTo>
                    <a:pt x="0" y="0"/>
                  </a:moveTo>
                  <a:lnTo>
                    <a:pt x="1828800" y="0"/>
                  </a:lnTo>
                  <a:lnTo>
                    <a:pt x="1828800" y="682752"/>
                  </a:lnTo>
                  <a:lnTo>
                    <a:pt x="0" y="682752"/>
                  </a:lnTo>
                  <a:close/>
                </a:path>
              </a:pathLst>
            </a:custGeom>
            <a:blipFill rotWithShape="1">
              <a:blip r:embed="rId3">
                <a:alphaModFix amt="0"/>
              </a:blip>
              <a:stretch>
                <a:fillRect b="-2192" l="0" r="0" t="-2192"/>
              </a:stretch>
            </a:blipFill>
            <a:ln>
              <a:noFill/>
            </a:ln>
          </p:spPr>
        </p:sp>
        <p:sp>
          <p:nvSpPr>
            <p:cNvPr id="323" name="Google Shape;323;p15"/>
            <p:cNvSpPr txBox="1"/>
            <p:nvPr/>
          </p:nvSpPr>
          <p:spPr>
            <a:xfrm>
              <a:off x="0" y="-38100"/>
              <a:ext cx="1828800" cy="720852"/>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000" u="none" cap="none" strike="noStrike">
                  <a:solidFill>
                    <a:srgbClr val="E67E22"/>
                  </a:solidFill>
                  <a:latin typeface="Calibri"/>
                  <a:ea typeface="Calibri"/>
                  <a:cs typeface="Calibri"/>
                  <a:sym typeface="Calibri"/>
                </a:rPr>
                <a:t>:9092</a:t>
              </a:r>
              <a:endParaRPr/>
            </a:p>
          </p:txBody>
        </p:sp>
      </p:grpSp>
      <p:grpSp>
        <p:nvGrpSpPr>
          <p:cNvPr id="324" name="Google Shape;324;p15"/>
          <p:cNvGrpSpPr/>
          <p:nvPr/>
        </p:nvGrpSpPr>
        <p:grpSpPr>
          <a:xfrm>
            <a:off x="12243435" y="5293995"/>
            <a:ext cx="5505450" cy="842010"/>
            <a:chOff x="0" y="0"/>
            <a:chExt cx="7340600" cy="1122680"/>
          </a:xfrm>
        </p:grpSpPr>
        <p:sp>
          <p:nvSpPr>
            <p:cNvPr id="325" name="Google Shape;325;p15"/>
            <p:cNvSpPr/>
            <p:nvPr/>
          </p:nvSpPr>
          <p:spPr>
            <a:xfrm>
              <a:off x="12700" y="12700"/>
              <a:ext cx="7315200" cy="1097280"/>
            </a:xfrm>
            <a:custGeom>
              <a:rect b="b" l="l" r="r" t="t"/>
              <a:pathLst>
                <a:path extrusionOk="0" h="1097280" w="7315200">
                  <a:moveTo>
                    <a:pt x="0" y="0"/>
                  </a:moveTo>
                  <a:lnTo>
                    <a:pt x="7315200" y="0"/>
                  </a:lnTo>
                  <a:lnTo>
                    <a:pt x="7315200" y="1097280"/>
                  </a:lnTo>
                  <a:lnTo>
                    <a:pt x="0" y="1097280"/>
                  </a:lnTo>
                  <a:close/>
                </a:path>
              </a:pathLst>
            </a:custGeom>
            <a:solidFill>
              <a:srgbClr val="F4F4F4"/>
            </a:solidFill>
            <a:ln>
              <a:noFill/>
            </a:ln>
          </p:spPr>
        </p:sp>
        <p:sp>
          <p:nvSpPr>
            <p:cNvPr id="326" name="Google Shape;326;p15"/>
            <p:cNvSpPr/>
            <p:nvPr/>
          </p:nvSpPr>
          <p:spPr>
            <a:xfrm>
              <a:off x="0" y="0"/>
              <a:ext cx="7340600" cy="1122680"/>
            </a:xfrm>
            <a:custGeom>
              <a:rect b="b" l="l" r="r" t="t"/>
              <a:pathLst>
                <a:path extrusionOk="0" h="1122680" w="7340600">
                  <a:moveTo>
                    <a:pt x="12700" y="0"/>
                  </a:moveTo>
                  <a:lnTo>
                    <a:pt x="7327900" y="0"/>
                  </a:lnTo>
                  <a:cubicBezTo>
                    <a:pt x="7334885" y="0"/>
                    <a:pt x="7340600" y="5715"/>
                    <a:pt x="7340600" y="12700"/>
                  </a:cubicBezTo>
                  <a:lnTo>
                    <a:pt x="7340600" y="1109980"/>
                  </a:lnTo>
                  <a:cubicBezTo>
                    <a:pt x="7340600" y="1116965"/>
                    <a:pt x="7334885" y="1122680"/>
                    <a:pt x="7327900" y="1122680"/>
                  </a:cubicBezTo>
                  <a:lnTo>
                    <a:pt x="12700" y="1122680"/>
                  </a:lnTo>
                  <a:cubicBezTo>
                    <a:pt x="5715" y="1122680"/>
                    <a:pt x="0" y="1116965"/>
                    <a:pt x="0" y="1109980"/>
                  </a:cubicBezTo>
                  <a:lnTo>
                    <a:pt x="0" y="12700"/>
                  </a:lnTo>
                  <a:cubicBezTo>
                    <a:pt x="0" y="5715"/>
                    <a:pt x="5715" y="0"/>
                    <a:pt x="12700" y="0"/>
                  </a:cubicBezTo>
                  <a:moveTo>
                    <a:pt x="12700" y="25400"/>
                  </a:moveTo>
                  <a:lnTo>
                    <a:pt x="12700" y="12700"/>
                  </a:lnTo>
                  <a:lnTo>
                    <a:pt x="25400" y="12700"/>
                  </a:lnTo>
                  <a:lnTo>
                    <a:pt x="25400" y="1109980"/>
                  </a:lnTo>
                  <a:lnTo>
                    <a:pt x="12700" y="1109980"/>
                  </a:lnTo>
                  <a:lnTo>
                    <a:pt x="12700" y="1097280"/>
                  </a:lnTo>
                  <a:lnTo>
                    <a:pt x="7327900" y="1097280"/>
                  </a:lnTo>
                  <a:lnTo>
                    <a:pt x="7327900" y="1109980"/>
                  </a:lnTo>
                  <a:lnTo>
                    <a:pt x="7315200" y="110998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 name="Google Shape;327;p15"/>
          <p:cNvGrpSpPr/>
          <p:nvPr/>
        </p:nvGrpSpPr>
        <p:grpSpPr>
          <a:xfrm>
            <a:off x="12240263" y="5290823"/>
            <a:ext cx="171640" cy="848298"/>
            <a:chOff x="0" y="0"/>
            <a:chExt cx="228854" cy="1131064"/>
          </a:xfrm>
        </p:grpSpPr>
        <p:sp>
          <p:nvSpPr>
            <p:cNvPr id="328" name="Google Shape;328;p15"/>
            <p:cNvSpPr/>
            <p:nvPr/>
          </p:nvSpPr>
          <p:spPr>
            <a:xfrm>
              <a:off x="16891" y="16891"/>
              <a:ext cx="195072" cy="1097280"/>
            </a:xfrm>
            <a:custGeom>
              <a:rect b="b" l="l" r="r" t="t"/>
              <a:pathLst>
                <a:path extrusionOk="0" h="1097280" w="195072">
                  <a:moveTo>
                    <a:pt x="0" y="0"/>
                  </a:moveTo>
                  <a:lnTo>
                    <a:pt x="195072" y="0"/>
                  </a:lnTo>
                  <a:lnTo>
                    <a:pt x="195072" y="1097280"/>
                  </a:lnTo>
                  <a:lnTo>
                    <a:pt x="0" y="1097280"/>
                  </a:lnTo>
                  <a:close/>
                </a:path>
              </a:pathLst>
            </a:custGeom>
            <a:solidFill>
              <a:srgbClr val="E67E22"/>
            </a:solidFill>
            <a:ln>
              <a:noFill/>
            </a:ln>
          </p:spPr>
        </p:sp>
        <p:sp>
          <p:nvSpPr>
            <p:cNvPr id="329" name="Google Shape;329;p15"/>
            <p:cNvSpPr/>
            <p:nvPr/>
          </p:nvSpPr>
          <p:spPr>
            <a:xfrm>
              <a:off x="0" y="0"/>
              <a:ext cx="228854" cy="1131064"/>
            </a:xfrm>
            <a:custGeom>
              <a:rect b="b" l="l" r="r" t="t"/>
              <a:pathLst>
                <a:path extrusionOk="0"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E67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15"/>
          <p:cNvGrpSpPr/>
          <p:nvPr/>
        </p:nvGrpSpPr>
        <p:grpSpPr>
          <a:xfrm>
            <a:off x="12527280" y="5421249"/>
            <a:ext cx="3657600" cy="540639"/>
            <a:chOff x="0" y="-38100"/>
            <a:chExt cx="4876800" cy="720852"/>
          </a:xfrm>
        </p:grpSpPr>
        <p:sp>
          <p:nvSpPr>
            <p:cNvPr id="331" name="Google Shape;331;p15"/>
            <p:cNvSpPr/>
            <p:nvPr/>
          </p:nvSpPr>
          <p:spPr>
            <a:xfrm>
              <a:off x="0" y="0"/>
              <a:ext cx="4876800" cy="682752"/>
            </a:xfrm>
            <a:custGeom>
              <a:rect b="b" l="l" r="r" t="t"/>
              <a:pathLst>
                <a:path extrusionOk="0" h="682752" w="4876800">
                  <a:moveTo>
                    <a:pt x="0" y="0"/>
                  </a:moveTo>
                  <a:lnTo>
                    <a:pt x="4876800" y="0"/>
                  </a:lnTo>
                  <a:lnTo>
                    <a:pt x="4876800" y="682752"/>
                  </a:lnTo>
                  <a:lnTo>
                    <a:pt x="0" y="682752"/>
                  </a:lnTo>
                  <a:close/>
                </a:path>
              </a:pathLst>
            </a:custGeom>
            <a:blipFill rotWithShape="1">
              <a:blip r:embed="rId3">
                <a:alphaModFix amt="0"/>
              </a:blip>
              <a:stretch>
                <a:fillRect b="-89175" l="0" r="0" t="-89175"/>
              </a:stretch>
            </a:blipFill>
            <a:ln>
              <a:noFill/>
            </a:ln>
          </p:spPr>
        </p:sp>
        <p:sp>
          <p:nvSpPr>
            <p:cNvPr id="332" name="Google Shape;332;p15"/>
            <p:cNvSpPr txBox="1"/>
            <p:nvPr/>
          </p:nvSpPr>
          <p:spPr>
            <a:xfrm>
              <a:off x="0" y="-38100"/>
              <a:ext cx="487680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Kafka Producer</a:t>
              </a:r>
              <a:endParaRPr/>
            </a:p>
          </p:txBody>
        </p:sp>
      </p:grpSp>
      <p:grpSp>
        <p:nvGrpSpPr>
          <p:cNvPr id="333" name="Google Shape;333;p15"/>
          <p:cNvGrpSpPr/>
          <p:nvPr/>
        </p:nvGrpSpPr>
        <p:grpSpPr>
          <a:xfrm>
            <a:off x="16184880" y="5421249"/>
            <a:ext cx="1371600" cy="540639"/>
            <a:chOff x="0" y="-38100"/>
            <a:chExt cx="1828800" cy="720852"/>
          </a:xfrm>
        </p:grpSpPr>
        <p:sp>
          <p:nvSpPr>
            <p:cNvPr id="334" name="Google Shape;334;p15"/>
            <p:cNvSpPr/>
            <p:nvPr/>
          </p:nvSpPr>
          <p:spPr>
            <a:xfrm>
              <a:off x="0" y="0"/>
              <a:ext cx="1828800" cy="682752"/>
            </a:xfrm>
            <a:custGeom>
              <a:rect b="b" l="l" r="r" t="t"/>
              <a:pathLst>
                <a:path extrusionOk="0" h="682752" w="1828800">
                  <a:moveTo>
                    <a:pt x="0" y="0"/>
                  </a:moveTo>
                  <a:lnTo>
                    <a:pt x="1828800" y="0"/>
                  </a:lnTo>
                  <a:lnTo>
                    <a:pt x="1828800" y="682752"/>
                  </a:lnTo>
                  <a:lnTo>
                    <a:pt x="0" y="682752"/>
                  </a:lnTo>
                  <a:close/>
                </a:path>
              </a:pathLst>
            </a:custGeom>
            <a:blipFill rotWithShape="1">
              <a:blip r:embed="rId3">
                <a:alphaModFix amt="0"/>
              </a:blip>
              <a:stretch>
                <a:fillRect b="-2192" l="0" r="0" t="-2192"/>
              </a:stretch>
            </a:blipFill>
            <a:ln>
              <a:noFill/>
            </a:ln>
          </p:spPr>
        </p:sp>
        <p:sp>
          <p:nvSpPr>
            <p:cNvPr id="335" name="Google Shape;335;p15"/>
            <p:cNvSpPr txBox="1"/>
            <p:nvPr/>
          </p:nvSpPr>
          <p:spPr>
            <a:xfrm>
              <a:off x="0" y="-38100"/>
              <a:ext cx="1828800" cy="720852"/>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000" u="none" cap="none" strike="noStrike">
                  <a:solidFill>
                    <a:srgbClr val="E67E22"/>
                  </a:solidFill>
                  <a:latin typeface="Calibri"/>
                  <a:ea typeface="Calibri"/>
                  <a:cs typeface="Calibri"/>
                  <a:sym typeface="Calibri"/>
                </a:rPr>
                <a:t>:—</a:t>
              </a:r>
              <a:endParaRPr/>
            </a:p>
          </p:txBody>
        </p:sp>
      </p:grpSp>
      <p:grpSp>
        <p:nvGrpSpPr>
          <p:cNvPr id="336" name="Google Shape;336;p15"/>
          <p:cNvGrpSpPr/>
          <p:nvPr/>
        </p:nvGrpSpPr>
        <p:grpSpPr>
          <a:xfrm>
            <a:off x="539115" y="6299835"/>
            <a:ext cx="5505450" cy="842010"/>
            <a:chOff x="0" y="0"/>
            <a:chExt cx="7340600" cy="1122680"/>
          </a:xfrm>
        </p:grpSpPr>
        <p:sp>
          <p:nvSpPr>
            <p:cNvPr id="337" name="Google Shape;337;p15"/>
            <p:cNvSpPr/>
            <p:nvPr/>
          </p:nvSpPr>
          <p:spPr>
            <a:xfrm>
              <a:off x="12700" y="12700"/>
              <a:ext cx="7315200" cy="1097280"/>
            </a:xfrm>
            <a:custGeom>
              <a:rect b="b" l="l" r="r" t="t"/>
              <a:pathLst>
                <a:path extrusionOk="0" h="1097280" w="7315200">
                  <a:moveTo>
                    <a:pt x="0" y="0"/>
                  </a:moveTo>
                  <a:lnTo>
                    <a:pt x="7315200" y="0"/>
                  </a:lnTo>
                  <a:lnTo>
                    <a:pt x="7315200" y="1097280"/>
                  </a:lnTo>
                  <a:lnTo>
                    <a:pt x="0" y="1097280"/>
                  </a:lnTo>
                  <a:close/>
                </a:path>
              </a:pathLst>
            </a:custGeom>
            <a:solidFill>
              <a:srgbClr val="F4F4F4"/>
            </a:solidFill>
            <a:ln>
              <a:noFill/>
            </a:ln>
          </p:spPr>
        </p:sp>
        <p:sp>
          <p:nvSpPr>
            <p:cNvPr id="338" name="Google Shape;338;p15"/>
            <p:cNvSpPr/>
            <p:nvPr/>
          </p:nvSpPr>
          <p:spPr>
            <a:xfrm>
              <a:off x="0" y="0"/>
              <a:ext cx="7340600" cy="1122680"/>
            </a:xfrm>
            <a:custGeom>
              <a:rect b="b" l="l" r="r" t="t"/>
              <a:pathLst>
                <a:path extrusionOk="0" h="1122680" w="7340600">
                  <a:moveTo>
                    <a:pt x="12700" y="0"/>
                  </a:moveTo>
                  <a:lnTo>
                    <a:pt x="7327900" y="0"/>
                  </a:lnTo>
                  <a:cubicBezTo>
                    <a:pt x="7334885" y="0"/>
                    <a:pt x="7340600" y="5715"/>
                    <a:pt x="7340600" y="12700"/>
                  </a:cubicBezTo>
                  <a:lnTo>
                    <a:pt x="7340600" y="1109980"/>
                  </a:lnTo>
                  <a:cubicBezTo>
                    <a:pt x="7340600" y="1116965"/>
                    <a:pt x="7334885" y="1122680"/>
                    <a:pt x="7327900" y="1122680"/>
                  </a:cubicBezTo>
                  <a:lnTo>
                    <a:pt x="12700" y="1122680"/>
                  </a:lnTo>
                  <a:cubicBezTo>
                    <a:pt x="5715" y="1122680"/>
                    <a:pt x="0" y="1116965"/>
                    <a:pt x="0" y="1109980"/>
                  </a:cubicBezTo>
                  <a:lnTo>
                    <a:pt x="0" y="12700"/>
                  </a:lnTo>
                  <a:cubicBezTo>
                    <a:pt x="0" y="5715"/>
                    <a:pt x="5715" y="0"/>
                    <a:pt x="12700" y="0"/>
                  </a:cubicBezTo>
                  <a:moveTo>
                    <a:pt x="12700" y="25400"/>
                  </a:moveTo>
                  <a:lnTo>
                    <a:pt x="12700" y="12700"/>
                  </a:lnTo>
                  <a:lnTo>
                    <a:pt x="25400" y="12700"/>
                  </a:lnTo>
                  <a:lnTo>
                    <a:pt x="25400" y="1109980"/>
                  </a:lnTo>
                  <a:lnTo>
                    <a:pt x="12700" y="1109980"/>
                  </a:lnTo>
                  <a:lnTo>
                    <a:pt x="12700" y="1097280"/>
                  </a:lnTo>
                  <a:lnTo>
                    <a:pt x="7327900" y="1097280"/>
                  </a:lnTo>
                  <a:lnTo>
                    <a:pt x="7327900" y="1109980"/>
                  </a:lnTo>
                  <a:lnTo>
                    <a:pt x="7315200" y="110998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 name="Google Shape;339;p15"/>
          <p:cNvGrpSpPr/>
          <p:nvPr/>
        </p:nvGrpSpPr>
        <p:grpSpPr>
          <a:xfrm>
            <a:off x="535943" y="6296663"/>
            <a:ext cx="171640" cy="848298"/>
            <a:chOff x="0" y="0"/>
            <a:chExt cx="228854" cy="1131064"/>
          </a:xfrm>
        </p:grpSpPr>
        <p:sp>
          <p:nvSpPr>
            <p:cNvPr id="340" name="Google Shape;340;p15"/>
            <p:cNvSpPr/>
            <p:nvPr/>
          </p:nvSpPr>
          <p:spPr>
            <a:xfrm>
              <a:off x="16891" y="16891"/>
              <a:ext cx="195072" cy="1097280"/>
            </a:xfrm>
            <a:custGeom>
              <a:rect b="b" l="l" r="r" t="t"/>
              <a:pathLst>
                <a:path extrusionOk="0" h="1097280" w="195072">
                  <a:moveTo>
                    <a:pt x="0" y="0"/>
                  </a:moveTo>
                  <a:lnTo>
                    <a:pt x="195072" y="0"/>
                  </a:lnTo>
                  <a:lnTo>
                    <a:pt x="195072" y="1097280"/>
                  </a:lnTo>
                  <a:lnTo>
                    <a:pt x="0" y="1097280"/>
                  </a:lnTo>
                  <a:close/>
                </a:path>
              </a:pathLst>
            </a:custGeom>
            <a:solidFill>
              <a:srgbClr val="2980B9"/>
            </a:solidFill>
            <a:ln>
              <a:noFill/>
            </a:ln>
          </p:spPr>
        </p:sp>
        <p:sp>
          <p:nvSpPr>
            <p:cNvPr id="341" name="Google Shape;341;p15"/>
            <p:cNvSpPr/>
            <p:nvPr/>
          </p:nvSpPr>
          <p:spPr>
            <a:xfrm>
              <a:off x="0" y="0"/>
              <a:ext cx="228854" cy="1131064"/>
            </a:xfrm>
            <a:custGeom>
              <a:rect b="b" l="l" r="r" t="t"/>
              <a:pathLst>
                <a:path extrusionOk="0"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 name="Google Shape;342;p15"/>
          <p:cNvGrpSpPr/>
          <p:nvPr/>
        </p:nvGrpSpPr>
        <p:grpSpPr>
          <a:xfrm>
            <a:off x="822960" y="6427089"/>
            <a:ext cx="3657600" cy="540639"/>
            <a:chOff x="0" y="-38100"/>
            <a:chExt cx="4876800" cy="720852"/>
          </a:xfrm>
        </p:grpSpPr>
        <p:sp>
          <p:nvSpPr>
            <p:cNvPr id="343" name="Google Shape;343;p15"/>
            <p:cNvSpPr/>
            <p:nvPr/>
          </p:nvSpPr>
          <p:spPr>
            <a:xfrm>
              <a:off x="0" y="0"/>
              <a:ext cx="4876800" cy="682752"/>
            </a:xfrm>
            <a:custGeom>
              <a:rect b="b" l="l" r="r" t="t"/>
              <a:pathLst>
                <a:path extrusionOk="0" h="682752" w="4876800">
                  <a:moveTo>
                    <a:pt x="0" y="0"/>
                  </a:moveTo>
                  <a:lnTo>
                    <a:pt x="4876800" y="0"/>
                  </a:lnTo>
                  <a:lnTo>
                    <a:pt x="4876800" y="682752"/>
                  </a:lnTo>
                  <a:lnTo>
                    <a:pt x="0" y="682752"/>
                  </a:lnTo>
                  <a:close/>
                </a:path>
              </a:pathLst>
            </a:custGeom>
            <a:blipFill rotWithShape="1">
              <a:blip r:embed="rId3">
                <a:alphaModFix amt="0"/>
              </a:blip>
              <a:stretch>
                <a:fillRect b="-89175" l="0" r="0" t="-89175"/>
              </a:stretch>
            </a:blipFill>
            <a:ln>
              <a:noFill/>
            </a:ln>
          </p:spPr>
        </p:sp>
        <p:sp>
          <p:nvSpPr>
            <p:cNvPr id="344" name="Google Shape;344;p15"/>
            <p:cNvSpPr txBox="1"/>
            <p:nvPr/>
          </p:nvSpPr>
          <p:spPr>
            <a:xfrm>
              <a:off x="0" y="-38100"/>
              <a:ext cx="487680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Spark Master</a:t>
              </a:r>
              <a:endParaRPr/>
            </a:p>
          </p:txBody>
        </p:sp>
      </p:grpSp>
      <p:grpSp>
        <p:nvGrpSpPr>
          <p:cNvPr id="345" name="Google Shape;345;p15"/>
          <p:cNvGrpSpPr/>
          <p:nvPr/>
        </p:nvGrpSpPr>
        <p:grpSpPr>
          <a:xfrm>
            <a:off x="4480560" y="6427089"/>
            <a:ext cx="1371600" cy="540639"/>
            <a:chOff x="0" y="-38100"/>
            <a:chExt cx="1828800" cy="720852"/>
          </a:xfrm>
        </p:grpSpPr>
        <p:sp>
          <p:nvSpPr>
            <p:cNvPr id="346" name="Google Shape;346;p15"/>
            <p:cNvSpPr/>
            <p:nvPr/>
          </p:nvSpPr>
          <p:spPr>
            <a:xfrm>
              <a:off x="0" y="0"/>
              <a:ext cx="1828800" cy="682752"/>
            </a:xfrm>
            <a:custGeom>
              <a:rect b="b" l="l" r="r" t="t"/>
              <a:pathLst>
                <a:path extrusionOk="0" h="682752" w="1828800">
                  <a:moveTo>
                    <a:pt x="0" y="0"/>
                  </a:moveTo>
                  <a:lnTo>
                    <a:pt x="1828800" y="0"/>
                  </a:lnTo>
                  <a:lnTo>
                    <a:pt x="1828800" y="682752"/>
                  </a:lnTo>
                  <a:lnTo>
                    <a:pt x="0" y="682752"/>
                  </a:lnTo>
                  <a:close/>
                </a:path>
              </a:pathLst>
            </a:custGeom>
            <a:blipFill rotWithShape="1">
              <a:blip r:embed="rId3">
                <a:alphaModFix amt="0"/>
              </a:blip>
              <a:stretch>
                <a:fillRect b="-2192" l="0" r="0" t="-2192"/>
              </a:stretch>
            </a:blipFill>
            <a:ln>
              <a:noFill/>
            </a:ln>
          </p:spPr>
        </p:sp>
        <p:sp>
          <p:nvSpPr>
            <p:cNvPr id="347" name="Google Shape;347;p15"/>
            <p:cNvSpPr txBox="1"/>
            <p:nvPr/>
          </p:nvSpPr>
          <p:spPr>
            <a:xfrm>
              <a:off x="0" y="-38100"/>
              <a:ext cx="1828800" cy="720852"/>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000" u="none" cap="none" strike="noStrike">
                  <a:solidFill>
                    <a:srgbClr val="2980B9"/>
                  </a:solidFill>
                  <a:latin typeface="Calibri"/>
                  <a:ea typeface="Calibri"/>
                  <a:cs typeface="Calibri"/>
                  <a:sym typeface="Calibri"/>
                </a:rPr>
                <a:t>:8888</a:t>
              </a:r>
              <a:endParaRPr/>
            </a:p>
          </p:txBody>
        </p:sp>
      </p:grpSp>
      <p:grpSp>
        <p:nvGrpSpPr>
          <p:cNvPr id="348" name="Google Shape;348;p15"/>
          <p:cNvGrpSpPr/>
          <p:nvPr/>
        </p:nvGrpSpPr>
        <p:grpSpPr>
          <a:xfrm>
            <a:off x="6391275" y="6299835"/>
            <a:ext cx="5505450" cy="842010"/>
            <a:chOff x="0" y="0"/>
            <a:chExt cx="7340600" cy="1122680"/>
          </a:xfrm>
        </p:grpSpPr>
        <p:sp>
          <p:nvSpPr>
            <p:cNvPr id="349" name="Google Shape;349;p15"/>
            <p:cNvSpPr/>
            <p:nvPr/>
          </p:nvSpPr>
          <p:spPr>
            <a:xfrm>
              <a:off x="12700" y="12700"/>
              <a:ext cx="7315200" cy="1097280"/>
            </a:xfrm>
            <a:custGeom>
              <a:rect b="b" l="l" r="r" t="t"/>
              <a:pathLst>
                <a:path extrusionOk="0" h="1097280" w="7315200">
                  <a:moveTo>
                    <a:pt x="0" y="0"/>
                  </a:moveTo>
                  <a:lnTo>
                    <a:pt x="7315200" y="0"/>
                  </a:lnTo>
                  <a:lnTo>
                    <a:pt x="7315200" y="1097280"/>
                  </a:lnTo>
                  <a:lnTo>
                    <a:pt x="0" y="1097280"/>
                  </a:lnTo>
                  <a:close/>
                </a:path>
              </a:pathLst>
            </a:custGeom>
            <a:solidFill>
              <a:srgbClr val="F4F4F4"/>
            </a:solidFill>
            <a:ln>
              <a:noFill/>
            </a:ln>
          </p:spPr>
        </p:sp>
        <p:sp>
          <p:nvSpPr>
            <p:cNvPr id="350" name="Google Shape;350;p15"/>
            <p:cNvSpPr/>
            <p:nvPr/>
          </p:nvSpPr>
          <p:spPr>
            <a:xfrm>
              <a:off x="0" y="0"/>
              <a:ext cx="7340600" cy="1122680"/>
            </a:xfrm>
            <a:custGeom>
              <a:rect b="b" l="l" r="r" t="t"/>
              <a:pathLst>
                <a:path extrusionOk="0" h="1122680" w="7340600">
                  <a:moveTo>
                    <a:pt x="12700" y="0"/>
                  </a:moveTo>
                  <a:lnTo>
                    <a:pt x="7327900" y="0"/>
                  </a:lnTo>
                  <a:cubicBezTo>
                    <a:pt x="7334885" y="0"/>
                    <a:pt x="7340600" y="5715"/>
                    <a:pt x="7340600" y="12700"/>
                  </a:cubicBezTo>
                  <a:lnTo>
                    <a:pt x="7340600" y="1109980"/>
                  </a:lnTo>
                  <a:cubicBezTo>
                    <a:pt x="7340600" y="1116965"/>
                    <a:pt x="7334885" y="1122680"/>
                    <a:pt x="7327900" y="1122680"/>
                  </a:cubicBezTo>
                  <a:lnTo>
                    <a:pt x="12700" y="1122680"/>
                  </a:lnTo>
                  <a:cubicBezTo>
                    <a:pt x="5715" y="1122680"/>
                    <a:pt x="0" y="1116965"/>
                    <a:pt x="0" y="1109980"/>
                  </a:cubicBezTo>
                  <a:lnTo>
                    <a:pt x="0" y="12700"/>
                  </a:lnTo>
                  <a:cubicBezTo>
                    <a:pt x="0" y="5715"/>
                    <a:pt x="5715" y="0"/>
                    <a:pt x="12700" y="0"/>
                  </a:cubicBezTo>
                  <a:moveTo>
                    <a:pt x="12700" y="25400"/>
                  </a:moveTo>
                  <a:lnTo>
                    <a:pt x="12700" y="12700"/>
                  </a:lnTo>
                  <a:lnTo>
                    <a:pt x="25400" y="12700"/>
                  </a:lnTo>
                  <a:lnTo>
                    <a:pt x="25400" y="1109980"/>
                  </a:lnTo>
                  <a:lnTo>
                    <a:pt x="12700" y="1109980"/>
                  </a:lnTo>
                  <a:lnTo>
                    <a:pt x="12700" y="1097280"/>
                  </a:lnTo>
                  <a:lnTo>
                    <a:pt x="7327900" y="1097280"/>
                  </a:lnTo>
                  <a:lnTo>
                    <a:pt x="7327900" y="1109980"/>
                  </a:lnTo>
                  <a:lnTo>
                    <a:pt x="7315200" y="110998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 name="Google Shape;351;p15"/>
          <p:cNvGrpSpPr/>
          <p:nvPr/>
        </p:nvGrpSpPr>
        <p:grpSpPr>
          <a:xfrm>
            <a:off x="6388103" y="6296663"/>
            <a:ext cx="171640" cy="848298"/>
            <a:chOff x="0" y="0"/>
            <a:chExt cx="228854" cy="1131064"/>
          </a:xfrm>
        </p:grpSpPr>
        <p:sp>
          <p:nvSpPr>
            <p:cNvPr id="352" name="Google Shape;352;p15"/>
            <p:cNvSpPr/>
            <p:nvPr/>
          </p:nvSpPr>
          <p:spPr>
            <a:xfrm>
              <a:off x="16891" y="16891"/>
              <a:ext cx="195072" cy="1097280"/>
            </a:xfrm>
            <a:custGeom>
              <a:rect b="b" l="l" r="r" t="t"/>
              <a:pathLst>
                <a:path extrusionOk="0" h="1097280" w="195072">
                  <a:moveTo>
                    <a:pt x="0" y="0"/>
                  </a:moveTo>
                  <a:lnTo>
                    <a:pt x="195072" y="0"/>
                  </a:lnTo>
                  <a:lnTo>
                    <a:pt x="195072" y="1097280"/>
                  </a:lnTo>
                  <a:lnTo>
                    <a:pt x="0" y="1097280"/>
                  </a:lnTo>
                  <a:close/>
                </a:path>
              </a:pathLst>
            </a:custGeom>
            <a:solidFill>
              <a:srgbClr val="2980B9"/>
            </a:solidFill>
            <a:ln>
              <a:noFill/>
            </a:ln>
          </p:spPr>
        </p:sp>
        <p:sp>
          <p:nvSpPr>
            <p:cNvPr id="353" name="Google Shape;353;p15"/>
            <p:cNvSpPr/>
            <p:nvPr/>
          </p:nvSpPr>
          <p:spPr>
            <a:xfrm>
              <a:off x="0" y="0"/>
              <a:ext cx="228854" cy="1131064"/>
            </a:xfrm>
            <a:custGeom>
              <a:rect b="b" l="l" r="r" t="t"/>
              <a:pathLst>
                <a:path extrusionOk="0"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15"/>
          <p:cNvGrpSpPr/>
          <p:nvPr/>
        </p:nvGrpSpPr>
        <p:grpSpPr>
          <a:xfrm>
            <a:off x="6675120" y="6427089"/>
            <a:ext cx="3657600" cy="540639"/>
            <a:chOff x="0" y="-38100"/>
            <a:chExt cx="4876800" cy="720852"/>
          </a:xfrm>
        </p:grpSpPr>
        <p:sp>
          <p:nvSpPr>
            <p:cNvPr id="355" name="Google Shape;355;p15"/>
            <p:cNvSpPr/>
            <p:nvPr/>
          </p:nvSpPr>
          <p:spPr>
            <a:xfrm>
              <a:off x="0" y="0"/>
              <a:ext cx="4876800" cy="682752"/>
            </a:xfrm>
            <a:custGeom>
              <a:rect b="b" l="l" r="r" t="t"/>
              <a:pathLst>
                <a:path extrusionOk="0" h="682752" w="4876800">
                  <a:moveTo>
                    <a:pt x="0" y="0"/>
                  </a:moveTo>
                  <a:lnTo>
                    <a:pt x="4876800" y="0"/>
                  </a:lnTo>
                  <a:lnTo>
                    <a:pt x="4876800" y="682752"/>
                  </a:lnTo>
                  <a:lnTo>
                    <a:pt x="0" y="682752"/>
                  </a:lnTo>
                  <a:close/>
                </a:path>
              </a:pathLst>
            </a:custGeom>
            <a:blipFill rotWithShape="1">
              <a:blip r:embed="rId3">
                <a:alphaModFix amt="0"/>
              </a:blip>
              <a:stretch>
                <a:fillRect b="-89175" l="0" r="0" t="-89175"/>
              </a:stretch>
            </a:blipFill>
            <a:ln>
              <a:noFill/>
            </a:ln>
          </p:spPr>
        </p:sp>
        <p:sp>
          <p:nvSpPr>
            <p:cNvPr id="356" name="Google Shape;356;p15"/>
            <p:cNvSpPr txBox="1"/>
            <p:nvPr/>
          </p:nvSpPr>
          <p:spPr>
            <a:xfrm>
              <a:off x="0" y="-38100"/>
              <a:ext cx="487680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Spark Worker</a:t>
              </a:r>
              <a:endParaRPr/>
            </a:p>
          </p:txBody>
        </p:sp>
      </p:grpSp>
      <p:grpSp>
        <p:nvGrpSpPr>
          <p:cNvPr id="357" name="Google Shape;357;p15"/>
          <p:cNvGrpSpPr/>
          <p:nvPr/>
        </p:nvGrpSpPr>
        <p:grpSpPr>
          <a:xfrm>
            <a:off x="10332720" y="6427089"/>
            <a:ext cx="1371600" cy="540639"/>
            <a:chOff x="0" y="-38100"/>
            <a:chExt cx="1828800" cy="720852"/>
          </a:xfrm>
        </p:grpSpPr>
        <p:sp>
          <p:nvSpPr>
            <p:cNvPr id="358" name="Google Shape;358;p15"/>
            <p:cNvSpPr/>
            <p:nvPr/>
          </p:nvSpPr>
          <p:spPr>
            <a:xfrm>
              <a:off x="0" y="0"/>
              <a:ext cx="1828800" cy="682752"/>
            </a:xfrm>
            <a:custGeom>
              <a:rect b="b" l="l" r="r" t="t"/>
              <a:pathLst>
                <a:path extrusionOk="0" h="682752" w="1828800">
                  <a:moveTo>
                    <a:pt x="0" y="0"/>
                  </a:moveTo>
                  <a:lnTo>
                    <a:pt x="1828800" y="0"/>
                  </a:lnTo>
                  <a:lnTo>
                    <a:pt x="1828800" y="682752"/>
                  </a:lnTo>
                  <a:lnTo>
                    <a:pt x="0" y="682752"/>
                  </a:lnTo>
                  <a:close/>
                </a:path>
              </a:pathLst>
            </a:custGeom>
            <a:blipFill rotWithShape="1">
              <a:blip r:embed="rId3">
                <a:alphaModFix amt="0"/>
              </a:blip>
              <a:stretch>
                <a:fillRect b="-2192" l="0" r="0" t="-2192"/>
              </a:stretch>
            </a:blipFill>
            <a:ln>
              <a:noFill/>
            </a:ln>
          </p:spPr>
        </p:sp>
        <p:sp>
          <p:nvSpPr>
            <p:cNvPr id="359" name="Google Shape;359;p15"/>
            <p:cNvSpPr txBox="1"/>
            <p:nvPr/>
          </p:nvSpPr>
          <p:spPr>
            <a:xfrm>
              <a:off x="0" y="-38100"/>
              <a:ext cx="1828800" cy="720852"/>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000" u="none" cap="none" strike="noStrike">
                  <a:solidFill>
                    <a:srgbClr val="2980B9"/>
                  </a:solidFill>
                  <a:latin typeface="Calibri"/>
                  <a:ea typeface="Calibri"/>
                  <a:cs typeface="Calibri"/>
                  <a:sym typeface="Calibri"/>
                </a:rPr>
                <a:t>:8889</a:t>
              </a:r>
              <a:endParaRPr/>
            </a:p>
          </p:txBody>
        </p:sp>
      </p:grpSp>
      <p:grpSp>
        <p:nvGrpSpPr>
          <p:cNvPr id="360" name="Google Shape;360;p15"/>
          <p:cNvGrpSpPr/>
          <p:nvPr/>
        </p:nvGrpSpPr>
        <p:grpSpPr>
          <a:xfrm>
            <a:off x="12243435" y="6299835"/>
            <a:ext cx="5505450" cy="842010"/>
            <a:chOff x="0" y="0"/>
            <a:chExt cx="7340600" cy="1122680"/>
          </a:xfrm>
        </p:grpSpPr>
        <p:sp>
          <p:nvSpPr>
            <p:cNvPr id="361" name="Google Shape;361;p15"/>
            <p:cNvSpPr/>
            <p:nvPr/>
          </p:nvSpPr>
          <p:spPr>
            <a:xfrm>
              <a:off x="12700" y="12700"/>
              <a:ext cx="7315200" cy="1097280"/>
            </a:xfrm>
            <a:custGeom>
              <a:rect b="b" l="l" r="r" t="t"/>
              <a:pathLst>
                <a:path extrusionOk="0" h="1097280" w="7315200">
                  <a:moveTo>
                    <a:pt x="0" y="0"/>
                  </a:moveTo>
                  <a:lnTo>
                    <a:pt x="7315200" y="0"/>
                  </a:lnTo>
                  <a:lnTo>
                    <a:pt x="7315200" y="1097280"/>
                  </a:lnTo>
                  <a:lnTo>
                    <a:pt x="0" y="1097280"/>
                  </a:lnTo>
                  <a:close/>
                </a:path>
              </a:pathLst>
            </a:custGeom>
            <a:solidFill>
              <a:srgbClr val="F4F4F4"/>
            </a:solidFill>
            <a:ln>
              <a:noFill/>
            </a:ln>
          </p:spPr>
        </p:sp>
        <p:sp>
          <p:nvSpPr>
            <p:cNvPr id="362" name="Google Shape;362;p15"/>
            <p:cNvSpPr/>
            <p:nvPr/>
          </p:nvSpPr>
          <p:spPr>
            <a:xfrm>
              <a:off x="0" y="0"/>
              <a:ext cx="7340600" cy="1122680"/>
            </a:xfrm>
            <a:custGeom>
              <a:rect b="b" l="l" r="r" t="t"/>
              <a:pathLst>
                <a:path extrusionOk="0" h="1122680" w="7340600">
                  <a:moveTo>
                    <a:pt x="12700" y="0"/>
                  </a:moveTo>
                  <a:lnTo>
                    <a:pt x="7327900" y="0"/>
                  </a:lnTo>
                  <a:cubicBezTo>
                    <a:pt x="7334885" y="0"/>
                    <a:pt x="7340600" y="5715"/>
                    <a:pt x="7340600" y="12700"/>
                  </a:cubicBezTo>
                  <a:lnTo>
                    <a:pt x="7340600" y="1109980"/>
                  </a:lnTo>
                  <a:cubicBezTo>
                    <a:pt x="7340600" y="1116965"/>
                    <a:pt x="7334885" y="1122680"/>
                    <a:pt x="7327900" y="1122680"/>
                  </a:cubicBezTo>
                  <a:lnTo>
                    <a:pt x="12700" y="1122680"/>
                  </a:lnTo>
                  <a:cubicBezTo>
                    <a:pt x="5715" y="1122680"/>
                    <a:pt x="0" y="1116965"/>
                    <a:pt x="0" y="1109980"/>
                  </a:cubicBezTo>
                  <a:lnTo>
                    <a:pt x="0" y="12700"/>
                  </a:lnTo>
                  <a:cubicBezTo>
                    <a:pt x="0" y="5715"/>
                    <a:pt x="5715" y="0"/>
                    <a:pt x="12700" y="0"/>
                  </a:cubicBezTo>
                  <a:moveTo>
                    <a:pt x="12700" y="25400"/>
                  </a:moveTo>
                  <a:lnTo>
                    <a:pt x="12700" y="12700"/>
                  </a:lnTo>
                  <a:lnTo>
                    <a:pt x="25400" y="12700"/>
                  </a:lnTo>
                  <a:lnTo>
                    <a:pt x="25400" y="1109980"/>
                  </a:lnTo>
                  <a:lnTo>
                    <a:pt x="12700" y="1109980"/>
                  </a:lnTo>
                  <a:lnTo>
                    <a:pt x="12700" y="1097280"/>
                  </a:lnTo>
                  <a:lnTo>
                    <a:pt x="7327900" y="1097280"/>
                  </a:lnTo>
                  <a:lnTo>
                    <a:pt x="7327900" y="1109980"/>
                  </a:lnTo>
                  <a:lnTo>
                    <a:pt x="7315200" y="1109980"/>
                  </a:lnTo>
                  <a:lnTo>
                    <a:pt x="7315200" y="12700"/>
                  </a:lnTo>
                  <a:lnTo>
                    <a:pt x="7327900" y="12700"/>
                  </a:lnTo>
                  <a:lnTo>
                    <a:pt x="732790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 name="Google Shape;363;p15"/>
          <p:cNvGrpSpPr/>
          <p:nvPr/>
        </p:nvGrpSpPr>
        <p:grpSpPr>
          <a:xfrm>
            <a:off x="12240263" y="6296663"/>
            <a:ext cx="171640" cy="848298"/>
            <a:chOff x="0" y="0"/>
            <a:chExt cx="228854" cy="1131064"/>
          </a:xfrm>
        </p:grpSpPr>
        <p:sp>
          <p:nvSpPr>
            <p:cNvPr id="364" name="Google Shape;364;p15"/>
            <p:cNvSpPr/>
            <p:nvPr/>
          </p:nvSpPr>
          <p:spPr>
            <a:xfrm>
              <a:off x="16891" y="16891"/>
              <a:ext cx="195072" cy="1097280"/>
            </a:xfrm>
            <a:custGeom>
              <a:rect b="b" l="l" r="r" t="t"/>
              <a:pathLst>
                <a:path extrusionOk="0" h="1097280" w="195072">
                  <a:moveTo>
                    <a:pt x="0" y="0"/>
                  </a:moveTo>
                  <a:lnTo>
                    <a:pt x="195072" y="0"/>
                  </a:lnTo>
                  <a:lnTo>
                    <a:pt x="195072" y="1097280"/>
                  </a:lnTo>
                  <a:lnTo>
                    <a:pt x="0" y="1097280"/>
                  </a:lnTo>
                  <a:close/>
                </a:path>
              </a:pathLst>
            </a:custGeom>
            <a:solidFill>
              <a:srgbClr val="1DB954"/>
            </a:solidFill>
            <a:ln>
              <a:noFill/>
            </a:ln>
          </p:spPr>
        </p:sp>
        <p:sp>
          <p:nvSpPr>
            <p:cNvPr id="365" name="Google Shape;365;p15"/>
            <p:cNvSpPr/>
            <p:nvPr/>
          </p:nvSpPr>
          <p:spPr>
            <a:xfrm>
              <a:off x="0" y="0"/>
              <a:ext cx="228854" cy="1131064"/>
            </a:xfrm>
            <a:custGeom>
              <a:rect b="b" l="l" r="r" t="t"/>
              <a:pathLst>
                <a:path extrusionOk="0"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 name="Google Shape;366;p15"/>
          <p:cNvGrpSpPr/>
          <p:nvPr/>
        </p:nvGrpSpPr>
        <p:grpSpPr>
          <a:xfrm>
            <a:off x="12527280" y="6427089"/>
            <a:ext cx="3657600" cy="540639"/>
            <a:chOff x="0" y="-38100"/>
            <a:chExt cx="4876800" cy="720852"/>
          </a:xfrm>
        </p:grpSpPr>
        <p:sp>
          <p:nvSpPr>
            <p:cNvPr id="367" name="Google Shape;367;p15"/>
            <p:cNvSpPr/>
            <p:nvPr/>
          </p:nvSpPr>
          <p:spPr>
            <a:xfrm>
              <a:off x="0" y="0"/>
              <a:ext cx="4876800" cy="682752"/>
            </a:xfrm>
            <a:custGeom>
              <a:rect b="b" l="l" r="r" t="t"/>
              <a:pathLst>
                <a:path extrusionOk="0" h="682752" w="4876800">
                  <a:moveTo>
                    <a:pt x="0" y="0"/>
                  </a:moveTo>
                  <a:lnTo>
                    <a:pt x="4876800" y="0"/>
                  </a:lnTo>
                  <a:lnTo>
                    <a:pt x="4876800" y="682752"/>
                  </a:lnTo>
                  <a:lnTo>
                    <a:pt x="0" y="682752"/>
                  </a:lnTo>
                  <a:close/>
                </a:path>
              </a:pathLst>
            </a:custGeom>
            <a:blipFill rotWithShape="1">
              <a:blip r:embed="rId3">
                <a:alphaModFix amt="0"/>
              </a:blip>
              <a:stretch>
                <a:fillRect b="-89175" l="0" r="0" t="-89175"/>
              </a:stretch>
            </a:blipFill>
            <a:ln>
              <a:noFill/>
            </a:ln>
          </p:spPr>
        </p:sp>
        <p:sp>
          <p:nvSpPr>
            <p:cNvPr id="368" name="Google Shape;368;p15"/>
            <p:cNvSpPr txBox="1"/>
            <p:nvPr/>
          </p:nvSpPr>
          <p:spPr>
            <a:xfrm>
              <a:off x="0" y="-38100"/>
              <a:ext cx="487680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MLflow</a:t>
              </a:r>
              <a:endParaRPr/>
            </a:p>
          </p:txBody>
        </p:sp>
      </p:grpSp>
      <p:grpSp>
        <p:nvGrpSpPr>
          <p:cNvPr id="369" name="Google Shape;369;p15"/>
          <p:cNvGrpSpPr/>
          <p:nvPr/>
        </p:nvGrpSpPr>
        <p:grpSpPr>
          <a:xfrm>
            <a:off x="16184880" y="6427089"/>
            <a:ext cx="1371600" cy="540639"/>
            <a:chOff x="0" y="-38100"/>
            <a:chExt cx="1828800" cy="720852"/>
          </a:xfrm>
        </p:grpSpPr>
        <p:sp>
          <p:nvSpPr>
            <p:cNvPr id="370" name="Google Shape;370;p15"/>
            <p:cNvSpPr/>
            <p:nvPr/>
          </p:nvSpPr>
          <p:spPr>
            <a:xfrm>
              <a:off x="0" y="0"/>
              <a:ext cx="1828800" cy="682752"/>
            </a:xfrm>
            <a:custGeom>
              <a:rect b="b" l="l" r="r" t="t"/>
              <a:pathLst>
                <a:path extrusionOk="0" h="682752" w="1828800">
                  <a:moveTo>
                    <a:pt x="0" y="0"/>
                  </a:moveTo>
                  <a:lnTo>
                    <a:pt x="1828800" y="0"/>
                  </a:lnTo>
                  <a:lnTo>
                    <a:pt x="1828800" y="682752"/>
                  </a:lnTo>
                  <a:lnTo>
                    <a:pt x="0" y="682752"/>
                  </a:lnTo>
                  <a:close/>
                </a:path>
              </a:pathLst>
            </a:custGeom>
            <a:blipFill rotWithShape="1">
              <a:blip r:embed="rId3">
                <a:alphaModFix amt="0"/>
              </a:blip>
              <a:stretch>
                <a:fillRect b="-2192" l="0" r="0" t="-2192"/>
              </a:stretch>
            </a:blipFill>
            <a:ln>
              <a:noFill/>
            </a:ln>
          </p:spPr>
        </p:sp>
        <p:sp>
          <p:nvSpPr>
            <p:cNvPr id="371" name="Google Shape;371;p15"/>
            <p:cNvSpPr txBox="1"/>
            <p:nvPr/>
          </p:nvSpPr>
          <p:spPr>
            <a:xfrm>
              <a:off x="0" y="-38100"/>
              <a:ext cx="1828800" cy="720852"/>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:5000</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grpSp>
        <p:nvGrpSpPr>
          <p:cNvPr id="380" name="Google Shape;380;p16"/>
          <p:cNvGrpSpPr/>
          <p:nvPr/>
        </p:nvGrpSpPr>
        <p:grpSpPr>
          <a:xfrm>
            <a:off x="-12697" y="-12697"/>
            <a:ext cx="18313336" cy="1579816"/>
            <a:chOff x="0" y="0"/>
            <a:chExt cx="24417782" cy="2106422"/>
          </a:xfrm>
        </p:grpSpPr>
        <p:sp>
          <p:nvSpPr>
            <p:cNvPr id="381" name="Google Shape;381;p16"/>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382" name="Google Shape;382;p16"/>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 name="Google Shape;383;p16"/>
          <p:cNvGrpSpPr/>
          <p:nvPr/>
        </p:nvGrpSpPr>
        <p:grpSpPr>
          <a:xfrm>
            <a:off x="-12697" y="-12697"/>
            <a:ext cx="244792" cy="1579816"/>
            <a:chOff x="0" y="0"/>
            <a:chExt cx="326390" cy="2106422"/>
          </a:xfrm>
        </p:grpSpPr>
        <p:sp>
          <p:nvSpPr>
            <p:cNvPr id="384" name="Google Shape;384;p16"/>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385" name="Google Shape;385;p16"/>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 name="Google Shape;386;p16"/>
          <p:cNvGrpSpPr/>
          <p:nvPr/>
        </p:nvGrpSpPr>
        <p:grpSpPr>
          <a:xfrm>
            <a:off x="548640" y="89154"/>
            <a:ext cx="12801600" cy="880110"/>
            <a:chOff x="0" y="-76200"/>
            <a:chExt cx="17068800" cy="1173480"/>
          </a:xfrm>
        </p:grpSpPr>
        <p:sp>
          <p:nvSpPr>
            <p:cNvPr id="387" name="Google Shape;387;p16"/>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388" name="Google Shape;388;p16"/>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Docker + Kafka — Canlı Demo</a:t>
              </a:r>
              <a:endParaRPr/>
            </a:p>
          </p:txBody>
        </p:sp>
      </p:grpSp>
      <p:grpSp>
        <p:nvGrpSpPr>
          <p:cNvPr id="389" name="Google Shape;389;p16"/>
          <p:cNvGrpSpPr/>
          <p:nvPr/>
        </p:nvGrpSpPr>
        <p:grpSpPr>
          <a:xfrm>
            <a:off x="548640" y="915257"/>
            <a:ext cx="16459200" cy="547783"/>
            <a:chOff x="0" y="-47625"/>
            <a:chExt cx="21945600" cy="730377"/>
          </a:xfrm>
        </p:grpSpPr>
        <p:sp>
          <p:nvSpPr>
            <p:cNvPr id="390" name="Google Shape;390;p16"/>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391" name="Google Shape;391;p16"/>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Gerçek zamanlı veri akışı simülasyonu</a:t>
              </a:r>
              <a:endParaRPr/>
            </a:p>
          </p:txBody>
        </p:sp>
      </p:grpSp>
      <p:grpSp>
        <p:nvGrpSpPr>
          <p:cNvPr id="392" name="Google Shape;392;p16"/>
          <p:cNvGrpSpPr/>
          <p:nvPr/>
        </p:nvGrpSpPr>
        <p:grpSpPr>
          <a:xfrm>
            <a:off x="-12697" y="1541783"/>
            <a:ext cx="18313336" cy="98490"/>
            <a:chOff x="0" y="0"/>
            <a:chExt cx="24417782" cy="131320"/>
          </a:xfrm>
        </p:grpSpPr>
        <p:sp>
          <p:nvSpPr>
            <p:cNvPr id="393" name="Google Shape;393;p16"/>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394" name="Google Shape;394;p16"/>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16"/>
          <p:cNvGrpSpPr/>
          <p:nvPr/>
        </p:nvGrpSpPr>
        <p:grpSpPr>
          <a:xfrm>
            <a:off x="535943" y="1787528"/>
            <a:ext cx="8255031" cy="4077938"/>
            <a:chOff x="0" y="-38100"/>
            <a:chExt cx="11006709" cy="5437251"/>
          </a:xfrm>
        </p:grpSpPr>
        <p:sp>
          <p:nvSpPr>
            <p:cNvPr id="396" name="Google Shape;396;p16"/>
            <p:cNvSpPr/>
            <p:nvPr/>
          </p:nvSpPr>
          <p:spPr>
            <a:xfrm>
              <a:off x="16891" y="16891"/>
              <a:ext cx="10972800" cy="5364480"/>
            </a:xfrm>
            <a:custGeom>
              <a:rect b="b" l="l" r="r" t="t"/>
              <a:pathLst>
                <a:path extrusionOk="0" h="5364480" w="10972800">
                  <a:moveTo>
                    <a:pt x="0" y="0"/>
                  </a:moveTo>
                  <a:lnTo>
                    <a:pt x="10972800" y="0"/>
                  </a:lnTo>
                  <a:lnTo>
                    <a:pt x="10972800" y="5364480"/>
                  </a:lnTo>
                  <a:lnTo>
                    <a:pt x="0" y="5364480"/>
                  </a:lnTo>
                  <a:close/>
                </a:path>
              </a:pathLst>
            </a:custGeom>
            <a:blipFill rotWithShape="1">
              <a:blip r:embed="rId3">
                <a:alphaModFix/>
              </a:blip>
              <a:stretch>
                <a:fillRect b="-316" l="-13120" r="-13122" t="-314"/>
              </a:stretch>
            </a:blipFill>
            <a:ln>
              <a:noFill/>
            </a:ln>
          </p:spPr>
        </p:sp>
        <p:sp>
          <p:nvSpPr>
            <p:cNvPr id="397" name="Google Shape;397;p16"/>
            <p:cNvSpPr/>
            <p:nvPr/>
          </p:nvSpPr>
          <p:spPr>
            <a:xfrm>
              <a:off x="0" y="0"/>
              <a:ext cx="11006709" cy="5399151"/>
            </a:xfrm>
            <a:custGeom>
              <a:rect b="b" l="l" r="r" t="t"/>
              <a:pathLst>
                <a:path extrusionOk="0" h="5399151" w="11006709">
                  <a:moveTo>
                    <a:pt x="254000" y="0"/>
                  </a:moveTo>
                  <a:lnTo>
                    <a:pt x="355600" y="0"/>
                  </a:lnTo>
                  <a:lnTo>
                    <a:pt x="355600" y="33909"/>
                  </a:lnTo>
                  <a:lnTo>
                    <a:pt x="254000" y="33909"/>
                  </a:lnTo>
                  <a:close/>
                  <a:moveTo>
                    <a:pt x="491109" y="0"/>
                  </a:moveTo>
                  <a:lnTo>
                    <a:pt x="592709" y="0"/>
                  </a:lnTo>
                  <a:lnTo>
                    <a:pt x="592709" y="33909"/>
                  </a:lnTo>
                  <a:lnTo>
                    <a:pt x="491109" y="33909"/>
                  </a:lnTo>
                  <a:close/>
                  <a:moveTo>
                    <a:pt x="728091" y="0"/>
                  </a:moveTo>
                  <a:lnTo>
                    <a:pt x="829691" y="0"/>
                  </a:lnTo>
                  <a:lnTo>
                    <a:pt x="829691" y="33909"/>
                  </a:lnTo>
                  <a:lnTo>
                    <a:pt x="728091" y="33909"/>
                  </a:lnTo>
                  <a:close/>
                  <a:moveTo>
                    <a:pt x="965200" y="0"/>
                  </a:moveTo>
                  <a:lnTo>
                    <a:pt x="1066800" y="0"/>
                  </a:lnTo>
                  <a:lnTo>
                    <a:pt x="1066800" y="33909"/>
                  </a:lnTo>
                  <a:lnTo>
                    <a:pt x="965200" y="33909"/>
                  </a:lnTo>
                  <a:close/>
                  <a:moveTo>
                    <a:pt x="1202309" y="0"/>
                  </a:moveTo>
                  <a:lnTo>
                    <a:pt x="1303909" y="0"/>
                  </a:lnTo>
                  <a:lnTo>
                    <a:pt x="1303909" y="33909"/>
                  </a:lnTo>
                  <a:lnTo>
                    <a:pt x="1202309" y="33909"/>
                  </a:lnTo>
                  <a:close/>
                  <a:moveTo>
                    <a:pt x="1439418" y="33909"/>
                  </a:moveTo>
                  <a:lnTo>
                    <a:pt x="1541018" y="33909"/>
                  </a:lnTo>
                  <a:lnTo>
                    <a:pt x="1439418" y="33909"/>
                  </a:lnTo>
                  <a:close/>
                  <a:moveTo>
                    <a:pt x="1676400" y="0"/>
                  </a:moveTo>
                  <a:lnTo>
                    <a:pt x="1778000" y="0"/>
                  </a:lnTo>
                  <a:lnTo>
                    <a:pt x="1778000" y="33909"/>
                  </a:lnTo>
                  <a:lnTo>
                    <a:pt x="1676400" y="33909"/>
                  </a:lnTo>
                  <a:close/>
                  <a:moveTo>
                    <a:pt x="1913509" y="33909"/>
                  </a:moveTo>
                  <a:lnTo>
                    <a:pt x="2015109" y="33909"/>
                  </a:lnTo>
                  <a:lnTo>
                    <a:pt x="1913509" y="33909"/>
                  </a:lnTo>
                  <a:close/>
                  <a:moveTo>
                    <a:pt x="2150618" y="33909"/>
                  </a:moveTo>
                  <a:lnTo>
                    <a:pt x="2252218" y="33909"/>
                  </a:lnTo>
                  <a:lnTo>
                    <a:pt x="2150618" y="33909"/>
                  </a:lnTo>
                  <a:close/>
                  <a:moveTo>
                    <a:pt x="2387600" y="0"/>
                  </a:moveTo>
                  <a:lnTo>
                    <a:pt x="2489200" y="0"/>
                  </a:lnTo>
                  <a:lnTo>
                    <a:pt x="2489200" y="33909"/>
                  </a:lnTo>
                  <a:lnTo>
                    <a:pt x="2387600" y="33909"/>
                  </a:lnTo>
                  <a:close/>
                  <a:moveTo>
                    <a:pt x="2624709" y="33909"/>
                  </a:moveTo>
                  <a:lnTo>
                    <a:pt x="2726309" y="33909"/>
                  </a:lnTo>
                  <a:lnTo>
                    <a:pt x="2624709" y="33909"/>
                  </a:lnTo>
                  <a:close/>
                  <a:moveTo>
                    <a:pt x="2861818" y="33909"/>
                  </a:moveTo>
                  <a:lnTo>
                    <a:pt x="2963418" y="33909"/>
                  </a:lnTo>
                  <a:lnTo>
                    <a:pt x="2861818" y="33909"/>
                  </a:lnTo>
                  <a:close/>
                  <a:moveTo>
                    <a:pt x="3098800" y="0"/>
                  </a:moveTo>
                  <a:lnTo>
                    <a:pt x="3200400" y="0"/>
                  </a:lnTo>
                  <a:lnTo>
                    <a:pt x="3200400" y="33909"/>
                  </a:lnTo>
                  <a:lnTo>
                    <a:pt x="3098800" y="33909"/>
                  </a:lnTo>
                  <a:close/>
                  <a:moveTo>
                    <a:pt x="3335909" y="33909"/>
                  </a:moveTo>
                  <a:lnTo>
                    <a:pt x="3437509" y="33909"/>
                  </a:lnTo>
                  <a:lnTo>
                    <a:pt x="3335909" y="33909"/>
                  </a:lnTo>
                  <a:close/>
                  <a:moveTo>
                    <a:pt x="3573018" y="33909"/>
                  </a:moveTo>
                  <a:lnTo>
                    <a:pt x="3674618" y="33909"/>
                  </a:lnTo>
                  <a:lnTo>
                    <a:pt x="3573018" y="33909"/>
                  </a:lnTo>
                  <a:close/>
                  <a:moveTo>
                    <a:pt x="3810000" y="0"/>
                  </a:moveTo>
                  <a:lnTo>
                    <a:pt x="3911600" y="0"/>
                  </a:lnTo>
                  <a:lnTo>
                    <a:pt x="3911600" y="33909"/>
                  </a:lnTo>
                  <a:lnTo>
                    <a:pt x="3810000" y="33909"/>
                  </a:lnTo>
                  <a:close/>
                  <a:moveTo>
                    <a:pt x="4047109" y="33909"/>
                  </a:moveTo>
                  <a:lnTo>
                    <a:pt x="4148709" y="33909"/>
                  </a:lnTo>
                  <a:lnTo>
                    <a:pt x="4047109" y="33909"/>
                  </a:lnTo>
                  <a:close/>
                  <a:moveTo>
                    <a:pt x="4284218" y="33909"/>
                  </a:moveTo>
                  <a:lnTo>
                    <a:pt x="4385818" y="33909"/>
                  </a:lnTo>
                  <a:lnTo>
                    <a:pt x="4284218" y="33909"/>
                  </a:lnTo>
                  <a:close/>
                  <a:moveTo>
                    <a:pt x="4521200" y="0"/>
                  </a:moveTo>
                  <a:lnTo>
                    <a:pt x="4622800" y="0"/>
                  </a:lnTo>
                  <a:lnTo>
                    <a:pt x="4622800" y="33909"/>
                  </a:lnTo>
                  <a:lnTo>
                    <a:pt x="4521200" y="33909"/>
                  </a:lnTo>
                  <a:close/>
                  <a:moveTo>
                    <a:pt x="4758309" y="33909"/>
                  </a:moveTo>
                  <a:lnTo>
                    <a:pt x="4859909" y="33909"/>
                  </a:lnTo>
                  <a:lnTo>
                    <a:pt x="4758309" y="33909"/>
                  </a:lnTo>
                  <a:close/>
                  <a:moveTo>
                    <a:pt x="4995418" y="33909"/>
                  </a:moveTo>
                  <a:lnTo>
                    <a:pt x="5097018" y="33909"/>
                  </a:lnTo>
                  <a:lnTo>
                    <a:pt x="4995418" y="33909"/>
                  </a:lnTo>
                  <a:close/>
                  <a:moveTo>
                    <a:pt x="5232400" y="0"/>
                  </a:moveTo>
                  <a:lnTo>
                    <a:pt x="5334000" y="0"/>
                  </a:lnTo>
                  <a:lnTo>
                    <a:pt x="5334000" y="33909"/>
                  </a:lnTo>
                  <a:lnTo>
                    <a:pt x="5232400" y="33909"/>
                  </a:lnTo>
                  <a:close/>
                  <a:moveTo>
                    <a:pt x="5469509" y="33909"/>
                  </a:moveTo>
                  <a:lnTo>
                    <a:pt x="5571109" y="33909"/>
                  </a:lnTo>
                  <a:lnTo>
                    <a:pt x="5469509" y="33909"/>
                  </a:lnTo>
                  <a:close/>
                  <a:moveTo>
                    <a:pt x="5706618" y="33909"/>
                  </a:moveTo>
                  <a:lnTo>
                    <a:pt x="5808218" y="33909"/>
                  </a:lnTo>
                  <a:lnTo>
                    <a:pt x="5706618" y="33909"/>
                  </a:lnTo>
                  <a:close/>
                  <a:moveTo>
                    <a:pt x="5943600" y="0"/>
                  </a:moveTo>
                  <a:lnTo>
                    <a:pt x="6045200" y="0"/>
                  </a:lnTo>
                  <a:lnTo>
                    <a:pt x="6045200" y="33909"/>
                  </a:lnTo>
                  <a:lnTo>
                    <a:pt x="5943600" y="33909"/>
                  </a:lnTo>
                  <a:close/>
                  <a:moveTo>
                    <a:pt x="6180709" y="33909"/>
                  </a:moveTo>
                  <a:lnTo>
                    <a:pt x="6282309" y="33909"/>
                  </a:lnTo>
                  <a:lnTo>
                    <a:pt x="6180709" y="33909"/>
                  </a:lnTo>
                  <a:close/>
                  <a:moveTo>
                    <a:pt x="6417818" y="33909"/>
                  </a:moveTo>
                  <a:lnTo>
                    <a:pt x="6519418" y="33909"/>
                  </a:lnTo>
                  <a:lnTo>
                    <a:pt x="6417818" y="33909"/>
                  </a:lnTo>
                  <a:close/>
                  <a:moveTo>
                    <a:pt x="6654800" y="0"/>
                  </a:moveTo>
                  <a:lnTo>
                    <a:pt x="6756400" y="0"/>
                  </a:lnTo>
                  <a:lnTo>
                    <a:pt x="6756400" y="33909"/>
                  </a:lnTo>
                  <a:lnTo>
                    <a:pt x="6654800" y="33909"/>
                  </a:lnTo>
                  <a:close/>
                  <a:moveTo>
                    <a:pt x="6891909" y="33909"/>
                  </a:moveTo>
                  <a:lnTo>
                    <a:pt x="6993509" y="33909"/>
                  </a:lnTo>
                  <a:lnTo>
                    <a:pt x="6891909" y="33909"/>
                  </a:lnTo>
                  <a:close/>
                  <a:moveTo>
                    <a:pt x="7129018" y="33909"/>
                  </a:moveTo>
                  <a:lnTo>
                    <a:pt x="7230618" y="33909"/>
                  </a:lnTo>
                  <a:lnTo>
                    <a:pt x="7129018" y="33909"/>
                  </a:lnTo>
                  <a:close/>
                  <a:moveTo>
                    <a:pt x="7366000" y="0"/>
                  </a:moveTo>
                  <a:lnTo>
                    <a:pt x="7467600" y="0"/>
                  </a:lnTo>
                  <a:lnTo>
                    <a:pt x="7467600" y="33909"/>
                  </a:lnTo>
                  <a:lnTo>
                    <a:pt x="7366000" y="33909"/>
                  </a:lnTo>
                  <a:close/>
                  <a:moveTo>
                    <a:pt x="7603109" y="33909"/>
                  </a:moveTo>
                  <a:lnTo>
                    <a:pt x="7704709" y="33909"/>
                  </a:lnTo>
                  <a:lnTo>
                    <a:pt x="7603109" y="33909"/>
                  </a:lnTo>
                  <a:close/>
                  <a:moveTo>
                    <a:pt x="7840218" y="33909"/>
                  </a:moveTo>
                  <a:lnTo>
                    <a:pt x="7941818" y="33909"/>
                  </a:lnTo>
                  <a:lnTo>
                    <a:pt x="7840218" y="33909"/>
                  </a:lnTo>
                  <a:close/>
                  <a:moveTo>
                    <a:pt x="8077200" y="0"/>
                  </a:moveTo>
                  <a:lnTo>
                    <a:pt x="8178800" y="0"/>
                  </a:lnTo>
                  <a:lnTo>
                    <a:pt x="8178800" y="33909"/>
                  </a:lnTo>
                  <a:lnTo>
                    <a:pt x="8077200" y="33909"/>
                  </a:lnTo>
                  <a:close/>
                  <a:moveTo>
                    <a:pt x="8314309" y="33909"/>
                  </a:moveTo>
                  <a:lnTo>
                    <a:pt x="8415909" y="33909"/>
                  </a:lnTo>
                  <a:lnTo>
                    <a:pt x="8314309" y="33909"/>
                  </a:lnTo>
                  <a:close/>
                  <a:moveTo>
                    <a:pt x="8551418" y="33909"/>
                  </a:moveTo>
                  <a:lnTo>
                    <a:pt x="8653018" y="33909"/>
                  </a:lnTo>
                  <a:lnTo>
                    <a:pt x="8551418" y="33909"/>
                  </a:lnTo>
                  <a:close/>
                  <a:moveTo>
                    <a:pt x="8788400" y="0"/>
                  </a:moveTo>
                  <a:lnTo>
                    <a:pt x="8890000" y="0"/>
                  </a:lnTo>
                  <a:lnTo>
                    <a:pt x="8890000" y="33909"/>
                  </a:lnTo>
                  <a:lnTo>
                    <a:pt x="8788400" y="33909"/>
                  </a:lnTo>
                  <a:close/>
                  <a:moveTo>
                    <a:pt x="9025509" y="33909"/>
                  </a:moveTo>
                  <a:lnTo>
                    <a:pt x="9127109" y="33909"/>
                  </a:lnTo>
                  <a:lnTo>
                    <a:pt x="9025509" y="33909"/>
                  </a:lnTo>
                  <a:close/>
                  <a:moveTo>
                    <a:pt x="9262618" y="33909"/>
                  </a:moveTo>
                  <a:lnTo>
                    <a:pt x="9364218" y="33909"/>
                  </a:lnTo>
                  <a:lnTo>
                    <a:pt x="9262618" y="33909"/>
                  </a:lnTo>
                  <a:close/>
                  <a:moveTo>
                    <a:pt x="9499600" y="0"/>
                  </a:moveTo>
                  <a:lnTo>
                    <a:pt x="9601200" y="0"/>
                  </a:lnTo>
                  <a:lnTo>
                    <a:pt x="9601200" y="33909"/>
                  </a:lnTo>
                  <a:lnTo>
                    <a:pt x="9499600" y="33909"/>
                  </a:lnTo>
                  <a:close/>
                  <a:moveTo>
                    <a:pt x="9736709" y="33909"/>
                  </a:moveTo>
                  <a:lnTo>
                    <a:pt x="9838309" y="33909"/>
                  </a:lnTo>
                  <a:lnTo>
                    <a:pt x="9736709" y="33909"/>
                  </a:lnTo>
                  <a:close/>
                  <a:moveTo>
                    <a:pt x="9973818" y="33909"/>
                  </a:moveTo>
                  <a:lnTo>
                    <a:pt x="10075418" y="33909"/>
                  </a:lnTo>
                  <a:lnTo>
                    <a:pt x="9973818" y="33909"/>
                  </a:lnTo>
                  <a:close/>
                  <a:moveTo>
                    <a:pt x="10210800" y="0"/>
                  </a:moveTo>
                  <a:lnTo>
                    <a:pt x="10312400" y="0"/>
                  </a:lnTo>
                  <a:lnTo>
                    <a:pt x="10312400" y="33909"/>
                  </a:lnTo>
                  <a:lnTo>
                    <a:pt x="10210800" y="33909"/>
                  </a:lnTo>
                  <a:close/>
                  <a:moveTo>
                    <a:pt x="10447909" y="33909"/>
                  </a:moveTo>
                  <a:lnTo>
                    <a:pt x="10549509" y="33909"/>
                  </a:lnTo>
                  <a:lnTo>
                    <a:pt x="10447909" y="33909"/>
                  </a:lnTo>
                  <a:close/>
                  <a:moveTo>
                    <a:pt x="10685018" y="33909"/>
                  </a:moveTo>
                  <a:lnTo>
                    <a:pt x="10786618" y="33909"/>
                  </a:lnTo>
                  <a:lnTo>
                    <a:pt x="10685018" y="33909"/>
                  </a:lnTo>
                  <a:close/>
                  <a:moveTo>
                    <a:pt x="10922000" y="0"/>
                  </a:moveTo>
                  <a:lnTo>
                    <a:pt x="10989691" y="0"/>
                  </a:lnTo>
                  <a:cubicBezTo>
                    <a:pt x="10999089" y="0"/>
                    <a:pt x="11006582" y="7620"/>
                    <a:pt x="11006582" y="16891"/>
                  </a:cubicBezTo>
                  <a:lnTo>
                    <a:pt x="11006582" y="50800"/>
                  </a:lnTo>
                  <a:lnTo>
                    <a:pt x="10972800" y="50800"/>
                  </a:lnTo>
                  <a:lnTo>
                    <a:pt x="10972800" y="16891"/>
                  </a:lnTo>
                  <a:lnTo>
                    <a:pt x="10989691" y="16891"/>
                  </a:lnTo>
                  <a:lnTo>
                    <a:pt x="10989691" y="33909"/>
                  </a:lnTo>
                  <a:lnTo>
                    <a:pt x="10922000" y="33909"/>
                  </a:lnTo>
                  <a:close/>
                  <a:moveTo>
                    <a:pt x="11006709" y="220218"/>
                  </a:moveTo>
                  <a:lnTo>
                    <a:pt x="11006709" y="321818"/>
                  </a:lnTo>
                  <a:lnTo>
                    <a:pt x="10972800" y="321818"/>
                  </a:lnTo>
                  <a:lnTo>
                    <a:pt x="10972800" y="220218"/>
                  </a:lnTo>
                  <a:close/>
                  <a:moveTo>
                    <a:pt x="10972800" y="457327"/>
                  </a:moveTo>
                  <a:lnTo>
                    <a:pt x="10972800" y="558927"/>
                  </a:lnTo>
                  <a:lnTo>
                    <a:pt x="10972800" y="457327"/>
                  </a:lnTo>
                  <a:close/>
                  <a:moveTo>
                    <a:pt x="10972800" y="694436"/>
                  </a:moveTo>
                  <a:lnTo>
                    <a:pt x="10972800" y="796036"/>
                  </a:lnTo>
                  <a:lnTo>
                    <a:pt x="10972800" y="660400"/>
                  </a:lnTo>
                  <a:close/>
                  <a:moveTo>
                    <a:pt x="10972800" y="897509"/>
                  </a:moveTo>
                  <a:lnTo>
                    <a:pt x="10972800" y="999109"/>
                  </a:lnTo>
                  <a:lnTo>
                    <a:pt x="10972800" y="897509"/>
                  </a:lnTo>
                  <a:close/>
                  <a:moveTo>
                    <a:pt x="10972800" y="1134618"/>
                  </a:moveTo>
                  <a:lnTo>
                    <a:pt x="10972800" y="1236218"/>
                  </a:lnTo>
                  <a:lnTo>
                    <a:pt x="10972800" y="1134618"/>
                  </a:lnTo>
                  <a:close/>
                  <a:moveTo>
                    <a:pt x="10972800" y="1371727"/>
                  </a:moveTo>
                  <a:lnTo>
                    <a:pt x="10972800" y="1473327"/>
                  </a:lnTo>
                  <a:lnTo>
                    <a:pt x="10972800" y="1371727"/>
                  </a:lnTo>
                  <a:close/>
                  <a:moveTo>
                    <a:pt x="10972800" y="1608836"/>
                  </a:moveTo>
                  <a:lnTo>
                    <a:pt x="10972800" y="1710436"/>
                  </a:lnTo>
                  <a:lnTo>
                    <a:pt x="10972800" y="1608836"/>
                  </a:lnTo>
                  <a:close/>
                  <a:moveTo>
                    <a:pt x="10972800" y="1845945"/>
                  </a:moveTo>
                  <a:lnTo>
                    <a:pt x="10972800" y="1947545"/>
                  </a:lnTo>
                  <a:lnTo>
                    <a:pt x="10972800" y="1845945"/>
                  </a:lnTo>
                  <a:close/>
                  <a:moveTo>
                    <a:pt x="10972800" y="2083054"/>
                  </a:moveTo>
                  <a:lnTo>
                    <a:pt x="10972800" y="2184654"/>
                  </a:lnTo>
                  <a:lnTo>
                    <a:pt x="10972800" y="2083054"/>
                  </a:lnTo>
                  <a:close/>
                  <a:moveTo>
                    <a:pt x="10972800" y="2320163"/>
                  </a:moveTo>
                  <a:lnTo>
                    <a:pt x="10972800" y="2421763"/>
                  </a:lnTo>
                  <a:lnTo>
                    <a:pt x="10972800" y="2320163"/>
                  </a:lnTo>
                  <a:close/>
                  <a:moveTo>
                    <a:pt x="10972800" y="2557272"/>
                  </a:moveTo>
                  <a:lnTo>
                    <a:pt x="10972800" y="2658872"/>
                  </a:lnTo>
                  <a:lnTo>
                    <a:pt x="10972800" y="2557272"/>
                  </a:lnTo>
                  <a:close/>
                  <a:moveTo>
                    <a:pt x="10972800" y="2794381"/>
                  </a:moveTo>
                  <a:lnTo>
                    <a:pt x="10972800" y="2895981"/>
                  </a:lnTo>
                  <a:lnTo>
                    <a:pt x="10972800" y="2794381"/>
                  </a:lnTo>
                  <a:close/>
                  <a:moveTo>
                    <a:pt x="10972800" y="3031490"/>
                  </a:moveTo>
                  <a:lnTo>
                    <a:pt x="10972800" y="3133090"/>
                  </a:lnTo>
                  <a:lnTo>
                    <a:pt x="10972800" y="3031490"/>
                  </a:lnTo>
                  <a:close/>
                  <a:moveTo>
                    <a:pt x="10972800" y="3268599"/>
                  </a:moveTo>
                  <a:lnTo>
                    <a:pt x="10972800" y="3370199"/>
                  </a:lnTo>
                  <a:lnTo>
                    <a:pt x="10972800" y="3268599"/>
                  </a:lnTo>
                  <a:close/>
                  <a:moveTo>
                    <a:pt x="10972800" y="3505708"/>
                  </a:moveTo>
                  <a:lnTo>
                    <a:pt x="10972800" y="3607308"/>
                  </a:lnTo>
                  <a:lnTo>
                    <a:pt x="10972800" y="3505708"/>
                  </a:lnTo>
                  <a:close/>
                  <a:moveTo>
                    <a:pt x="10972800" y="3742817"/>
                  </a:moveTo>
                  <a:lnTo>
                    <a:pt x="10972800" y="3844417"/>
                  </a:lnTo>
                  <a:lnTo>
                    <a:pt x="10972800" y="3742817"/>
                  </a:lnTo>
                  <a:close/>
                  <a:moveTo>
                    <a:pt x="10972800" y="3979926"/>
                  </a:moveTo>
                  <a:lnTo>
                    <a:pt x="10972800" y="4081526"/>
                  </a:lnTo>
                  <a:lnTo>
                    <a:pt x="10972800" y="3979926"/>
                  </a:lnTo>
                  <a:close/>
                  <a:moveTo>
                    <a:pt x="10972800" y="4217035"/>
                  </a:moveTo>
                  <a:lnTo>
                    <a:pt x="10972800" y="4318635"/>
                  </a:lnTo>
                  <a:lnTo>
                    <a:pt x="10972800" y="4217035"/>
                  </a:lnTo>
                  <a:close/>
                  <a:moveTo>
                    <a:pt x="10972800" y="4454144"/>
                  </a:moveTo>
                  <a:lnTo>
                    <a:pt x="10972800" y="4555744"/>
                  </a:lnTo>
                  <a:lnTo>
                    <a:pt x="10972800" y="4454144"/>
                  </a:lnTo>
                  <a:close/>
                  <a:moveTo>
                    <a:pt x="10972800" y="4691253"/>
                  </a:moveTo>
                  <a:lnTo>
                    <a:pt x="10972800" y="4792853"/>
                  </a:lnTo>
                  <a:lnTo>
                    <a:pt x="10972800" y="4691253"/>
                  </a:lnTo>
                  <a:close/>
                  <a:moveTo>
                    <a:pt x="10972800" y="4928362"/>
                  </a:moveTo>
                  <a:lnTo>
                    <a:pt x="10972800" y="5029962"/>
                  </a:lnTo>
                  <a:lnTo>
                    <a:pt x="10972800" y="4928362"/>
                  </a:lnTo>
                  <a:close/>
                  <a:moveTo>
                    <a:pt x="10972800" y="5165471"/>
                  </a:moveTo>
                  <a:lnTo>
                    <a:pt x="10972800" y="5267071"/>
                  </a:lnTo>
                  <a:lnTo>
                    <a:pt x="10972800" y="5165471"/>
                  </a:lnTo>
                  <a:close/>
                  <a:moveTo>
                    <a:pt x="10935589" y="5399151"/>
                  </a:moveTo>
                  <a:lnTo>
                    <a:pt x="10833989" y="5399151"/>
                  </a:lnTo>
                  <a:lnTo>
                    <a:pt x="10833989" y="5364480"/>
                  </a:lnTo>
                  <a:lnTo>
                    <a:pt x="10935589" y="5364480"/>
                  </a:lnTo>
                  <a:close/>
                  <a:moveTo>
                    <a:pt x="10698480" y="5364480"/>
                  </a:moveTo>
                  <a:lnTo>
                    <a:pt x="10596880" y="5364480"/>
                  </a:lnTo>
                  <a:lnTo>
                    <a:pt x="10698480" y="5364480"/>
                  </a:lnTo>
                  <a:close/>
                  <a:moveTo>
                    <a:pt x="10461371" y="5364480"/>
                  </a:moveTo>
                  <a:lnTo>
                    <a:pt x="10359771" y="5364480"/>
                  </a:lnTo>
                  <a:lnTo>
                    <a:pt x="10461371" y="5364480"/>
                  </a:lnTo>
                  <a:close/>
                  <a:moveTo>
                    <a:pt x="10224262" y="5364480"/>
                  </a:moveTo>
                  <a:lnTo>
                    <a:pt x="10122662" y="5364480"/>
                  </a:lnTo>
                  <a:lnTo>
                    <a:pt x="10224262" y="5364480"/>
                  </a:lnTo>
                  <a:close/>
                  <a:moveTo>
                    <a:pt x="9987153" y="5364480"/>
                  </a:moveTo>
                  <a:lnTo>
                    <a:pt x="9885553" y="5364480"/>
                  </a:lnTo>
                  <a:lnTo>
                    <a:pt x="9987153" y="5364480"/>
                  </a:lnTo>
                  <a:close/>
                  <a:moveTo>
                    <a:pt x="9750044" y="5364480"/>
                  </a:moveTo>
                  <a:lnTo>
                    <a:pt x="9648444" y="5364480"/>
                  </a:lnTo>
                  <a:lnTo>
                    <a:pt x="9750044" y="5364480"/>
                  </a:lnTo>
                  <a:close/>
                  <a:moveTo>
                    <a:pt x="9512935" y="5364480"/>
                  </a:moveTo>
                  <a:lnTo>
                    <a:pt x="9411335" y="5364480"/>
                  </a:lnTo>
                  <a:lnTo>
                    <a:pt x="9512935" y="5364480"/>
                  </a:lnTo>
                  <a:close/>
                  <a:moveTo>
                    <a:pt x="9275826" y="5364480"/>
                  </a:moveTo>
                  <a:lnTo>
                    <a:pt x="9174226" y="5364480"/>
                  </a:lnTo>
                  <a:lnTo>
                    <a:pt x="9275826" y="5364480"/>
                  </a:lnTo>
                  <a:close/>
                  <a:moveTo>
                    <a:pt x="9038717" y="5364480"/>
                  </a:moveTo>
                  <a:lnTo>
                    <a:pt x="8937117" y="5364480"/>
                  </a:lnTo>
                  <a:lnTo>
                    <a:pt x="9038717" y="5364480"/>
                  </a:lnTo>
                  <a:close/>
                  <a:moveTo>
                    <a:pt x="8801608" y="5364480"/>
                  </a:moveTo>
                  <a:lnTo>
                    <a:pt x="8700008" y="5364480"/>
                  </a:lnTo>
                  <a:lnTo>
                    <a:pt x="8801608" y="5364480"/>
                  </a:lnTo>
                  <a:close/>
                  <a:moveTo>
                    <a:pt x="8564499" y="5364480"/>
                  </a:moveTo>
                  <a:lnTo>
                    <a:pt x="8462899" y="5364480"/>
                  </a:lnTo>
                  <a:lnTo>
                    <a:pt x="8564499" y="5364480"/>
                  </a:lnTo>
                  <a:close/>
                  <a:moveTo>
                    <a:pt x="8327390" y="5364480"/>
                  </a:moveTo>
                  <a:lnTo>
                    <a:pt x="8225790" y="5364480"/>
                  </a:lnTo>
                  <a:lnTo>
                    <a:pt x="8327390" y="5364480"/>
                  </a:lnTo>
                  <a:close/>
                  <a:moveTo>
                    <a:pt x="8090281" y="5364480"/>
                  </a:moveTo>
                  <a:lnTo>
                    <a:pt x="7988681" y="5364480"/>
                  </a:lnTo>
                  <a:lnTo>
                    <a:pt x="8090281" y="5364480"/>
                  </a:lnTo>
                  <a:close/>
                  <a:moveTo>
                    <a:pt x="7853172" y="5364480"/>
                  </a:moveTo>
                  <a:lnTo>
                    <a:pt x="7751572" y="5364480"/>
                  </a:lnTo>
                  <a:lnTo>
                    <a:pt x="7853172" y="5364480"/>
                  </a:lnTo>
                  <a:close/>
                  <a:moveTo>
                    <a:pt x="7616063" y="5364480"/>
                  </a:moveTo>
                  <a:lnTo>
                    <a:pt x="7514463" y="5364480"/>
                  </a:lnTo>
                  <a:lnTo>
                    <a:pt x="7616063" y="5364480"/>
                  </a:lnTo>
                  <a:close/>
                  <a:moveTo>
                    <a:pt x="7378954" y="5364480"/>
                  </a:moveTo>
                  <a:lnTo>
                    <a:pt x="7277354" y="5364480"/>
                  </a:lnTo>
                  <a:lnTo>
                    <a:pt x="7378954" y="5364480"/>
                  </a:lnTo>
                  <a:close/>
                  <a:moveTo>
                    <a:pt x="7141845" y="5364480"/>
                  </a:moveTo>
                  <a:lnTo>
                    <a:pt x="7040245" y="5364480"/>
                  </a:lnTo>
                  <a:lnTo>
                    <a:pt x="7141845" y="5364480"/>
                  </a:lnTo>
                  <a:close/>
                  <a:moveTo>
                    <a:pt x="6904736" y="5364480"/>
                  </a:moveTo>
                  <a:lnTo>
                    <a:pt x="6803136" y="5364480"/>
                  </a:lnTo>
                  <a:lnTo>
                    <a:pt x="6904736" y="5364480"/>
                  </a:lnTo>
                  <a:close/>
                  <a:moveTo>
                    <a:pt x="6667627" y="5364480"/>
                  </a:moveTo>
                  <a:lnTo>
                    <a:pt x="6566027" y="5364480"/>
                  </a:lnTo>
                  <a:lnTo>
                    <a:pt x="6667627" y="5364480"/>
                  </a:lnTo>
                  <a:close/>
                  <a:moveTo>
                    <a:pt x="6430518" y="5364480"/>
                  </a:moveTo>
                  <a:lnTo>
                    <a:pt x="6328918" y="5364480"/>
                  </a:lnTo>
                  <a:lnTo>
                    <a:pt x="6430518" y="5364480"/>
                  </a:lnTo>
                  <a:close/>
                  <a:moveTo>
                    <a:pt x="6193409" y="5364480"/>
                  </a:moveTo>
                  <a:lnTo>
                    <a:pt x="6091809" y="5364480"/>
                  </a:lnTo>
                  <a:lnTo>
                    <a:pt x="6193409" y="5364480"/>
                  </a:lnTo>
                  <a:close/>
                  <a:moveTo>
                    <a:pt x="5956300" y="5364480"/>
                  </a:moveTo>
                  <a:lnTo>
                    <a:pt x="5854700" y="5364480"/>
                  </a:lnTo>
                  <a:lnTo>
                    <a:pt x="5956300" y="5364480"/>
                  </a:lnTo>
                  <a:close/>
                  <a:moveTo>
                    <a:pt x="5719191" y="5364480"/>
                  </a:moveTo>
                  <a:lnTo>
                    <a:pt x="5617591" y="5364480"/>
                  </a:lnTo>
                  <a:lnTo>
                    <a:pt x="5719191" y="5364480"/>
                  </a:lnTo>
                  <a:close/>
                  <a:moveTo>
                    <a:pt x="5482082" y="5364480"/>
                  </a:moveTo>
                  <a:lnTo>
                    <a:pt x="5380482" y="5364480"/>
                  </a:lnTo>
                  <a:lnTo>
                    <a:pt x="5482082" y="5364480"/>
                  </a:lnTo>
                  <a:close/>
                  <a:moveTo>
                    <a:pt x="5244973" y="5364480"/>
                  </a:moveTo>
                  <a:lnTo>
                    <a:pt x="5143373" y="5364480"/>
                  </a:lnTo>
                  <a:lnTo>
                    <a:pt x="5244973" y="5364480"/>
                  </a:lnTo>
                  <a:close/>
                  <a:moveTo>
                    <a:pt x="5007864" y="5364480"/>
                  </a:moveTo>
                  <a:lnTo>
                    <a:pt x="4906264" y="5364480"/>
                  </a:lnTo>
                  <a:lnTo>
                    <a:pt x="5007864" y="5364480"/>
                  </a:lnTo>
                  <a:close/>
                  <a:moveTo>
                    <a:pt x="4770755" y="5364480"/>
                  </a:moveTo>
                  <a:lnTo>
                    <a:pt x="4669155" y="5364480"/>
                  </a:lnTo>
                  <a:lnTo>
                    <a:pt x="4770755" y="5364480"/>
                  </a:lnTo>
                  <a:close/>
                  <a:moveTo>
                    <a:pt x="4533646" y="5364480"/>
                  </a:moveTo>
                  <a:lnTo>
                    <a:pt x="4432046" y="5364480"/>
                  </a:lnTo>
                  <a:lnTo>
                    <a:pt x="4533646" y="5364480"/>
                  </a:lnTo>
                  <a:close/>
                  <a:moveTo>
                    <a:pt x="4296537" y="5364480"/>
                  </a:moveTo>
                  <a:lnTo>
                    <a:pt x="4194937" y="5364480"/>
                  </a:lnTo>
                  <a:lnTo>
                    <a:pt x="4296537" y="5364480"/>
                  </a:lnTo>
                  <a:close/>
                  <a:moveTo>
                    <a:pt x="4059428" y="5364480"/>
                  </a:moveTo>
                  <a:lnTo>
                    <a:pt x="3957828" y="5364480"/>
                  </a:lnTo>
                  <a:lnTo>
                    <a:pt x="4059428" y="5364480"/>
                  </a:lnTo>
                  <a:close/>
                  <a:moveTo>
                    <a:pt x="3822319" y="5364480"/>
                  </a:moveTo>
                  <a:lnTo>
                    <a:pt x="3720719" y="5364480"/>
                  </a:lnTo>
                  <a:lnTo>
                    <a:pt x="3822319" y="5364480"/>
                  </a:lnTo>
                  <a:close/>
                  <a:moveTo>
                    <a:pt x="3585210" y="5364480"/>
                  </a:moveTo>
                  <a:lnTo>
                    <a:pt x="3483610" y="5364480"/>
                  </a:lnTo>
                  <a:lnTo>
                    <a:pt x="3585210" y="5364480"/>
                  </a:lnTo>
                  <a:close/>
                  <a:moveTo>
                    <a:pt x="3348101" y="5364480"/>
                  </a:moveTo>
                  <a:lnTo>
                    <a:pt x="3246501" y="5364480"/>
                  </a:lnTo>
                  <a:lnTo>
                    <a:pt x="3348101" y="5364480"/>
                  </a:lnTo>
                  <a:close/>
                  <a:moveTo>
                    <a:pt x="3110992" y="5364480"/>
                  </a:moveTo>
                  <a:lnTo>
                    <a:pt x="3009392" y="5364480"/>
                  </a:lnTo>
                  <a:lnTo>
                    <a:pt x="3110992" y="5364480"/>
                  </a:lnTo>
                  <a:close/>
                  <a:moveTo>
                    <a:pt x="2873883" y="5364480"/>
                  </a:moveTo>
                  <a:lnTo>
                    <a:pt x="2772283" y="5364480"/>
                  </a:lnTo>
                  <a:lnTo>
                    <a:pt x="2873883" y="5364480"/>
                  </a:lnTo>
                  <a:close/>
                  <a:moveTo>
                    <a:pt x="2636774" y="5364480"/>
                  </a:moveTo>
                  <a:lnTo>
                    <a:pt x="2535174" y="5364480"/>
                  </a:lnTo>
                  <a:lnTo>
                    <a:pt x="2636774" y="5364480"/>
                  </a:lnTo>
                  <a:close/>
                  <a:moveTo>
                    <a:pt x="2399665" y="5364480"/>
                  </a:moveTo>
                  <a:lnTo>
                    <a:pt x="2298065" y="5364480"/>
                  </a:lnTo>
                  <a:lnTo>
                    <a:pt x="2399665" y="5364480"/>
                  </a:lnTo>
                  <a:close/>
                  <a:moveTo>
                    <a:pt x="2162556" y="5364480"/>
                  </a:moveTo>
                  <a:lnTo>
                    <a:pt x="2060956" y="5364480"/>
                  </a:lnTo>
                  <a:lnTo>
                    <a:pt x="2162556" y="5364480"/>
                  </a:lnTo>
                  <a:close/>
                  <a:moveTo>
                    <a:pt x="1925447" y="5364480"/>
                  </a:moveTo>
                  <a:lnTo>
                    <a:pt x="1823847" y="5364480"/>
                  </a:lnTo>
                  <a:lnTo>
                    <a:pt x="1925447" y="5364480"/>
                  </a:lnTo>
                  <a:close/>
                  <a:moveTo>
                    <a:pt x="1688338" y="5364480"/>
                  </a:moveTo>
                  <a:lnTo>
                    <a:pt x="1586738" y="5364480"/>
                  </a:lnTo>
                  <a:lnTo>
                    <a:pt x="1688338" y="5364480"/>
                  </a:lnTo>
                  <a:close/>
                  <a:moveTo>
                    <a:pt x="1451229" y="5364480"/>
                  </a:moveTo>
                  <a:lnTo>
                    <a:pt x="1349629" y="5364480"/>
                  </a:lnTo>
                  <a:lnTo>
                    <a:pt x="1451229" y="5364480"/>
                  </a:lnTo>
                  <a:close/>
                  <a:moveTo>
                    <a:pt x="1214120" y="5364480"/>
                  </a:moveTo>
                  <a:lnTo>
                    <a:pt x="1112520" y="5364480"/>
                  </a:lnTo>
                  <a:lnTo>
                    <a:pt x="1214120" y="5364480"/>
                  </a:lnTo>
                  <a:close/>
                  <a:moveTo>
                    <a:pt x="977011" y="5364480"/>
                  </a:moveTo>
                  <a:lnTo>
                    <a:pt x="875411" y="5364480"/>
                  </a:lnTo>
                  <a:lnTo>
                    <a:pt x="977011" y="5364480"/>
                  </a:lnTo>
                  <a:close/>
                  <a:moveTo>
                    <a:pt x="739902" y="5364480"/>
                  </a:moveTo>
                  <a:lnTo>
                    <a:pt x="638302" y="5364480"/>
                  </a:lnTo>
                  <a:lnTo>
                    <a:pt x="739902" y="5364480"/>
                  </a:lnTo>
                  <a:close/>
                  <a:moveTo>
                    <a:pt x="502793" y="5364480"/>
                  </a:moveTo>
                  <a:lnTo>
                    <a:pt x="401193" y="5364480"/>
                  </a:lnTo>
                  <a:lnTo>
                    <a:pt x="502793" y="5364480"/>
                  </a:lnTo>
                  <a:close/>
                  <a:moveTo>
                    <a:pt x="265684" y="5364480"/>
                  </a:moveTo>
                  <a:lnTo>
                    <a:pt x="164084" y="5364480"/>
                  </a:lnTo>
                  <a:lnTo>
                    <a:pt x="265684" y="5364480"/>
                  </a:lnTo>
                  <a:close/>
                  <a:moveTo>
                    <a:pt x="28575" y="5364480"/>
                  </a:moveTo>
                  <a:lnTo>
                    <a:pt x="16891" y="5364480"/>
                  </a:lnTo>
                  <a:cubicBezTo>
                    <a:pt x="7493" y="5364480"/>
                    <a:pt x="0" y="5356860"/>
                    <a:pt x="0" y="5347589"/>
                  </a:cubicBezTo>
                  <a:lnTo>
                    <a:pt x="0" y="5293360"/>
                  </a:lnTo>
                  <a:lnTo>
                    <a:pt x="33909" y="5293360"/>
                  </a:lnTo>
                  <a:lnTo>
                    <a:pt x="33909" y="5347589"/>
                  </a:lnTo>
                  <a:lnTo>
                    <a:pt x="16891" y="5347589"/>
                  </a:lnTo>
                  <a:lnTo>
                    <a:pt x="16891" y="5364480"/>
                  </a:lnTo>
                  <a:lnTo>
                    <a:pt x="64389" y="5364480"/>
                  </a:lnTo>
                  <a:close/>
                  <a:moveTo>
                    <a:pt x="0" y="5191760"/>
                  </a:moveTo>
                  <a:lnTo>
                    <a:pt x="0" y="5090160"/>
                  </a:lnTo>
                  <a:lnTo>
                    <a:pt x="33909" y="5090160"/>
                  </a:lnTo>
                  <a:lnTo>
                    <a:pt x="33909" y="5191760"/>
                  </a:lnTo>
                  <a:close/>
                  <a:moveTo>
                    <a:pt x="33909" y="4954651"/>
                  </a:moveTo>
                  <a:lnTo>
                    <a:pt x="33909" y="4853051"/>
                  </a:lnTo>
                  <a:lnTo>
                    <a:pt x="33909" y="4954651"/>
                  </a:lnTo>
                  <a:close/>
                  <a:moveTo>
                    <a:pt x="33909" y="4717542"/>
                  </a:moveTo>
                  <a:lnTo>
                    <a:pt x="33909" y="4615942"/>
                  </a:lnTo>
                  <a:lnTo>
                    <a:pt x="33909" y="4717542"/>
                  </a:lnTo>
                  <a:close/>
                  <a:moveTo>
                    <a:pt x="0" y="4480560"/>
                  </a:moveTo>
                  <a:lnTo>
                    <a:pt x="0" y="4378960"/>
                  </a:lnTo>
                  <a:lnTo>
                    <a:pt x="33909" y="4378960"/>
                  </a:lnTo>
                  <a:lnTo>
                    <a:pt x="33909" y="4480560"/>
                  </a:lnTo>
                  <a:close/>
                  <a:moveTo>
                    <a:pt x="33909" y="4243451"/>
                  </a:moveTo>
                  <a:lnTo>
                    <a:pt x="33909" y="4141851"/>
                  </a:lnTo>
                  <a:lnTo>
                    <a:pt x="33909" y="4243451"/>
                  </a:lnTo>
                  <a:close/>
                  <a:moveTo>
                    <a:pt x="33909" y="4006342"/>
                  </a:moveTo>
                  <a:lnTo>
                    <a:pt x="33909" y="3904742"/>
                  </a:lnTo>
                  <a:lnTo>
                    <a:pt x="33909" y="4006342"/>
                  </a:lnTo>
                  <a:close/>
                  <a:moveTo>
                    <a:pt x="0" y="3769360"/>
                  </a:moveTo>
                  <a:lnTo>
                    <a:pt x="0" y="3667760"/>
                  </a:lnTo>
                  <a:lnTo>
                    <a:pt x="33909" y="3667760"/>
                  </a:lnTo>
                  <a:lnTo>
                    <a:pt x="33909" y="3769360"/>
                  </a:lnTo>
                  <a:close/>
                  <a:moveTo>
                    <a:pt x="33909" y="3532251"/>
                  </a:moveTo>
                  <a:lnTo>
                    <a:pt x="33909" y="3430651"/>
                  </a:lnTo>
                  <a:lnTo>
                    <a:pt x="33909" y="3532251"/>
                  </a:lnTo>
                  <a:close/>
                  <a:moveTo>
                    <a:pt x="33909" y="3295142"/>
                  </a:moveTo>
                  <a:lnTo>
                    <a:pt x="33909" y="3193542"/>
                  </a:lnTo>
                  <a:lnTo>
                    <a:pt x="33909" y="3295142"/>
                  </a:lnTo>
                  <a:close/>
                  <a:moveTo>
                    <a:pt x="0" y="3058160"/>
                  </a:moveTo>
                  <a:lnTo>
                    <a:pt x="0" y="2956560"/>
                  </a:lnTo>
                  <a:lnTo>
                    <a:pt x="33909" y="2956560"/>
                  </a:lnTo>
                  <a:lnTo>
                    <a:pt x="33909" y="3058160"/>
                  </a:lnTo>
                  <a:close/>
                  <a:moveTo>
                    <a:pt x="33909" y="2821051"/>
                  </a:moveTo>
                  <a:lnTo>
                    <a:pt x="33909" y="2719451"/>
                  </a:lnTo>
                  <a:lnTo>
                    <a:pt x="33909" y="2821051"/>
                  </a:lnTo>
                  <a:close/>
                  <a:moveTo>
                    <a:pt x="33909" y="2583942"/>
                  </a:moveTo>
                  <a:lnTo>
                    <a:pt x="33909" y="2482342"/>
                  </a:lnTo>
                  <a:lnTo>
                    <a:pt x="33909" y="2583942"/>
                  </a:lnTo>
                  <a:close/>
                  <a:moveTo>
                    <a:pt x="0" y="2346960"/>
                  </a:moveTo>
                  <a:lnTo>
                    <a:pt x="0" y="2245360"/>
                  </a:lnTo>
                  <a:lnTo>
                    <a:pt x="33909" y="2245360"/>
                  </a:lnTo>
                  <a:lnTo>
                    <a:pt x="33909" y="2346960"/>
                  </a:lnTo>
                  <a:close/>
                  <a:moveTo>
                    <a:pt x="33909" y="2109851"/>
                  </a:moveTo>
                  <a:lnTo>
                    <a:pt x="33909" y="2008251"/>
                  </a:lnTo>
                  <a:lnTo>
                    <a:pt x="33909" y="2109851"/>
                  </a:lnTo>
                  <a:close/>
                  <a:moveTo>
                    <a:pt x="33909" y="1872742"/>
                  </a:moveTo>
                  <a:lnTo>
                    <a:pt x="33909" y="1771142"/>
                  </a:lnTo>
                  <a:lnTo>
                    <a:pt x="33909" y="1872742"/>
                  </a:lnTo>
                  <a:close/>
                  <a:moveTo>
                    <a:pt x="0" y="1635760"/>
                  </a:moveTo>
                  <a:lnTo>
                    <a:pt x="0" y="1534160"/>
                  </a:lnTo>
                  <a:lnTo>
                    <a:pt x="33909" y="1534160"/>
                  </a:lnTo>
                  <a:lnTo>
                    <a:pt x="33909" y="1635760"/>
                  </a:lnTo>
                  <a:close/>
                  <a:moveTo>
                    <a:pt x="33909" y="1398651"/>
                  </a:moveTo>
                  <a:lnTo>
                    <a:pt x="33909" y="1297051"/>
                  </a:lnTo>
                  <a:lnTo>
                    <a:pt x="33909" y="1398651"/>
                  </a:lnTo>
                  <a:close/>
                  <a:moveTo>
                    <a:pt x="0" y="1161669"/>
                  </a:moveTo>
                  <a:lnTo>
                    <a:pt x="0" y="1060069"/>
                  </a:lnTo>
                  <a:lnTo>
                    <a:pt x="33909" y="1060069"/>
                  </a:lnTo>
                  <a:lnTo>
                    <a:pt x="33909" y="1161669"/>
                  </a:lnTo>
                  <a:close/>
                  <a:moveTo>
                    <a:pt x="0" y="924560"/>
                  </a:moveTo>
                  <a:lnTo>
                    <a:pt x="0" y="822960"/>
                  </a:lnTo>
                  <a:lnTo>
                    <a:pt x="33909" y="822960"/>
                  </a:lnTo>
                  <a:lnTo>
                    <a:pt x="33909" y="924560"/>
                  </a:lnTo>
                  <a:close/>
                  <a:moveTo>
                    <a:pt x="0" y="687451"/>
                  </a:moveTo>
                  <a:lnTo>
                    <a:pt x="0" y="585851"/>
                  </a:lnTo>
                  <a:lnTo>
                    <a:pt x="33909" y="585851"/>
                  </a:lnTo>
                  <a:lnTo>
                    <a:pt x="33909" y="687451"/>
                  </a:lnTo>
                  <a:close/>
                  <a:moveTo>
                    <a:pt x="0" y="450469"/>
                  </a:moveTo>
                  <a:lnTo>
                    <a:pt x="0" y="348869"/>
                  </a:lnTo>
                  <a:lnTo>
                    <a:pt x="33909" y="348869"/>
                  </a:lnTo>
                  <a:lnTo>
                    <a:pt x="33909" y="450469"/>
                  </a:lnTo>
                  <a:close/>
                  <a:moveTo>
                    <a:pt x="0" y="213360"/>
                  </a:moveTo>
                  <a:lnTo>
                    <a:pt x="0" y="111760"/>
                  </a:lnTo>
                  <a:lnTo>
                    <a:pt x="33909" y="111760"/>
                  </a:lnTo>
                  <a:lnTo>
                    <a:pt x="33909" y="213360"/>
                  </a:lnTo>
                  <a:close/>
                  <a:moveTo>
                    <a:pt x="16891" y="0"/>
                  </a:moveTo>
                  <a:lnTo>
                    <a:pt x="118491" y="0"/>
                  </a:lnTo>
                  <a:lnTo>
                    <a:pt x="118491" y="33909"/>
                  </a:lnTo>
                  <a:lnTo>
                    <a:pt x="16891" y="33909"/>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txBox="1"/>
            <p:nvPr/>
          </p:nvSpPr>
          <p:spPr>
            <a:xfrm>
              <a:off x="0" y="-38100"/>
              <a:ext cx="11006671" cy="5436451"/>
            </a:xfrm>
            <a:prstGeom prst="rect">
              <a:avLst/>
            </a:prstGeom>
            <a:noFill/>
            <a:ln>
              <a:noFill/>
            </a:ln>
          </p:spPr>
          <p:txBody>
            <a:bodyPr anchorCtr="0" anchor="ctr" bIns="50800" lIns="50800" spcFirstLastPara="1" rIns="50800" wrap="square" tIns="50800">
              <a:noAutofit/>
            </a:bodyPr>
            <a:lstStyle/>
            <a:p>
              <a:pPr indent="0" lvl="0" marL="0" marR="0" rtl="0" algn="ctr">
                <a:lnSpc>
                  <a:spcPct val="120000"/>
                </a:lnSpc>
                <a:spcBef>
                  <a:spcPts val="0"/>
                </a:spcBef>
                <a:spcAft>
                  <a:spcPts val="0"/>
                </a:spcAft>
                <a:buNone/>
              </a:pPr>
              <a:r>
                <a:rPr b="0" i="0" lang="en-US" sz="2000" u="none" cap="none" strike="noStrike">
                  <a:solidFill>
                    <a:srgbClr val="555555"/>
                  </a:solidFill>
                  <a:latin typeface="Calibri"/>
                  <a:ea typeface="Calibri"/>
                  <a:cs typeface="Calibri"/>
                  <a:sym typeface="Calibri"/>
                </a:rPr>
                <a:t>📸 [DOCKER PS EKRAN GÖRÜNTÜSÜ — tüm servisler Up/Healthy]</a:t>
              </a:r>
              <a:endParaRPr/>
            </a:p>
          </p:txBody>
        </p:sp>
      </p:grpSp>
      <p:grpSp>
        <p:nvGrpSpPr>
          <p:cNvPr id="399" name="Google Shape;399;p16"/>
          <p:cNvGrpSpPr/>
          <p:nvPr/>
        </p:nvGrpSpPr>
        <p:grpSpPr>
          <a:xfrm>
            <a:off x="9131303" y="1787528"/>
            <a:ext cx="8620791" cy="4103465"/>
            <a:chOff x="0" y="-38100"/>
            <a:chExt cx="11494389" cy="5471287"/>
          </a:xfrm>
        </p:grpSpPr>
        <p:sp>
          <p:nvSpPr>
            <p:cNvPr id="400" name="Google Shape;400;p16"/>
            <p:cNvSpPr/>
            <p:nvPr/>
          </p:nvSpPr>
          <p:spPr>
            <a:xfrm>
              <a:off x="16891" y="16891"/>
              <a:ext cx="11460481" cy="5364480"/>
            </a:xfrm>
            <a:custGeom>
              <a:rect b="b" l="l" r="r" t="t"/>
              <a:pathLst>
                <a:path extrusionOk="0" h="5364480" w="11460481">
                  <a:moveTo>
                    <a:pt x="0" y="0"/>
                  </a:moveTo>
                  <a:lnTo>
                    <a:pt x="11460481" y="0"/>
                  </a:lnTo>
                  <a:lnTo>
                    <a:pt x="11460481" y="5364480"/>
                  </a:lnTo>
                  <a:lnTo>
                    <a:pt x="0" y="5364480"/>
                  </a:lnTo>
                  <a:close/>
                </a:path>
              </a:pathLst>
            </a:custGeom>
            <a:solidFill>
              <a:srgbClr val="F0F0F0"/>
            </a:solidFill>
            <a:ln>
              <a:noFill/>
            </a:ln>
          </p:spPr>
        </p:sp>
        <p:sp>
          <p:nvSpPr>
            <p:cNvPr id="401" name="Google Shape;401;p16"/>
            <p:cNvSpPr/>
            <p:nvPr/>
          </p:nvSpPr>
          <p:spPr>
            <a:xfrm>
              <a:off x="0" y="0"/>
              <a:ext cx="11494389" cy="5433187"/>
            </a:xfrm>
            <a:custGeom>
              <a:rect b="b" l="l" r="r" t="t"/>
              <a:pathLst>
                <a:path extrusionOk="0" h="5433187" w="11494389">
                  <a:moveTo>
                    <a:pt x="254000" y="0"/>
                  </a:moveTo>
                  <a:lnTo>
                    <a:pt x="355600" y="0"/>
                  </a:lnTo>
                  <a:lnTo>
                    <a:pt x="355600" y="33909"/>
                  </a:lnTo>
                  <a:lnTo>
                    <a:pt x="254000" y="33909"/>
                  </a:lnTo>
                  <a:close/>
                  <a:moveTo>
                    <a:pt x="491109" y="0"/>
                  </a:moveTo>
                  <a:lnTo>
                    <a:pt x="592709" y="0"/>
                  </a:lnTo>
                  <a:lnTo>
                    <a:pt x="592709" y="33909"/>
                  </a:lnTo>
                  <a:lnTo>
                    <a:pt x="491109" y="33909"/>
                  </a:lnTo>
                  <a:close/>
                  <a:moveTo>
                    <a:pt x="728091" y="0"/>
                  </a:moveTo>
                  <a:lnTo>
                    <a:pt x="829691" y="0"/>
                  </a:lnTo>
                  <a:lnTo>
                    <a:pt x="829691" y="33909"/>
                  </a:lnTo>
                  <a:lnTo>
                    <a:pt x="728091" y="33909"/>
                  </a:lnTo>
                  <a:close/>
                  <a:moveTo>
                    <a:pt x="965200" y="0"/>
                  </a:moveTo>
                  <a:lnTo>
                    <a:pt x="1066800" y="0"/>
                  </a:lnTo>
                  <a:lnTo>
                    <a:pt x="1066800" y="33909"/>
                  </a:lnTo>
                  <a:lnTo>
                    <a:pt x="965200" y="33909"/>
                  </a:lnTo>
                  <a:close/>
                  <a:moveTo>
                    <a:pt x="1202309" y="0"/>
                  </a:moveTo>
                  <a:lnTo>
                    <a:pt x="1303909" y="0"/>
                  </a:lnTo>
                  <a:lnTo>
                    <a:pt x="1303909" y="33909"/>
                  </a:lnTo>
                  <a:lnTo>
                    <a:pt x="1202309" y="33909"/>
                  </a:lnTo>
                  <a:close/>
                  <a:moveTo>
                    <a:pt x="1439418" y="33909"/>
                  </a:moveTo>
                  <a:lnTo>
                    <a:pt x="1541018" y="33909"/>
                  </a:lnTo>
                  <a:lnTo>
                    <a:pt x="1439418" y="33909"/>
                  </a:lnTo>
                  <a:close/>
                  <a:moveTo>
                    <a:pt x="1676400" y="0"/>
                  </a:moveTo>
                  <a:lnTo>
                    <a:pt x="1778000" y="0"/>
                  </a:lnTo>
                  <a:lnTo>
                    <a:pt x="1778000" y="33909"/>
                  </a:lnTo>
                  <a:lnTo>
                    <a:pt x="1676400" y="33909"/>
                  </a:lnTo>
                  <a:close/>
                  <a:moveTo>
                    <a:pt x="1913509" y="33909"/>
                  </a:moveTo>
                  <a:lnTo>
                    <a:pt x="2015109" y="33909"/>
                  </a:lnTo>
                  <a:lnTo>
                    <a:pt x="1913509" y="33909"/>
                  </a:lnTo>
                  <a:close/>
                  <a:moveTo>
                    <a:pt x="2150618" y="33909"/>
                  </a:moveTo>
                  <a:lnTo>
                    <a:pt x="2252218" y="33909"/>
                  </a:lnTo>
                  <a:lnTo>
                    <a:pt x="2150618" y="33909"/>
                  </a:lnTo>
                  <a:close/>
                  <a:moveTo>
                    <a:pt x="2387600" y="0"/>
                  </a:moveTo>
                  <a:lnTo>
                    <a:pt x="2489200" y="0"/>
                  </a:lnTo>
                  <a:lnTo>
                    <a:pt x="2489200" y="33909"/>
                  </a:lnTo>
                  <a:lnTo>
                    <a:pt x="2387600" y="33909"/>
                  </a:lnTo>
                  <a:close/>
                  <a:moveTo>
                    <a:pt x="2624709" y="33909"/>
                  </a:moveTo>
                  <a:lnTo>
                    <a:pt x="2726309" y="33909"/>
                  </a:lnTo>
                  <a:lnTo>
                    <a:pt x="2624709" y="33909"/>
                  </a:lnTo>
                  <a:close/>
                  <a:moveTo>
                    <a:pt x="2861818" y="33909"/>
                  </a:moveTo>
                  <a:lnTo>
                    <a:pt x="2963418" y="33909"/>
                  </a:lnTo>
                  <a:lnTo>
                    <a:pt x="2861818" y="33909"/>
                  </a:lnTo>
                  <a:close/>
                  <a:moveTo>
                    <a:pt x="3098800" y="0"/>
                  </a:moveTo>
                  <a:lnTo>
                    <a:pt x="3200400" y="0"/>
                  </a:lnTo>
                  <a:lnTo>
                    <a:pt x="3200400" y="33909"/>
                  </a:lnTo>
                  <a:lnTo>
                    <a:pt x="3098800" y="33909"/>
                  </a:lnTo>
                  <a:close/>
                  <a:moveTo>
                    <a:pt x="3335909" y="33909"/>
                  </a:moveTo>
                  <a:lnTo>
                    <a:pt x="3437509" y="33909"/>
                  </a:lnTo>
                  <a:lnTo>
                    <a:pt x="3335909" y="33909"/>
                  </a:lnTo>
                  <a:close/>
                  <a:moveTo>
                    <a:pt x="3573018" y="33909"/>
                  </a:moveTo>
                  <a:lnTo>
                    <a:pt x="3674618" y="33909"/>
                  </a:lnTo>
                  <a:lnTo>
                    <a:pt x="3573018" y="33909"/>
                  </a:lnTo>
                  <a:close/>
                  <a:moveTo>
                    <a:pt x="3810000" y="0"/>
                  </a:moveTo>
                  <a:lnTo>
                    <a:pt x="3911600" y="0"/>
                  </a:lnTo>
                  <a:lnTo>
                    <a:pt x="3911600" y="33909"/>
                  </a:lnTo>
                  <a:lnTo>
                    <a:pt x="3810000" y="33909"/>
                  </a:lnTo>
                  <a:close/>
                  <a:moveTo>
                    <a:pt x="4047109" y="33909"/>
                  </a:moveTo>
                  <a:lnTo>
                    <a:pt x="4148709" y="33909"/>
                  </a:lnTo>
                  <a:lnTo>
                    <a:pt x="4047109" y="33909"/>
                  </a:lnTo>
                  <a:close/>
                  <a:moveTo>
                    <a:pt x="4284218" y="33909"/>
                  </a:moveTo>
                  <a:lnTo>
                    <a:pt x="4385818" y="33909"/>
                  </a:lnTo>
                  <a:lnTo>
                    <a:pt x="4284218" y="33909"/>
                  </a:lnTo>
                  <a:close/>
                  <a:moveTo>
                    <a:pt x="4521200" y="0"/>
                  </a:moveTo>
                  <a:lnTo>
                    <a:pt x="4622800" y="0"/>
                  </a:lnTo>
                  <a:lnTo>
                    <a:pt x="4622800" y="33909"/>
                  </a:lnTo>
                  <a:lnTo>
                    <a:pt x="4521200" y="33909"/>
                  </a:lnTo>
                  <a:close/>
                  <a:moveTo>
                    <a:pt x="4758309" y="33909"/>
                  </a:moveTo>
                  <a:lnTo>
                    <a:pt x="4859909" y="33909"/>
                  </a:lnTo>
                  <a:lnTo>
                    <a:pt x="4758309" y="33909"/>
                  </a:lnTo>
                  <a:close/>
                  <a:moveTo>
                    <a:pt x="4995418" y="33909"/>
                  </a:moveTo>
                  <a:lnTo>
                    <a:pt x="5097018" y="33909"/>
                  </a:lnTo>
                  <a:lnTo>
                    <a:pt x="4995418" y="33909"/>
                  </a:lnTo>
                  <a:close/>
                  <a:moveTo>
                    <a:pt x="5232400" y="0"/>
                  </a:moveTo>
                  <a:lnTo>
                    <a:pt x="5334000" y="0"/>
                  </a:lnTo>
                  <a:lnTo>
                    <a:pt x="5334000" y="33909"/>
                  </a:lnTo>
                  <a:lnTo>
                    <a:pt x="5232400" y="33909"/>
                  </a:lnTo>
                  <a:close/>
                  <a:moveTo>
                    <a:pt x="5469509" y="33909"/>
                  </a:moveTo>
                  <a:lnTo>
                    <a:pt x="5571109" y="33909"/>
                  </a:lnTo>
                  <a:lnTo>
                    <a:pt x="5469509" y="33909"/>
                  </a:lnTo>
                  <a:close/>
                  <a:moveTo>
                    <a:pt x="5706618" y="33909"/>
                  </a:moveTo>
                  <a:lnTo>
                    <a:pt x="5808218" y="33909"/>
                  </a:lnTo>
                  <a:lnTo>
                    <a:pt x="5706618" y="33909"/>
                  </a:lnTo>
                  <a:close/>
                  <a:moveTo>
                    <a:pt x="5943600" y="0"/>
                  </a:moveTo>
                  <a:lnTo>
                    <a:pt x="6045200" y="0"/>
                  </a:lnTo>
                  <a:lnTo>
                    <a:pt x="6045200" y="33909"/>
                  </a:lnTo>
                  <a:lnTo>
                    <a:pt x="5943600" y="33909"/>
                  </a:lnTo>
                  <a:close/>
                  <a:moveTo>
                    <a:pt x="6180709" y="33909"/>
                  </a:moveTo>
                  <a:lnTo>
                    <a:pt x="6282309" y="33909"/>
                  </a:lnTo>
                  <a:lnTo>
                    <a:pt x="6180709" y="33909"/>
                  </a:lnTo>
                  <a:close/>
                  <a:moveTo>
                    <a:pt x="6417818" y="33909"/>
                  </a:moveTo>
                  <a:lnTo>
                    <a:pt x="6519418" y="33909"/>
                  </a:lnTo>
                  <a:lnTo>
                    <a:pt x="6417818" y="33909"/>
                  </a:lnTo>
                  <a:close/>
                  <a:moveTo>
                    <a:pt x="6654800" y="0"/>
                  </a:moveTo>
                  <a:lnTo>
                    <a:pt x="6756400" y="0"/>
                  </a:lnTo>
                  <a:lnTo>
                    <a:pt x="6756400" y="33909"/>
                  </a:lnTo>
                  <a:lnTo>
                    <a:pt x="6654800" y="33909"/>
                  </a:lnTo>
                  <a:close/>
                  <a:moveTo>
                    <a:pt x="6891909" y="33909"/>
                  </a:moveTo>
                  <a:lnTo>
                    <a:pt x="6993509" y="33909"/>
                  </a:lnTo>
                  <a:lnTo>
                    <a:pt x="6891909" y="33909"/>
                  </a:lnTo>
                  <a:close/>
                  <a:moveTo>
                    <a:pt x="7129018" y="33909"/>
                  </a:moveTo>
                  <a:lnTo>
                    <a:pt x="7230618" y="33909"/>
                  </a:lnTo>
                  <a:lnTo>
                    <a:pt x="7129018" y="33909"/>
                  </a:lnTo>
                  <a:close/>
                  <a:moveTo>
                    <a:pt x="7366000" y="0"/>
                  </a:moveTo>
                  <a:lnTo>
                    <a:pt x="7467600" y="0"/>
                  </a:lnTo>
                  <a:lnTo>
                    <a:pt x="7467600" y="33909"/>
                  </a:lnTo>
                  <a:lnTo>
                    <a:pt x="7366000" y="33909"/>
                  </a:lnTo>
                  <a:close/>
                  <a:moveTo>
                    <a:pt x="7603109" y="33909"/>
                  </a:moveTo>
                  <a:lnTo>
                    <a:pt x="7704709" y="33909"/>
                  </a:lnTo>
                  <a:lnTo>
                    <a:pt x="7603109" y="33909"/>
                  </a:lnTo>
                  <a:close/>
                  <a:moveTo>
                    <a:pt x="7840218" y="33909"/>
                  </a:moveTo>
                  <a:lnTo>
                    <a:pt x="7941818" y="33909"/>
                  </a:lnTo>
                  <a:lnTo>
                    <a:pt x="7840218" y="33909"/>
                  </a:lnTo>
                  <a:close/>
                  <a:moveTo>
                    <a:pt x="8077200" y="0"/>
                  </a:moveTo>
                  <a:lnTo>
                    <a:pt x="8178800" y="0"/>
                  </a:lnTo>
                  <a:lnTo>
                    <a:pt x="8178800" y="33909"/>
                  </a:lnTo>
                  <a:lnTo>
                    <a:pt x="8077200" y="33909"/>
                  </a:lnTo>
                  <a:close/>
                  <a:moveTo>
                    <a:pt x="8314309" y="33909"/>
                  </a:moveTo>
                  <a:lnTo>
                    <a:pt x="8415909" y="33909"/>
                  </a:lnTo>
                  <a:lnTo>
                    <a:pt x="8314309" y="33909"/>
                  </a:lnTo>
                  <a:close/>
                  <a:moveTo>
                    <a:pt x="8551418" y="33909"/>
                  </a:moveTo>
                  <a:lnTo>
                    <a:pt x="8653018" y="33909"/>
                  </a:lnTo>
                  <a:lnTo>
                    <a:pt x="8551418" y="33909"/>
                  </a:lnTo>
                  <a:close/>
                  <a:moveTo>
                    <a:pt x="8788400" y="0"/>
                  </a:moveTo>
                  <a:lnTo>
                    <a:pt x="8890000" y="0"/>
                  </a:lnTo>
                  <a:lnTo>
                    <a:pt x="8890000" y="33909"/>
                  </a:lnTo>
                  <a:lnTo>
                    <a:pt x="8788400" y="33909"/>
                  </a:lnTo>
                  <a:close/>
                  <a:moveTo>
                    <a:pt x="9025509" y="33909"/>
                  </a:moveTo>
                  <a:lnTo>
                    <a:pt x="9127109" y="33909"/>
                  </a:lnTo>
                  <a:lnTo>
                    <a:pt x="9025509" y="33909"/>
                  </a:lnTo>
                  <a:close/>
                  <a:moveTo>
                    <a:pt x="9262618" y="33909"/>
                  </a:moveTo>
                  <a:lnTo>
                    <a:pt x="9364218" y="33909"/>
                  </a:lnTo>
                  <a:lnTo>
                    <a:pt x="9262618" y="33909"/>
                  </a:lnTo>
                  <a:close/>
                  <a:moveTo>
                    <a:pt x="9499600" y="0"/>
                  </a:moveTo>
                  <a:lnTo>
                    <a:pt x="9601200" y="0"/>
                  </a:lnTo>
                  <a:lnTo>
                    <a:pt x="9601200" y="33909"/>
                  </a:lnTo>
                  <a:lnTo>
                    <a:pt x="9499600" y="33909"/>
                  </a:lnTo>
                  <a:close/>
                  <a:moveTo>
                    <a:pt x="9736709" y="33909"/>
                  </a:moveTo>
                  <a:lnTo>
                    <a:pt x="9838309" y="33909"/>
                  </a:lnTo>
                  <a:lnTo>
                    <a:pt x="9736709" y="33909"/>
                  </a:lnTo>
                  <a:close/>
                  <a:moveTo>
                    <a:pt x="9973818" y="33909"/>
                  </a:moveTo>
                  <a:lnTo>
                    <a:pt x="10075418" y="33909"/>
                  </a:lnTo>
                  <a:lnTo>
                    <a:pt x="9973818" y="33909"/>
                  </a:lnTo>
                  <a:close/>
                  <a:moveTo>
                    <a:pt x="10210800" y="0"/>
                  </a:moveTo>
                  <a:lnTo>
                    <a:pt x="10312400" y="0"/>
                  </a:lnTo>
                  <a:lnTo>
                    <a:pt x="10312400" y="33909"/>
                  </a:lnTo>
                  <a:lnTo>
                    <a:pt x="10210800" y="33909"/>
                  </a:lnTo>
                  <a:close/>
                  <a:moveTo>
                    <a:pt x="10447909" y="33909"/>
                  </a:moveTo>
                  <a:lnTo>
                    <a:pt x="10549509" y="33909"/>
                  </a:lnTo>
                  <a:lnTo>
                    <a:pt x="10447909" y="33909"/>
                  </a:lnTo>
                  <a:close/>
                  <a:moveTo>
                    <a:pt x="10685018" y="33909"/>
                  </a:moveTo>
                  <a:lnTo>
                    <a:pt x="10786618" y="33909"/>
                  </a:lnTo>
                  <a:lnTo>
                    <a:pt x="10685018" y="33909"/>
                  </a:lnTo>
                  <a:close/>
                  <a:moveTo>
                    <a:pt x="10922000" y="0"/>
                  </a:moveTo>
                  <a:lnTo>
                    <a:pt x="11023600" y="0"/>
                  </a:lnTo>
                  <a:lnTo>
                    <a:pt x="11023600" y="33909"/>
                  </a:lnTo>
                  <a:lnTo>
                    <a:pt x="10922000" y="33909"/>
                  </a:lnTo>
                  <a:close/>
                  <a:moveTo>
                    <a:pt x="11159109" y="33909"/>
                  </a:moveTo>
                  <a:lnTo>
                    <a:pt x="11260709" y="33909"/>
                  </a:lnTo>
                  <a:lnTo>
                    <a:pt x="11159109" y="33909"/>
                  </a:lnTo>
                  <a:close/>
                  <a:moveTo>
                    <a:pt x="11396218" y="33909"/>
                  </a:moveTo>
                  <a:lnTo>
                    <a:pt x="11477498" y="33909"/>
                  </a:lnTo>
                  <a:cubicBezTo>
                    <a:pt x="11486896" y="33909"/>
                    <a:pt x="11494389" y="41529"/>
                    <a:pt x="11494389" y="50800"/>
                  </a:cubicBezTo>
                  <a:lnTo>
                    <a:pt x="11494389" y="71120"/>
                  </a:lnTo>
                  <a:lnTo>
                    <a:pt x="11460480" y="71120"/>
                  </a:lnTo>
                  <a:lnTo>
                    <a:pt x="11460480" y="16891"/>
                  </a:lnTo>
                  <a:lnTo>
                    <a:pt x="11477372" y="16891"/>
                  </a:lnTo>
                  <a:lnTo>
                    <a:pt x="11477372" y="33909"/>
                  </a:lnTo>
                  <a:lnTo>
                    <a:pt x="11396091" y="33909"/>
                  </a:lnTo>
                  <a:close/>
                  <a:moveTo>
                    <a:pt x="11494262" y="206629"/>
                  </a:moveTo>
                  <a:lnTo>
                    <a:pt x="11494262" y="308229"/>
                  </a:lnTo>
                  <a:lnTo>
                    <a:pt x="11460480" y="308229"/>
                  </a:lnTo>
                  <a:lnTo>
                    <a:pt x="11460480" y="206629"/>
                  </a:lnTo>
                  <a:close/>
                  <a:moveTo>
                    <a:pt x="11460480" y="443738"/>
                  </a:moveTo>
                  <a:lnTo>
                    <a:pt x="11460480" y="545338"/>
                  </a:lnTo>
                  <a:lnTo>
                    <a:pt x="11460480" y="443738"/>
                  </a:lnTo>
                  <a:close/>
                  <a:moveTo>
                    <a:pt x="11460480" y="680847"/>
                  </a:moveTo>
                  <a:lnTo>
                    <a:pt x="11460480" y="782447"/>
                  </a:lnTo>
                  <a:lnTo>
                    <a:pt x="11460480" y="680847"/>
                  </a:lnTo>
                  <a:close/>
                  <a:moveTo>
                    <a:pt x="11460480" y="917956"/>
                  </a:moveTo>
                  <a:lnTo>
                    <a:pt x="11460480" y="1019556"/>
                  </a:lnTo>
                  <a:lnTo>
                    <a:pt x="11460480" y="917956"/>
                  </a:lnTo>
                  <a:close/>
                  <a:moveTo>
                    <a:pt x="11460480" y="1155065"/>
                  </a:moveTo>
                  <a:lnTo>
                    <a:pt x="11460480" y="1256665"/>
                  </a:lnTo>
                  <a:lnTo>
                    <a:pt x="11460480" y="1155065"/>
                  </a:lnTo>
                  <a:close/>
                  <a:moveTo>
                    <a:pt x="11460480" y="1392174"/>
                  </a:moveTo>
                  <a:lnTo>
                    <a:pt x="11460480" y="1493774"/>
                  </a:lnTo>
                  <a:lnTo>
                    <a:pt x="11460480" y="1392174"/>
                  </a:lnTo>
                  <a:close/>
                  <a:moveTo>
                    <a:pt x="11460480" y="1629283"/>
                  </a:moveTo>
                  <a:lnTo>
                    <a:pt x="11460480" y="1730883"/>
                  </a:lnTo>
                  <a:lnTo>
                    <a:pt x="11460480" y="1629283"/>
                  </a:lnTo>
                  <a:close/>
                  <a:moveTo>
                    <a:pt x="11460480" y="1866392"/>
                  </a:moveTo>
                  <a:lnTo>
                    <a:pt x="11460480" y="1967992"/>
                  </a:lnTo>
                  <a:lnTo>
                    <a:pt x="11460480" y="1866392"/>
                  </a:lnTo>
                  <a:close/>
                  <a:moveTo>
                    <a:pt x="11460480" y="2103501"/>
                  </a:moveTo>
                  <a:lnTo>
                    <a:pt x="11460480" y="2205101"/>
                  </a:lnTo>
                  <a:lnTo>
                    <a:pt x="11460480" y="2103501"/>
                  </a:lnTo>
                  <a:close/>
                  <a:moveTo>
                    <a:pt x="11460480" y="2340610"/>
                  </a:moveTo>
                  <a:lnTo>
                    <a:pt x="11460480" y="2442210"/>
                  </a:lnTo>
                  <a:lnTo>
                    <a:pt x="11460480" y="2340610"/>
                  </a:lnTo>
                  <a:close/>
                  <a:moveTo>
                    <a:pt x="11460480" y="2577719"/>
                  </a:moveTo>
                  <a:lnTo>
                    <a:pt x="11460480" y="2679319"/>
                  </a:lnTo>
                  <a:lnTo>
                    <a:pt x="11460480" y="2577719"/>
                  </a:lnTo>
                  <a:close/>
                  <a:moveTo>
                    <a:pt x="11460480" y="2814828"/>
                  </a:moveTo>
                  <a:lnTo>
                    <a:pt x="11460480" y="2916428"/>
                  </a:lnTo>
                  <a:lnTo>
                    <a:pt x="11460480" y="2814828"/>
                  </a:lnTo>
                  <a:close/>
                  <a:moveTo>
                    <a:pt x="11460480" y="3051937"/>
                  </a:moveTo>
                  <a:lnTo>
                    <a:pt x="11460480" y="3153537"/>
                  </a:lnTo>
                  <a:lnTo>
                    <a:pt x="11460480" y="3051937"/>
                  </a:lnTo>
                  <a:close/>
                  <a:moveTo>
                    <a:pt x="11460480" y="3289046"/>
                  </a:moveTo>
                  <a:lnTo>
                    <a:pt x="11460480" y="3390646"/>
                  </a:lnTo>
                  <a:lnTo>
                    <a:pt x="11460480" y="3289046"/>
                  </a:lnTo>
                  <a:close/>
                  <a:moveTo>
                    <a:pt x="11460480" y="3526155"/>
                  </a:moveTo>
                  <a:lnTo>
                    <a:pt x="11460480" y="3627755"/>
                  </a:lnTo>
                  <a:lnTo>
                    <a:pt x="11460480" y="3526155"/>
                  </a:lnTo>
                  <a:close/>
                  <a:moveTo>
                    <a:pt x="11460480" y="3763264"/>
                  </a:moveTo>
                  <a:lnTo>
                    <a:pt x="11460480" y="3864864"/>
                  </a:lnTo>
                  <a:lnTo>
                    <a:pt x="11460480" y="3763264"/>
                  </a:lnTo>
                  <a:close/>
                  <a:moveTo>
                    <a:pt x="11460480" y="4000373"/>
                  </a:moveTo>
                  <a:lnTo>
                    <a:pt x="11460480" y="4101973"/>
                  </a:lnTo>
                  <a:lnTo>
                    <a:pt x="11460480" y="4000373"/>
                  </a:lnTo>
                  <a:close/>
                  <a:moveTo>
                    <a:pt x="11460480" y="4237482"/>
                  </a:moveTo>
                  <a:lnTo>
                    <a:pt x="11460480" y="4339082"/>
                  </a:lnTo>
                  <a:lnTo>
                    <a:pt x="11460480" y="4237482"/>
                  </a:lnTo>
                  <a:close/>
                  <a:moveTo>
                    <a:pt x="11460480" y="4474591"/>
                  </a:moveTo>
                  <a:lnTo>
                    <a:pt x="11460480" y="4576191"/>
                  </a:lnTo>
                  <a:lnTo>
                    <a:pt x="11460480" y="4474591"/>
                  </a:lnTo>
                  <a:close/>
                  <a:moveTo>
                    <a:pt x="11460480" y="4711700"/>
                  </a:moveTo>
                  <a:lnTo>
                    <a:pt x="11460480" y="4813300"/>
                  </a:lnTo>
                  <a:lnTo>
                    <a:pt x="11460480" y="4711700"/>
                  </a:lnTo>
                  <a:close/>
                  <a:moveTo>
                    <a:pt x="11460480" y="4948809"/>
                  </a:moveTo>
                  <a:lnTo>
                    <a:pt x="11460480" y="5050409"/>
                  </a:lnTo>
                  <a:lnTo>
                    <a:pt x="11460480" y="4948809"/>
                  </a:lnTo>
                  <a:close/>
                  <a:moveTo>
                    <a:pt x="11460480" y="5185918"/>
                  </a:moveTo>
                  <a:lnTo>
                    <a:pt x="11460480" y="5287518"/>
                  </a:lnTo>
                  <a:lnTo>
                    <a:pt x="11460480" y="5185918"/>
                  </a:lnTo>
                  <a:close/>
                  <a:moveTo>
                    <a:pt x="11436731" y="5433187"/>
                  </a:moveTo>
                  <a:lnTo>
                    <a:pt x="11335131" y="5433187"/>
                  </a:lnTo>
                  <a:lnTo>
                    <a:pt x="11335131" y="5364480"/>
                  </a:lnTo>
                  <a:lnTo>
                    <a:pt x="11436731" y="5364480"/>
                  </a:lnTo>
                  <a:close/>
                  <a:moveTo>
                    <a:pt x="11199623" y="5364480"/>
                  </a:moveTo>
                  <a:lnTo>
                    <a:pt x="11098023" y="5364480"/>
                  </a:lnTo>
                  <a:lnTo>
                    <a:pt x="11199623" y="5364480"/>
                  </a:lnTo>
                  <a:close/>
                  <a:moveTo>
                    <a:pt x="10962513" y="5364480"/>
                  </a:moveTo>
                  <a:lnTo>
                    <a:pt x="10860913" y="5364480"/>
                  </a:lnTo>
                  <a:lnTo>
                    <a:pt x="10962513" y="5364480"/>
                  </a:lnTo>
                  <a:close/>
                  <a:moveTo>
                    <a:pt x="10725404" y="5364480"/>
                  </a:moveTo>
                  <a:lnTo>
                    <a:pt x="10623804" y="5364480"/>
                  </a:lnTo>
                  <a:lnTo>
                    <a:pt x="10725404" y="5364480"/>
                  </a:lnTo>
                  <a:close/>
                  <a:moveTo>
                    <a:pt x="10488295" y="5364480"/>
                  </a:moveTo>
                  <a:lnTo>
                    <a:pt x="10386695" y="5364480"/>
                  </a:lnTo>
                  <a:lnTo>
                    <a:pt x="10488295" y="5364480"/>
                  </a:lnTo>
                  <a:close/>
                  <a:moveTo>
                    <a:pt x="10251187" y="5364480"/>
                  </a:moveTo>
                  <a:lnTo>
                    <a:pt x="10149587" y="5364480"/>
                  </a:lnTo>
                  <a:lnTo>
                    <a:pt x="10251187" y="5364480"/>
                  </a:lnTo>
                  <a:close/>
                  <a:moveTo>
                    <a:pt x="10014077" y="5364480"/>
                  </a:moveTo>
                  <a:lnTo>
                    <a:pt x="9912477" y="5364480"/>
                  </a:lnTo>
                  <a:lnTo>
                    <a:pt x="10014077" y="5364480"/>
                  </a:lnTo>
                  <a:close/>
                  <a:moveTo>
                    <a:pt x="9776968" y="5364480"/>
                  </a:moveTo>
                  <a:lnTo>
                    <a:pt x="9675368" y="5364480"/>
                  </a:lnTo>
                  <a:lnTo>
                    <a:pt x="9776968" y="5364480"/>
                  </a:lnTo>
                  <a:close/>
                  <a:moveTo>
                    <a:pt x="9539860" y="5364480"/>
                  </a:moveTo>
                  <a:lnTo>
                    <a:pt x="9438260" y="5364480"/>
                  </a:lnTo>
                  <a:lnTo>
                    <a:pt x="9539860" y="5364480"/>
                  </a:lnTo>
                  <a:close/>
                  <a:moveTo>
                    <a:pt x="9302750" y="5364480"/>
                  </a:moveTo>
                  <a:lnTo>
                    <a:pt x="9201150" y="5364480"/>
                  </a:lnTo>
                  <a:lnTo>
                    <a:pt x="9302750" y="5364480"/>
                  </a:lnTo>
                  <a:close/>
                  <a:moveTo>
                    <a:pt x="9065641" y="5364480"/>
                  </a:moveTo>
                  <a:lnTo>
                    <a:pt x="8964041" y="5364480"/>
                  </a:lnTo>
                  <a:lnTo>
                    <a:pt x="9065641" y="5364480"/>
                  </a:lnTo>
                  <a:close/>
                  <a:moveTo>
                    <a:pt x="8828532" y="5364480"/>
                  </a:moveTo>
                  <a:lnTo>
                    <a:pt x="8726932" y="5364480"/>
                  </a:lnTo>
                  <a:lnTo>
                    <a:pt x="8828532" y="5364480"/>
                  </a:lnTo>
                  <a:close/>
                  <a:moveTo>
                    <a:pt x="8591424" y="5364480"/>
                  </a:moveTo>
                  <a:lnTo>
                    <a:pt x="8489824" y="5364480"/>
                  </a:lnTo>
                  <a:lnTo>
                    <a:pt x="8591424" y="5364480"/>
                  </a:lnTo>
                  <a:close/>
                  <a:moveTo>
                    <a:pt x="8354314" y="5364480"/>
                  </a:moveTo>
                  <a:lnTo>
                    <a:pt x="8252714" y="5364480"/>
                  </a:lnTo>
                  <a:lnTo>
                    <a:pt x="8354314" y="5364480"/>
                  </a:lnTo>
                  <a:close/>
                  <a:moveTo>
                    <a:pt x="8117205" y="5364480"/>
                  </a:moveTo>
                  <a:lnTo>
                    <a:pt x="8015605" y="5364480"/>
                  </a:lnTo>
                  <a:lnTo>
                    <a:pt x="8117205" y="5364480"/>
                  </a:lnTo>
                  <a:close/>
                  <a:moveTo>
                    <a:pt x="7880097" y="5364480"/>
                  </a:moveTo>
                  <a:lnTo>
                    <a:pt x="7778497" y="5364480"/>
                  </a:lnTo>
                  <a:lnTo>
                    <a:pt x="7880097" y="5364480"/>
                  </a:lnTo>
                  <a:close/>
                  <a:moveTo>
                    <a:pt x="7642987" y="5364480"/>
                  </a:moveTo>
                  <a:lnTo>
                    <a:pt x="7541387" y="5364480"/>
                  </a:lnTo>
                  <a:lnTo>
                    <a:pt x="7642987" y="5364480"/>
                  </a:lnTo>
                  <a:close/>
                  <a:moveTo>
                    <a:pt x="7405878" y="5364480"/>
                  </a:moveTo>
                  <a:lnTo>
                    <a:pt x="7304278" y="5364480"/>
                  </a:lnTo>
                  <a:lnTo>
                    <a:pt x="7405878" y="5364480"/>
                  </a:lnTo>
                  <a:close/>
                  <a:moveTo>
                    <a:pt x="7168769" y="5364480"/>
                  </a:moveTo>
                  <a:lnTo>
                    <a:pt x="7067169" y="5364480"/>
                  </a:lnTo>
                  <a:lnTo>
                    <a:pt x="7168769" y="5364480"/>
                  </a:lnTo>
                  <a:close/>
                  <a:moveTo>
                    <a:pt x="6931661" y="5364480"/>
                  </a:moveTo>
                  <a:lnTo>
                    <a:pt x="6830061" y="5364480"/>
                  </a:lnTo>
                  <a:lnTo>
                    <a:pt x="6931661" y="5364480"/>
                  </a:lnTo>
                  <a:close/>
                  <a:moveTo>
                    <a:pt x="6694551" y="5364480"/>
                  </a:moveTo>
                  <a:lnTo>
                    <a:pt x="6592951" y="5364480"/>
                  </a:lnTo>
                  <a:lnTo>
                    <a:pt x="6694551" y="5364480"/>
                  </a:lnTo>
                  <a:close/>
                  <a:moveTo>
                    <a:pt x="6457442" y="5364480"/>
                  </a:moveTo>
                  <a:lnTo>
                    <a:pt x="6355842" y="5364480"/>
                  </a:lnTo>
                  <a:lnTo>
                    <a:pt x="6457442" y="5364480"/>
                  </a:lnTo>
                  <a:close/>
                  <a:moveTo>
                    <a:pt x="6220333" y="5364480"/>
                  </a:moveTo>
                  <a:lnTo>
                    <a:pt x="6118733" y="5364480"/>
                  </a:lnTo>
                  <a:lnTo>
                    <a:pt x="6220333" y="5364480"/>
                  </a:lnTo>
                  <a:close/>
                  <a:moveTo>
                    <a:pt x="5983224" y="5364480"/>
                  </a:moveTo>
                  <a:lnTo>
                    <a:pt x="5881624" y="5364480"/>
                  </a:lnTo>
                  <a:lnTo>
                    <a:pt x="5983224" y="5364480"/>
                  </a:lnTo>
                  <a:close/>
                  <a:moveTo>
                    <a:pt x="5746115" y="5364480"/>
                  </a:moveTo>
                  <a:lnTo>
                    <a:pt x="5644515" y="5364480"/>
                  </a:lnTo>
                  <a:lnTo>
                    <a:pt x="5746115" y="5364480"/>
                  </a:lnTo>
                  <a:close/>
                  <a:moveTo>
                    <a:pt x="5509006" y="5364480"/>
                  </a:moveTo>
                  <a:lnTo>
                    <a:pt x="5407406" y="5364480"/>
                  </a:lnTo>
                  <a:lnTo>
                    <a:pt x="5509006" y="5364480"/>
                  </a:lnTo>
                  <a:close/>
                  <a:moveTo>
                    <a:pt x="5271897" y="5364480"/>
                  </a:moveTo>
                  <a:lnTo>
                    <a:pt x="5170297" y="5364480"/>
                  </a:lnTo>
                  <a:lnTo>
                    <a:pt x="5271897" y="5364480"/>
                  </a:lnTo>
                  <a:close/>
                  <a:moveTo>
                    <a:pt x="5034788" y="5364480"/>
                  </a:moveTo>
                  <a:lnTo>
                    <a:pt x="4933188" y="5364480"/>
                  </a:lnTo>
                  <a:lnTo>
                    <a:pt x="5034788" y="5364480"/>
                  </a:lnTo>
                  <a:close/>
                  <a:moveTo>
                    <a:pt x="4797679" y="5364480"/>
                  </a:moveTo>
                  <a:lnTo>
                    <a:pt x="4696079" y="5364480"/>
                  </a:lnTo>
                  <a:lnTo>
                    <a:pt x="4797679" y="5364480"/>
                  </a:lnTo>
                  <a:close/>
                  <a:moveTo>
                    <a:pt x="4560570" y="5364480"/>
                  </a:moveTo>
                  <a:lnTo>
                    <a:pt x="4458970" y="5364480"/>
                  </a:lnTo>
                  <a:lnTo>
                    <a:pt x="4560570" y="5364480"/>
                  </a:lnTo>
                  <a:close/>
                  <a:moveTo>
                    <a:pt x="4323461" y="5364480"/>
                  </a:moveTo>
                  <a:lnTo>
                    <a:pt x="4221861" y="5364480"/>
                  </a:lnTo>
                  <a:lnTo>
                    <a:pt x="4323461" y="5364480"/>
                  </a:lnTo>
                  <a:close/>
                  <a:moveTo>
                    <a:pt x="4086352" y="5364480"/>
                  </a:moveTo>
                  <a:lnTo>
                    <a:pt x="3984752" y="5364480"/>
                  </a:lnTo>
                  <a:lnTo>
                    <a:pt x="4086352" y="5364480"/>
                  </a:lnTo>
                  <a:close/>
                  <a:moveTo>
                    <a:pt x="3849243" y="5364480"/>
                  </a:moveTo>
                  <a:lnTo>
                    <a:pt x="3747643" y="5364480"/>
                  </a:lnTo>
                  <a:lnTo>
                    <a:pt x="3849243" y="5364480"/>
                  </a:lnTo>
                  <a:close/>
                  <a:moveTo>
                    <a:pt x="3612134" y="5364480"/>
                  </a:moveTo>
                  <a:lnTo>
                    <a:pt x="3510534" y="5364480"/>
                  </a:lnTo>
                  <a:lnTo>
                    <a:pt x="3612134" y="5364480"/>
                  </a:lnTo>
                  <a:close/>
                  <a:moveTo>
                    <a:pt x="3375025" y="5364480"/>
                  </a:moveTo>
                  <a:lnTo>
                    <a:pt x="3273425" y="5364480"/>
                  </a:lnTo>
                  <a:lnTo>
                    <a:pt x="3375025" y="5364480"/>
                  </a:lnTo>
                  <a:close/>
                  <a:moveTo>
                    <a:pt x="3137916" y="5364480"/>
                  </a:moveTo>
                  <a:lnTo>
                    <a:pt x="3036316" y="5364480"/>
                  </a:lnTo>
                  <a:lnTo>
                    <a:pt x="3137916" y="5364480"/>
                  </a:lnTo>
                  <a:close/>
                  <a:moveTo>
                    <a:pt x="2900807" y="5364480"/>
                  </a:moveTo>
                  <a:lnTo>
                    <a:pt x="2799207" y="5364480"/>
                  </a:lnTo>
                  <a:lnTo>
                    <a:pt x="2900807" y="5364480"/>
                  </a:lnTo>
                  <a:close/>
                  <a:moveTo>
                    <a:pt x="2663698" y="5364480"/>
                  </a:moveTo>
                  <a:lnTo>
                    <a:pt x="2562098" y="5364480"/>
                  </a:lnTo>
                  <a:lnTo>
                    <a:pt x="2663698" y="5364480"/>
                  </a:lnTo>
                  <a:close/>
                  <a:moveTo>
                    <a:pt x="2426589" y="5364480"/>
                  </a:moveTo>
                  <a:lnTo>
                    <a:pt x="2324989" y="5364480"/>
                  </a:lnTo>
                  <a:lnTo>
                    <a:pt x="2426589" y="5364480"/>
                  </a:lnTo>
                  <a:close/>
                  <a:moveTo>
                    <a:pt x="2189480" y="5364480"/>
                  </a:moveTo>
                  <a:lnTo>
                    <a:pt x="2087880" y="5364480"/>
                  </a:lnTo>
                  <a:lnTo>
                    <a:pt x="2189480" y="5364480"/>
                  </a:lnTo>
                  <a:close/>
                  <a:moveTo>
                    <a:pt x="1952371" y="5364480"/>
                  </a:moveTo>
                  <a:lnTo>
                    <a:pt x="1850771" y="5364480"/>
                  </a:lnTo>
                  <a:lnTo>
                    <a:pt x="1952371" y="5364480"/>
                  </a:lnTo>
                  <a:close/>
                  <a:moveTo>
                    <a:pt x="1715262" y="5364480"/>
                  </a:moveTo>
                  <a:lnTo>
                    <a:pt x="1613662" y="5364480"/>
                  </a:lnTo>
                  <a:lnTo>
                    <a:pt x="1715262" y="5364480"/>
                  </a:lnTo>
                  <a:close/>
                  <a:moveTo>
                    <a:pt x="1478153" y="5364480"/>
                  </a:moveTo>
                  <a:lnTo>
                    <a:pt x="1376553" y="5364480"/>
                  </a:lnTo>
                  <a:lnTo>
                    <a:pt x="1478153" y="5364480"/>
                  </a:lnTo>
                  <a:close/>
                  <a:moveTo>
                    <a:pt x="1241044" y="5364480"/>
                  </a:moveTo>
                  <a:lnTo>
                    <a:pt x="1139444" y="5364480"/>
                  </a:lnTo>
                  <a:lnTo>
                    <a:pt x="1241044" y="5364480"/>
                  </a:lnTo>
                  <a:close/>
                  <a:moveTo>
                    <a:pt x="1003935" y="5364480"/>
                  </a:moveTo>
                  <a:lnTo>
                    <a:pt x="902335" y="5364480"/>
                  </a:lnTo>
                  <a:lnTo>
                    <a:pt x="1003935" y="5364480"/>
                  </a:lnTo>
                  <a:close/>
                  <a:moveTo>
                    <a:pt x="766826" y="5364480"/>
                  </a:moveTo>
                  <a:lnTo>
                    <a:pt x="665226" y="5364480"/>
                  </a:lnTo>
                  <a:lnTo>
                    <a:pt x="766826" y="5364480"/>
                  </a:lnTo>
                  <a:close/>
                  <a:moveTo>
                    <a:pt x="529717" y="5364480"/>
                  </a:moveTo>
                  <a:lnTo>
                    <a:pt x="428117" y="5364480"/>
                  </a:lnTo>
                  <a:lnTo>
                    <a:pt x="529717" y="5364480"/>
                  </a:lnTo>
                  <a:close/>
                  <a:moveTo>
                    <a:pt x="292608" y="5364480"/>
                  </a:moveTo>
                  <a:lnTo>
                    <a:pt x="191008" y="5364480"/>
                  </a:lnTo>
                  <a:lnTo>
                    <a:pt x="292608" y="5364480"/>
                  </a:lnTo>
                  <a:close/>
                  <a:moveTo>
                    <a:pt x="55499" y="5364480"/>
                  </a:moveTo>
                  <a:lnTo>
                    <a:pt x="16891" y="5364480"/>
                  </a:lnTo>
                  <a:cubicBezTo>
                    <a:pt x="7493" y="5364480"/>
                    <a:pt x="0" y="5356860"/>
                    <a:pt x="0" y="5347589"/>
                  </a:cubicBezTo>
                  <a:lnTo>
                    <a:pt x="0" y="5354320"/>
                  </a:lnTo>
                  <a:lnTo>
                    <a:pt x="33909" y="5354320"/>
                  </a:lnTo>
                  <a:lnTo>
                    <a:pt x="33909" y="5381371"/>
                  </a:lnTo>
                  <a:lnTo>
                    <a:pt x="16891" y="5381371"/>
                  </a:lnTo>
                  <a:lnTo>
                    <a:pt x="16891" y="5364480"/>
                  </a:lnTo>
                  <a:lnTo>
                    <a:pt x="91440" y="5364480"/>
                  </a:lnTo>
                  <a:close/>
                  <a:moveTo>
                    <a:pt x="0" y="5218811"/>
                  </a:moveTo>
                  <a:lnTo>
                    <a:pt x="0" y="5117211"/>
                  </a:lnTo>
                  <a:lnTo>
                    <a:pt x="33909" y="5117211"/>
                  </a:lnTo>
                  <a:lnTo>
                    <a:pt x="33909" y="5218811"/>
                  </a:lnTo>
                  <a:close/>
                  <a:moveTo>
                    <a:pt x="33909" y="4981702"/>
                  </a:moveTo>
                  <a:lnTo>
                    <a:pt x="33909" y="4880102"/>
                  </a:lnTo>
                  <a:lnTo>
                    <a:pt x="33909" y="4981702"/>
                  </a:lnTo>
                  <a:close/>
                  <a:moveTo>
                    <a:pt x="0" y="4744720"/>
                  </a:moveTo>
                  <a:lnTo>
                    <a:pt x="0" y="4643120"/>
                  </a:lnTo>
                  <a:lnTo>
                    <a:pt x="33909" y="4643120"/>
                  </a:lnTo>
                  <a:lnTo>
                    <a:pt x="33909" y="4744720"/>
                  </a:lnTo>
                  <a:close/>
                  <a:moveTo>
                    <a:pt x="33909" y="4507611"/>
                  </a:moveTo>
                  <a:lnTo>
                    <a:pt x="33909" y="4406011"/>
                  </a:lnTo>
                  <a:lnTo>
                    <a:pt x="33909" y="4507611"/>
                  </a:lnTo>
                  <a:close/>
                  <a:moveTo>
                    <a:pt x="33909" y="4270502"/>
                  </a:moveTo>
                  <a:lnTo>
                    <a:pt x="33909" y="4168902"/>
                  </a:lnTo>
                  <a:lnTo>
                    <a:pt x="33909" y="4270502"/>
                  </a:lnTo>
                  <a:close/>
                  <a:moveTo>
                    <a:pt x="0" y="4033520"/>
                  </a:moveTo>
                  <a:lnTo>
                    <a:pt x="0" y="3931920"/>
                  </a:lnTo>
                  <a:lnTo>
                    <a:pt x="33909" y="3931920"/>
                  </a:lnTo>
                  <a:lnTo>
                    <a:pt x="33909" y="4033520"/>
                  </a:lnTo>
                  <a:close/>
                  <a:moveTo>
                    <a:pt x="33909" y="3796411"/>
                  </a:moveTo>
                  <a:lnTo>
                    <a:pt x="33909" y="3694811"/>
                  </a:lnTo>
                  <a:lnTo>
                    <a:pt x="33909" y="3796411"/>
                  </a:lnTo>
                  <a:close/>
                  <a:moveTo>
                    <a:pt x="33909" y="3559302"/>
                  </a:moveTo>
                  <a:lnTo>
                    <a:pt x="33909" y="3457702"/>
                  </a:lnTo>
                  <a:lnTo>
                    <a:pt x="33909" y="3559302"/>
                  </a:lnTo>
                  <a:close/>
                  <a:moveTo>
                    <a:pt x="0" y="3322320"/>
                  </a:moveTo>
                  <a:lnTo>
                    <a:pt x="0" y="3220720"/>
                  </a:lnTo>
                  <a:lnTo>
                    <a:pt x="33909" y="3220720"/>
                  </a:lnTo>
                  <a:lnTo>
                    <a:pt x="33909" y="3322320"/>
                  </a:lnTo>
                  <a:close/>
                  <a:moveTo>
                    <a:pt x="33909" y="3085211"/>
                  </a:moveTo>
                  <a:lnTo>
                    <a:pt x="33909" y="2983611"/>
                  </a:lnTo>
                  <a:lnTo>
                    <a:pt x="33909" y="3085211"/>
                  </a:lnTo>
                  <a:close/>
                  <a:moveTo>
                    <a:pt x="33909" y="2848102"/>
                  </a:moveTo>
                  <a:lnTo>
                    <a:pt x="33909" y="2746502"/>
                  </a:lnTo>
                  <a:lnTo>
                    <a:pt x="33909" y="2848102"/>
                  </a:lnTo>
                  <a:close/>
                  <a:moveTo>
                    <a:pt x="0" y="2611120"/>
                  </a:moveTo>
                  <a:lnTo>
                    <a:pt x="0" y="2509520"/>
                  </a:lnTo>
                  <a:lnTo>
                    <a:pt x="33909" y="2509520"/>
                  </a:lnTo>
                  <a:lnTo>
                    <a:pt x="33909" y="2611120"/>
                  </a:lnTo>
                  <a:close/>
                  <a:moveTo>
                    <a:pt x="33909" y="2374011"/>
                  </a:moveTo>
                  <a:lnTo>
                    <a:pt x="33909" y="2272411"/>
                  </a:lnTo>
                  <a:lnTo>
                    <a:pt x="33909" y="2374011"/>
                  </a:lnTo>
                  <a:close/>
                  <a:moveTo>
                    <a:pt x="33909" y="2136902"/>
                  </a:moveTo>
                  <a:lnTo>
                    <a:pt x="33909" y="2035302"/>
                  </a:lnTo>
                  <a:lnTo>
                    <a:pt x="33909" y="2136902"/>
                  </a:lnTo>
                  <a:close/>
                  <a:moveTo>
                    <a:pt x="0" y="1899920"/>
                  </a:moveTo>
                  <a:lnTo>
                    <a:pt x="0" y="1798320"/>
                  </a:lnTo>
                  <a:lnTo>
                    <a:pt x="33909" y="1798320"/>
                  </a:lnTo>
                  <a:lnTo>
                    <a:pt x="33909" y="1899920"/>
                  </a:lnTo>
                  <a:close/>
                  <a:moveTo>
                    <a:pt x="33909" y="1662811"/>
                  </a:moveTo>
                  <a:lnTo>
                    <a:pt x="33909" y="1561211"/>
                  </a:lnTo>
                  <a:lnTo>
                    <a:pt x="33909" y="1662811"/>
                  </a:lnTo>
                  <a:close/>
                  <a:moveTo>
                    <a:pt x="33909" y="1425702"/>
                  </a:moveTo>
                  <a:lnTo>
                    <a:pt x="33909" y="1324102"/>
                  </a:lnTo>
                  <a:lnTo>
                    <a:pt x="33909" y="1425702"/>
                  </a:lnTo>
                  <a:close/>
                  <a:moveTo>
                    <a:pt x="0" y="1188720"/>
                  </a:moveTo>
                  <a:lnTo>
                    <a:pt x="0" y="1087120"/>
                  </a:lnTo>
                  <a:lnTo>
                    <a:pt x="33909" y="1087120"/>
                  </a:lnTo>
                  <a:lnTo>
                    <a:pt x="33909" y="1188720"/>
                  </a:lnTo>
                  <a:close/>
                  <a:moveTo>
                    <a:pt x="0" y="951611"/>
                  </a:moveTo>
                  <a:lnTo>
                    <a:pt x="0" y="850011"/>
                  </a:lnTo>
                  <a:lnTo>
                    <a:pt x="33909" y="850011"/>
                  </a:lnTo>
                  <a:lnTo>
                    <a:pt x="33909" y="951611"/>
                  </a:lnTo>
                  <a:close/>
                  <a:moveTo>
                    <a:pt x="0" y="714629"/>
                  </a:moveTo>
                  <a:lnTo>
                    <a:pt x="0" y="613029"/>
                  </a:lnTo>
                  <a:lnTo>
                    <a:pt x="33909" y="613029"/>
                  </a:lnTo>
                  <a:lnTo>
                    <a:pt x="33909" y="714629"/>
                  </a:lnTo>
                  <a:close/>
                  <a:moveTo>
                    <a:pt x="0" y="477520"/>
                  </a:moveTo>
                  <a:lnTo>
                    <a:pt x="0" y="375920"/>
                  </a:lnTo>
                  <a:lnTo>
                    <a:pt x="33909" y="375920"/>
                  </a:lnTo>
                  <a:lnTo>
                    <a:pt x="33909" y="477520"/>
                  </a:lnTo>
                  <a:close/>
                  <a:moveTo>
                    <a:pt x="0" y="240411"/>
                  </a:moveTo>
                  <a:lnTo>
                    <a:pt x="0" y="138811"/>
                  </a:lnTo>
                  <a:lnTo>
                    <a:pt x="33909" y="138811"/>
                  </a:lnTo>
                  <a:lnTo>
                    <a:pt x="33909" y="240411"/>
                  </a:lnTo>
                  <a:close/>
                  <a:moveTo>
                    <a:pt x="16891" y="0"/>
                  </a:moveTo>
                  <a:lnTo>
                    <a:pt x="118491" y="0"/>
                  </a:lnTo>
                  <a:lnTo>
                    <a:pt x="118491" y="33909"/>
                  </a:lnTo>
                  <a:lnTo>
                    <a:pt x="16891" y="33909"/>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txBox="1"/>
            <p:nvPr/>
          </p:nvSpPr>
          <p:spPr>
            <a:xfrm>
              <a:off x="0" y="-38100"/>
              <a:ext cx="11494351" cy="5436451"/>
            </a:xfrm>
            <a:prstGeom prst="rect">
              <a:avLst/>
            </a:prstGeom>
            <a:noFill/>
            <a:ln>
              <a:noFill/>
            </a:ln>
          </p:spPr>
          <p:txBody>
            <a:bodyPr anchorCtr="0" anchor="ctr" bIns="50800" lIns="50800" spcFirstLastPara="1" rIns="50800" wrap="square" tIns="50800">
              <a:noAutofit/>
            </a:bodyPr>
            <a:lstStyle/>
            <a:p>
              <a:pPr indent="0" lvl="0" marL="0" marR="0" rtl="0" algn="ctr">
                <a:lnSpc>
                  <a:spcPct val="120000"/>
                </a:lnSpc>
                <a:spcBef>
                  <a:spcPts val="0"/>
                </a:spcBef>
                <a:spcAft>
                  <a:spcPts val="0"/>
                </a:spcAft>
                <a:buNone/>
              </a:pPr>
              <a:r>
                <a:rPr b="0" i="0" lang="en-US" sz="2000" u="none" cap="none" strike="noStrike">
                  <a:solidFill>
                    <a:srgbClr val="555555"/>
                  </a:solidFill>
                  <a:latin typeface="Calibri"/>
                  <a:ea typeface="Calibri"/>
                  <a:cs typeface="Calibri"/>
                  <a:sym typeface="Calibri"/>
                </a:rPr>
                <a:t>📸 [KAFKA PRODUCER LOG — 500 mesaj/sn gönderiliyor]</a:t>
              </a:r>
              <a:endParaRPr/>
            </a:p>
          </p:txBody>
        </p:sp>
      </p:grpSp>
      <p:grpSp>
        <p:nvGrpSpPr>
          <p:cNvPr id="403" name="Google Shape;403;p16"/>
          <p:cNvGrpSpPr/>
          <p:nvPr/>
        </p:nvGrpSpPr>
        <p:grpSpPr>
          <a:xfrm>
            <a:off x="548640" y="6090761"/>
            <a:ext cx="17190721" cy="620935"/>
            <a:chOff x="0" y="-47625"/>
            <a:chExt cx="22920961" cy="827913"/>
          </a:xfrm>
        </p:grpSpPr>
        <p:sp>
          <p:nvSpPr>
            <p:cNvPr id="404" name="Google Shape;404;p16"/>
            <p:cNvSpPr/>
            <p:nvPr/>
          </p:nvSpPr>
          <p:spPr>
            <a:xfrm>
              <a:off x="0" y="0"/>
              <a:ext cx="22920961" cy="780288"/>
            </a:xfrm>
            <a:custGeom>
              <a:rect b="b" l="l" r="r" t="t"/>
              <a:pathLst>
                <a:path extrusionOk="0" h="780288" w="22920961">
                  <a:moveTo>
                    <a:pt x="0" y="0"/>
                  </a:moveTo>
                  <a:lnTo>
                    <a:pt x="22920961" y="0"/>
                  </a:lnTo>
                  <a:lnTo>
                    <a:pt x="22920961" y="780288"/>
                  </a:lnTo>
                  <a:lnTo>
                    <a:pt x="0" y="780288"/>
                  </a:lnTo>
                  <a:close/>
                </a:path>
              </a:pathLst>
            </a:custGeom>
            <a:blipFill rotWithShape="1">
              <a:blip r:embed="rId3">
                <a:alphaModFix amt="0"/>
              </a:blip>
              <a:stretch>
                <a:fillRect b="-522344" l="0" r="0" t="-522344"/>
              </a:stretch>
            </a:blipFill>
            <a:ln>
              <a:noFill/>
            </a:ln>
          </p:spPr>
        </p:sp>
        <p:sp>
          <p:nvSpPr>
            <p:cNvPr id="405" name="Google Shape;405;p16"/>
            <p:cNvSpPr txBox="1"/>
            <p:nvPr/>
          </p:nvSpPr>
          <p:spPr>
            <a:xfrm>
              <a:off x="0" y="-47625"/>
              <a:ext cx="2292096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23 kolonlu JSON mesaj formatı (kafka_timestamp, user_id, event_type + 20 müzik özelliği)</a:t>
              </a:r>
              <a:endParaRPr/>
            </a:p>
          </p:txBody>
        </p:sp>
      </p:grpSp>
      <p:grpSp>
        <p:nvGrpSpPr>
          <p:cNvPr id="406" name="Google Shape;406;p16"/>
          <p:cNvGrpSpPr/>
          <p:nvPr/>
        </p:nvGrpSpPr>
        <p:grpSpPr>
          <a:xfrm>
            <a:off x="548640" y="6785705"/>
            <a:ext cx="17190721" cy="620935"/>
            <a:chOff x="0" y="-47625"/>
            <a:chExt cx="22920961" cy="827913"/>
          </a:xfrm>
        </p:grpSpPr>
        <p:sp>
          <p:nvSpPr>
            <p:cNvPr id="407" name="Google Shape;407;p16"/>
            <p:cNvSpPr/>
            <p:nvPr/>
          </p:nvSpPr>
          <p:spPr>
            <a:xfrm>
              <a:off x="0" y="0"/>
              <a:ext cx="22920961" cy="780288"/>
            </a:xfrm>
            <a:custGeom>
              <a:rect b="b" l="l" r="r" t="t"/>
              <a:pathLst>
                <a:path extrusionOk="0" h="780288" w="22920961">
                  <a:moveTo>
                    <a:pt x="0" y="0"/>
                  </a:moveTo>
                  <a:lnTo>
                    <a:pt x="22920961" y="0"/>
                  </a:lnTo>
                  <a:lnTo>
                    <a:pt x="22920961" y="780288"/>
                  </a:lnTo>
                  <a:lnTo>
                    <a:pt x="0" y="780288"/>
                  </a:lnTo>
                  <a:close/>
                </a:path>
              </a:pathLst>
            </a:custGeom>
            <a:blipFill rotWithShape="1">
              <a:blip r:embed="rId3">
                <a:alphaModFix amt="0"/>
              </a:blip>
              <a:stretch>
                <a:fillRect b="-522344" l="0" r="0" t="-522344"/>
              </a:stretch>
            </a:blipFill>
            <a:ln>
              <a:noFill/>
            </a:ln>
          </p:spPr>
        </p:sp>
        <p:sp>
          <p:nvSpPr>
            <p:cNvPr id="408" name="Google Shape;408;p16"/>
            <p:cNvSpPr txBox="1"/>
            <p:nvPr/>
          </p:nvSpPr>
          <p:spPr>
            <a:xfrm>
              <a:off x="0" y="-47625"/>
              <a:ext cx="2292096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500 mesaj/saniye — 114.000 mesajın tamamı ~4 dakikada gönderildi</a:t>
              </a:r>
              <a:endParaRPr/>
            </a:p>
          </p:txBody>
        </p:sp>
      </p:grpSp>
      <p:grpSp>
        <p:nvGrpSpPr>
          <p:cNvPr id="409" name="Google Shape;409;p16"/>
          <p:cNvGrpSpPr/>
          <p:nvPr/>
        </p:nvGrpSpPr>
        <p:grpSpPr>
          <a:xfrm>
            <a:off x="548640" y="7480649"/>
            <a:ext cx="17190721" cy="620935"/>
            <a:chOff x="0" y="-47625"/>
            <a:chExt cx="22920961" cy="827913"/>
          </a:xfrm>
        </p:grpSpPr>
        <p:sp>
          <p:nvSpPr>
            <p:cNvPr id="410" name="Google Shape;410;p16"/>
            <p:cNvSpPr/>
            <p:nvPr/>
          </p:nvSpPr>
          <p:spPr>
            <a:xfrm>
              <a:off x="0" y="0"/>
              <a:ext cx="22920961" cy="780288"/>
            </a:xfrm>
            <a:custGeom>
              <a:rect b="b" l="l" r="r" t="t"/>
              <a:pathLst>
                <a:path extrusionOk="0" h="780288" w="22920961">
                  <a:moveTo>
                    <a:pt x="0" y="0"/>
                  </a:moveTo>
                  <a:lnTo>
                    <a:pt x="22920961" y="0"/>
                  </a:lnTo>
                  <a:lnTo>
                    <a:pt x="22920961" y="780288"/>
                  </a:lnTo>
                  <a:lnTo>
                    <a:pt x="0" y="780288"/>
                  </a:lnTo>
                  <a:close/>
                </a:path>
              </a:pathLst>
            </a:custGeom>
            <a:blipFill rotWithShape="1">
              <a:blip r:embed="rId3">
                <a:alphaModFix amt="0"/>
              </a:blip>
              <a:stretch>
                <a:fillRect b="-522344" l="0" r="0" t="-522344"/>
              </a:stretch>
            </a:blipFill>
            <a:ln>
              <a:noFill/>
            </a:ln>
          </p:spPr>
        </p:sp>
        <p:sp>
          <p:nvSpPr>
            <p:cNvPr id="411" name="Google Shape;411;p16"/>
            <p:cNvSpPr txBox="1"/>
            <p:nvPr/>
          </p:nvSpPr>
          <p:spPr>
            <a:xfrm>
              <a:off x="0" y="-47625"/>
              <a:ext cx="2292096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NaN → null kontrolü: Producer'da tüm kolonlar için None dönüşümü yapıldı</a:t>
              </a:r>
              <a:endParaRPr/>
            </a:p>
          </p:txBody>
        </p:sp>
      </p:grpSp>
      <p:grpSp>
        <p:nvGrpSpPr>
          <p:cNvPr id="412" name="Google Shape;412;p16"/>
          <p:cNvGrpSpPr/>
          <p:nvPr/>
        </p:nvGrpSpPr>
        <p:grpSpPr>
          <a:xfrm>
            <a:off x="548640" y="8175593"/>
            <a:ext cx="17190721" cy="620935"/>
            <a:chOff x="0" y="-47625"/>
            <a:chExt cx="22920961" cy="827913"/>
          </a:xfrm>
        </p:grpSpPr>
        <p:sp>
          <p:nvSpPr>
            <p:cNvPr id="413" name="Google Shape;413;p16"/>
            <p:cNvSpPr/>
            <p:nvPr/>
          </p:nvSpPr>
          <p:spPr>
            <a:xfrm>
              <a:off x="0" y="0"/>
              <a:ext cx="22920961" cy="780288"/>
            </a:xfrm>
            <a:custGeom>
              <a:rect b="b" l="l" r="r" t="t"/>
              <a:pathLst>
                <a:path extrusionOk="0" h="780288" w="22920961">
                  <a:moveTo>
                    <a:pt x="0" y="0"/>
                  </a:moveTo>
                  <a:lnTo>
                    <a:pt x="22920961" y="0"/>
                  </a:lnTo>
                  <a:lnTo>
                    <a:pt x="22920961" y="780288"/>
                  </a:lnTo>
                  <a:lnTo>
                    <a:pt x="0" y="780288"/>
                  </a:lnTo>
                  <a:close/>
                </a:path>
              </a:pathLst>
            </a:custGeom>
            <a:blipFill rotWithShape="1">
              <a:blip r:embed="rId3">
                <a:alphaModFix amt="0"/>
              </a:blip>
              <a:stretch>
                <a:fillRect b="-522344" l="0" r="0" t="-522344"/>
              </a:stretch>
            </a:blipFill>
            <a:ln>
              <a:noFill/>
            </a:ln>
          </p:spPr>
        </p:sp>
        <p:sp>
          <p:nvSpPr>
            <p:cNvPr id="414" name="Google Shape;414;p16"/>
            <p:cNvSpPr txBox="1"/>
            <p:nvPr/>
          </p:nvSpPr>
          <p:spPr>
            <a:xfrm>
              <a:off x="0" y="-47625"/>
              <a:ext cx="2292096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Her 500 mesajda log: '500 mesaj gönderildi... 1000 mesaj gönderildi...'</a:t>
              </a:r>
              <a:endParaRPr/>
            </a:p>
          </p:txBody>
        </p:sp>
      </p:grpSp>
      <p:sp>
        <p:nvSpPr>
          <p:cNvPr id="415" name="Google Shape;415;p16"/>
          <p:cNvSpPr/>
          <p:nvPr/>
        </p:nvSpPr>
        <p:spPr>
          <a:xfrm>
            <a:off x="9188575" y="1815297"/>
            <a:ext cx="8591072" cy="4055862"/>
          </a:xfrm>
          <a:custGeom>
            <a:rect b="b" l="l" r="r" t="t"/>
            <a:pathLst>
              <a:path extrusionOk="0" h="1565379" w="3315765">
                <a:moveTo>
                  <a:pt x="3295856" y="593492"/>
                </a:moveTo>
                <a:cubicBezTo>
                  <a:pt x="3294403" y="463350"/>
                  <a:pt x="3282779" y="305860"/>
                  <a:pt x="3282779" y="164402"/>
                </a:cubicBezTo>
                <a:cubicBezTo>
                  <a:pt x="3282779" y="125737"/>
                  <a:pt x="3281325" y="48407"/>
                  <a:pt x="3274060" y="9742"/>
                </a:cubicBezTo>
                <a:cubicBezTo>
                  <a:pt x="3099688" y="9742"/>
                  <a:pt x="2912239" y="311"/>
                  <a:pt x="2736414" y="311"/>
                </a:cubicBezTo>
                <a:cubicBezTo>
                  <a:pt x="1822416" y="2197"/>
                  <a:pt x="917137" y="-959"/>
                  <a:pt x="4592" y="311"/>
                </a:cubicBezTo>
                <a:cubicBezTo>
                  <a:pt x="4592" y="126680"/>
                  <a:pt x="-1220" y="267195"/>
                  <a:pt x="233" y="393564"/>
                </a:cubicBezTo>
                <a:cubicBezTo>
                  <a:pt x="3139" y="629328"/>
                  <a:pt x="7499" y="866034"/>
                  <a:pt x="7499" y="1101797"/>
                </a:cubicBezTo>
                <a:cubicBezTo>
                  <a:pt x="7499" y="1215907"/>
                  <a:pt x="6046" y="1329073"/>
                  <a:pt x="14764" y="1443182"/>
                </a:cubicBezTo>
                <a:cubicBezTo>
                  <a:pt x="17670" y="1479962"/>
                  <a:pt x="20577" y="1515797"/>
                  <a:pt x="26389" y="1552577"/>
                </a:cubicBezTo>
                <a:cubicBezTo>
                  <a:pt x="218198" y="1554463"/>
                  <a:pt x="408553" y="1557292"/>
                  <a:pt x="600362" y="1561064"/>
                </a:cubicBezTo>
                <a:cubicBezTo>
                  <a:pt x="1110399" y="1573110"/>
                  <a:pt x="1605905" y="1555406"/>
                  <a:pt x="2131926" y="1562007"/>
                </a:cubicBezTo>
                <a:cubicBezTo>
                  <a:pt x="2528621" y="1568030"/>
                  <a:pt x="2918051" y="1552577"/>
                  <a:pt x="3312916" y="1552577"/>
                </a:cubicBezTo>
                <a:cubicBezTo>
                  <a:pt x="3312916" y="1540317"/>
                  <a:pt x="3314186" y="1468645"/>
                  <a:pt x="3315456" y="1456385"/>
                </a:cubicBezTo>
                <a:cubicBezTo>
                  <a:pt x="3317996" y="1382827"/>
                  <a:pt x="3304026" y="1245141"/>
                  <a:pt x="3305296" y="1171583"/>
                </a:cubicBezTo>
                <a:cubicBezTo>
                  <a:pt x="3311646" y="868863"/>
                  <a:pt x="3298763" y="854717"/>
                  <a:pt x="3295856" y="593492"/>
                </a:cubicBezTo>
                <a:close/>
              </a:path>
            </a:pathLst>
          </a:custGeom>
          <a:blipFill rotWithShape="1">
            <a:blip r:embed="rId4">
              <a:alphaModFix/>
            </a:blip>
            <a:stretch>
              <a:fillRect b="-14256" l="0" r="0" t="-230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a:off x="578687" y="1815343"/>
            <a:ext cx="8238318" cy="4055390"/>
          </a:xfrm>
          <a:custGeom>
            <a:rect b="b" l="l" r="r" t="t"/>
            <a:pathLst>
              <a:path extrusionOk="0" h="1626672" w="3304501">
                <a:moveTo>
                  <a:pt x="3284607" y="616783"/>
                </a:moveTo>
                <a:cubicBezTo>
                  <a:pt x="3283159" y="481531"/>
                  <a:pt x="3271574" y="317855"/>
                  <a:pt x="3271574" y="170841"/>
                </a:cubicBezTo>
                <a:cubicBezTo>
                  <a:pt x="3271574" y="130657"/>
                  <a:pt x="3270126" y="50290"/>
                  <a:pt x="3262885" y="10106"/>
                </a:cubicBezTo>
                <a:cubicBezTo>
                  <a:pt x="3089109" y="10106"/>
                  <a:pt x="2902299" y="305"/>
                  <a:pt x="2727075" y="305"/>
                </a:cubicBezTo>
                <a:cubicBezTo>
                  <a:pt x="1816196" y="2265"/>
                  <a:pt x="914007" y="-965"/>
                  <a:pt x="4577" y="305"/>
                </a:cubicBezTo>
                <a:cubicBezTo>
                  <a:pt x="4577" y="131637"/>
                  <a:pt x="-1215" y="277671"/>
                  <a:pt x="233" y="409004"/>
                </a:cubicBezTo>
                <a:cubicBezTo>
                  <a:pt x="3129" y="654027"/>
                  <a:pt x="7473" y="900030"/>
                  <a:pt x="7473" y="1145053"/>
                </a:cubicBezTo>
                <a:cubicBezTo>
                  <a:pt x="7473" y="1263645"/>
                  <a:pt x="6025" y="1381256"/>
                  <a:pt x="14714" y="1499847"/>
                </a:cubicBezTo>
                <a:cubicBezTo>
                  <a:pt x="17610" y="1538071"/>
                  <a:pt x="20507" y="1575314"/>
                  <a:pt x="26299" y="1613538"/>
                </a:cubicBezTo>
                <a:cubicBezTo>
                  <a:pt x="217453" y="1615498"/>
                  <a:pt x="407159" y="1618438"/>
                  <a:pt x="598313" y="1622359"/>
                </a:cubicBezTo>
                <a:cubicBezTo>
                  <a:pt x="1106609" y="1634479"/>
                  <a:pt x="1600424" y="1616478"/>
                  <a:pt x="2124650" y="1623339"/>
                </a:cubicBezTo>
                <a:cubicBezTo>
                  <a:pt x="2519991" y="1629399"/>
                  <a:pt x="2908092" y="1613538"/>
                  <a:pt x="3301652" y="1613538"/>
                </a:cubicBezTo>
                <a:cubicBezTo>
                  <a:pt x="3301652" y="1600796"/>
                  <a:pt x="3302922" y="1526309"/>
                  <a:pt x="3304192" y="1513568"/>
                </a:cubicBezTo>
                <a:cubicBezTo>
                  <a:pt x="3306732" y="1437121"/>
                  <a:pt x="3292762" y="1294027"/>
                  <a:pt x="3294032" y="1217580"/>
                </a:cubicBezTo>
                <a:cubicBezTo>
                  <a:pt x="3300382" y="902970"/>
                  <a:pt x="3287504" y="888269"/>
                  <a:pt x="3284607" y="616783"/>
                </a:cubicBezTo>
                <a:close/>
              </a:path>
            </a:pathLst>
          </a:custGeom>
          <a:blipFill rotWithShape="1">
            <a:blip r:embed="rId5">
              <a:alphaModFix/>
            </a:blip>
            <a:stretch>
              <a:fillRect b="0" l="-46425" r="-93486"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grpSp>
        <p:nvGrpSpPr>
          <p:cNvPr id="425" name="Google Shape;425;p17"/>
          <p:cNvGrpSpPr/>
          <p:nvPr/>
        </p:nvGrpSpPr>
        <p:grpSpPr>
          <a:xfrm>
            <a:off x="-12697" y="-12697"/>
            <a:ext cx="18313336" cy="1579816"/>
            <a:chOff x="0" y="0"/>
            <a:chExt cx="24417782" cy="2106422"/>
          </a:xfrm>
        </p:grpSpPr>
        <p:sp>
          <p:nvSpPr>
            <p:cNvPr id="426" name="Google Shape;426;p17"/>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427" name="Google Shape;427;p17"/>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 name="Google Shape;428;p17"/>
          <p:cNvGrpSpPr/>
          <p:nvPr/>
        </p:nvGrpSpPr>
        <p:grpSpPr>
          <a:xfrm>
            <a:off x="-12697" y="-12697"/>
            <a:ext cx="244792" cy="1579816"/>
            <a:chOff x="0" y="0"/>
            <a:chExt cx="326390" cy="2106422"/>
          </a:xfrm>
        </p:grpSpPr>
        <p:sp>
          <p:nvSpPr>
            <p:cNvPr id="429" name="Google Shape;429;p17"/>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430" name="Google Shape;430;p17"/>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17"/>
          <p:cNvGrpSpPr/>
          <p:nvPr/>
        </p:nvGrpSpPr>
        <p:grpSpPr>
          <a:xfrm>
            <a:off x="548640" y="89154"/>
            <a:ext cx="12801600" cy="880110"/>
            <a:chOff x="0" y="-76200"/>
            <a:chExt cx="17068800" cy="1173480"/>
          </a:xfrm>
        </p:grpSpPr>
        <p:sp>
          <p:nvSpPr>
            <p:cNvPr id="432" name="Google Shape;432;p17"/>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433" name="Google Shape;433;p17"/>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Spark + Delta Lake Pipeline</a:t>
              </a:r>
              <a:endParaRPr/>
            </a:p>
          </p:txBody>
        </p:sp>
      </p:grpSp>
      <p:grpSp>
        <p:nvGrpSpPr>
          <p:cNvPr id="434" name="Google Shape;434;p17"/>
          <p:cNvGrpSpPr/>
          <p:nvPr/>
        </p:nvGrpSpPr>
        <p:grpSpPr>
          <a:xfrm>
            <a:off x="548640" y="915257"/>
            <a:ext cx="16459200" cy="547783"/>
            <a:chOff x="0" y="-47625"/>
            <a:chExt cx="21945600" cy="730377"/>
          </a:xfrm>
        </p:grpSpPr>
        <p:sp>
          <p:nvSpPr>
            <p:cNvPr id="435" name="Google Shape;435;p17"/>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436" name="Google Shape;436;p17"/>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Bronze / Silver / Gold katman mimarisi — Spark 3.5.0</a:t>
              </a:r>
              <a:endParaRPr/>
            </a:p>
          </p:txBody>
        </p:sp>
      </p:grpSp>
      <p:grpSp>
        <p:nvGrpSpPr>
          <p:cNvPr id="437" name="Google Shape;437;p17"/>
          <p:cNvGrpSpPr/>
          <p:nvPr/>
        </p:nvGrpSpPr>
        <p:grpSpPr>
          <a:xfrm>
            <a:off x="-12697" y="1541783"/>
            <a:ext cx="18313336" cy="98490"/>
            <a:chOff x="0" y="0"/>
            <a:chExt cx="24417782" cy="131320"/>
          </a:xfrm>
        </p:grpSpPr>
        <p:sp>
          <p:nvSpPr>
            <p:cNvPr id="438" name="Google Shape;438;p17"/>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439" name="Google Shape;439;p17"/>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 name="Google Shape;440;p17"/>
          <p:cNvGrpSpPr/>
          <p:nvPr/>
        </p:nvGrpSpPr>
        <p:grpSpPr>
          <a:xfrm>
            <a:off x="444503" y="1816103"/>
            <a:ext cx="5603176" cy="848298"/>
            <a:chOff x="0" y="0"/>
            <a:chExt cx="7470901" cy="1131064"/>
          </a:xfrm>
        </p:grpSpPr>
        <p:sp>
          <p:nvSpPr>
            <p:cNvPr id="441" name="Google Shape;441;p17"/>
            <p:cNvSpPr/>
            <p:nvPr/>
          </p:nvSpPr>
          <p:spPr>
            <a:xfrm>
              <a:off x="16891" y="16891"/>
              <a:ext cx="7437120" cy="1097280"/>
            </a:xfrm>
            <a:custGeom>
              <a:rect b="b" l="l" r="r" t="t"/>
              <a:pathLst>
                <a:path extrusionOk="0" h="1097280" w="7437120">
                  <a:moveTo>
                    <a:pt x="0" y="0"/>
                  </a:moveTo>
                  <a:lnTo>
                    <a:pt x="7437120" y="0"/>
                  </a:lnTo>
                  <a:lnTo>
                    <a:pt x="7437120" y="1097280"/>
                  </a:lnTo>
                  <a:lnTo>
                    <a:pt x="0" y="1097280"/>
                  </a:lnTo>
                  <a:close/>
                </a:path>
              </a:pathLst>
            </a:custGeom>
            <a:solidFill>
              <a:srgbClr val="CD7F32"/>
            </a:solidFill>
            <a:ln>
              <a:noFill/>
            </a:ln>
          </p:spPr>
        </p:sp>
        <p:sp>
          <p:nvSpPr>
            <p:cNvPr id="442" name="Google Shape;442;p17"/>
            <p:cNvSpPr/>
            <p:nvPr/>
          </p:nvSpPr>
          <p:spPr>
            <a:xfrm>
              <a:off x="0" y="0"/>
              <a:ext cx="7470901" cy="1131064"/>
            </a:xfrm>
            <a:custGeom>
              <a:rect b="b" l="l" r="r" t="t"/>
              <a:pathLst>
                <a:path extrusionOk="0" h="1131064" w="7470901">
                  <a:moveTo>
                    <a:pt x="16891" y="0"/>
                  </a:moveTo>
                  <a:lnTo>
                    <a:pt x="7454011" y="0"/>
                  </a:lnTo>
                  <a:cubicBezTo>
                    <a:pt x="7463409" y="0"/>
                    <a:pt x="7470901" y="7620"/>
                    <a:pt x="7470901" y="16891"/>
                  </a:cubicBezTo>
                  <a:lnTo>
                    <a:pt x="7470901" y="1114171"/>
                  </a:lnTo>
                  <a:cubicBezTo>
                    <a:pt x="7470901" y="1123569"/>
                    <a:pt x="7463282" y="1131062"/>
                    <a:pt x="74540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454011" y="1097280"/>
                  </a:lnTo>
                  <a:lnTo>
                    <a:pt x="7454011" y="1114171"/>
                  </a:lnTo>
                  <a:lnTo>
                    <a:pt x="7437120" y="1114171"/>
                  </a:lnTo>
                  <a:lnTo>
                    <a:pt x="7437120" y="16891"/>
                  </a:lnTo>
                  <a:lnTo>
                    <a:pt x="7454011" y="16891"/>
                  </a:lnTo>
                  <a:lnTo>
                    <a:pt x="7454011" y="33909"/>
                  </a:lnTo>
                  <a:lnTo>
                    <a:pt x="16891" y="33909"/>
                  </a:lnTo>
                  <a:close/>
                </a:path>
              </a:pathLst>
            </a:custGeom>
            <a:solidFill>
              <a:srgbClr val="CD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 name="Google Shape;443;p17"/>
          <p:cNvGrpSpPr/>
          <p:nvPr/>
        </p:nvGrpSpPr>
        <p:grpSpPr>
          <a:xfrm>
            <a:off x="457200" y="1793081"/>
            <a:ext cx="5577840" cy="858679"/>
            <a:chOff x="0" y="-47625"/>
            <a:chExt cx="7437120" cy="1144905"/>
          </a:xfrm>
        </p:grpSpPr>
        <p:sp>
          <p:nvSpPr>
            <p:cNvPr id="444" name="Google Shape;444;p17"/>
            <p:cNvSpPr/>
            <p:nvPr/>
          </p:nvSpPr>
          <p:spPr>
            <a:xfrm>
              <a:off x="0" y="0"/>
              <a:ext cx="7437120" cy="1097280"/>
            </a:xfrm>
            <a:custGeom>
              <a:rect b="b" l="l" r="r" t="t"/>
              <a:pathLst>
                <a:path extrusionOk="0" h="1097280" w="7437120">
                  <a:moveTo>
                    <a:pt x="0" y="0"/>
                  </a:moveTo>
                  <a:lnTo>
                    <a:pt x="7437120" y="0"/>
                  </a:lnTo>
                  <a:lnTo>
                    <a:pt x="7437120" y="1097280"/>
                  </a:lnTo>
                  <a:lnTo>
                    <a:pt x="0" y="1097280"/>
                  </a:lnTo>
                  <a:close/>
                </a:path>
              </a:pathLst>
            </a:custGeom>
            <a:blipFill rotWithShape="1">
              <a:blip r:embed="rId3">
                <a:alphaModFix amt="0"/>
              </a:blip>
              <a:stretch>
                <a:fillRect b="-82065" l="0" r="0" t="-82065"/>
              </a:stretch>
            </a:blipFill>
            <a:ln>
              <a:noFill/>
            </a:ln>
          </p:spPr>
        </p:sp>
        <p:sp>
          <p:nvSpPr>
            <p:cNvPr id="445" name="Google Shape;445;p17"/>
            <p:cNvSpPr txBox="1"/>
            <p:nvPr/>
          </p:nvSpPr>
          <p:spPr>
            <a:xfrm>
              <a:off x="0" y="-47625"/>
              <a:ext cx="7437120" cy="114490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 BRONZE  —  114.000 satır</a:t>
              </a:r>
              <a:endParaRPr/>
            </a:p>
          </p:txBody>
        </p:sp>
      </p:grpSp>
      <p:grpSp>
        <p:nvGrpSpPr>
          <p:cNvPr id="446" name="Google Shape;446;p17"/>
          <p:cNvGrpSpPr/>
          <p:nvPr/>
        </p:nvGrpSpPr>
        <p:grpSpPr>
          <a:xfrm>
            <a:off x="447675" y="2733675"/>
            <a:ext cx="5596890" cy="860298"/>
            <a:chOff x="0" y="0"/>
            <a:chExt cx="7462520" cy="1147064"/>
          </a:xfrm>
        </p:grpSpPr>
        <p:sp>
          <p:nvSpPr>
            <p:cNvPr id="447" name="Google Shape;447;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4F4F4"/>
            </a:solidFill>
            <a:ln>
              <a:noFill/>
            </a:ln>
          </p:spPr>
        </p:sp>
        <p:sp>
          <p:nvSpPr>
            <p:cNvPr id="448" name="Google Shape;448;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 name="Google Shape;449;p17"/>
          <p:cNvGrpSpPr/>
          <p:nvPr/>
        </p:nvGrpSpPr>
        <p:grpSpPr>
          <a:xfrm>
            <a:off x="640080" y="2769489"/>
            <a:ext cx="5212080" cy="760095"/>
            <a:chOff x="0" y="-38100"/>
            <a:chExt cx="6949440" cy="1013460"/>
          </a:xfrm>
        </p:grpSpPr>
        <p:sp>
          <p:nvSpPr>
            <p:cNvPr id="450" name="Google Shape;450;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451" name="Google Shape;451;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Ham veri — hiç işlenmeden yazıldı</a:t>
              </a:r>
              <a:endParaRPr/>
            </a:p>
          </p:txBody>
        </p:sp>
      </p:grpSp>
      <p:grpSp>
        <p:nvGrpSpPr>
          <p:cNvPr id="452" name="Google Shape;452;p17"/>
          <p:cNvGrpSpPr/>
          <p:nvPr/>
        </p:nvGrpSpPr>
        <p:grpSpPr>
          <a:xfrm>
            <a:off x="447675" y="3684651"/>
            <a:ext cx="5596890" cy="860298"/>
            <a:chOff x="0" y="0"/>
            <a:chExt cx="7462520" cy="1147064"/>
          </a:xfrm>
        </p:grpSpPr>
        <p:sp>
          <p:nvSpPr>
            <p:cNvPr id="453" name="Google Shape;453;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FFFFF"/>
            </a:solidFill>
            <a:ln>
              <a:noFill/>
            </a:ln>
          </p:spPr>
        </p:sp>
        <p:sp>
          <p:nvSpPr>
            <p:cNvPr id="454" name="Google Shape;454;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 name="Google Shape;455;p17"/>
          <p:cNvGrpSpPr/>
          <p:nvPr/>
        </p:nvGrpSpPr>
        <p:grpSpPr>
          <a:xfrm>
            <a:off x="640080" y="3720465"/>
            <a:ext cx="5212080" cy="760095"/>
            <a:chOff x="0" y="-38100"/>
            <a:chExt cx="6949440" cy="1013460"/>
          </a:xfrm>
        </p:grpSpPr>
        <p:sp>
          <p:nvSpPr>
            <p:cNvPr id="456" name="Google Shape;456;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457" name="Google Shape;457;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Kafka'dan streaming ile okundu</a:t>
              </a:r>
              <a:endParaRPr/>
            </a:p>
          </p:txBody>
        </p:sp>
      </p:grpSp>
      <p:grpSp>
        <p:nvGrpSpPr>
          <p:cNvPr id="458" name="Google Shape;458;p17"/>
          <p:cNvGrpSpPr/>
          <p:nvPr/>
        </p:nvGrpSpPr>
        <p:grpSpPr>
          <a:xfrm>
            <a:off x="447675" y="4635627"/>
            <a:ext cx="5596890" cy="860298"/>
            <a:chOff x="0" y="0"/>
            <a:chExt cx="7462520" cy="1147064"/>
          </a:xfrm>
        </p:grpSpPr>
        <p:sp>
          <p:nvSpPr>
            <p:cNvPr id="459" name="Google Shape;459;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4F4F4"/>
            </a:solidFill>
            <a:ln>
              <a:noFill/>
            </a:ln>
          </p:spPr>
        </p:sp>
        <p:sp>
          <p:nvSpPr>
            <p:cNvPr id="460" name="Google Shape;460;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 name="Google Shape;461;p17"/>
          <p:cNvGrpSpPr/>
          <p:nvPr/>
        </p:nvGrpSpPr>
        <p:grpSpPr>
          <a:xfrm>
            <a:off x="640080" y="4671441"/>
            <a:ext cx="5212080" cy="760095"/>
            <a:chOff x="0" y="-38100"/>
            <a:chExt cx="6949440" cy="1013460"/>
          </a:xfrm>
        </p:grpSpPr>
        <p:sp>
          <p:nvSpPr>
            <p:cNvPr id="462" name="Google Shape;462;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463" name="Google Shape;463;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kafka_timestamp her satıra eklendi</a:t>
              </a:r>
              <a:endParaRPr/>
            </a:p>
          </p:txBody>
        </p:sp>
      </p:grpSp>
      <p:grpSp>
        <p:nvGrpSpPr>
          <p:cNvPr id="464" name="Google Shape;464;p17"/>
          <p:cNvGrpSpPr/>
          <p:nvPr/>
        </p:nvGrpSpPr>
        <p:grpSpPr>
          <a:xfrm>
            <a:off x="447675" y="5586603"/>
            <a:ext cx="5596890" cy="860298"/>
            <a:chOff x="0" y="0"/>
            <a:chExt cx="7462520" cy="1147064"/>
          </a:xfrm>
        </p:grpSpPr>
        <p:sp>
          <p:nvSpPr>
            <p:cNvPr id="465" name="Google Shape;465;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FFFFF"/>
            </a:solidFill>
            <a:ln>
              <a:noFill/>
            </a:ln>
          </p:spPr>
        </p:sp>
        <p:sp>
          <p:nvSpPr>
            <p:cNvPr id="466" name="Google Shape;466;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 name="Google Shape;467;p17"/>
          <p:cNvGrpSpPr/>
          <p:nvPr/>
        </p:nvGrpSpPr>
        <p:grpSpPr>
          <a:xfrm>
            <a:off x="640080" y="5622417"/>
            <a:ext cx="5212080" cy="760095"/>
            <a:chOff x="0" y="-38100"/>
            <a:chExt cx="6949440" cy="1013460"/>
          </a:xfrm>
        </p:grpSpPr>
        <p:sp>
          <p:nvSpPr>
            <p:cNvPr id="468" name="Google Shape;468;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469" name="Google Shape;469;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trigger(30sn) ile Delta dosyaları optimize edildi</a:t>
              </a:r>
              <a:endParaRPr/>
            </a:p>
          </p:txBody>
        </p:sp>
      </p:grpSp>
      <p:grpSp>
        <p:nvGrpSpPr>
          <p:cNvPr id="470" name="Google Shape;470;p17"/>
          <p:cNvGrpSpPr/>
          <p:nvPr/>
        </p:nvGrpSpPr>
        <p:grpSpPr>
          <a:xfrm>
            <a:off x="6388103" y="1816103"/>
            <a:ext cx="5603176" cy="848298"/>
            <a:chOff x="0" y="0"/>
            <a:chExt cx="7470901" cy="1131064"/>
          </a:xfrm>
        </p:grpSpPr>
        <p:sp>
          <p:nvSpPr>
            <p:cNvPr id="471" name="Google Shape;471;p17"/>
            <p:cNvSpPr/>
            <p:nvPr/>
          </p:nvSpPr>
          <p:spPr>
            <a:xfrm>
              <a:off x="16891" y="16891"/>
              <a:ext cx="7437120" cy="1097280"/>
            </a:xfrm>
            <a:custGeom>
              <a:rect b="b" l="l" r="r" t="t"/>
              <a:pathLst>
                <a:path extrusionOk="0" h="1097280" w="7437120">
                  <a:moveTo>
                    <a:pt x="0" y="0"/>
                  </a:moveTo>
                  <a:lnTo>
                    <a:pt x="7437120" y="0"/>
                  </a:lnTo>
                  <a:lnTo>
                    <a:pt x="7437120" y="1097280"/>
                  </a:lnTo>
                  <a:lnTo>
                    <a:pt x="0" y="1097280"/>
                  </a:lnTo>
                  <a:close/>
                </a:path>
              </a:pathLst>
            </a:custGeom>
            <a:solidFill>
              <a:srgbClr val="A8A8A8"/>
            </a:solidFill>
            <a:ln>
              <a:noFill/>
            </a:ln>
          </p:spPr>
        </p:sp>
        <p:sp>
          <p:nvSpPr>
            <p:cNvPr id="472" name="Google Shape;472;p17"/>
            <p:cNvSpPr/>
            <p:nvPr/>
          </p:nvSpPr>
          <p:spPr>
            <a:xfrm>
              <a:off x="0" y="0"/>
              <a:ext cx="7470901" cy="1131064"/>
            </a:xfrm>
            <a:custGeom>
              <a:rect b="b" l="l" r="r" t="t"/>
              <a:pathLst>
                <a:path extrusionOk="0" h="1131064" w="7470901">
                  <a:moveTo>
                    <a:pt x="16891" y="0"/>
                  </a:moveTo>
                  <a:lnTo>
                    <a:pt x="7454011" y="0"/>
                  </a:lnTo>
                  <a:cubicBezTo>
                    <a:pt x="7463409" y="0"/>
                    <a:pt x="7470901" y="7620"/>
                    <a:pt x="7470901" y="16891"/>
                  </a:cubicBezTo>
                  <a:lnTo>
                    <a:pt x="7470901" y="1114171"/>
                  </a:lnTo>
                  <a:cubicBezTo>
                    <a:pt x="7470901" y="1123569"/>
                    <a:pt x="7463282" y="1131062"/>
                    <a:pt x="74540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454011" y="1097280"/>
                  </a:lnTo>
                  <a:lnTo>
                    <a:pt x="7454011" y="1114171"/>
                  </a:lnTo>
                  <a:lnTo>
                    <a:pt x="7437120" y="1114171"/>
                  </a:lnTo>
                  <a:lnTo>
                    <a:pt x="7437120" y="16891"/>
                  </a:lnTo>
                  <a:lnTo>
                    <a:pt x="7454011" y="16891"/>
                  </a:lnTo>
                  <a:lnTo>
                    <a:pt x="7454011" y="33909"/>
                  </a:lnTo>
                  <a:lnTo>
                    <a:pt x="16891" y="33909"/>
                  </a:lnTo>
                  <a:close/>
                </a:path>
              </a:pathLst>
            </a:custGeom>
            <a:solidFill>
              <a:srgbClr val="A8A8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 name="Google Shape;473;p17"/>
          <p:cNvGrpSpPr/>
          <p:nvPr/>
        </p:nvGrpSpPr>
        <p:grpSpPr>
          <a:xfrm>
            <a:off x="6400800" y="1793081"/>
            <a:ext cx="5577840" cy="858679"/>
            <a:chOff x="0" y="-47625"/>
            <a:chExt cx="7437120" cy="1144905"/>
          </a:xfrm>
        </p:grpSpPr>
        <p:sp>
          <p:nvSpPr>
            <p:cNvPr id="474" name="Google Shape;474;p17"/>
            <p:cNvSpPr/>
            <p:nvPr/>
          </p:nvSpPr>
          <p:spPr>
            <a:xfrm>
              <a:off x="0" y="0"/>
              <a:ext cx="7437120" cy="1097280"/>
            </a:xfrm>
            <a:custGeom>
              <a:rect b="b" l="l" r="r" t="t"/>
              <a:pathLst>
                <a:path extrusionOk="0" h="1097280" w="7437120">
                  <a:moveTo>
                    <a:pt x="0" y="0"/>
                  </a:moveTo>
                  <a:lnTo>
                    <a:pt x="7437120" y="0"/>
                  </a:lnTo>
                  <a:lnTo>
                    <a:pt x="7437120" y="1097280"/>
                  </a:lnTo>
                  <a:lnTo>
                    <a:pt x="0" y="1097280"/>
                  </a:lnTo>
                  <a:close/>
                </a:path>
              </a:pathLst>
            </a:custGeom>
            <a:blipFill rotWithShape="1">
              <a:blip r:embed="rId3">
                <a:alphaModFix amt="0"/>
              </a:blip>
              <a:stretch>
                <a:fillRect b="-82065" l="0" r="0" t="-82065"/>
              </a:stretch>
            </a:blipFill>
            <a:ln>
              <a:noFill/>
            </a:ln>
          </p:spPr>
        </p:sp>
        <p:sp>
          <p:nvSpPr>
            <p:cNvPr id="475" name="Google Shape;475;p17"/>
            <p:cNvSpPr txBox="1"/>
            <p:nvPr/>
          </p:nvSpPr>
          <p:spPr>
            <a:xfrm>
              <a:off x="0" y="-47625"/>
              <a:ext cx="7437120" cy="114490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 SILVER  —  89.740 satır</a:t>
              </a:r>
              <a:endParaRPr/>
            </a:p>
          </p:txBody>
        </p:sp>
      </p:grpSp>
      <p:grpSp>
        <p:nvGrpSpPr>
          <p:cNvPr id="476" name="Google Shape;476;p17"/>
          <p:cNvGrpSpPr/>
          <p:nvPr/>
        </p:nvGrpSpPr>
        <p:grpSpPr>
          <a:xfrm>
            <a:off x="6391275" y="2733675"/>
            <a:ext cx="5596890" cy="860298"/>
            <a:chOff x="0" y="0"/>
            <a:chExt cx="7462520" cy="1147064"/>
          </a:xfrm>
        </p:grpSpPr>
        <p:sp>
          <p:nvSpPr>
            <p:cNvPr id="477" name="Google Shape;477;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4F4F4"/>
            </a:solidFill>
            <a:ln>
              <a:noFill/>
            </a:ln>
          </p:spPr>
        </p:sp>
        <p:sp>
          <p:nvSpPr>
            <p:cNvPr id="478" name="Google Shape;478;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17"/>
          <p:cNvGrpSpPr/>
          <p:nvPr/>
        </p:nvGrpSpPr>
        <p:grpSpPr>
          <a:xfrm>
            <a:off x="6583680" y="2769489"/>
            <a:ext cx="5212080" cy="760095"/>
            <a:chOff x="0" y="-38100"/>
            <a:chExt cx="6949440" cy="1013460"/>
          </a:xfrm>
        </p:grpSpPr>
        <p:sp>
          <p:nvSpPr>
            <p:cNvPr id="480" name="Google Shape;480;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481" name="Google Shape;481;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dropna() — tüm kolonlar null kontrolü</a:t>
              </a:r>
              <a:endParaRPr/>
            </a:p>
          </p:txBody>
        </p:sp>
      </p:grpSp>
      <p:grpSp>
        <p:nvGrpSpPr>
          <p:cNvPr id="482" name="Google Shape;482;p17"/>
          <p:cNvGrpSpPr/>
          <p:nvPr/>
        </p:nvGrpSpPr>
        <p:grpSpPr>
          <a:xfrm>
            <a:off x="6391275" y="3684651"/>
            <a:ext cx="5596890" cy="860298"/>
            <a:chOff x="0" y="0"/>
            <a:chExt cx="7462520" cy="1147064"/>
          </a:xfrm>
        </p:grpSpPr>
        <p:sp>
          <p:nvSpPr>
            <p:cNvPr id="483" name="Google Shape;483;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FFFFF"/>
            </a:solidFill>
            <a:ln>
              <a:noFill/>
            </a:ln>
          </p:spPr>
        </p:sp>
        <p:sp>
          <p:nvSpPr>
            <p:cNvPr id="484" name="Google Shape;484;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 name="Google Shape;485;p17"/>
          <p:cNvGrpSpPr/>
          <p:nvPr/>
        </p:nvGrpSpPr>
        <p:grpSpPr>
          <a:xfrm>
            <a:off x="6583680" y="3720465"/>
            <a:ext cx="5212080" cy="760095"/>
            <a:chOff x="0" y="-38100"/>
            <a:chExt cx="6949440" cy="1013460"/>
          </a:xfrm>
        </p:grpSpPr>
        <p:sp>
          <p:nvSpPr>
            <p:cNvPr id="486" name="Google Shape;486;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487" name="Google Shape;487;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dropDuplicates(track_id) — 24.260 kirli kayıt silindi</a:t>
              </a:r>
              <a:endParaRPr/>
            </a:p>
          </p:txBody>
        </p:sp>
      </p:grpSp>
      <p:grpSp>
        <p:nvGrpSpPr>
          <p:cNvPr id="488" name="Google Shape;488;p17"/>
          <p:cNvGrpSpPr/>
          <p:nvPr/>
        </p:nvGrpSpPr>
        <p:grpSpPr>
          <a:xfrm>
            <a:off x="6391275" y="4635627"/>
            <a:ext cx="5596890" cy="860298"/>
            <a:chOff x="0" y="0"/>
            <a:chExt cx="7462520" cy="1147064"/>
          </a:xfrm>
        </p:grpSpPr>
        <p:sp>
          <p:nvSpPr>
            <p:cNvPr id="489" name="Google Shape;489;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4F4F4"/>
            </a:solidFill>
            <a:ln>
              <a:noFill/>
            </a:ln>
          </p:spPr>
        </p:sp>
        <p:sp>
          <p:nvSpPr>
            <p:cNvPr id="490" name="Google Shape;490;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17"/>
          <p:cNvGrpSpPr/>
          <p:nvPr/>
        </p:nvGrpSpPr>
        <p:grpSpPr>
          <a:xfrm>
            <a:off x="6583680" y="4671441"/>
            <a:ext cx="5212080" cy="760095"/>
            <a:chOff x="0" y="-38100"/>
            <a:chExt cx="6949440" cy="1013460"/>
          </a:xfrm>
        </p:grpSpPr>
        <p:sp>
          <p:nvSpPr>
            <p:cNvPr id="492" name="Google Shape;492;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493" name="Google Shape;493;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Popularity filtresi: 0-100 aralığı</a:t>
              </a:r>
              <a:endParaRPr/>
            </a:p>
          </p:txBody>
        </p:sp>
      </p:grpSp>
      <p:grpSp>
        <p:nvGrpSpPr>
          <p:cNvPr id="494" name="Google Shape;494;p17"/>
          <p:cNvGrpSpPr/>
          <p:nvPr/>
        </p:nvGrpSpPr>
        <p:grpSpPr>
          <a:xfrm>
            <a:off x="6391275" y="5586603"/>
            <a:ext cx="5596890" cy="860298"/>
            <a:chOff x="0" y="0"/>
            <a:chExt cx="7462520" cy="1147064"/>
          </a:xfrm>
        </p:grpSpPr>
        <p:sp>
          <p:nvSpPr>
            <p:cNvPr id="495" name="Google Shape;495;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FFFFF"/>
            </a:solidFill>
            <a:ln>
              <a:noFill/>
            </a:ln>
          </p:spPr>
        </p:sp>
        <p:sp>
          <p:nvSpPr>
            <p:cNvPr id="496" name="Google Shape;496;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 name="Google Shape;497;p17"/>
          <p:cNvGrpSpPr/>
          <p:nvPr/>
        </p:nvGrpSpPr>
        <p:grpSpPr>
          <a:xfrm>
            <a:off x="6583680" y="5622417"/>
            <a:ext cx="5212080" cy="760095"/>
            <a:chOff x="0" y="-38100"/>
            <a:chExt cx="6949440" cy="1013460"/>
          </a:xfrm>
        </p:grpSpPr>
        <p:sp>
          <p:nvSpPr>
            <p:cNvPr id="498" name="Google Shape;498;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499" name="Google Shape;499;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explicit: 'True'/'False' → 1/0 dönüşümü</a:t>
              </a:r>
              <a:endParaRPr/>
            </a:p>
          </p:txBody>
        </p:sp>
      </p:grpSp>
      <p:grpSp>
        <p:nvGrpSpPr>
          <p:cNvPr id="500" name="Google Shape;500;p17"/>
          <p:cNvGrpSpPr/>
          <p:nvPr/>
        </p:nvGrpSpPr>
        <p:grpSpPr>
          <a:xfrm>
            <a:off x="12331703" y="1816103"/>
            <a:ext cx="5603176" cy="848298"/>
            <a:chOff x="0" y="0"/>
            <a:chExt cx="7470901" cy="1131064"/>
          </a:xfrm>
        </p:grpSpPr>
        <p:sp>
          <p:nvSpPr>
            <p:cNvPr id="501" name="Google Shape;501;p17"/>
            <p:cNvSpPr/>
            <p:nvPr/>
          </p:nvSpPr>
          <p:spPr>
            <a:xfrm>
              <a:off x="16891" y="16891"/>
              <a:ext cx="7437120" cy="1097280"/>
            </a:xfrm>
            <a:custGeom>
              <a:rect b="b" l="l" r="r" t="t"/>
              <a:pathLst>
                <a:path extrusionOk="0" h="1097280" w="7437120">
                  <a:moveTo>
                    <a:pt x="0" y="0"/>
                  </a:moveTo>
                  <a:lnTo>
                    <a:pt x="7437120" y="0"/>
                  </a:lnTo>
                  <a:lnTo>
                    <a:pt x="7437120" y="1097280"/>
                  </a:lnTo>
                  <a:lnTo>
                    <a:pt x="0" y="1097280"/>
                  </a:lnTo>
                  <a:close/>
                </a:path>
              </a:pathLst>
            </a:custGeom>
            <a:solidFill>
              <a:srgbClr val="D4AF37"/>
            </a:solidFill>
            <a:ln>
              <a:noFill/>
            </a:ln>
          </p:spPr>
        </p:sp>
        <p:sp>
          <p:nvSpPr>
            <p:cNvPr id="502" name="Google Shape;502;p17"/>
            <p:cNvSpPr/>
            <p:nvPr/>
          </p:nvSpPr>
          <p:spPr>
            <a:xfrm>
              <a:off x="0" y="0"/>
              <a:ext cx="7470901" cy="1131064"/>
            </a:xfrm>
            <a:custGeom>
              <a:rect b="b" l="l" r="r" t="t"/>
              <a:pathLst>
                <a:path extrusionOk="0" h="1131064" w="7470901">
                  <a:moveTo>
                    <a:pt x="16891" y="0"/>
                  </a:moveTo>
                  <a:lnTo>
                    <a:pt x="7454011" y="0"/>
                  </a:lnTo>
                  <a:cubicBezTo>
                    <a:pt x="7463409" y="0"/>
                    <a:pt x="7470901" y="7620"/>
                    <a:pt x="7470901" y="16891"/>
                  </a:cubicBezTo>
                  <a:lnTo>
                    <a:pt x="7470901" y="1114171"/>
                  </a:lnTo>
                  <a:cubicBezTo>
                    <a:pt x="7470901" y="1123569"/>
                    <a:pt x="7463282" y="1131062"/>
                    <a:pt x="745401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454011" y="1097280"/>
                  </a:lnTo>
                  <a:lnTo>
                    <a:pt x="7454011" y="1114171"/>
                  </a:lnTo>
                  <a:lnTo>
                    <a:pt x="7437120" y="1114171"/>
                  </a:lnTo>
                  <a:lnTo>
                    <a:pt x="7437120" y="16891"/>
                  </a:lnTo>
                  <a:lnTo>
                    <a:pt x="7454011" y="16891"/>
                  </a:lnTo>
                  <a:lnTo>
                    <a:pt x="7454011" y="33909"/>
                  </a:lnTo>
                  <a:lnTo>
                    <a:pt x="16891" y="33909"/>
                  </a:lnTo>
                  <a:close/>
                </a:path>
              </a:pathLst>
            </a:custGeom>
            <a:solidFill>
              <a:srgbClr val="D4AF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 name="Google Shape;503;p17"/>
          <p:cNvGrpSpPr/>
          <p:nvPr/>
        </p:nvGrpSpPr>
        <p:grpSpPr>
          <a:xfrm>
            <a:off x="12344400" y="1793081"/>
            <a:ext cx="5577840" cy="858679"/>
            <a:chOff x="0" y="-47625"/>
            <a:chExt cx="7437120" cy="1144905"/>
          </a:xfrm>
        </p:grpSpPr>
        <p:sp>
          <p:nvSpPr>
            <p:cNvPr id="504" name="Google Shape;504;p17"/>
            <p:cNvSpPr/>
            <p:nvPr/>
          </p:nvSpPr>
          <p:spPr>
            <a:xfrm>
              <a:off x="0" y="0"/>
              <a:ext cx="7437120" cy="1097280"/>
            </a:xfrm>
            <a:custGeom>
              <a:rect b="b" l="l" r="r" t="t"/>
              <a:pathLst>
                <a:path extrusionOk="0" h="1097280" w="7437120">
                  <a:moveTo>
                    <a:pt x="0" y="0"/>
                  </a:moveTo>
                  <a:lnTo>
                    <a:pt x="7437120" y="0"/>
                  </a:lnTo>
                  <a:lnTo>
                    <a:pt x="7437120" y="1097280"/>
                  </a:lnTo>
                  <a:lnTo>
                    <a:pt x="0" y="1097280"/>
                  </a:lnTo>
                  <a:close/>
                </a:path>
              </a:pathLst>
            </a:custGeom>
            <a:blipFill rotWithShape="1">
              <a:blip r:embed="rId3">
                <a:alphaModFix amt="0"/>
              </a:blip>
              <a:stretch>
                <a:fillRect b="-82065" l="0" r="0" t="-82065"/>
              </a:stretch>
            </a:blipFill>
            <a:ln>
              <a:noFill/>
            </a:ln>
          </p:spPr>
        </p:sp>
        <p:sp>
          <p:nvSpPr>
            <p:cNvPr id="505" name="Google Shape;505;p17"/>
            <p:cNvSpPr txBox="1"/>
            <p:nvPr/>
          </p:nvSpPr>
          <p:spPr>
            <a:xfrm>
              <a:off x="0" y="-47625"/>
              <a:ext cx="7437120" cy="114490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 GOLD  —  113 tür özeti</a:t>
              </a:r>
              <a:endParaRPr/>
            </a:p>
          </p:txBody>
        </p:sp>
      </p:grpSp>
      <p:grpSp>
        <p:nvGrpSpPr>
          <p:cNvPr id="506" name="Google Shape;506;p17"/>
          <p:cNvGrpSpPr/>
          <p:nvPr/>
        </p:nvGrpSpPr>
        <p:grpSpPr>
          <a:xfrm>
            <a:off x="12334875" y="2733675"/>
            <a:ext cx="5596890" cy="860298"/>
            <a:chOff x="0" y="0"/>
            <a:chExt cx="7462520" cy="1147064"/>
          </a:xfrm>
        </p:grpSpPr>
        <p:sp>
          <p:nvSpPr>
            <p:cNvPr id="507" name="Google Shape;507;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4F4F4"/>
            </a:solidFill>
            <a:ln>
              <a:noFill/>
            </a:ln>
          </p:spPr>
        </p:sp>
        <p:sp>
          <p:nvSpPr>
            <p:cNvPr id="508" name="Google Shape;508;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 name="Google Shape;509;p17"/>
          <p:cNvGrpSpPr/>
          <p:nvPr/>
        </p:nvGrpSpPr>
        <p:grpSpPr>
          <a:xfrm>
            <a:off x="12527280" y="2769489"/>
            <a:ext cx="5212080" cy="760095"/>
            <a:chOff x="0" y="-38100"/>
            <a:chExt cx="6949440" cy="1013460"/>
          </a:xfrm>
        </p:grpSpPr>
        <p:sp>
          <p:nvSpPr>
            <p:cNvPr id="510" name="Google Shape;510;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511" name="Google Shape;511;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Tür bazında gruplama</a:t>
              </a:r>
              <a:endParaRPr/>
            </a:p>
          </p:txBody>
        </p:sp>
      </p:grpSp>
      <p:grpSp>
        <p:nvGrpSpPr>
          <p:cNvPr id="512" name="Google Shape;512;p17"/>
          <p:cNvGrpSpPr/>
          <p:nvPr/>
        </p:nvGrpSpPr>
        <p:grpSpPr>
          <a:xfrm>
            <a:off x="12334875" y="3684651"/>
            <a:ext cx="5596890" cy="860298"/>
            <a:chOff x="0" y="0"/>
            <a:chExt cx="7462520" cy="1147064"/>
          </a:xfrm>
        </p:grpSpPr>
        <p:sp>
          <p:nvSpPr>
            <p:cNvPr id="513" name="Google Shape;513;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FFFFF"/>
            </a:solidFill>
            <a:ln>
              <a:noFill/>
            </a:ln>
          </p:spPr>
        </p:sp>
        <p:sp>
          <p:nvSpPr>
            <p:cNvPr id="514" name="Google Shape;514;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 name="Google Shape;515;p17"/>
          <p:cNvGrpSpPr/>
          <p:nvPr/>
        </p:nvGrpSpPr>
        <p:grpSpPr>
          <a:xfrm>
            <a:off x="12527280" y="3720465"/>
            <a:ext cx="5212080" cy="760095"/>
            <a:chOff x="0" y="-38100"/>
            <a:chExt cx="6949440" cy="1013460"/>
          </a:xfrm>
        </p:grpSpPr>
        <p:sp>
          <p:nvSpPr>
            <p:cNvPr id="516" name="Google Shape;516;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517" name="Google Shape;517;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Ort. popularity, danceability, energy</a:t>
              </a:r>
              <a:endParaRPr/>
            </a:p>
          </p:txBody>
        </p:sp>
      </p:grpSp>
      <p:grpSp>
        <p:nvGrpSpPr>
          <p:cNvPr id="518" name="Google Shape;518;p17"/>
          <p:cNvGrpSpPr/>
          <p:nvPr/>
        </p:nvGrpSpPr>
        <p:grpSpPr>
          <a:xfrm>
            <a:off x="12334875" y="4635627"/>
            <a:ext cx="5596890" cy="860298"/>
            <a:chOff x="0" y="0"/>
            <a:chExt cx="7462520" cy="1147064"/>
          </a:xfrm>
        </p:grpSpPr>
        <p:sp>
          <p:nvSpPr>
            <p:cNvPr id="519" name="Google Shape;519;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4F4F4"/>
            </a:solidFill>
            <a:ln>
              <a:noFill/>
            </a:ln>
          </p:spPr>
        </p:sp>
        <p:sp>
          <p:nvSpPr>
            <p:cNvPr id="520" name="Google Shape;520;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 name="Google Shape;521;p17"/>
          <p:cNvGrpSpPr/>
          <p:nvPr/>
        </p:nvGrpSpPr>
        <p:grpSpPr>
          <a:xfrm>
            <a:off x="12527280" y="4671441"/>
            <a:ext cx="5212080" cy="760095"/>
            <a:chOff x="0" y="-38100"/>
            <a:chExt cx="6949440" cy="1013460"/>
          </a:xfrm>
        </p:grpSpPr>
        <p:sp>
          <p:nvSpPr>
            <p:cNvPr id="522" name="Google Shape;522;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523" name="Google Shape;523;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Ort. tempo, loudness, valence</a:t>
              </a:r>
              <a:endParaRPr/>
            </a:p>
          </p:txBody>
        </p:sp>
      </p:grpSp>
      <p:grpSp>
        <p:nvGrpSpPr>
          <p:cNvPr id="524" name="Google Shape;524;p17"/>
          <p:cNvGrpSpPr/>
          <p:nvPr/>
        </p:nvGrpSpPr>
        <p:grpSpPr>
          <a:xfrm>
            <a:off x="12334875" y="5586603"/>
            <a:ext cx="5596890" cy="860298"/>
            <a:chOff x="0" y="0"/>
            <a:chExt cx="7462520" cy="1147064"/>
          </a:xfrm>
        </p:grpSpPr>
        <p:sp>
          <p:nvSpPr>
            <p:cNvPr id="525" name="Google Shape;525;p17"/>
            <p:cNvSpPr/>
            <p:nvPr/>
          </p:nvSpPr>
          <p:spPr>
            <a:xfrm>
              <a:off x="12700" y="12700"/>
              <a:ext cx="7437120" cy="1121664"/>
            </a:xfrm>
            <a:custGeom>
              <a:rect b="b" l="l" r="r" t="t"/>
              <a:pathLst>
                <a:path extrusionOk="0" h="1121664" w="7437120">
                  <a:moveTo>
                    <a:pt x="0" y="0"/>
                  </a:moveTo>
                  <a:lnTo>
                    <a:pt x="7437120" y="0"/>
                  </a:lnTo>
                  <a:lnTo>
                    <a:pt x="7437120" y="1121664"/>
                  </a:lnTo>
                  <a:lnTo>
                    <a:pt x="0" y="1121664"/>
                  </a:lnTo>
                  <a:close/>
                </a:path>
              </a:pathLst>
            </a:custGeom>
            <a:solidFill>
              <a:srgbClr val="FFFFFF"/>
            </a:solidFill>
            <a:ln>
              <a:noFill/>
            </a:ln>
          </p:spPr>
        </p:sp>
        <p:sp>
          <p:nvSpPr>
            <p:cNvPr id="526" name="Google Shape;526;p17"/>
            <p:cNvSpPr/>
            <p:nvPr/>
          </p:nvSpPr>
          <p:spPr>
            <a:xfrm>
              <a:off x="0" y="0"/>
              <a:ext cx="7462520" cy="1147064"/>
            </a:xfrm>
            <a:custGeom>
              <a:rect b="b" l="l" r="r" t="t"/>
              <a:pathLst>
                <a:path extrusionOk="0" h="1147064" w="7462520">
                  <a:moveTo>
                    <a:pt x="12700" y="0"/>
                  </a:moveTo>
                  <a:lnTo>
                    <a:pt x="7449820" y="0"/>
                  </a:lnTo>
                  <a:cubicBezTo>
                    <a:pt x="7456805" y="0"/>
                    <a:pt x="7462520" y="5715"/>
                    <a:pt x="7462520" y="12700"/>
                  </a:cubicBezTo>
                  <a:lnTo>
                    <a:pt x="7462520" y="1134364"/>
                  </a:lnTo>
                  <a:cubicBezTo>
                    <a:pt x="7462520" y="1141349"/>
                    <a:pt x="7456805" y="1147064"/>
                    <a:pt x="7449820" y="1147064"/>
                  </a:cubicBezTo>
                  <a:lnTo>
                    <a:pt x="12700" y="1147064"/>
                  </a:lnTo>
                  <a:cubicBezTo>
                    <a:pt x="5715" y="1147064"/>
                    <a:pt x="0" y="1141349"/>
                    <a:pt x="0" y="1134364"/>
                  </a:cubicBezTo>
                  <a:lnTo>
                    <a:pt x="0" y="12700"/>
                  </a:lnTo>
                  <a:cubicBezTo>
                    <a:pt x="0" y="5715"/>
                    <a:pt x="5715" y="0"/>
                    <a:pt x="12700" y="0"/>
                  </a:cubicBezTo>
                  <a:moveTo>
                    <a:pt x="12700" y="25400"/>
                  </a:moveTo>
                  <a:lnTo>
                    <a:pt x="12700" y="12700"/>
                  </a:lnTo>
                  <a:lnTo>
                    <a:pt x="25400" y="12700"/>
                  </a:lnTo>
                  <a:lnTo>
                    <a:pt x="25400" y="1134364"/>
                  </a:lnTo>
                  <a:lnTo>
                    <a:pt x="12700" y="1134364"/>
                  </a:lnTo>
                  <a:lnTo>
                    <a:pt x="12700" y="1121664"/>
                  </a:lnTo>
                  <a:lnTo>
                    <a:pt x="7449820" y="1121664"/>
                  </a:lnTo>
                  <a:lnTo>
                    <a:pt x="7449820" y="1134364"/>
                  </a:lnTo>
                  <a:lnTo>
                    <a:pt x="7437120" y="1134364"/>
                  </a:lnTo>
                  <a:lnTo>
                    <a:pt x="7437120" y="12700"/>
                  </a:lnTo>
                  <a:lnTo>
                    <a:pt x="7449820" y="12700"/>
                  </a:lnTo>
                  <a:lnTo>
                    <a:pt x="744982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 name="Google Shape;527;p17"/>
          <p:cNvGrpSpPr/>
          <p:nvPr/>
        </p:nvGrpSpPr>
        <p:grpSpPr>
          <a:xfrm>
            <a:off x="12527280" y="5622417"/>
            <a:ext cx="5212080" cy="760095"/>
            <a:chOff x="0" y="-38100"/>
            <a:chExt cx="6949440" cy="1013460"/>
          </a:xfrm>
        </p:grpSpPr>
        <p:sp>
          <p:nvSpPr>
            <p:cNvPr id="528" name="Google Shape;528;p17"/>
            <p:cNvSpPr/>
            <p:nvPr/>
          </p:nvSpPr>
          <p:spPr>
            <a:xfrm>
              <a:off x="0" y="0"/>
              <a:ext cx="6949440" cy="975360"/>
            </a:xfrm>
            <a:custGeom>
              <a:rect b="b" l="l" r="r" t="t"/>
              <a:pathLst>
                <a:path extrusionOk="0" h="975360" w="6949440">
                  <a:moveTo>
                    <a:pt x="0" y="0"/>
                  </a:moveTo>
                  <a:lnTo>
                    <a:pt x="6949440" y="0"/>
                  </a:lnTo>
                  <a:lnTo>
                    <a:pt x="6949440" y="975360"/>
                  </a:lnTo>
                  <a:lnTo>
                    <a:pt x="0" y="975360"/>
                  </a:lnTo>
                  <a:close/>
                </a:path>
              </a:pathLst>
            </a:custGeom>
            <a:blipFill rotWithShape="1">
              <a:blip r:embed="rId3">
                <a:alphaModFix amt="0"/>
              </a:blip>
              <a:stretch>
                <a:fillRect b="-88827" l="0" r="0" t="-88827"/>
              </a:stretch>
            </a:blipFill>
            <a:ln>
              <a:noFill/>
            </a:ln>
          </p:spPr>
        </p:sp>
        <p:sp>
          <p:nvSpPr>
            <p:cNvPr id="529" name="Google Shape;529;p17"/>
            <p:cNvSpPr txBox="1"/>
            <p:nvPr/>
          </p:nvSpPr>
          <p:spPr>
            <a:xfrm>
              <a:off x="0" y="-38100"/>
              <a:ext cx="694944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 ML için özet istatistikler</a:t>
              </a:r>
              <a:endParaRPr/>
            </a:p>
          </p:txBody>
        </p:sp>
      </p:grpSp>
      <p:grpSp>
        <p:nvGrpSpPr>
          <p:cNvPr id="530" name="Google Shape;530;p17"/>
          <p:cNvGrpSpPr/>
          <p:nvPr/>
        </p:nvGrpSpPr>
        <p:grpSpPr>
          <a:xfrm>
            <a:off x="444503" y="6570983"/>
            <a:ext cx="17398936" cy="903162"/>
            <a:chOff x="0" y="0"/>
            <a:chExt cx="23198582" cy="1204216"/>
          </a:xfrm>
        </p:grpSpPr>
        <p:sp>
          <p:nvSpPr>
            <p:cNvPr id="531" name="Google Shape;531;p17"/>
            <p:cNvSpPr/>
            <p:nvPr/>
          </p:nvSpPr>
          <p:spPr>
            <a:xfrm>
              <a:off x="16891" y="16891"/>
              <a:ext cx="23164799" cy="1170432"/>
            </a:xfrm>
            <a:custGeom>
              <a:rect b="b" l="l" r="r" t="t"/>
              <a:pathLst>
                <a:path extrusionOk="0" h="1170432" w="23164799">
                  <a:moveTo>
                    <a:pt x="0" y="0"/>
                  </a:moveTo>
                  <a:lnTo>
                    <a:pt x="23164799" y="0"/>
                  </a:lnTo>
                  <a:lnTo>
                    <a:pt x="23164799" y="1170432"/>
                  </a:lnTo>
                  <a:lnTo>
                    <a:pt x="0" y="1170432"/>
                  </a:lnTo>
                  <a:close/>
                </a:path>
              </a:pathLst>
            </a:custGeom>
            <a:solidFill>
              <a:srgbClr val="121212"/>
            </a:solidFill>
            <a:ln>
              <a:noFill/>
            </a:ln>
          </p:spPr>
        </p:sp>
        <p:sp>
          <p:nvSpPr>
            <p:cNvPr id="532" name="Google Shape;532;p17"/>
            <p:cNvSpPr/>
            <p:nvPr/>
          </p:nvSpPr>
          <p:spPr>
            <a:xfrm>
              <a:off x="0" y="0"/>
              <a:ext cx="23198582" cy="1204216"/>
            </a:xfrm>
            <a:custGeom>
              <a:rect b="b" l="l" r="r" t="t"/>
              <a:pathLst>
                <a:path extrusionOk="0" h="1204216" w="23198582">
                  <a:moveTo>
                    <a:pt x="16891" y="0"/>
                  </a:moveTo>
                  <a:lnTo>
                    <a:pt x="23181690" y="0"/>
                  </a:lnTo>
                  <a:cubicBezTo>
                    <a:pt x="23191090" y="0"/>
                    <a:pt x="23198582" y="7620"/>
                    <a:pt x="23198582" y="16891"/>
                  </a:cubicBezTo>
                  <a:lnTo>
                    <a:pt x="23198582" y="1187323"/>
                  </a:lnTo>
                  <a:cubicBezTo>
                    <a:pt x="23198582" y="1196721"/>
                    <a:pt x="23190963" y="1204214"/>
                    <a:pt x="23181690"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23181690" y="1170432"/>
                  </a:lnTo>
                  <a:lnTo>
                    <a:pt x="23181690" y="1187323"/>
                  </a:lnTo>
                  <a:lnTo>
                    <a:pt x="23164800" y="1187323"/>
                  </a:lnTo>
                  <a:lnTo>
                    <a:pt x="23164800" y="16891"/>
                  </a:lnTo>
                  <a:lnTo>
                    <a:pt x="23181690" y="16891"/>
                  </a:lnTo>
                  <a:lnTo>
                    <a:pt x="231816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 name="Google Shape;533;p17"/>
          <p:cNvGrpSpPr/>
          <p:nvPr/>
        </p:nvGrpSpPr>
        <p:grpSpPr>
          <a:xfrm>
            <a:off x="640080" y="6609969"/>
            <a:ext cx="17007840" cy="760095"/>
            <a:chOff x="0" y="-38100"/>
            <a:chExt cx="22677120" cy="1013460"/>
          </a:xfrm>
        </p:grpSpPr>
        <p:sp>
          <p:nvSpPr>
            <p:cNvPr id="534" name="Google Shape;534;p17"/>
            <p:cNvSpPr/>
            <p:nvPr/>
          </p:nvSpPr>
          <p:spPr>
            <a:xfrm>
              <a:off x="0" y="0"/>
              <a:ext cx="22677120" cy="975360"/>
            </a:xfrm>
            <a:custGeom>
              <a:rect b="b" l="l" r="r" t="t"/>
              <a:pathLst>
                <a:path extrusionOk="0" h="975360" w="22677120">
                  <a:moveTo>
                    <a:pt x="0" y="0"/>
                  </a:moveTo>
                  <a:lnTo>
                    <a:pt x="22677120" y="0"/>
                  </a:lnTo>
                  <a:lnTo>
                    <a:pt x="22677120" y="975360"/>
                  </a:lnTo>
                  <a:lnTo>
                    <a:pt x="0" y="975360"/>
                  </a:lnTo>
                  <a:close/>
                </a:path>
              </a:pathLst>
            </a:custGeom>
            <a:blipFill rotWithShape="1">
              <a:blip r:embed="rId3">
                <a:alphaModFix amt="0"/>
              </a:blip>
              <a:stretch>
                <a:fillRect b="-403063" l="0" r="0" t="-403063"/>
              </a:stretch>
            </a:blipFill>
            <a:ln>
              <a:noFill/>
            </a:ln>
          </p:spPr>
        </p:sp>
        <p:sp>
          <p:nvSpPr>
            <p:cNvPr id="535" name="Google Shape;535;p17"/>
            <p:cNvSpPr txBox="1"/>
            <p:nvPr/>
          </p:nvSpPr>
          <p:spPr>
            <a:xfrm>
              <a:off x="0" y="-38100"/>
              <a:ext cx="2267712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AAAAAA"/>
                  </a:solidFill>
                  <a:latin typeface="Calibri"/>
                  <a:ea typeface="Calibri"/>
                  <a:cs typeface="Calibri"/>
                  <a:sym typeface="Calibri"/>
                </a:rPr>
                <a:t>⚙️  Karşılaşılan Zorluklar:  Kafka JAR eksikliği (spark.jars.packages ile çözüldü)  •  Delta Lake versiyon uyumsuzluğu (pip paketi kaldırıldı)  •  Docker volume izin hatası (chown ile çözüldü)</a:t>
              </a:r>
              <a:endParaRPr/>
            </a:p>
          </p:txBody>
        </p:sp>
      </p:grpSp>
      <p:grpSp>
        <p:nvGrpSpPr>
          <p:cNvPr id="536" name="Google Shape;536;p17"/>
          <p:cNvGrpSpPr/>
          <p:nvPr/>
        </p:nvGrpSpPr>
        <p:grpSpPr>
          <a:xfrm>
            <a:off x="457200" y="7615809"/>
            <a:ext cx="17373600" cy="668655"/>
            <a:chOff x="0" y="-38100"/>
            <a:chExt cx="23164800" cy="891540"/>
          </a:xfrm>
        </p:grpSpPr>
        <p:sp>
          <p:nvSpPr>
            <p:cNvPr id="537" name="Google Shape;537;p17"/>
            <p:cNvSpPr/>
            <p:nvPr/>
          </p:nvSpPr>
          <p:spPr>
            <a:xfrm>
              <a:off x="0" y="0"/>
              <a:ext cx="23164800" cy="853440"/>
            </a:xfrm>
            <a:custGeom>
              <a:rect b="b" l="l" r="r" t="t"/>
              <a:pathLst>
                <a:path extrusionOk="0" h="853440" w="23164800">
                  <a:moveTo>
                    <a:pt x="0" y="0"/>
                  </a:moveTo>
                  <a:lnTo>
                    <a:pt x="23164800" y="0"/>
                  </a:lnTo>
                  <a:lnTo>
                    <a:pt x="23164800" y="853440"/>
                  </a:lnTo>
                  <a:lnTo>
                    <a:pt x="0" y="853440"/>
                  </a:lnTo>
                  <a:close/>
                </a:path>
              </a:pathLst>
            </a:custGeom>
            <a:blipFill rotWithShape="1">
              <a:blip r:embed="rId3">
                <a:alphaModFix amt="0"/>
              </a:blip>
              <a:stretch>
                <a:fillRect b="-478877" l="0" r="0" t="-478877"/>
              </a:stretch>
            </a:blipFill>
            <a:ln>
              <a:noFill/>
            </a:ln>
          </p:spPr>
        </p:sp>
        <p:sp>
          <p:nvSpPr>
            <p:cNvPr id="538" name="Google Shape;538;p17"/>
            <p:cNvSpPr txBox="1"/>
            <p:nvPr/>
          </p:nvSpPr>
          <p:spPr>
            <a:xfrm>
              <a:off x="0" y="-38100"/>
              <a:ext cx="2316480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000" u="none" cap="none" strike="noStrike">
                  <a:solidFill>
                    <a:srgbClr val="555555"/>
                  </a:solidFill>
                  <a:latin typeface="Calibri"/>
                  <a:ea typeface="Calibri"/>
                  <a:cs typeface="Calibri"/>
                  <a:sym typeface="Calibri"/>
                </a:rPr>
                <a:t>CSV ile Test → Kafka Entegrasyonu → Hata Ayıklama → Pipeline Doğrulama (CSV vs Kafka: 89.740 satır — %100 eşleşti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grpSp>
        <p:nvGrpSpPr>
          <p:cNvPr id="547" name="Google Shape;547;p18"/>
          <p:cNvGrpSpPr/>
          <p:nvPr/>
        </p:nvGrpSpPr>
        <p:grpSpPr>
          <a:xfrm>
            <a:off x="-12697" y="-12697"/>
            <a:ext cx="18313336" cy="1579816"/>
            <a:chOff x="0" y="0"/>
            <a:chExt cx="24417782" cy="2106422"/>
          </a:xfrm>
        </p:grpSpPr>
        <p:sp>
          <p:nvSpPr>
            <p:cNvPr id="548" name="Google Shape;548;p18"/>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549" name="Google Shape;549;p18"/>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 name="Google Shape;550;p18"/>
          <p:cNvGrpSpPr/>
          <p:nvPr/>
        </p:nvGrpSpPr>
        <p:grpSpPr>
          <a:xfrm>
            <a:off x="-12697" y="-12697"/>
            <a:ext cx="244792" cy="1579816"/>
            <a:chOff x="0" y="0"/>
            <a:chExt cx="326390" cy="2106422"/>
          </a:xfrm>
        </p:grpSpPr>
        <p:sp>
          <p:nvSpPr>
            <p:cNvPr id="551" name="Google Shape;551;p18"/>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552" name="Google Shape;552;p18"/>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18"/>
          <p:cNvGrpSpPr/>
          <p:nvPr/>
        </p:nvGrpSpPr>
        <p:grpSpPr>
          <a:xfrm>
            <a:off x="548640" y="89154"/>
            <a:ext cx="12801600" cy="880110"/>
            <a:chOff x="0" y="-76200"/>
            <a:chExt cx="17068800" cy="1173480"/>
          </a:xfrm>
        </p:grpSpPr>
        <p:sp>
          <p:nvSpPr>
            <p:cNvPr id="554" name="Google Shape;554;p18"/>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555" name="Google Shape;555;p18"/>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Keşifsel Veri Analizi (EDA)</a:t>
              </a:r>
              <a:endParaRPr/>
            </a:p>
          </p:txBody>
        </p:sp>
      </p:grpSp>
      <p:grpSp>
        <p:nvGrpSpPr>
          <p:cNvPr id="556" name="Google Shape;556;p18"/>
          <p:cNvGrpSpPr/>
          <p:nvPr/>
        </p:nvGrpSpPr>
        <p:grpSpPr>
          <a:xfrm>
            <a:off x="548640" y="915257"/>
            <a:ext cx="16459200" cy="547783"/>
            <a:chOff x="0" y="-47625"/>
            <a:chExt cx="21945600" cy="730377"/>
          </a:xfrm>
        </p:grpSpPr>
        <p:sp>
          <p:nvSpPr>
            <p:cNvPr id="557" name="Google Shape;557;p18"/>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558" name="Google Shape;558;p18"/>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Silver katmanındaki 89.740 şarkı üzerinde analiz yapıldı</a:t>
              </a:r>
              <a:endParaRPr/>
            </a:p>
          </p:txBody>
        </p:sp>
      </p:grpSp>
      <p:grpSp>
        <p:nvGrpSpPr>
          <p:cNvPr id="559" name="Google Shape;559;p18"/>
          <p:cNvGrpSpPr/>
          <p:nvPr/>
        </p:nvGrpSpPr>
        <p:grpSpPr>
          <a:xfrm>
            <a:off x="-12697" y="1541783"/>
            <a:ext cx="18313336" cy="98490"/>
            <a:chOff x="0" y="0"/>
            <a:chExt cx="24417782" cy="131320"/>
          </a:xfrm>
        </p:grpSpPr>
        <p:sp>
          <p:nvSpPr>
            <p:cNvPr id="560" name="Google Shape;560;p18"/>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561" name="Google Shape;561;p18"/>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8"/>
          <p:cNvGrpSpPr/>
          <p:nvPr/>
        </p:nvGrpSpPr>
        <p:grpSpPr>
          <a:xfrm>
            <a:off x="447675" y="1910715"/>
            <a:ext cx="5596890" cy="3128010"/>
            <a:chOff x="0" y="0"/>
            <a:chExt cx="7462520" cy="4170680"/>
          </a:xfrm>
        </p:grpSpPr>
        <p:sp>
          <p:nvSpPr>
            <p:cNvPr id="563" name="Google Shape;563;p18"/>
            <p:cNvSpPr/>
            <p:nvPr/>
          </p:nvSpPr>
          <p:spPr>
            <a:xfrm>
              <a:off x="12700" y="12700"/>
              <a:ext cx="7437120" cy="4145280"/>
            </a:xfrm>
            <a:custGeom>
              <a:rect b="b" l="l" r="r" t="t"/>
              <a:pathLst>
                <a:path extrusionOk="0" h="4145280" w="7437120">
                  <a:moveTo>
                    <a:pt x="0" y="0"/>
                  </a:moveTo>
                  <a:lnTo>
                    <a:pt x="7437120" y="0"/>
                  </a:lnTo>
                  <a:lnTo>
                    <a:pt x="7437120" y="4145280"/>
                  </a:lnTo>
                  <a:lnTo>
                    <a:pt x="0" y="4145280"/>
                  </a:lnTo>
                  <a:close/>
                </a:path>
              </a:pathLst>
            </a:custGeom>
            <a:solidFill>
              <a:srgbClr val="F4F4F4"/>
            </a:solidFill>
            <a:ln>
              <a:noFill/>
            </a:ln>
          </p:spPr>
        </p:sp>
        <p:sp>
          <p:nvSpPr>
            <p:cNvPr id="564" name="Google Shape;564;p18"/>
            <p:cNvSpPr/>
            <p:nvPr/>
          </p:nvSpPr>
          <p:spPr>
            <a:xfrm>
              <a:off x="0" y="0"/>
              <a:ext cx="7462520" cy="4170680"/>
            </a:xfrm>
            <a:custGeom>
              <a:rect b="b" l="l" r="r" t="t"/>
              <a:pathLst>
                <a:path extrusionOk="0" h="4170680" w="7462520">
                  <a:moveTo>
                    <a:pt x="12700" y="0"/>
                  </a:moveTo>
                  <a:lnTo>
                    <a:pt x="7449820" y="0"/>
                  </a:lnTo>
                  <a:cubicBezTo>
                    <a:pt x="7456805" y="0"/>
                    <a:pt x="7462520" y="5715"/>
                    <a:pt x="7462520" y="12700"/>
                  </a:cubicBezTo>
                  <a:lnTo>
                    <a:pt x="7462520" y="4157980"/>
                  </a:lnTo>
                  <a:cubicBezTo>
                    <a:pt x="7462520" y="4164965"/>
                    <a:pt x="7456805" y="4170680"/>
                    <a:pt x="7449820" y="4170680"/>
                  </a:cubicBezTo>
                  <a:lnTo>
                    <a:pt x="12700" y="4170680"/>
                  </a:lnTo>
                  <a:cubicBezTo>
                    <a:pt x="5715" y="4170680"/>
                    <a:pt x="0" y="4164965"/>
                    <a:pt x="0" y="4157980"/>
                  </a:cubicBezTo>
                  <a:lnTo>
                    <a:pt x="0" y="12700"/>
                  </a:lnTo>
                  <a:cubicBezTo>
                    <a:pt x="0" y="5715"/>
                    <a:pt x="5715" y="0"/>
                    <a:pt x="12700" y="0"/>
                  </a:cubicBezTo>
                  <a:moveTo>
                    <a:pt x="12700" y="25400"/>
                  </a:moveTo>
                  <a:lnTo>
                    <a:pt x="12700" y="12700"/>
                  </a:lnTo>
                  <a:lnTo>
                    <a:pt x="25400" y="12700"/>
                  </a:lnTo>
                  <a:lnTo>
                    <a:pt x="25400" y="4157980"/>
                  </a:lnTo>
                  <a:lnTo>
                    <a:pt x="12700" y="4157980"/>
                  </a:lnTo>
                  <a:lnTo>
                    <a:pt x="12700" y="4145280"/>
                  </a:lnTo>
                  <a:lnTo>
                    <a:pt x="7449820" y="4145280"/>
                  </a:lnTo>
                  <a:lnTo>
                    <a:pt x="7449820" y="4157980"/>
                  </a:lnTo>
                  <a:lnTo>
                    <a:pt x="7437120" y="4157980"/>
                  </a:lnTo>
                  <a:lnTo>
                    <a:pt x="7437120" y="12700"/>
                  </a:lnTo>
                  <a:lnTo>
                    <a:pt x="7449820" y="12700"/>
                  </a:lnTo>
                  <a:lnTo>
                    <a:pt x="744982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 name="Google Shape;565;p18"/>
          <p:cNvGrpSpPr/>
          <p:nvPr/>
        </p:nvGrpSpPr>
        <p:grpSpPr>
          <a:xfrm>
            <a:off x="444503" y="1907543"/>
            <a:ext cx="5603176" cy="720282"/>
            <a:chOff x="0" y="0"/>
            <a:chExt cx="7470901" cy="960376"/>
          </a:xfrm>
        </p:grpSpPr>
        <p:sp>
          <p:nvSpPr>
            <p:cNvPr id="566" name="Google Shape;566;p18"/>
            <p:cNvSpPr/>
            <p:nvPr/>
          </p:nvSpPr>
          <p:spPr>
            <a:xfrm>
              <a:off x="16891" y="16891"/>
              <a:ext cx="7437120" cy="926592"/>
            </a:xfrm>
            <a:custGeom>
              <a:rect b="b" l="l" r="r" t="t"/>
              <a:pathLst>
                <a:path extrusionOk="0" h="926592" w="7437120">
                  <a:moveTo>
                    <a:pt x="0" y="0"/>
                  </a:moveTo>
                  <a:lnTo>
                    <a:pt x="7437120" y="0"/>
                  </a:lnTo>
                  <a:lnTo>
                    <a:pt x="7437120" y="926592"/>
                  </a:lnTo>
                  <a:lnTo>
                    <a:pt x="0" y="926592"/>
                  </a:lnTo>
                  <a:close/>
                </a:path>
              </a:pathLst>
            </a:custGeom>
            <a:solidFill>
              <a:srgbClr val="121212"/>
            </a:solidFill>
            <a:ln>
              <a:noFill/>
            </a:ln>
          </p:spPr>
        </p:sp>
        <p:sp>
          <p:nvSpPr>
            <p:cNvPr id="567" name="Google Shape;567;p18"/>
            <p:cNvSpPr/>
            <p:nvPr/>
          </p:nvSpPr>
          <p:spPr>
            <a:xfrm>
              <a:off x="0" y="0"/>
              <a:ext cx="7470901" cy="960376"/>
            </a:xfrm>
            <a:custGeom>
              <a:rect b="b" l="l" r="r" t="t"/>
              <a:pathLst>
                <a:path extrusionOk="0" h="960376" w="7470901">
                  <a:moveTo>
                    <a:pt x="16891" y="0"/>
                  </a:moveTo>
                  <a:lnTo>
                    <a:pt x="7454011" y="0"/>
                  </a:lnTo>
                  <a:cubicBezTo>
                    <a:pt x="7463409" y="0"/>
                    <a:pt x="7470901" y="7620"/>
                    <a:pt x="7470901" y="16891"/>
                  </a:cubicBezTo>
                  <a:lnTo>
                    <a:pt x="7470901" y="943483"/>
                  </a:lnTo>
                  <a:cubicBezTo>
                    <a:pt x="7470901" y="952881"/>
                    <a:pt x="7463282" y="960374"/>
                    <a:pt x="745401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454011" y="926592"/>
                  </a:lnTo>
                  <a:lnTo>
                    <a:pt x="7454011" y="943483"/>
                  </a:lnTo>
                  <a:lnTo>
                    <a:pt x="7437120" y="943483"/>
                  </a:lnTo>
                  <a:lnTo>
                    <a:pt x="7437120" y="16891"/>
                  </a:lnTo>
                  <a:lnTo>
                    <a:pt x="7454011" y="16891"/>
                  </a:lnTo>
                  <a:lnTo>
                    <a:pt x="745401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 name="Google Shape;568;p18"/>
          <p:cNvGrpSpPr/>
          <p:nvPr/>
        </p:nvGrpSpPr>
        <p:grpSpPr>
          <a:xfrm>
            <a:off x="640080" y="1946529"/>
            <a:ext cx="5212080" cy="613791"/>
            <a:chOff x="0" y="-38100"/>
            <a:chExt cx="6949440" cy="818388"/>
          </a:xfrm>
        </p:grpSpPr>
        <p:sp>
          <p:nvSpPr>
            <p:cNvPr id="569" name="Google Shape;569;p18"/>
            <p:cNvSpPr/>
            <p:nvPr/>
          </p:nvSpPr>
          <p:spPr>
            <a:xfrm>
              <a:off x="0" y="0"/>
              <a:ext cx="6949440" cy="780288"/>
            </a:xfrm>
            <a:custGeom>
              <a:rect b="b" l="l" r="r" t="t"/>
              <a:pathLst>
                <a:path extrusionOk="0" h="780288" w="6949440">
                  <a:moveTo>
                    <a:pt x="0" y="0"/>
                  </a:moveTo>
                  <a:lnTo>
                    <a:pt x="6949440" y="0"/>
                  </a:lnTo>
                  <a:lnTo>
                    <a:pt x="6949440" y="780288"/>
                  </a:lnTo>
                  <a:lnTo>
                    <a:pt x="0" y="780288"/>
                  </a:lnTo>
                  <a:close/>
                </a:path>
              </a:pathLst>
            </a:custGeom>
            <a:blipFill rotWithShape="1">
              <a:blip r:embed="rId3">
                <a:alphaModFix amt="0"/>
              </a:blip>
              <a:stretch>
                <a:fillRect b="-123539" l="0" r="0" t="-123539"/>
              </a:stretch>
            </a:blipFill>
            <a:ln>
              <a:noFill/>
            </a:ln>
          </p:spPr>
        </p:sp>
        <p:sp>
          <p:nvSpPr>
            <p:cNvPr id="570" name="Google Shape;570;p18"/>
            <p:cNvSpPr txBox="1"/>
            <p:nvPr/>
          </p:nvSpPr>
          <p:spPr>
            <a:xfrm>
              <a:off x="0" y="-38100"/>
              <a:ext cx="6949440" cy="8183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Temel İstatistikler</a:t>
              </a:r>
              <a:endParaRPr/>
            </a:p>
          </p:txBody>
        </p:sp>
      </p:grpSp>
      <p:grpSp>
        <p:nvGrpSpPr>
          <p:cNvPr id="571" name="Google Shape;571;p18"/>
          <p:cNvGrpSpPr/>
          <p:nvPr/>
        </p:nvGrpSpPr>
        <p:grpSpPr>
          <a:xfrm>
            <a:off x="640080" y="2714625"/>
            <a:ext cx="5212080" cy="2223135"/>
            <a:chOff x="0" y="-38100"/>
            <a:chExt cx="6949440" cy="2964180"/>
          </a:xfrm>
        </p:grpSpPr>
        <p:sp>
          <p:nvSpPr>
            <p:cNvPr id="572" name="Google Shape;572;p18"/>
            <p:cNvSpPr/>
            <p:nvPr/>
          </p:nvSpPr>
          <p:spPr>
            <a:xfrm>
              <a:off x="0" y="0"/>
              <a:ext cx="6949440" cy="2926080"/>
            </a:xfrm>
            <a:custGeom>
              <a:rect b="b" l="l" r="r" t="t"/>
              <a:pathLst>
                <a:path extrusionOk="0" h="2926080" w="6949440">
                  <a:moveTo>
                    <a:pt x="0" y="0"/>
                  </a:moveTo>
                  <a:lnTo>
                    <a:pt x="6949440" y="0"/>
                  </a:lnTo>
                  <a:lnTo>
                    <a:pt x="6949440" y="2926080"/>
                  </a:lnTo>
                  <a:lnTo>
                    <a:pt x="0" y="2926080"/>
                  </a:lnTo>
                  <a:close/>
                </a:path>
              </a:pathLst>
            </a:custGeom>
            <a:blipFill rotWithShape="1">
              <a:blip r:embed="rId3">
                <a:alphaModFix amt="0"/>
              </a:blip>
              <a:stretch>
                <a:fillRect b="0" l="-4023" r="-4023" t="0"/>
              </a:stretch>
            </a:blipFill>
            <a:ln>
              <a:noFill/>
            </a:ln>
          </p:spPr>
        </p:sp>
        <p:sp>
          <p:nvSpPr>
            <p:cNvPr id="573" name="Google Shape;573;p18"/>
            <p:cNvSpPr txBox="1"/>
            <p:nvPr/>
          </p:nvSpPr>
          <p:spPr>
            <a:xfrm>
              <a:off x="0" y="-38100"/>
              <a:ext cx="6949440" cy="29641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89.740 satır  •  23 kolon  •  113 müzik türü</a:t>
              </a:r>
              <a:endParaRPr/>
            </a:p>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Popularity ort. 33.2 (min: 0, max: 100)</a:t>
              </a:r>
              <a:endParaRPr/>
            </a:p>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En popüler türler: k-pop, pop-film, metal</a:t>
              </a:r>
              <a:endParaRPr/>
            </a:p>
          </p:txBody>
        </p:sp>
      </p:grpSp>
      <p:grpSp>
        <p:nvGrpSpPr>
          <p:cNvPr id="574" name="Google Shape;574;p18"/>
          <p:cNvGrpSpPr/>
          <p:nvPr/>
        </p:nvGrpSpPr>
        <p:grpSpPr>
          <a:xfrm>
            <a:off x="6391275" y="1910715"/>
            <a:ext cx="5596890" cy="3128010"/>
            <a:chOff x="0" y="0"/>
            <a:chExt cx="7462520" cy="4170680"/>
          </a:xfrm>
        </p:grpSpPr>
        <p:sp>
          <p:nvSpPr>
            <p:cNvPr id="575" name="Google Shape;575;p18"/>
            <p:cNvSpPr/>
            <p:nvPr/>
          </p:nvSpPr>
          <p:spPr>
            <a:xfrm>
              <a:off x="12700" y="12700"/>
              <a:ext cx="7437120" cy="4145280"/>
            </a:xfrm>
            <a:custGeom>
              <a:rect b="b" l="l" r="r" t="t"/>
              <a:pathLst>
                <a:path extrusionOk="0" h="4145280" w="7437120">
                  <a:moveTo>
                    <a:pt x="0" y="0"/>
                  </a:moveTo>
                  <a:lnTo>
                    <a:pt x="7437120" y="0"/>
                  </a:lnTo>
                  <a:lnTo>
                    <a:pt x="7437120" y="4145280"/>
                  </a:lnTo>
                  <a:lnTo>
                    <a:pt x="0" y="4145280"/>
                  </a:lnTo>
                  <a:close/>
                </a:path>
              </a:pathLst>
            </a:custGeom>
            <a:solidFill>
              <a:srgbClr val="F4F4F4"/>
            </a:solidFill>
            <a:ln>
              <a:noFill/>
            </a:ln>
          </p:spPr>
        </p:sp>
        <p:sp>
          <p:nvSpPr>
            <p:cNvPr id="576" name="Google Shape;576;p18"/>
            <p:cNvSpPr/>
            <p:nvPr/>
          </p:nvSpPr>
          <p:spPr>
            <a:xfrm>
              <a:off x="0" y="0"/>
              <a:ext cx="7462520" cy="4170680"/>
            </a:xfrm>
            <a:custGeom>
              <a:rect b="b" l="l" r="r" t="t"/>
              <a:pathLst>
                <a:path extrusionOk="0" h="4170680" w="7462520">
                  <a:moveTo>
                    <a:pt x="12700" y="0"/>
                  </a:moveTo>
                  <a:lnTo>
                    <a:pt x="7449820" y="0"/>
                  </a:lnTo>
                  <a:cubicBezTo>
                    <a:pt x="7456805" y="0"/>
                    <a:pt x="7462520" y="5715"/>
                    <a:pt x="7462520" y="12700"/>
                  </a:cubicBezTo>
                  <a:lnTo>
                    <a:pt x="7462520" y="4157980"/>
                  </a:lnTo>
                  <a:cubicBezTo>
                    <a:pt x="7462520" y="4164965"/>
                    <a:pt x="7456805" y="4170680"/>
                    <a:pt x="7449820" y="4170680"/>
                  </a:cubicBezTo>
                  <a:lnTo>
                    <a:pt x="12700" y="4170680"/>
                  </a:lnTo>
                  <a:cubicBezTo>
                    <a:pt x="5715" y="4170680"/>
                    <a:pt x="0" y="4164965"/>
                    <a:pt x="0" y="4157980"/>
                  </a:cubicBezTo>
                  <a:lnTo>
                    <a:pt x="0" y="12700"/>
                  </a:lnTo>
                  <a:cubicBezTo>
                    <a:pt x="0" y="5715"/>
                    <a:pt x="5715" y="0"/>
                    <a:pt x="12700" y="0"/>
                  </a:cubicBezTo>
                  <a:moveTo>
                    <a:pt x="12700" y="25400"/>
                  </a:moveTo>
                  <a:lnTo>
                    <a:pt x="12700" y="12700"/>
                  </a:lnTo>
                  <a:lnTo>
                    <a:pt x="25400" y="12700"/>
                  </a:lnTo>
                  <a:lnTo>
                    <a:pt x="25400" y="4157980"/>
                  </a:lnTo>
                  <a:lnTo>
                    <a:pt x="12700" y="4157980"/>
                  </a:lnTo>
                  <a:lnTo>
                    <a:pt x="12700" y="4145280"/>
                  </a:lnTo>
                  <a:lnTo>
                    <a:pt x="7449820" y="4145280"/>
                  </a:lnTo>
                  <a:lnTo>
                    <a:pt x="7449820" y="4157980"/>
                  </a:lnTo>
                  <a:lnTo>
                    <a:pt x="7437120" y="4157980"/>
                  </a:lnTo>
                  <a:lnTo>
                    <a:pt x="7437120" y="12700"/>
                  </a:lnTo>
                  <a:lnTo>
                    <a:pt x="7449820" y="12700"/>
                  </a:lnTo>
                  <a:lnTo>
                    <a:pt x="744982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18"/>
          <p:cNvGrpSpPr/>
          <p:nvPr/>
        </p:nvGrpSpPr>
        <p:grpSpPr>
          <a:xfrm>
            <a:off x="6388103" y="1907543"/>
            <a:ext cx="5603176" cy="720282"/>
            <a:chOff x="0" y="0"/>
            <a:chExt cx="7470901" cy="960376"/>
          </a:xfrm>
        </p:grpSpPr>
        <p:sp>
          <p:nvSpPr>
            <p:cNvPr id="578" name="Google Shape;578;p18"/>
            <p:cNvSpPr/>
            <p:nvPr/>
          </p:nvSpPr>
          <p:spPr>
            <a:xfrm>
              <a:off x="16891" y="16891"/>
              <a:ext cx="7437120" cy="926592"/>
            </a:xfrm>
            <a:custGeom>
              <a:rect b="b" l="l" r="r" t="t"/>
              <a:pathLst>
                <a:path extrusionOk="0" h="926592" w="7437120">
                  <a:moveTo>
                    <a:pt x="0" y="0"/>
                  </a:moveTo>
                  <a:lnTo>
                    <a:pt x="7437120" y="0"/>
                  </a:lnTo>
                  <a:lnTo>
                    <a:pt x="7437120" y="926592"/>
                  </a:lnTo>
                  <a:lnTo>
                    <a:pt x="0" y="926592"/>
                  </a:lnTo>
                  <a:close/>
                </a:path>
              </a:pathLst>
            </a:custGeom>
            <a:solidFill>
              <a:srgbClr val="121212"/>
            </a:solidFill>
            <a:ln>
              <a:noFill/>
            </a:ln>
          </p:spPr>
        </p:sp>
        <p:sp>
          <p:nvSpPr>
            <p:cNvPr id="579" name="Google Shape;579;p18"/>
            <p:cNvSpPr/>
            <p:nvPr/>
          </p:nvSpPr>
          <p:spPr>
            <a:xfrm>
              <a:off x="0" y="0"/>
              <a:ext cx="7470901" cy="960376"/>
            </a:xfrm>
            <a:custGeom>
              <a:rect b="b" l="l" r="r" t="t"/>
              <a:pathLst>
                <a:path extrusionOk="0" h="960376" w="7470901">
                  <a:moveTo>
                    <a:pt x="16891" y="0"/>
                  </a:moveTo>
                  <a:lnTo>
                    <a:pt x="7454011" y="0"/>
                  </a:lnTo>
                  <a:cubicBezTo>
                    <a:pt x="7463409" y="0"/>
                    <a:pt x="7470901" y="7620"/>
                    <a:pt x="7470901" y="16891"/>
                  </a:cubicBezTo>
                  <a:lnTo>
                    <a:pt x="7470901" y="943483"/>
                  </a:lnTo>
                  <a:cubicBezTo>
                    <a:pt x="7470901" y="952881"/>
                    <a:pt x="7463282" y="960374"/>
                    <a:pt x="745401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454011" y="926592"/>
                  </a:lnTo>
                  <a:lnTo>
                    <a:pt x="7454011" y="943483"/>
                  </a:lnTo>
                  <a:lnTo>
                    <a:pt x="7437120" y="943483"/>
                  </a:lnTo>
                  <a:lnTo>
                    <a:pt x="7437120" y="16891"/>
                  </a:lnTo>
                  <a:lnTo>
                    <a:pt x="7454011" y="16891"/>
                  </a:lnTo>
                  <a:lnTo>
                    <a:pt x="745401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 name="Google Shape;580;p18"/>
          <p:cNvGrpSpPr/>
          <p:nvPr/>
        </p:nvGrpSpPr>
        <p:grpSpPr>
          <a:xfrm>
            <a:off x="6583680" y="1946529"/>
            <a:ext cx="5212080" cy="613791"/>
            <a:chOff x="0" y="-38100"/>
            <a:chExt cx="6949440" cy="818388"/>
          </a:xfrm>
        </p:grpSpPr>
        <p:sp>
          <p:nvSpPr>
            <p:cNvPr id="581" name="Google Shape;581;p18"/>
            <p:cNvSpPr/>
            <p:nvPr/>
          </p:nvSpPr>
          <p:spPr>
            <a:xfrm>
              <a:off x="0" y="0"/>
              <a:ext cx="6949440" cy="780288"/>
            </a:xfrm>
            <a:custGeom>
              <a:rect b="b" l="l" r="r" t="t"/>
              <a:pathLst>
                <a:path extrusionOk="0" h="780288" w="6949440">
                  <a:moveTo>
                    <a:pt x="0" y="0"/>
                  </a:moveTo>
                  <a:lnTo>
                    <a:pt x="6949440" y="0"/>
                  </a:lnTo>
                  <a:lnTo>
                    <a:pt x="6949440" y="780288"/>
                  </a:lnTo>
                  <a:lnTo>
                    <a:pt x="0" y="780288"/>
                  </a:lnTo>
                  <a:close/>
                </a:path>
              </a:pathLst>
            </a:custGeom>
            <a:blipFill rotWithShape="1">
              <a:blip r:embed="rId3">
                <a:alphaModFix amt="0"/>
              </a:blip>
              <a:stretch>
                <a:fillRect b="-123539" l="0" r="0" t="-123539"/>
              </a:stretch>
            </a:blipFill>
            <a:ln>
              <a:noFill/>
            </a:ln>
          </p:spPr>
        </p:sp>
        <p:sp>
          <p:nvSpPr>
            <p:cNvPr id="582" name="Google Shape;582;p18"/>
            <p:cNvSpPr txBox="1"/>
            <p:nvPr/>
          </p:nvSpPr>
          <p:spPr>
            <a:xfrm>
              <a:off x="0" y="-38100"/>
              <a:ext cx="6949440" cy="8183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Eksik Değer Analizi</a:t>
              </a:r>
              <a:endParaRPr/>
            </a:p>
          </p:txBody>
        </p:sp>
      </p:grpSp>
      <p:grpSp>
        <p:nvGrpSpPr>
          <p:cNvPr id="583" name="Google Shape;583;p18"/>
          <p:cNvGrpSpPr/>
          <p:nvPr/>
        </p:nvGrpSpPr>
        <p:grpSpPr>
          <a:xfrm>
            <a:off x="6583680" y="2714625"/>
            <a:ext cx="5212080" cy="2223135"/>
            <a:chOff x="0" y="-38100"/>
            <a:chExt cx="6949440" cy="2964180"/>
          </a:xfrm>
        </p:grpSpPr>
        <p:sp>
          <p:nvSpPr>
            <p:cNvPr id="584" name="Google Shape;584;p18"/>
            <p:cNvSpPr/>
            <p:nvPr/>
          </p:nvSpPr>
          <p:spPr>
            <a:xfrm>
              <a:off x="0" y="0"/>
              <a:ext cx="6949440" cy="2926080"/>
            </a:xfrm>
            <a:custGeom>
              <a:rect b="b" l="l" r="r" t="t"/>
              <a:pathLst>
                <a:path extrusionOk="0" h="2926080" w="6949440">
                  <a:moveTo>
                    <a:pt x="0" y="0"/>
                  </a:moveTo>
                  <a:lnTo>
                    <a:pt x="6949440" y="0"/>
                  </a:lnTo>
                  <a:lnTo>
                    <a:pt x="6949440" y="2926080"/>
                  </a:lnTo>
                  <a:lnTo>
                    <a:pt x="0" y="2926080"/>
                  </a:lnTo>
                  <a:close/>
                </a:path>
              </a:pathLst>
            </a:custGeom>
            <a:blipFill rotWithShape="1">
              <a:blip r:embed="rId3">
                <a:alphaModFix amt="0"/>
              </a:blip>
              <a:stretch>
                <a:fillRect b="0" l="-4023" r="-4023" t="0"/>
              </a:stretch>
            </a:blipFill>
            <a:ln>
              <a:noFill/>
            </a:ln>
          </p:spPr>
        </p:sp>
        <p:sp>
          <p:nvSpPr>
            <p:cNvPr id="585" name="Google Shape;585;p18"/>
            <p:cNvSpPr txBox="1"/>
            <p:nvPr/>
          </p:nvSpPr>
          <p:spPr>
            <a:xfrm>
              <a:off x="0" y="-38100"/>
              <a:ext cx="6949440" cy="29641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Hiçbir kolonda null/eksik değer bulunmadı.</a:t>
              </a:r>
              <a:endParaRPr/>
            </a:p>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tempo kolonunda 157 kayıt sıfır değerli (%0.17)</a:t>
              </a:r>
              <a:endParaRPr/>
            </a:p>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Model performansına etkisi ihmal edilebilir.</a:t>
              </a:r>
              <a:endParaRPr/>
            </a:p>
          </p:txBody>
        </p:sp>
      </p:grpSp>
      <p:grpSp>
        <p:nvGrpSpPr>
          <p:cNvPr id="586" name="Google Shape;586;p18"/>
          <p:cNvGrpSpPr/>
          <p:nvPr/>
        </p:nvGrpSpPr>
        <p:grpSpPr>
          <a:xfrm>
            <a:off x="12334875" y="1910715"/>
            <a:ext cx="5596890" cy="3128010"/>
            <a:chOff x="0" y="0"/>
            <a:chExt cx="7462520" cy="4170680"/>
          </a:xfrm>
        </p:grpSpPr>
        <p:sp>
          <p:nvSpPr>
            <p:cNvPr id="587" name="Google Shape;587;p18"/>
            <p:cNvSpPr/>
            <p:nvPr/>
          </p:nvSpPr>
          <p:spPr>
            <a:xfrm>
              <a:off x="12700" y="12700"/>
              <a:ext cx="7437120" cy="4145280"/>
            </a:xfrm>
            <a:custGeom>
              <a:rect b="b" l="l" r="r" t="t"/>
              <a:pathLst>
                <a:path extrusionOk="0" h="4145280" w="7437120">
                  <a:moveTo>
                    <a:pt x="0" y="0"/>
                  </a:moveTo>
                  <a:lnTo>
                    <a:pt x="7437120" y="0"/>
                  </a:lnTo>
                  <a:lnTo>
                    <a:pt x="7437120" y="4145280"/>
                  </a:lnTo>
                  <a:lnTo>
                    <a:pt x="0" y="4145280"/>
                  </a:lnTo>
                  <a:close/>
                </a:path>
              </a:pathLst>
            </a:custGeom>
            <a:solidFill>
              <a:srgbClr val="F4F4F4"/>
            </a:solidFill>
            <a:ln>
              <a:noFill/>
            </a:ln>
          </p:spPr>
        </p:sp>
        <p:sp>
          <p:nvSpPr>
            <p:cNvPr id="588" name="Google Shape;588;p18"/>
            <p:cNvSpPr/>
            <p:nvPr/>
          </p:nvSpPr>
          <p:spPr>
            <a:xfrm>
              <a:off x="0" y="0"/>
              <a:ext cx="7462520" cy="4170680"/>
            </a:xfrm>
            <a:custGeom>
              <a:rect b="b" l="l" r="r" t="t"/>
              <a:pathLst>
                <a:path extrusionOk="0" h="4170680" w="7462520">
                  <a:moveTo>
                    <a:pt x="12700" y="0"/>
                  </a:moveTo>
                  <a:lnTo>
                    <a:pt x="7449820" y="0"/>
                  </a:lnTo>
                  <a:cubicBezTo>
                    <a:pt x="7456805" y="0"/>
                    <a:pt x="7462520" y="5715"/>
                    <a:pt x="7462520" y="12700"/>
                  </a:cubicBezTo>
                  <a:lnTo>
                    <a:pt x="7462520" y="4157980"/>
                  </a:lnTo>
                  <a:cubicBezTo>
                    <a:pt x="7462520" y="4164965"/>
                    <a:pt x="7456805" y="4170680"/>
                    <a:pt x="7449820" y="4170680"/>
                  </a:cubicBezTo>
                  <a:lnTo>
                    <a:pt x="12700" y="4170680"/>
                  </a:lnTo>
                  <a:cubicBezTo>
                    <a:pt x="5715" y="4170680"/>
                    <a:pt x="0" y="4164965"/>
                    <a:pt x="0" y="4157980"/>
                  </a:cubicBezTo>
                  <a:lnTo>
                    <a:pt x="0" y="12700"/>
                  </a:lnTo>
                  <a:cubicBezTo>
                    <a:pt x="0" y="5715"/>
                    <a:pt x="5715" y="0"/>
                    <a:pt x="12700" y="0"/>
                  </a:cubicBezTo>
                  <a:moveTo>
                    <a:pt x="12700" y="25400"/>
                  </a:moveTo>
                  <a:lnTo>
                    <a:pt x="12700" y="12700"/>
                  </a:lnTo>
                  <a:lnTo>
                    <a:pt x="25400" y="12700"/>
                  </a:lnTo>
                  <a:lnTo>
                    <a:pt x="25400" y="4157980"/>
                  </a:lnTo>
                  <a:lnTo>
                    <a:pt x="12700" y="4157980"/>
                  </a:lnTo>
                  <a:lnTo>
                    <a:pt x="12700" y="4145280"/>
                  </a:lnTo>
                  <a:lnTo>
                    <a:pt x="7449820" y="4145280"/>
                  </a:lnTo>
                  <a:lnTo>
                    <a:pt x="7449820" y="4157980"/>
                  </a:lnTo>
                  <a:lnTo>
                    <a:pt x="7437120" y="4157980"/>
                  </a:lnTo>
                  <a:lnTo>
                    <a:pt x="7437120" y="12700"/>
                  </a:lnTo>
                  <a:lnTo>
                    <a:pt x="7449820" y="12700"/>
                  </a:lnTo>
                  <a:lnTo>
                    <a:pt x="7449820" y="25400"/>
                  </a:lnTo>
                  <a:lnTo>
                    <a:pt x="12700" y="2540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 name="Google Shape;589;p18"/>
          <p:cNvGrpSpPr/>
          <p:nvPr/>
        </p:nvGrpSpPr>
        <p:grpSpPr>
          <a:xfrm>
            <a:off x="12331703" y="1907543"/>
            <a:ext cx="5603176" cy="720282"/>
            <a:chOff x="0" y="0"/>
            <a:chExt cx="7470901" cy="960376"/>
          </a:xfrm>
        </p:grpSpPr>
        <p:sp>
          <p:nvSpPr>
            <p:cNvPr id="590" name="Google Shape;590;p18"/>
            <p:cNvSpPr/>
            <p:nvPr/>
          </p:nvSpPr>
          <p:spPr>
            <a:xfrm>
              <a:off x="16891" y="16891"/>
              <a:ext cx="7437120" cy="926592"/>
            </a:xfrm>
            <a:custGeom>
              <a:rect b="b" l="l" r="r" t="t"/>
              <a:pathLst>
                <a:path extrusionOk="0" h="926592" w="7437120">
                  <a:moveTo>
                    <a:pt x="0" y="0"/>
                  </a:moveTo>
                  <a:lnTo>
                    <a:pt x="7437120" y="0"/>
                  </a:lnTo>
                  <a:lnTo>
                    <a:pt x="7437120" y="926592"/>
                  </a:lnTo>
                  <a:lnTo>
                    <a:pt x="0" y="926592"/>
                  </a:lnTo>
                  <a:close/>
                </a:path>
              </a:pathLst>
            </a:custGeom>
            <a:solidFill>
              <a:srgbClr val="121212"/>
            </a:solidFill>
            <a:ln>
              <a:noFill/>
            </a:ln>
          </p:spPr>
        </p:sp>
        <p:sp>
          <p:nvSpPr>
            <p:cNvPr id="591" name="Google Shape;591;p18"/>
            <p:cNvSpPr/>
            <p:nvPr/>
          </p:nvSpPr>
          <p:spPr>
            <a:xfrm>
              <a:off x="0" y="0"/>
              <a:ext cx="7470901" cy="960376"/>
            </a:xfrm>
            <a:custGeom>
              <a:rect b="b" l="l" r="r" t="t"/>
              <a:pathLst>
                <a:path extrusionOk="0" h="960376" w="7470901">
                  <a:moveTo>
                    <a:pt x="16891" y="0"/>
                  </a:moveTo>
                  <a:lnTo>
                    <a:pt x="7454011" y="0"/>
                  </a:lnTo>
                  <a:cubicBezTo>
                    <a:pt x="7463409" y="0"/>
                    <a:pt x="7470901" y="7620"/>
                    <a:pt x="7470901" y="16891"/>
                  </a:cubicBezTo>
                  <a:lnTo>
                    <a:pt x="7470901" y="943483"/>
                  </a:lnTo>
                  <a:cubicBezTo>
                    <a:pt x="7470901" y="952881"/>
                    <a:pt x="7463282" y="960374"/>
                    <a:pt x="745401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454011" y="926592"/>
                  </a:lnTo>
                  <a:lnTo>
                    <a:pt x="7454011" y="943483"/>
                  </a:lnTo>
                  <a:lnTo>
                    <a:pt x="7437120" y="943483"/>
                  </a:lnTo>
                  <a:lnTo>
                    <a:pt x="7437120" y="16891"/>
                  </a:lnTo>
                  <a:lnTo>
                    <a:pt x="7454011" y="16891"/>
                  </a:lnTo>
                  <a:lnTo>
                    <a:pt x="7454011"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8"/>
          <p:cNvGrpSpPr/>
          <p:nvPr/>
        </p:nvGrpSpPr>
        <p:grpSpPr>
          <a:xfrm>
            <a:off x="12527280" y="1946529"/>
            <a:ext cx="5212080" cy="613791"/>
            <a:chOff x="0" y="-38100"/>
            <a:chExt cx="6949440" cy="818388"/>
          </a:xfrm>
        </p:grpSpPr>
        <p:sp>
          <p:nvSpPr>
            <p:cNvPr id="593" name="Google Shape;593;p18"/>
            <p:cNvSpPr/>
            <p:nvPr/>
          </p:nvSpPr>
          <p:spPr>
            <a:xfrm>
              <a:off x="0" y="0"/>
              <a:ext cx="6949440" cy="780288"/>
            </a:xfrm>
            <a:custGeom>
              <a:rect b="b" l="l" r="r" t="t"/>
              <a:pathLst>
                <a:path extrusionOk="0" h="780288" w="6949440">
                  <a:moveTo>
                    <a:pt x="0" y="0"/>
                  </a:moveTo>
                  <a:lnTo>
                    <a:pt x="6949440" y="0"/>
                  </a:lnTo>
                  <a:lnTo>
                    <a:pt x="6949440" y="780288"/>
                  </a:lnTo>
                  <a:lnTo>
                    <a:pt x="0" y="780288"/>
                  </a:lnTo>
                  <a:close/>
                </a:path>
              </a:pathLst>
            </a:custGeom>
            <a:blipFill rotWithShape="1">
              <a:blip r:embed="rId3">
                <a:alphaModFix amt="0"/>
              </a:blip>
              <a:stretch>
                <a:fillRect b="-123539" l="0" r="0" t="-123539"/>
              </a:stretch>
            </a:blipFill>
            <a:ln>
              <a:noFill/>
            </a:ln>
          </p:spPr>
        </p:sp>
        <p:sp>
          <p:nvSpPr>
            <p:cNvPr id="594" name="Google Shape;594;p18"/>
            <p:cNvSpPr txBox="1"/>
            <p:nvPr/>
          </p:nvSpPr>
          <p:spPr>
            <a:xfrm>
              <a:off x="0" y="-38100"/>
              <a:ext cx="6949440" cy="8183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Zaman Serisi Analizi</a:t>
              </a:r>
              <a:endParaRPr/>
            </a:p>
          </p:txBody>
        </p:sp>
      </p:grpSp>
      <p:grpSp>
        <p:nvGrpSpPr>
          <p:cNvPr id="595" name="Google Shape;595;p18"/>
          <p:cNvGrpSpPr/>
          <p:nvPr/>
        </p:nvGrpSpPr>
        <p:grpSpPr>
          <a:xfrm>
            <a:off x="12527280" y="2714625"/>
            <a:ext cx="5212080" cy="2223135"/>
            <a:chOff x="0" y="-38100"/>
            <a:chExt cx="6949440" cy="2964180"/>
          </a:xfrm>
        </p:grpSpPr>
        <p:sp>
          <p:nvSpPr>
            <p:cNvPr id="596" name="Google Shape;596;p18"/>
            <p:cNvSpPr/>
            <p:nvPr/>
          </p:nvSpPr>
          <p:spPr>
            <a:xfrm>
              <a:off x="0" y="0"/>
              <a:ext cx="6949440" cy="2926080"/>
            </a:xfrm>
            <a:custGeom>
              <a:rect b="b" l="l" r="r" t="t"/>
              <a:pathLst>
                <a:path extrusionOk="0" h="2926080" w="6949440">
                  <a:moveTo>
                    <a:pt x="0" y="0"/>
                  </a:moveTo>
                  <a:lnTo>
                    <a:pt x="6949440" y="0"/>
                  </a:lnTo>
                  <a:lnTo>
                    <a:pt x="6949440" y="2926080"/>
                  </a:lnTo>
                  <a:lnTo>
                    <a:pt x="0" y="2926080"/>
                  </a:lnTo>
                  <a:close/>
                </a:path>
              </a:pathLst>
            </a:custGeom>
            <a:blipFill rotWithShape="1">
              <a:blip r:embed="rId3">
                <a:alphaModFix amt="0"/>
              </a:blip>
              <a:stretch>
                <a:fillRect b="0" l="-4023" r="-4023" t="0"/>
              </a:stretch>
            </a:blipFill>
            <a:ln>
              <a:noFill/>
            </a:ln>
          </p:spPr>
        </p:sp>
        <p:sp>
          <p:nvSpPr>
            <p:cNvPr id="597" name="Google Shape;597;p18"/>
            <p:cNvSpPr txBox="1"/>
            <p:nvPr/>
          </p:nvSpPr>
          <p:spPr>
            <a:xfrm>
              <a:off x="0" y="-38100"/>
              <a:ext cx="6949440" cy="29641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Tüm veri saat 9'da tek Kafka oturumunda aktarıldı.</a:t>
              </a:r>
              <a:endParaRPr/>
            </a:p>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15–21. dakikalar en yoğun dilim:</a:t>
              </a:r>
              <a:endParaRPr/>
            </a:p>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~19.000 mesaj/dakika zirve hıza ulaşıldı.</a:t>
              </a:r>
              <a:endParaRPr/>
            </a:p>
          </p:txBody>
        </p:sp>
      </p:grpSp>
      <p:grpSp>
        <p:nvGrpSpPr>
          <p:cNvPr id="598" name="Google Shape;598;p18"/>
          <p:cNvGrpSpPr/>
          <p:nvPr/>
        </p:nvGrpSpPr>
        <p:grpSpPr>
          <a:xfrm>
            <a:off x="457200" y="5267801"/>
            <a:ext cx="16459200" cy="584359"/>
            <a:chOff x="0" y="-47625"/>
            <a:chExt cx="21945600" cy="779145"/>
          </a:xfrm>
        </p:grpSpPr>
        <p:sp>
          <p:nvSpPr>
            <p:cNvPr id="599" name="Google Shape;599;p18"/>
            <p:cNvSpPr/>
            <p:nvPr/>
          </p:nvSpPr>
          <p:spPr>
            <a:xfrm>
              <a:off x="0" y="0"/>
              <a:ext cx="21945600" cy="731520"/>
            </a:xfrm>
            <a:custGeom>
              <a:rect b="b" l="l" r="r" t="t"/>
              <a:pathLst>
                <a:path extrusionOk="0" h="731520" w="21945600">
                  <a:moveTo>
                    <a:pt x="0" y="0"/>
                  </a:moveTo>
                  <a:lnTo>
                    <a:pt x="21945600" y="0"/>
                  </a:lnTo>
                  <a:lnTo>
                    <a:pt x="21945600" y="731520"/>
                  </a:lnTo>
                  <a:lnTo>
                    <a:pt x="0" y="731520"/>
                  </a:lnTo>
                  <a:close/>
                </a:path>
              </a:pathLst>
            </a:custGeom>
            <a:blipFill rotWithShape="1">
              <a:blip r:embed="rId3">
                <a:alphaModFix amt="0"/>
              </a:blip>
              <a:stretch>
                <a:fillRect b="-534522" l="0" r="0" t="-534522"/>
              </a:stretch>
            </a:blipFill>
            <a:ln>
              <a:noFill/>
            </a:ln>
          </p:spPr>
        </p:sp>
        <p:sp>
          <p:nvSpPr>
            <p:cNvPr id="600" name="Google Shape;600;p18"/>
            <p:cNvSpPr txBox="1"/>
            <p:nvPr/>
          </p:nvSpPr>
          <p:spPr>
            <a:xfrm>
              <a:off x="0" y="-47625"/>
              <a:ext cx="2194560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21212"/>
                  </a:solidFill>
                  <a:latin typeface="Calibri"/>
                  <a:ea typeface="Calibri"/>
                  <a:cs typeface="Calibri"/>
                  <a:sym typeface="Calibri"/>
                </a:rPr>
                <a:t>🔎 En İlginç 3 EDA Bulgusu:</a:t>
              </a:r>
              <a:endParaRPr/>
            </a:p>
          </p:txBody>
        </p:sp>
      </p:grpSp>
      <p:grpSp>
        <p:nvGrpSpPr>
          <p:cNvPr id="601" name="Google Shape;601;p18"/>
          <p:cNvGrpSpPr/>
          <p:nvPr/>
        </p:nvGrpSpPr>
        <p:grpSpPr>
          <a:xfrm>
            <a:off x="447675" y="5970651"/>
            <a:ext cx="17392650" cy="713994"/>
            <a:chOff x="0" y="0"/>
            <a:chExt cx="23190200" cy="951992"/>
          </a:xfrm>
        </p:grpSpPr>
        <p:sp>
          <p:nvSpPr>
            <p:cNvPr id="602" name="Google Shape;602;p18"/>
            <p:cNvSpPr/>
            <p:nvPr/>
          </p:nvSpPr>
          <p:spPr>
            <a:xfrm>
              <a:off x="12700" y="12700"/>
              <a:ext cx="23164800" cy="926592"/>
            </a:xfrm>
            <a:custGeom>
              <a:rect b="b" l="l" r="r" t="t"/>
              <a:pathLst>
                <a:path extrusionOk="0" h="926592" w="23164800">
                  <a:moveTo>
                    <a:pt x="0" y="0"/>
                  </a:moveTo>
                  <a:lnTo>
                    <a:pt x="23164800" y="0"/>
                  </a:lnTo>
                  <a:lnTo>
                    <a:pt x="23164800" y="926592"/>
                  </a:lnTo>
                  <a:lnTo>
                    <a:pt x="0" y="926592"/>
                  </a:lnTo>
                  <a:close/>
                </a:path>
              </a:pathLst>
            </a:custGeom>
            <a:solidFill>
              <a:srgbClr val="F4F4F4"/>
            </a:solidFill>
            <a:ln>
              <a:noFill/>
            </a:ln>
          </p:spPr>
        </p:sp>
        <p:sp>
          <p:nvSpPr>
            <p:cNvPr id="603" name="Google Shape;603;p18"/>
            <p:cNvSpPr/>
            <p:nvPr/>
          </p:nvSpPr>
          <p:spPr>
            <a:xfrm>
              <a:off x="0" y="0"/>
              <a:ext cx="23190200" cy="951992"/>
            </a:xfrm>
            <a:custGeom>
              <a:rect b="b" l="l" r="r" t="t"/>
              <a:pathLst>
                <a:path extrusionOk="0" h="951992" w="23190200">
                  <a:moveTo>
                    <a:pt x="12700" y="0"/>
                  </a:moveTo>
                  <a:lnTo>
                    <a:pt x="23177500" y="0"/>
                  </a:lnTo>
                  <a:cubicBezTo>
                    <a:pt x="23184486" y="0"/>
                    <a:pt x="23190200" y="5715"/>
                    <a:pt x="23190200" y="12700"/>
                  </a:cubicBezTo>
                  <a:lnTo>
                    <a:pt x="23190200" y="939292"/>
                  </a:lnTo>
                  <a:cubicBezTo>
                    <a:pt x="23190200" y="946277"/>
                    <a:pt x="23184486" y="951992"/>
                    <a:pt x="23177500" y="951992"/>
                  </a:cubicBezTo>
                  <a:lnTo>
                    <a:pt x="12700" y="951992"/>
                  </a:lnTo>
                  <a:cubicBezTo>
                    <a:pt x="5715" y="951992"/>
                    <a:pt x="0" y="946277"/>
                    <a:pt x="0" y="939292"/>
                  </a:cubicBezTo>
                  <a:lnTo>
                    <a:pt x="0" y="12700"/>
                  </a:lnTo>
                  <a:cubicBezTo>
                    <a:pt x="0" y="5715"/>
                    <a:pt x="5715" y="0"/>
                    <a:pt x="12700" y="0"/>
                  </a:cubicBezTo>
                  <a:moveTo>
                    <a:pt x="12700" y="25400"/>
                  </a:moveTo>
                  <a:lnTo>
                    <a:pt x="12700" y="12700"/>
                  </a:lnTo>
                  <a:lnTo>
                    <a:pt x="25400" y="12700"/>
                  </a:lnTo>
                  <a:lnTo>
                    <a:pt x="25400" y="939292"/>
                  </a:lnTo>
                  <a:lnTo>
                    <a:pt x="12700" y="939292"/>
                  </a:lnTo>
                  <a:lnTo>
                    <a:pt x="12700" y="926592"/>
                  </a:lnTo>
                  <a:lnTo>
                    <a:pt x="23177500" y="926592"/>
                  </a:lnTo>
                  <a:lnTo>
                    <a:pt x="23177500" y="939292"/>
                  </a:lnTo>
                  <a:lnTo>
                    <a:pt x="23164800" y="939292"/>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 name="Google Shape;604;p18"/>
          <p:cNvGrpSpPr/>
          <p:nvPr/>
        </p:nvGrpSpPr>
        <p:grpSpPr>
          <a:xfrm>
            <a:off x="640080" y="6006465"/>
            <a:ext cx="17007840" cy="577215"/>
            <a:chOff x="0" y="-38100"/>
            <a:chExt cx="22677120" cy="769620"/>
          </a:xfrm>
        </p:grpSpPr>
        <p:sp>
          <p:nvSpPr>
            <p:cNvPr id="605" name="Google Shape;605;p18"/>
            <p:cNvSpPr/>
            <p:nvPr/>
          </p:nvSpPr>
          <p:spPr>
            <a:xfrm>
              <a:off x="0" y="0"/>
              <a:ext cx="22677120" cy="731520"/>
            </a:xfrm>
            <a:custGeom>
              <a:rect b="b" l="l" r="r" t="t"/>
              <a:pathLst>
                <a:path extrusionOk="0" h="731520" w="22677120">
                  <a:moveTo>
                    <a:pt x="0" y="0"/>
                  </a:moveTo>
                  <a:lnTo>
                    <a:pt x="22677120" y="0"/>
                  </a:lnTo>
                  <a:lnTo>
                    <a:pt x="22677120" y="731520"/>
                  </a:lnTo>
                  <a:lnTo>
                    <a:pt x="0" y="731520"/>
                  </a:lnTo>
                  <a:close/>
                </a:path>
              </a:pathLst>
            </a:custGeom>
            <a:blipFill rotWithShape="1">
              <a:blip r:embed="rId3">
                <a:alphaModFix amt="0"/>
              </a:blip>
              <a:stretch>
                <a:fillRect b="-554011" l="0" r="0" t="-554011"/>
              </a:stretch>
            </a:blipFill>
            <a:ln>
              <a:noFill/>
            </a:ln>
          </p:spPr>
        </p:sp>
        <p:sp>
          <p:nvSpPr>
            <p:cNvPr id="606" name="Google Shape;606;p18"/>
            <p:cNvSpPr txBox="1"/>
            <p:nvPr/>
          </p:nvSpPr>
          <p:spPr>
            <a:xfrm>
              <a:off x="0" y="-38100"/>
              <a:ext cx="22677120" cy="7696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Hip-hop, speechiness değeriyle tüm türlerden belirgin şekilde ayrışıyor → güçlü ayırt edici özellik</a:t>
              </a:r>
              <a:endParaRPr/>
            </a:p>
          </p:txBody>
        </p:sp>
      </p:grpSp>
      <p:grpSp>
        <p:nvGrpSpPr>
          <p:cNvPr id="607" name="Google Shape;607;p18"/>
          <p:cNvGrpSpPr/>
          <p:nvPr/>
        </p:nvGrpSpPr>
        <p:grpSpPr>
          <a:xfrm>
            <a:off x="447675" y="6793611"/>
            <a:ext cx="17392650" cy="713994"/>
            <a:chOff x="0" y="0"/>
            <a:chExt cx="23190200" cy="951992"/>
          </a:xfrm>
        </p:grpSpPr>
        <p:sp>
          <p:nvSpPr>
            <p:cNvPr id="608" name="Google Shape;608;p18"/>
            <p:cNvSpPr/>
            <p:nvPr/>
          </p:nvSpPr>
          <p:spPr>
            <a:xfrm>
              <a:off x="12700" y="12700"/>
              <a:ext cx="23164800" cy="926592"/>
            </a:xfrm>
            <a:custGeom>
              <a:rect b="b" l="l" r="r" t="t"/>
              <a:pathLst>
                <a:path extrusionOk="0" h="926592" w="23164800">
                  <a:moveTo>
                    <a:pt x="0" y="0"/>
                  </a:moveTo>
                  <a:lnTo>
                    <a:pt x="23164800" y="0"/>
                  </a:lnTo>
                  <a:lnTo>
                    <a:pt x="23164800" y="926592"/>
                  </a:lnTo>
                  <a:lnTo>
                    <a:pt x="0" y="926592"/>
                  </a:lnTo>
                  <a:close/>
                </a:path>
              </a:pathLst>
            </a:custGeom>
            <a:solidFill>
              <a:srgbClr val="FFFFFF"/>
            </a:solidFill>
            <a:ln>
              <a:noFill/>
            </a:ln>
          </p:spPr>
        </p:sp>
        <p:sp>
          <p:nvSpPr>
            <p:cNvPr id="609" name="Google Shape;609;p18"/>
            <p:cNvSpPr/>
            <p:nvPr/>
          </p:nvSpPr>
          <p:spPr>
            <a:xfrm>
              <a:off x="0" y="0"/>
              <a:ext cx="23190200" cy="951992"/>
            </a:xfrm>
            <a:custGeom>
              <a:rect b="b" l="l" r="r" t="t"/>
              <a:pathLst>
                <a:path extrusionOk="0" h="951992" w="23190200">
                  <a:moveTo>
                    <a:pt x="12700" y="0"/>
                  </a:moveTo>
                  <a:lnTo>
                    <a:pt x="23177500" y="0"/>
                  </a:lnTo>
                  <a:cubicBezTo>
                    <a:pt x="23184486" y="0"/>
                    <a:pt x="23190200" y="5715"/>
                    <a:pt x="23190200" y="12700"/>
                  </a:cubicBezTo>
                  <a:lnTo>
                    <a:pt x="23190200" y="939292"/>
                  </a:lnTo>
                  <a:cubicBezTo>
                    <a:pt x="23190200" y="946277"/>
                    <a:pt x="23184486" y="951992"/>
                    <a:pt x="23177500" y="951992"/>
                  </a:cubicBezTo>
                  <a:lnTo>
                    <a:pt x="12700" y="951992"/>
                  </a:lnTo>
                  <a:cubicBezTo>
                    <a:pt x="5715" y="951992"/>
                    <a:pt x="0" y="946277"/>
                    <a:pt x="0" y="939292"/>
                  </a:cubicBezTo>
                  <a:lnTo>
                    <a:pt x="0" y="12700"/>
                  </a:lnTo>
                  <a:cubicBezTo>
                    <a:pt x="0" y="5715"/>
                    <a:pt x="5715" y="0"/>
                    <a:pt x="12700" y="0"/>
                  </a:cubicBezTo>
                  <a:moveTo>
                    <a:pt x="12700" y="25400"/>
                  </a:moveTo>
                  <a:lnTo>
                    <a:pt x="12700" y="12700"/>
                  </a:lnTo>
                  <a:lnTo>
                    <a:pt x="25400" y="12700"/>
                  </a:lnTo>
                  <a:lnTo>
                    <a:pt x="25400" y="939292"/>
                  </a:lnTo>
                  <a:lnTo>
                    <a:pt x="12700" y="939292"/>
                  </a:lnTo>
                  <a:lnTo>
                    <a:pt x="12700" y="926592"/>
                  </a:lnTo>
                  <a:lnTo>
                    <a:pt x="23177500" y="926592"/>
                  </a:lnTo>
                  <a:lnTo>
                    <a:pt x="23177500" y="939292"/>
                  </a:lnTo>
                  <a:lnTo>
                    <a:pt x="23164800" y="939292"/>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 name="Google Shape;610;p18"/>
          <p:cNvGrpSpPr/>
          <p:nvPr/>
        </p:nvGrpSpPr>
        <p:grpSpPr>
          <a:xfrm>
            <a:off x="640080" y="6829425"/>
            <a:ext cx="17007840" cy="577215"/>
            <a:chOff x="0" y="-38100"/>
            <a:chExt cx="22677120" cy="769620"/>
          </a:xfrm>
        </p:grpSpPr>
        <p:sp>
          <p:nvSpPr>
            <p:cNvPr id="611" name="Google Shape;611;p18"/>
            <p:cNvSpPr/>
            <p:nvPr/>
          </p:nvSpPr>
          <p:spPr>
            <a:xfrm>
              <a:off x="0" y="0"/>
              <a:ext cx="22677120" cy="731520"/>
            </a:xfrm>
            <a:custGeom>
              <a:rect b="b" l="l" r="r" t="t"/>
              <a:pathLst>
                <a:path extrusionOk="0" h="731520" w="22677120">
                  <a:moveTo>
                    <a:pt x="0" y="0"/>
                  </a:moveTo>
                  <a:lnTo>
                    <a:pt x="22677120" y="0"/>
                  </a:lnTo>
                  <a:lnTo>
                    <a:pt x="22677120" y="731520"/>
                  </a:lnTo>
                  <a:lnTo>
                    <a:pt x="0" y="731520"/>
                  </a:lnTo>
                  <a:close/>
                </a:path>
              </a:pathLst>
            </a:custGeom>
            <a:blipFill rotWithShape="1">
              <a:blip r:embed="rId3">
                <a:alphaModFix amt="0"/>
              </a:blip>
              <a:stretch>
                <a:fillRect b="-554011" l="0" r="0" t="-554011"/>
              </a:stretch>
            </a:blipFill>
            <a:ln>
              <a:noFill/>
            </a:ln>
          </p:spPr>
        </p:sp>
        <p:sp>
          <p:nvSpPr>
            <p:cNvPr id="612" name="Google Shape;612;p18"/>
            <p:cNvSpPr txBox="1"/>
            <p:nvPr/>
          </p:nvSpPr>
          <p:spPr>
            <a:xfrm>
              <a:off x="0" y="-38100"/>
              <a:ext cx="22677120" cy="7696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Energy–Loudness korelasyonu çok yüksek (r = 0.76). Popularity ise hiçbir değişkenle güçlü korelasyon göstermiyor.</a:t>
              </a:r>
              <a:endParaRPr/>
            </a:p>
          </p:txBody>
        </p:sp>
      </p:grpSp>
      <p:grpSp>
        <p:nvGrpSpPr>
          <p:cNvPr id="613" name="Google Shape;613;p18"/>
          <p:cNvGrpSpPr/>
          <p:nvPr/>
        </p:nvGrpSpPr>
        <p:grpSpPr>
          <a:xfrm>
            <a:off x="447675" y="7616571"/>
            <a:ext cx="17392650" cy="713994"/>
            <a:chOff x="0" y="0"/>
            <a:chExt cx="23190200" cy="951992"/>
          </a:xfrm>
        </p:grpSpPr>
        <p:sp>
          <p:nvSpPr>
            <p:cNvPr id="614" name="Google Shape;614;p18"/>
            <p:cNvSpPr/>
            <p:nvPr/>
          </p:nvSpPr>
          <p:spPr>
            <a:xfrm>
              <a:off x="12700" y="12700"/>
              <a:ext cx="23164800" cy="926592"/>
            </a:xfrm>
            <a:custGeom>
              <a:rect b="b" l="l" r="r" t="t"/>
              <a:pathLst>
                <a:path extrusionOk="0" h="926592" w="23164800">
                  <a:moveTo>
                    <a:pt x="0" y="0"/>
                  </a:moveTo>
                  <a:lnTo>
                    <a:pt x="23164800" y="0"/>
                  </a:lnTo>
                  <a:lnTo>
                    <a:pt x="23164800" y="926592"/>
                  </a:lnTo>
                  <a:lnTo>
                    <a:pt x="0" y="926592"/>
                  </a:lnTo>
                  <a:close/>
                </a:path>
              </a:pathLst>
            </a:custGeom>
            <a:solidFill>
              <a:srgbClr val="F4F4F4"/>
            </a:solidFill>
            <a:ln>
              <a:noFill/>
            </a:ln>
          </p:spPr>
        </p:sp>
        <p:sp>
          <p:nvSpPr>
            <p:cNvPr id="615" name="Google Shape;615;p18"/>
            <p:cNvSpPr/>
            <p:nvPr/>
          </p:nvSpPr>
          <p:spPr>
            <a:xfrm>
              <a:off x="0" y="0"/>
              <a:ext cx="23190200" cy="951992"/>
            </a:xfrm>
            <a:custGeom>
              <a:rect b="b" l="l" r="r" t="t"/>
              <a:pathLst>
                <a:path extrusionOk="0" h="951992" w="23190200">
                  <a:moveTo>
                    <a:pt x="12700" y="0"/>
                  </a:moveTo>
                  <a:lnTo>
                    <a:pt x="23177500" y="0"/>
                  </a:lnTo>
                  <a:cubicBezTo>
                    <a:pt x="23184486" y="0"/>
                    <a:pt x="23190200" y="5715"/>
                    <a:pt x="23190200" y="12700"/>
                  </a:cubicBezTo>
                  <a:lnTo>
                    <a:pt x="23190200" y="939292"/>
                  </a:lnTo>
                  <a:cubicBezTo>
                    <a:pt x="23190200" y="946277"/>
                    <a:pt x="23184486" y="951992"/>
                    <a:pt x="23177500" y="951992"/>
                  </a:cubicBezTo>
                  <a:lnTo>
                    <a:pt x="12700" y="951992"/>
                  </a:lnTo>
                  <a:cubicBezTo>
                    <a:pt x="5715" y="951992"/>
                    <a:pt x="0" y="946277"/>
                    <a:pt x="0" y="939292"/>
                  </a:cubicBezTo>
                  <a:lnTo>
                    <a:pt x="0" y="12700"/>
                  </a:lnTo>
                  <a:cubicBezTo>
                    <a:pt x="0" y="5715"/>
                    <a:pt x="5715" y="0"/>
                    <a:pt x="12700" y="0"/>
                  </a:cubicBezTo>
                  <a:moveTo>
                    <a:pt x="12700" y="25400"/>
                  </a:moveTo>
                  <a:lnTo>
                    <a:pt x="12700" y="12700"/>
                  </a:lnTo>
                  <a:lnTo>
                    <a:pt x="25400" y="12700"/>
                  </a:lnTo>
                  <a:lnTo>
                    <a:pt x="25400" y="939292"/>
                  </a:lnTo>
                  <a:lnTo>
                    <a:pt x="12700" y="939292"/>
                  </a:lnTo>
                  <a:lnTo>
                    <a:pt x="12700" y="926592"/>
                  </a:lnTo>
                  <a:lnTo>
                    <a:pt x="23177500" y="926592"/>
                  </a:lnTo>
                  <a:lnTo>
                    <a:pt x="23177500" y="939292"/>
                  </a:lnTo>
                  <a:lnTo>
                    <a:pt x="23164800" y="939292"/>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 name="Google Shape;616;p18"/>
          <p:cNvGrpSpPr/>
          <p:nvPr/>
        </p:nvGrpSpPr>
        <p:grpSpPr>
          <a:xfrm>
            <a:off x="640080" y="7652385"/>
            <a:ext cx="17007840" cy="577215"/>
            <a:chOff x="0" y="-38100"/>
            <a:chExt cx="22677120" cy="769620"/>
          </a:xfrm>
        </p:grpSpPr>
        <p:sp>
          <p:nvSpPr>
            <p:cNvPr id="617" name="Google Shape;617;p18"/>
            <p:cNvSpPr/>
            <p:nvPr/>
          </p:nvSpPr>
          <p:spPr>
            <a:xfrm>
              <a:off x="0" y="0"/>
              <a:ext cx="22677120" cy="731520"/>
            </a:xfrm>
            <a:custGeom>
              <a:rect b="b" l="l" r="r" t="t"/>
              <a:pathLst>
                <a:path extrusionOk="0" h="731520" w="22677120">
                  <a:moveTo>
                    <a:pt x="0" y="0"/>
                  </a:moveTo>
                  <a:lnTo>
                    <a:pt x="22677120" y="0"/>
                  </a:lnTo>
                  <a:lnTo>
                    <a:pt x="22677120" y="731520"/>
                  </a:lnTo>
                  <a:lnTo>
                    <a:pt x="0" y="731520"/>
                  </a:lnTo>
                  <a:close/>
                </a:path>
              </a:pathLst>
            </a:custGeom>
            <a:blipFill rotWithShape="1">
              <a:blip r:embed="rId3">
                <a:alphaModFix amt="0"/>
              </a:blip>
              <a:stretch>
                <a:fillRect b="-554011" l="0" r="0" t="-554011"/>
              </a:stretch>
            </a:blipFill>
            <a:ln>
              <a:noFill/>
            </a:ln>
          </p:spPr>
        </p:sp>
        <p:sp>
          <p:nvSpPr>
            <p:cNvPr id="618" name="Google Shape;618;p18"/>
            <p:cNvSpPr txBox="1"/>
            <p:nvPr/>
          </p:nvSpPr>
          <p:spPr>
            <a:xfrm>
              <a:off x="0" y="-38100"/>
              <a:ext cx="22677120" cy="7696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333333"/>
                  </a:solidFill>
                  <a:latin typeface="Calibri"/>
                  <a:ea typeface="Calibri"/>
                  <a:cs typeface="Calibri"/>
                  <a:sym typeface="Calibri"/>
                </a:rPr>
                <a:t>📉  Popularity dağılımı sola yığılmış: şarkıların büyük çoğunluğu 20–29 aralığında. Explicit şarkılar az ama daha popüler (36.9 vs 32.9).</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grpSp>
        <p:nvGrpSpPr>
          <p:cNvPr id="627" name="Google Shape;627;p19"/>
          <p:cNvGrpSpPr/>
          <p:nvPr/>
        </p:nvGrpSpPr>
        <p:grpSpPr>
          <a:xfrm>
            <a:off x="-12697" y="-12697"/>
            <a:ext cx="18313336" cy="1579816"/>
            <a:chOff x="0" y="0"/>
            <a:chExt cx="24417782" cy="2106422"/>
          </a:xfrm>
        </p:grpSpPr>
        <p:sp>
          <p:nvSpPr>
            <p:cNvPr id="628" name="Google Shape;628;p19"/>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629" name="Google Shape;629;p19"/>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 name="Google Shape;630;p19"/>
          <p:cNvGrpSpPr/>
          <p:nvPr/>
        </p:nvGrpSpPr>
        <p:grpSpPr>
          <a:xfrm>
            <a:off x="-12697" y="-12697"/>
            <a:ext cx="244792" cy="1579816"/>
            <a:chOff x="0" y="0"/>
            <a:chExt cx="326390" cy="2106422"/>
          </a:xfrm>
        </p:grpSpPr>
        <p:sp>
          <p:nvSpPr>
            <p:cNvPr id="631" name="Google Shape;631;p19"/>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632" name="Google Shape;632;p19"/>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 name="Google Shape;633;p19"/>
          <p:cNvGrpSpPr/>
          <p:nvPr/>
        </p:nvGrpSpPr>
        <p:grpSpPr>
          <a:xfrm>
            <a:off x="548640" y="89154"/>
            <a:ext cx="12801600" cy="880110"/>
            <a:chOff x="0" y="-76200"/>
            <a:chExt cx="17068800" cy="1173480"/>
          </a:xfrm>
        </p:grpSpPr>
        <p:sp>
          <p:nvSpPr>
            <p:cNvPr id="634" name="Google Shape;634;p19"/>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635" name="Google Shape;635;p19"/>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Keşifsel Veri Analizi (EDA)</a:t>
              </a:r>
              <a:endParaRPr/>
            </a:p>
          </p:txBody>
        </p:sp>
      </p:grpSp>
      <p:grpSp>
        <p:nvGrpSpPr>
          <p:cNvPr id="636" name="Google Shape;636;p19"/>
          <p:cNvGrpSpPr/>
          <p:nvPr/>
        </p:nvGrpSpPr>
        <p:grpSpPr>
          <a:xfrm>
            <a:off x="548640" y="915257"/>
            <a:ext cx="16459200" cy="547783"/>
            <a:chOff x="0" y="-47625"/>
            <a:chExt cx="21945600" cy="730377"/>
          </a:xfrm>
        </p:grpSpPr>
        <p:sp>
          <p:nvSpPr>
            <p:cNvPr id="637" name="Google Shape;637;p19"/>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638" name="Google Shape;638;p19"/>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Sayısal özellikler arası korelasyon matrisi incelemesi yapıldı.</a:t>
              </a:r>
              <a:endParaRPr/>
            </a:p>
          </p:txBody>
        </p:sp>
      </p:grpSp>
      <p:grpSp>
        <p:nvGrpSpPr>
          <p:cNvPr id="639" name="Google Shape;639;p19"/>
          <p:cNvGrpSpPr/>
          <p:nvPr/>
        </p:nvGrpSpPr>
        <p:grpSpPr>
          <a:xfrm>
            <a:off x="-12697" y="1541783"/>
            <a:ext cx="18313336" cy="98490"/>
            <a:chOff x="0" y="0"/>
            <a:chExt cx="24417782" cy="131320"/>
          </a:xfrm>
        </p:grpSpPr>
        <p:sp>
          <p:nvSpPr>
            <p:cNvPr id="640" name="Google Shape;640;p19"/>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641" name="Google Shape;641;p19"/>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2" name="Google Shape;642;p19"/>
          <p:cNvSpPr/>
          <p:nvPr/>
        </p:nvSpPr>
        <p:spPr>
          <a:xfrm>
            <a:off x="109733" y="2283019"/>
            <a:ext cx="7925048" cy="6597602"/>
          </a:xfrm>
          <a:custGeom>
            <a:rect b="b" l="l" r="r" t="t"/>
            <a:pathLst>
              <a:path extrusionOk="0" h="6597602" w="7925048">
                <a:moveTo>
                  <a:pt x="0" y="0"/>
                </a:moveTo>
                <a:lnTo>
                  <a:pt x="7925047" y="0"/>
                </a:lnTo>
                <a:lnTo>
                  <a:pt x="7925047" y="6597602"/>
                </a:lnTo>
                <a:lnTo>
                  <a:pt x="0" y="6597602"/>
                </a:lnTo>
                <a:lnTo>
                  <a:pt x="0" y="0"/>
                </a:lnTo>
                <a:close/>
              </a:path>
            </a:pathLst>
          </a:custGeom>
          <a:blipFill rotWithShape="1">
            <a:blip r:embed="rId4">
              <a:alphaModFix/>
            </a:blip>
            <a:stretch>
              <a:fillRect b="0" l="0" r="0" t="0"/>
            </a:stretch>
          </a:blipFill>
          <a:ln>
            <a:noFill/>
          </a:ln>
        </p:spPr>
      </p:sp>
      <p:grpSp>
        <p:nvGrpSpPr>
          <p:cNvPr id="643" name="Google Shape;643;p19"/>
          <p:cNvGrpSpPr/>
          <p:nvPr/>
        </p:nvGrpSpPr>
        <p:grpSpPr>
          <a:xfrm>
            <a:off x="8357235" y="1717996"/>
            <a:ext cx="9483090" cy="1911858"/>
            <a:chOff x="0" y="0"/>
            <a:chExt cx="12644120" cy="2549144"/>
          </a:xfrm>
        </p:grpSpPr>
        <p:sp>
          <p:nvSpPr>
            <p:cNvPr id="644" name="Google Shape;644;p19"/>
            <p:cNvSpPr/>
            <p:nvPr/>
          </p:nvSpPr>
          <p:spPr>
            <a:xfrm>
              <a:off x="12700" y="12700"/>
              <a:ext cx="12618720" cy="2523744"/>
            </a:xfrm>
            <a:custGeom>
              <a:rect b="b" l="l" r="r" t="t"/>
              <a:pathLst>
                <a:path extrusionOk="0" h="2523744" w="12618720">
                  <a:moveTo>
                    <a:pt x="0" y="0"/>
                  </a:moveTo>
                  <a:lnTo>
                    <a:pt x="12618720" y="0"/>
                  </a:lnTo>
                  <a:lnTo>
                    <a:pt x="12618720" y="2523744"/>
                  </a:lnTo>
                  <a:lnTo>
                    <a:pt x="0" y="2523744"/>
                  </a:lnTo>
                  <a:close/>
                </a:path>
              </a:pathLst>
            </a:custGeom>
            <a:solidFill>
              <a:srgbClr val="C0392B">
                <a:alpha val="392"/>
              </a:srgbClr>
            </a:solidFill>
            <a:ln>
              <a:noFill/>
            </a:ln>
          </p:spPr>
        </p:sp>
        <p:sp>
          <p:nvSpPr>
            <p:cNvPr id="645" name="Google Shape;645;p19"/>
            <p:cNvSpPr/>
            <p:nvPr/>
          </p:nvSpPr>
          <p:spPr>
            <a:xfrm>
              <a:off x="0" y="0"/>
              <a:ext cx="12644120" cy="2549144"/>
            </a:xfrm>
            <a:custGeom>
              <a:rect b="b" l="l" r="r" t="t"/>
              <a:pathLst>
                <a:path extrusionOk="0" h="2549144" w="12644120">
                  <a:moveTo>
                    <a:pt x="12700" y="0"/>
                  </a:moveTo>
                  <a:lnTo>
                    <a:pt x="12631420" y="0"/>
                  </a:lnTo>
                  <a:cubicBezTo>
                    <a:pt x="12638405" y="0"/>
                    <a:pt x="12644120" y="5715"/>
                    <a:pt x="12644120" y="12700"/>
                  </a:cubicBezTo>
                  <a:lnTo>
                    <a:pt x="12644120" y="2536444"/>
                  </a:lnTo>
                  <a:cubicBezTo>
                    <a:pt x="12644120" y="2543429"/>
                    <a:pt x="12638405" y="2549144"/>
                    <a:pt x="12631420" y="2549144"/>
                  </a:cubicBezTo>
                  <a:lnTo>
                    <a:pt x="12700" y="2549144"/>
                  </a:lnTo>
                  <a:cubicBezTo>
                    <a:pt x="5715" y="2549144"/>
                    <a:pt x="0" y="2543429"/>
                    <a:pt x="0" y="2536444"/>
                  </a:cubicBezTo>
                  <a:lnTo>
                    <a:pt x="0" y="12700"/>
                  </a:lnTo>
                  <a:cubicBezTo>
                    <a:pt x="0" y="5715"/>
                    <a:pt x="5715" y="0"/>
                    <a:pt x="12700" y="0"/>
                  </a:cubicBezTo>
                  <a:moveTo>
                    <a:pt x="12700" y="25400"/>
                  </a:moveTo>
                  <a:lnTo>
                    <a:pt x="12700" y="12700"/>
                  </a:lnTo>
                  <a:lnTo>
                    <a:pt x="25400" y="12700"/>
                  </a:lnTo>
                  <a:lnTo>
                    <a:pt x="25400" y="2536444"/>
                  </a:lnTo>
                  <a:lnTo>
                    <a:pt x="12700" y="2536444"/>
                  </a:lnTo>
                  <a:lnTo>
                    <a:pt x="12700" y="2523744"/>
                  </a:lnTo>
                  <a:lnTo>
                    <a:pt x="12631420" y="2523744"/>
                  </a:lnTo>
                  <a:lnTo>
                    <a:pt x="12631420" y="2536444"/>
                  </a:lnTo>
                  <a:lnTo>
                    <a:pt x="12618720" y="2536444"/>
                  </a:lnTo>
                  <a:lnTo>
                    <a:pt x="12618720" y="12700"/>
                  </a:lnTo>
                  <a:lnTo>
                    <a:pt x="12631420" y="12700"/>
                  </a:lnTo>
                  <a:lnTo>
                    <a:pt x="12631420" y="25400"/>
                  </a:lnTo>
                  <a:lnTo>
                    <a:pt x="12700" y="25400"/>
                  </a:lnTo>
                  <a:close/>
                </a:path>
              </a:pathLst>
            </a:custGeom>
            <a:solidFill>
              <a:srgbClr val="C0392B">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 name="Google Shape;646;p19"/>
          <p:cNvGrpSpPr/>
          <p:nvPr/>
        </p:nvGrpSpPr>
        <p:grpSpPr>
          <a:xfrm>
            <a:off x="8357235" y="1717996"/>
            <a:ext cx="156210" cy="1911858"/>
            <a:chOff x="0" y="0"/>
            <a:chExt cx="208280" cy="2549144"/>
          </a:xfrm>
        </p:grpSpPr>
        <p:sp>
          <p:nvSpPr>
            <p:cNvPr id="647" name="Google Shape;647;p19"/>
            <p:cNvSpPr/>
            <p:nvPr/>
          </p:nvSpPr>
          <p:spPr>
            <a:xfrm>
              <a:off x="12700" y="12700"/>
              <a:ext cx="182880" cy="2523744"/>
            </a:xfrm>
            <a:custGeom>
              <a:rect b="b" l="l" r="r" t="t"/>
              <a:pathLst>
                <a:path extrusionOk="0" h="2523744" w="182880">
                  <a:moveTo>
                    <a:pt x="0" y="0"/>
                  </a:moveTo>
                  <a:lnTo>
                    <a:pt x="182880" y="0"/>
                  </a:lnTo>
                  <a:lnTo>
                    <a:pt x="182880" y="2523744"/>
                  </a:lnTo>
                  <a:lnTo>
                    <a:pt x="0" y="2523744"/>
                  </a:lnTo>
                  <a:close/>
                </a:path>
              </a:pathLst>
            </a:custGeom>
            <a:solidFill>
              <a:srgbClr val="C0392B"/>
            </a:solidFill>
            <a:ln>
              <a:noFill/>
            </a:ln>
          </p:spPr>
        </p:sp>
        <p:sp>
          <p:nvSpPr>
            <p:cNvPr id="648" name="Google Shape;648;p19"/>
            <p:cNvSpPr/>
            <p:nvPr/>
          </p:nvSpPr>
          <p:spPr>
            <a:xfrm>
              <a:off x="0" y="0"/>
              <a:ext cx="208280" cy="2549144"/>
            </a:xfrm>
            <a:custGeom>
              <a:rect b="b" l="l" r="r" t="t"/>
              <a:pathLst>
                <a:path extrusionOk="0" h="2549144" w="208280">
                  <a:moveTo>
                    <a:pt x="12700" y="0"/>
                  </a:moveTo>
                  <a:lnTo>
                    <a:pt x="195580" y="0"/>
                  </a:lnTo>
                  <a:cubicBezTo>
                    <a:pt x="202565" y="0"/>
                    <a:pt x="208280" y="5715"/>
                    <a:pt x="208280" y="12700"/>
                  </a:cubicBezTo>
                  <a:lnTo>
                    <a:pt x="208280" y="2536444"/>
                  </a:lnTo>
                  <a:cubicBezTo>
                    <a:pt x="208280" y="2543429"/>
                    <a:pt x="202565" y="2549144"/>
                    <a:pt x="195580" y="2549144"/>
                  </a:cubicBezTo>
                  <a:lnTo>
                    <a:pt x="12700" y="2549144"/>
                  </a:lnTo>
                  <a:cubicBezTo>
                    <a:pt x="5715" y="2549144"/>
                    <a:pt x="0" y="2543429"/>
                    <a:pt x="0" y="2536444"/>
                  </a:cubicBezTo>
                  <a:lnTo>
                    <a:pt x="0" y="12700"/>
                  </a:lnTo>
                  <a:cubicBezTo>
                    <a:pt x="0" y="5715"/>
                    <a:pt x="5715" y="0"/>
                    <a:pt x="12700" y="0"/>
                  </a:cubicBezTo>
                  <a:moveTo>
                    <a:pt x="12700" y="25400"/>
                  </a:moveTo>
                  <a:lnTo>
                    <a:pt x="12700" y="12700"/>
                  </a:lnTo>
                  <a:lnTo>
                    <a:pt x="25400" y="12700"/>
                  </a:lnTo>
                  <a:lnTo>
                    <a:pt x="25400" y="2536444"/>
                  </a:lnTo>
                  <a:lnTo>
                    <a:pt x="12700" y="2536444"/>
                  </a:lnTo>
                  <a:lnTo>
                    <a:pt x="12700" y="2523744"/>
                  </a:lnTo>
                  <a:lnTo>
                    <a:pt x="195580" y="2523744"/>
                  </a:lnTo>
                  <a:lnTo>
                    <a:pt x="195580" y="2536444"/>
                  </a:lnTo>
                  <a:lnTo>
                    <a:pt x="182880" y="2536444"/>
                  </a:lnTo>
                  <a:lnTo>
                    <a:pt x="182880" y="12700"/>
                  </a:lnTo>
                  <a:lnTo>
                    <a:pt x="195580" y="12700"/>
                  </a:lnTo>
                  <a:lnTo>
                    <a:pt x="195580" y="25400"/>
                  </a:lnTo>
                  <a:lnTo>
                    <a:pt x="12700" y="25400"/>
                  </a:lnTo>
                  <a:close/>
                </a:path>
              </a:pathLst>
            </a:cu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 name="Google Shape;649;p19"/>
          <p:cNvGrpSpPr/>
          <p:nvPr/>
        </p:nvGrpSpPr>
        <p:grpSpPr>
          <a:xfrm>
            <a:off x="8641080" y="1765812"/>
            <a:ext cx="1508760" cy="962977"/>
            <a:chOff x="0" y="-95250"/>
            <a:chExt cx="2011680" cy="1283970"/>
          </a:xfrm>
        </p:grpSpPr>
        <p:sp>
          <p:nvSpPr>
            <p:cNvPr id="650" name="Google Shape;650;p19"/>
            <p:cNvSpPr/>
            <p:nvPr/>
          </p:nvSpPr>
          <p:spPr>
            <a:xfrm>
              <a:off x="0" y="0"/>
              <a:ext cx="2011680" cy="1188720"/>
            </a:xfrm>
            <a:custGeom>
              <a:rect b="b" l="l" r="r" t="t"/>
              <a:pathLst>
                <a:path extrusionOk="0" h="1188720" w="2011680">
                  <a:moveTo>
                    <a:pt x="0" y="0"/>
                  </a:moveTo>
                  <a:lnTo>
                    <a:pt x="2011680" y="0"/>
                  </a:lnTo>
                  <a:lnTo>
                    <a:pt x="2011680" y="1188720"/>
                  </a:lnTo>
                  <a:lnTo>
                    <a:pt x="0" y="1188720"/>
                  </a:lnTo>
                  <a:close/>
                </a:path>
              </a:pathLst>
            </a:custGeom>
            <a:blipFill rotWithShape="1">
              <a:blip r:embed="rId3">
                <a:alphaModFix amt="0"/>
              </a:blip>
              <a:stretch>
                <a:fillRect b="0" l="-25815" r="-25815" t="0"/>
              </a:stretch>
            </a:blipFill>
            <a:ln>
              <a:noFill/>
            </a:ln>
          </p:spPr>
        </p:sp>
        <p:sp>
          <p:nvSpPr>
            <p:cNvPr id="651" name="Google Shape;651;p19"/>
            <p:cNvSpPr txBox="1"/>
            <p:nvPr/>
          </p:nvSpPr>
          <p:spPr>
            <a:xfrm>
              <a:off x="0" y="-95250"/>
              <a:ext cx="2011680" cy="128397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500" u="none" cap="none" strike="noStrike">
                  <a:solidFill>
                    <a:srgbClr val="C0392B"/>
                  </a:solidFill>
                  <a:latin typeface="Calibri"/>
                  <a:ea typeface="Calibri"/>
                  <a:cs typeface="Calibri"/>
                  <a:sym typeface="Calibri"/>
                </a:rPr>
                <a:t>+0.76</a:t>
              </a:r>
              <a:endParaRPr/>
            </a:p>
          </p:txBody>
        </p:sp>
      </p:grpSp>
      <p:grpSp>
        <p:nvGrpSpPr>
          <p:cNvPr id="652" name="Google Shape;652;p19"/>
          <p:cNvGrpSpPr/>
          <p:nvPr/>
        </p:nvGrpSpPr>
        <p:grpSpPr>
          <a:xfrm>
            <a:off x="10355580" y="1801530"/>
            <a:ext cx="7338060" cy="556927"/>
            <a:chOff x="0" y="-47625"/>
            <a:chExt cx="9784080" cy="742569"/>
          </a:xfrm>
        </p:grpSpPr>
        <p:sp>
          <p:nvSpPr>
            <p:cNvPr id="653" name="Google Shape;653;p19"/>
            <p:cNvSpPr/>
            <p:nvPr/>
          </p:nvSpPr>
          <p:spPr>
            <a:xfrm>
              <a:off x="0" y="0"/>
              <a:ext cx="9784080" cy="694944"/>
            </a:xfrm>
            <a:custGeom>
              <a:rect b="b" l="l" r="r" t="t"/>
              <a:pathLst>
                <a:path extrusionOk="0" h="694944" w="9784080">
                  <a:moveTo>
                    <a:pt x="0" y="0"/>
                  </a:moveTo>
                  <a:lnTo>
                    <a:pt x="9784080" y="0"/>
                  </a:lnTo>
                  <a:lnTo>
                    <a:pt x="9784080" y="694944"/>
                  </a:lnTo>
                  <a:lnTo>
                    <a:pt x="0" y="694944"/>
                  </a:lnTo>
                  <a:close/>
                </a:path>
              </a:pathLst>
            </a:custGeom>
            <a:blipFill rotWithShape="1">
              <a:blip r:embed="rId3">
                <a:alphaModFix amt="0"/>
              </a:blip>
              <a:stretch>
                <a:fillRect b="-224333" l="0" r="0" t="-224333"/>
              </a:stretch>
            </a:blipFill>
            <a:ln>
              <a:noFill/>
            </a:ln>
          </p:spPr>
        </p:sp>
        <p:sp>
          <p:nvSpPr>
            <p:cNvPr id="654" name="Google Shape;654;p19"/>
            <p:cNvSpPr txBox="1"/>
            <p:nvPr/>
          </p:nvSpPr>
          <p:spPr>
            <a:xfrm>
              <a:off x="0" y="-47625"/>
              <a:ext cx="9784080" cy="74256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212529"/>
                  </a:solidFill>
                  <a:latin typeface="Calibri"/>
                  <a:ea typeface="Calibri"/>
                  <a:cs typeface="Calibri"/>
                  <a:sym typeface="Calibri"/>
                </a:rPr>
                <a:t>energy ↔ loudness</a:t>
              </a:r>
              <a:endParaRPr/>
            </a:p>
          </p:txBody>
        </p:sp>
      </p:grpSp>
      <p:grpSp>
        <p:nvGrpSpPr>
          <p:cNvPr id="655" name="Google Shape;655;p19"/>
          <p:cNvGrpSpPr/>
          <p:nvPr/>
        </p:nvGrpSpPr>
        <p:grpSpPr>
          <a:xfrm>
            <a:off x="10355580" y="2364458"/>
            <a:ext cx="7338060" cy="432911"/>
            <a:chOff x="0" y="-28575"/>
            <a:chExt cx="9784080" cy="577215"/>
          </a:xfrm>
        </p:grpSpPr>
        <p:sp>
          <p:nvSpPr>
            <p:cNvPr id="656" name="Google Shape;656;p19"/>
            <p:cNvSpPr/>
            <p:nvPr/>
          </p:nvSpPr>
          <p:spPr>
            <a:xfrm>
              <a:off x="0" y="0"/>
              <a:ext cx="9784080" cy="548640"/>
            </a:xfrm>
            <a:custGeom>
              <a:rect b="b" l="l" r="r" t="t"/>
              <a:pathLst>
                <a:path extrusionOk="0" h="548640" w="9784080">
                  <a:moveTo>
                    <a:pt x="0" y="0"/>
                  </a:moveTo>
                  <a:lnTo>
                    <a:pt x="9784080" y="0"/>
                  </a:lnTo>
                  <a:lnTo>
                    <a:pt x="9784080" y="548640"/>
                  </a:lnTo>
                  <a:lnTo>
                    <a:pt x="0" y="548640"/>
                  </a:lnTo>
                  <a:close/>
                </a:path>
              </a:pathLst>
            </a:custGeom>
            <a:blipFill rotWithShape="1">
              <a:blip r:embed="rId3">
                <a:alphaModFix amt="0"/>
              </a:blip>
              <a:stretch>
                <a:fillRect b="-297464" l="0" r="0" t="-297464"/>
              </a:stretch>
            </a:blipFill>
            <a:ln>
              <a:noFill/>
            </a:ln>
          </p:spPr>
        </p:sp>
        <p:sp>
          <p:nvSpPr>
            <p:cNvPr id="657" name="Google Shape;657;p19"/>
            <p:cNvSpPr txBox="1"/>
            <p:nvPr/>
          </p:nvSpPr>
          <p:spPr>
            <a:xfrm>
              <a:off x="0" y="-28575"/>
              <a:ext cx="9784080" cy="5772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650" u="none" cap="none" strike="noStrike">
                  <a:solidFill>
                    <a:srgbClr val="495057"/>
                  </a:solidFill>
                  <a:latin typeface="Calibri"/>
                  <a:ea typeface="Calibri"/>
                  <a:cs typeface="Calibri"/>
                  <a:sym typeface="Calibri"/>
                </a:rPr>
                <a:t>Yüksek enerjili şarkılar daha gürültülü</a:t>
              </a:r>
              <a:endParaRPr/>
            </a:p>
          </p:txBody>
        </p:sp>
      </p:grpSp>
      <p:sp>
        <p:nvSpPr>
          <p:cNvPr id="658" name="Google Shape;658;p19"/>
          <p:cNvSpPr/>
          <p:nvPr/>
        </p:nvSpPr>
        <p:spPr>
          <a:xfrm>
            <a:off x="10355580" y="2934529"/>
            <a:ext cx="7338060" cy="411480"/>
          </a:xfrm>
          <a:custGeom>
            <a:rect b="b" l="l" r="r" t="t"/>
            <a:pathLst>
              <a:path extrusionOk="0" h="548640" w="9784080">
                <a:moveTo>
                  <a:pt x="0" y="0"/>
                </a:moveTo>
                <a:lnTo>
                  <a:pt x="9784080" y="0"/>
                </a:lnTo>
                <a:lnTo>
                  <a:pt x="9784080" y="548640"/>
                </a:lnTo>
                <a:lnTo>
                  <a:pt x="0" y="548640"/>
                </a:lnTo>
                <a:close/>
              </a:path>
            </a:pathLst>
          </a:custGeom>
          <a:solidFill>
            <a:srgbClr val="C0392B">
              <a:alpha val="1960"/>
            </a:srgbClr>
          </a:solidFill>
          <a:ln>
            <a:noFill/>
          </a:ln>
        </p:spPr>
      </p:sp>
      <p:grpSp>
        <p:nvGrpSpPr>
          <p:cNvPr id="659" name="Google Shape;659;p19"/>
          <p:cNvGrpSpPr/>
          <p:nvPr/>
        </p:nvGrpSpPr>
        <p:grpSpPr>
          <a:xfrm>
            <a:off x="10492740" y="2905954"/>
            <a:ext cx="7132320" cy="440055"/>
            <a:chOff x="0" y="-38100"/>
            <a:chExt cx="9509760" cy="586740"/>
          </a:xfrm>
        </p:grpSpPr>
        <p:sp>
          <p:nvSpPr>
            <p:cNvPr id="660" name="Google Shape;660;p19"/>
            <p:cNvSpPr/>
            <p:nvPr/>
          </p:nvSpPr>
          <p:spPr>
            <a:xfrm>
              <a:off x="0" y="0"/>
              <a:ext cx="9509760" cy="548640"/>
            </a:xfrm>
            <a:custGeom>
              <a:rect b="b" l="l" r="r" t="t"/>
              <a:pathLst>
                <a:path extrusionOk="0" h="548640" w="9509760">
                  <a:moveTo>
                    <a:pt x="0" y="0"/>
                  </a:moveTo>
                  <a:lnTo>
                    <a:pt x="9509760" y="0"/>
                  </a:lnTo>
                  <a:lnTo>
                    <a:pt x="9509760" y="548640"/>
                  </a:lnTo>
                  <a:lnTo>
                    <a:pt x="0" y="548640"/>
                  </a:lnTo>
                  <a:close/>
                </a:path>
              </a:pathLst>
            </a:custGeom>
            <a:blipFill rotWithShape="1">
              <a:blip r:embed="rId3">
                <a:alphaModFix amt="0"/>
              </a:blip>
              <a:stretch>
                <a:fillRect b="-287746" l="0" r="0" t="-287746"/>
              </a:stretch>
            </a:blipFill>
            <a:ln>
              <a:noFill/>
            </a:ln>
          </p:spPr>
        </p:sp>
        <p:sp>
          <p:nvSpPr>
            <p:cNvPr id="661" name="Google Shape;661;p19"/>
            <p:cNvSpPr txBox="1"/>
            <p:nvPr/>
          </p:nvSpPr>
          <p:spPr>
            <a:xfrm>
              <a:off x="0" y="-38100"/>
              <a:ext cx="9509760" cy="586740"/>
            </a:xfrm>
            <a:prstGeom prst="rect">
              <a:avLst/>
            </a:prstGeom>
            <a:noFill/>
            <a:ln>
              <a:noFill/>
            </a:ln>
          </p:spPr>
          <p:txBody>
            <a:bodyPr anchorCtr="0" anchor="ctr" bIns="0" lIns="0" spcFirstLastPara="1" rIns="0" wrap="square" tIns="0">
              <a:noAutofit/>
            </a:bodyPr>
            <a:lstStyle/>
            <a:p>
              <a:pPr indent="0" lvl="0" marL="0" marR="0" rtl="0" algn="l">
                <a:lnSpc>
                  <a:spcPct val="119929"/>
                </a:lnSpc>
                <a:spcBef>
                  <a:spcPts val="0"/>
                </a:spcBef>
                <a:spcAft>
                  <a:spcPts val="0"/>
                </a:spcAft>
                <a:buNone/>
              </a:pPr>
              <a:r>
                <a:rPr b="1" i="0" lang="en-US" sz="1425" u="none" cap="none" strike="noStrike">
                  <a:solidFill>
                    <a:srgbClr val="C0392B"/>
                  </a:solidFill>
                  <a:latin typeface="Calibri"/>
                  <a:ea typeface="Calibri"/>
                  <a:cs typeface="Calibri"/>
                  <a:sym typeface="Calibri"/>
                </a:rPr>
                <a:t>→ energy_acoustic_contrast özelliğinin temeli</a:t>
              </a:r>
              <a:endParaRPr/>
            </a:p>
          </p:txBody>
        </p:sp>
      </p:grpSp>
      <p:grpSp>
        <p:nvGrpSpPr>
          <p:cNvPr id="662" name="Google Shape;662;p19"/>
          <p:cNvGrpSpPr/>
          <p:nvPr/>
        </p:nvGrpSpPr>
        <p:grpSpPr>
          <a:xfrm>
            <a:off x="8357235" y="3725799"/>
            <a:ext cx="9483090" cy="1911858"/>
            <a:chOff x="0" y="0"/>
            <a:chExt cx="12644120" cy="2549144"/>
          </a:xfrm>
        </p:grpSpPr>
        <p:sp>
          <p:nvSpPr>
            <p:cNvPr id="663" name="Google Shape;663;p19"/>
            <p:cNvSpPr/>
            <p:nvPr/>
          </p:nvSpPr>
          <p:spPr>
            <a:xfrm>
              <a:off x="12700" y="12700"/>
              <a:ext cx="12618720" cy="2523744"/>
            </a:xfrm>
            <a:custGeom>
              <a:rect b="b" l="l" r="r" t="t"/>
              <a:pathLst>
                <a:path extrusionOk="0" h="2523744" w="12618720">
                  <a:moveTo>
                    <a:pt x="0" y="0"/>
                  </a:moveTo>
                  <a:lnTo>
                    <a:pt x="12618720" y="0"/>
                  </a:lnTo>
                  <a:lnTo>
                    <a:pt x="12618720" y="2523744"/>
                  </a:lnTo>
                  <a:lnTo>
                    <a:pt x="0" y="2523744"/>
                  </a:lnTo>
                  <a:close/>
                </a:path>
              </a:pathLst>
            </a:custGeom>
            <a:solidFill>
              <a:srgbClr val="2E86C1">
                <a:alpha val="392"/>
              </a:srgbClr>
            </a:solidFill>
            <a:ln>
              <a:noFill/>
            </a:ln>
          </p:spPr>
        </p:sp>
        <p:sp>
          <p:nvSpPr>
            <p:cNvPr id="664" name="Google Shape;664;p19"/>
            <p:cNvSpPr/>
            <p:nvPr/>
          </p:nvSpPr>
          <p:spPr>
            <a:xfrm>
              <a:off x="0" y="0"/>
              <a:ext cx="12644120" cy="2549144"/>
            </a:xfrm>
            <a:custGeom>
              <a:rect b="b" l="l" r="r" t="t"/>
              <a:pathLst>
                <a:path extrusionOk="0" h="2549144" w="12644120">
                  <a:moveTo>
                    <a:pt x="12700" y="0"/>
                  </a:moveTo>
                  <a:lnTo>
                    <a:pt x="12631420" y="0"/>
                  </a:lnTo>
                  <a:cubicBezTo>
                    <a:pt x="12638405" y="0"/>
                    <a:pt x="12644120" y="5715"/>
                    <a:pt x="12644120" y="12700"/>
                  </a:cubicBezTo>
                  <a:lnTo>
                    <a:pt x="12644120" y="2536444"/>
                  </a:lnTo>
                  <a:cubicBezTo>
                    <a:pt x="12644120" y="2543429"/>
                    <a:pt x="12638405" y="2549144"/>
                    <a:pt x="12631420" y="2549144"/>
                  </a:cubicBezTo>
                  <a:lnTo>
                    <a:pt x="12700" y="2549144"/>
                  </a:lnTo>
                  <a:cubicBezTo>
                    <a:pt x="5715" y="2549144"/>
                    <a:pt x="0" y="2543429"/>
                    <a:pt x="0" y="2536444"/>
                  </a:cubicBezTo>
                  <a:lnTo>
                    <a:pt x="0" y="12700"/>
                  </a:lnTo>
                  <a:cubicBezTo>
                    <a:pt x="0" y="5715"/>
                    <a:pt x="5715" y="0"/>
                    <a:pt x="12700" y="0"/>
                  </a:cubicBezTo>
                  <a:moveTo>
                    <a:pt x="12700" y="25400"/>
                  </a:moveTo>
                  <a:lnTo>
                    <a:pt x="12700" y="12700"/>
                  </a:lnTo>
                  <a:lnTo>
                    <a:pt x="25400" y="12700"/>
                  </a:lnTo>
                  <a:lnTo>
                    <a:pt x="25400" y="2536444"/>
                  </a:lnTo>
                  <a:lnTo>
                    <a:pt x="12700" y="2536444"/>
                  </a:lnTo>
                  <a:lnTo>
                    <a:pt x="12700" y="2523744"/>
                  </a:lnTo>
                  <a:lnTo>
                    <a:pt x="12631420" y="2523744"/>
                  </a:lnTo>
                  <a:lnTo>
                    <a:pt x="12631420" y="2536444"/>
                  </a:lnTo>
                  <a:lnTo>
                    <a:pt x="12618720" y="2536444"/>
                  </a:lnTo>
                  <a:lnTo>
                    <a:pt x="12618720" y="12700"/>
                  </a:lnTo>
                  <a:lnTo>
                    <a:pt x="12631420" y="12700"/>
                  </a:lnTo>
                  <a:lnTo>
                    <a:pt x="12631420" y="25400"/>
                  </a:lnTo>
                  <a:lnTo>
                    <a:pt x="12700" y="25400"/>
                  </a:lnTo>
                  <a:close/>
                </a:path>
              </a:pathLst>
            </a:custGeom>
            <a:solidFill>
              <a:srgbClr val="2E86C1">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 name="Google Shape;665;p19"/>
          <p:cNvGrpSpPr/>
          <p:nvPr/>
        </p:nvGrpSpPr>
        <p:grpSpPr>
          <a:xfrm>
            <a:off x="8357235" y="3725799"/>
            <a:ext cx="156210" cy="1911858"/>
            <a:chOff x="0" y="0"/>
            <a:chExt cx="208280" cy="2549144"/>
          </a:xfrm>
        </p:grpSpPr>
        <p:sp>
          <p:nvSpPr>
            <p:cNvPr id="666" name="Google Shape;666;p19"/>
            <p:cNvSpPr/>
            <p:nvPr/>
          </p:nvSpPr>
          <p:spPr>
            <a:xfrm>
              <a:off x="12700" y="12700"/>
              <a:ext cx="182880" cy="2523744"/>
            </a:xfrm>
            <a:custGeom>
              <a:rect b="b" l="l" r="r" t="t"/>
              <a:pathLst>
                <a:path extrusionOk="0" h="2523744" w="182880">
                  <a:moveTo>
                    <a:pt x="0" y="0"/>
                  </a:moveTo>
                  <a:lnTo>
                    <a:pt x="182880" y="0"/>
                  </a:lnTo>
                  <a:lnTo>
                    <a:pt x="182880" y="2523744"/>
                  </a:lnTo>
                  <a:lnTo>
                    <a:pt x="0" y="2523744"/>
                  </a:lnTo>
                  <a:close/>
                </a:path>
              </a:pathLst>
            </a:custGeom>
            <a:solidFill>
              <a:srgbClr val="2E86C1"/>
            </a:solidFill>
            <a:ln>
              <a:noFill/>
            </a:ln>
          </p:spPr>
        </p:sp>
        <p:sp>
          <p:nvSpPr>
            <p:cNvPr id="667" name="Google Shape;667;p19"/>
            <p:cNvSpPr/>
            <p:nvPr/>
          </p:nvSpPr>
          <p:spPr>
            <a:xfrm>
              <a:off x="0" y="0"/>
              <a:ext cx="208280" cy="2549144"/>
            </a:xfrm>
            <a:custGeom>
              <a:rect b="b" l="l" r="r" t="t"/>
              <a:pathLst>
                <a:path extrusionOk="0" h="2549144" w="208280">
                  <a:moveTo>
                    <a:pt x="12700" y="0"/>
                  </a:moveTo>
                  <a:lnTo>
                    <a:pt x="195580" y="0"/>
                  </a:lnTo>
                  <a:cubicBezTo>
                    <a:pt x="202565" y="0"/>
                    <a:pt x="208280" y="5715"/>
                    <a:pt x="208280" y="12700"/>
                  </a:cubicBezTo>
                  <a:lnTo>
                    <a:pt x="208280" y="2536444"/>
                  </a:lnTo>
                  <a:cubicBezTo>
                    <a:pt x="208280" y="2543429"/>
                    <a:pt x="202565" y="2549144"/>
                    <a:pt x="195580" y="2549144"/>
                  </a:cubicBezTo>
                  <a:lnTo>
                    <a:pt x="12700" y="2549144"/>
                  </a:lnTo>
                  <a:cubicBezTo>
                    <a:pt x="5715" y="2549144"/>
                    <a:pt x="0" y="2543429"/>
                    <a:pt x="0" y="2536444"/>
                  </a:cubicBezTo>
                  <a:lnTo>
                    <a:pt x="0" y="12700"/>
                  </a:lnTo>
                  <a:cubicBezTo>
                    <a:pt x="0" y="5715"/>
                    <a:pt x="5715" y="0"/>
                    <a:pt x="12700" y="0"/>
                  </a:cubicBezTo>
                  <a:moveTo>
                    <a:pt x="12700" y="25400"/>
                  </a:moveTo>
                  <a:lnTo>
                    <a:pt x="12700" y="12700"/>
                  </a:lnTo>
                  <a:lnTo>
                    <a:pt x="25400" y="12700"/>
                  </a:lnTo>
                  <a:lnTo>
                    <a:pt x="25400" y="2536444"/>
                  </a:lnTo>
                  <a:lnTo>
                    <a:pt x="12700" y="2536444"/>
                  </a:lnTo>
                  <a:lnTo>
                    <a:pt x="12700" y="2523744"/>
                  </a:lnTo>
                  <a:lnTo>
                    <a:pt x="195580" y="2523744"/>
                  </a:lnTo>
                  <a:lnTo>
                    <a:pt x="195580" y="2536444"/>
                  </a:lnTo>
                  <a:lnTo>
                    <a:pt x="182880" y="2536444"/>
                  </a:lnTo>
                  <a:lnTo>
                    <a:pt x="182880" y="12700"/>
                  </a:lnTo>
                  <a:lnTo>
                    <a:pt x="195580" y="12700"/>
                  </a:lnTo>
                  <a:lnTo>
                    <a:pt x="195580" y="25400"/>
                  </a:lnTo>
                  <a:lnTo>
                    <a:pt x="12700" y="25400"/>
                  </a:lnTo>
                  <a:close/>
                </a:path>
              </a:pathLst>
            </a:custGeom>
            <a:solidFill>
              <a:srgbClr val="2E8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 name="Google Shape;668;p19"/>
          <p:cNvGrpSpPr/>
          <p:nvPr/>
        </p:nvGrpSpPr>
        <p:grpSpPr>
          <a:xfrm>
            <a:off x="8641080" y="3773614"/>
            <a:ext cx="1508760" cy="962978"/>
            <a:chOff x="0" y="-95250"/>
            <a:chExt cx="2011680" cy="1283970"/>
          </a:xfrm>
        </p:grpSpPr>
        <p:sp>
          <p:nvSpPr>
            <p:cNvPr id="669" name="Google Shape;669;p19"/>
            <p:cNvSpPr/>
            <p:nvPr/>
          </p:nvSpPr>
          <p:spPr>
            <a:xfrm>
              <a:off x="0" y="0"/>
              <a:ext cx="2011680" cy="1188720"/>
            </a:xfrm>
            <a:custGeom>
              <a:rect b="b" l="l" r="r" t="t"/>
              <a:pathLst>
                <a:path extrusionOk="0" h="1188720" w="2011680">
                  <a:moveTo>
                    <a:pt x="0" y="0"/>
                  </a:moveTo>
                  <a:lnTo>
                    <a:pt x="2011680" y="0"/>
                  </a:lnTo>
                  <a:lnTo>
                    <a:pt x="2011680" y="1188720"/>
                  </a:lnTo>
                  <a:lnTo>
                    <a:pt x="0" y="1188720"/>
                  </a:lnTo>
                  <a:close/>
                </a:path>
              </a:pathLst>
            </a:custGeom>
            <a:blipFill rotWithShape="1">
              <a:blip r:embed="rId3">
                <a:alphaModFix amt="0"/>
              </a:blip>
              <a:stretch>
                <a:fillRect b="0" l="-25815" r="-25815" t="0"/>
              </a:stretch>
            </a:blipFill>
            <a:ln>
              <a:noFill/>
            </a:ln>
          </p:spPr>
        </p:sp>
        <p:sp>
          <p:nvSpPr>
            <p:cNvPr id="670" name="Google Shape;670;p19"/>
            <p:cNvSpPr txBox="1"/>
            <p:nvPr/>
          </p:nvSpPr>
          <p:spPr>
            <a:xfrm>
              <a:off x="0" y="-95250"/>
              <a:ext cx="2011680" cy="128397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500" u="none" cap="none" strike="noStrike">
                  <a:solidFill>
                    <a:srgbClr val="2E86C1"/>
                  </a:solidFill>
                  <a:latin typeface="Calibri"/>
                  <a:ea typeface="Calibri"/>
                  <a:cs typeface="Calibri"/>
                  <a:sym typeface="Calibri"/>
                </a:rPr>
                <a:t>−0.73</a:t>
              </a:r>
              <a:endParaRPr/>
            </a:p>
          </p:txBody>
        </p:sp>
      </p:grpSp>
      <p:grpSp>
        <p:nvGrpSpPr>
          <p:cNvPr id="671" name="Google Shape;671;p19"/>
          <p:cNvGrpSpPr/>
          <p:nvPr/>
        </p:nvGrpSpPr>
        <p:grpSpPr>
          <a:xfrm>
            <a:off x="10355580" y="3809333"/>
            <a:ext cx="7338060" cy="556927"/>
            <a:chOff x="0" y="-47625"/>
            <a:chExt cx="9784080" cy="742569"/>
          </a:xfrm>
        </p:grpSpPr>
        <p:sp>
          <p:nvSpPr>
            <p:cNvPr id="672" name="Google Shape;672;p19"/>
            <p:cNvSpPr/>
            <p:nvPr/>
          </p:nvSpPr>
          <p:spPr>
            <a:xfrm>
              <a:off x="0" y="0"/>
              <a:ext cx="9784080" cy="694944"/>
            </a:xfrm>
            <a:custGeom>
              <a:rect b="b" l="l" r="r" t="t"/>
              <a:pathLst>
                <a:path extrusionOk="0" h="694944" w="9784080">
                  <a:moveTo>
                    <a:pt x="0" y="0"/>
                  </a:moveTo>
                  <a:lnTo>
                    <a:pt x="9784080" y="0"/>
                  </a:lnTo>
                  <a:lnTo>
                    <a:pt x="9784080" y="694944"/>
                  </a:lnTo>
                  <a:lnTo>
                    <a:pt x="0" y="694944"/>
                  </a:lnTo>
                  <a:close/>
                </a:path>
              </a:pathLst>
            </a:custGeom>
            <a:blipFill rotWithShape="1">
              <a:blip r:embed="rId3">
                <a:alphaModFix amt="0"/>
              </a:blip>
              <a:stretch>
                <a:fillRect b="-224333" l="0" r="0" t="-224333"/>
              </a:stretch>
            </a:blipFill>
            <a:ln>
              <a:noFill/>
            </a:ln>
          </p:spPr>
        </p:sp>
        <p:sp>
          <p:nvSpPr>
            <p:cNvPr id="673" name="Google Shape;673;p19"/>
            <p:cNvSpPr txBox="1"/>
            <p:nvPr/>
          </p:nvSpPr>
          <p:spPr>
            <a:xfrm>
              <a:off x="0" y="-47625"/>
              <a:ext cx="9784080" cy="74256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212529"/>
                  </a:solidFill>
                  <a:latin typeface="Calibri"/>
                  <a:ea typeface="Calibri"/>
                  <a:cs typeface="Calibri"/>
                  <a:sym typeface="Calibri"/>
                </a:rPr>
                <a:t>acousticness ↔ energy</a:t>
              </a:r>
              <a:endParaRPr/>
            </a:p>
          </p:txBody>
        </p:sp>
      </p:grpSp>
      <p:grpSp>
        <p:nvGrpSpPr>
          <p:cNvPr id="674" name="Google Shape;674;p19"/>
          <p:cNvGrpSpPr/>
          <p:nvPr/>
        </p:nvGrpSpPr>
        <p:grpSpPr>
          <a:xfrm>
            <a:off x="10355580" y="4372261"/>
            <a:ext cx="7338060" cy="432911"/>
            <a:chOff x="0" y="-28575"/>
            <a:chExt cx="9784080" cy="577215"/>
          </a:xfrm>
        </p:grpSpPr>
        <p:sp>
          <p:nvSpPr>
            <p:cNvPr id="675" name="Google Shape;675;p19"/>
            <p:cNvSpPr/>
            <p:nvPr/>
          </p:nvSpPr>
          <p:spPr>
            <a:xfrm>
              <a:off x="0" y="0"/>
              <a:ext cx="9784080" cy="548640"/>
            </a:xfrm>
            <a:custGeom>
              <a:rect b="b" l="l" r="r" t="t"/>
              <a:pathLst>
                <a:path extrusionOk="0" h="548640" w="9784080">
                  <a:moveTo>
                    <a:pt x="0" y="0"/>
                  </a:moveTo>
                  <a:lnTo>
                    <a:pt x="9784080" y="0"/>
                  </a:lnTo>
                  <a:lnTo>
                    <a:pt x="9784080" y="548640"/>
                  </a:lnTo>
                  <a:lnTo>
                    <a:pt x="0" y="548640"/>
                  </a:lnTo>
                  <a:close/>
                </a:path>
              </a:pathLst>
            </a:custGeom>
            <a:blipFill rotWithShape="1">
              <a:blip r:embed="rId3">
                <a:alphaModFix amt="0"/>
              </a:blip>
              <a:stretch>
                <a:fillRect b="-297464" l="0" r="0" t="-297464"/>
              </a:stretch>
            </a:blipFill>
            <a:ln>
              <a:noFill/>
            </a:ln>
          </p:spPr>
        </p:sp>
        <p:sp>
          <p:nvSpPr>
            <p:cNvPr id="676" name="Google Shape;676;p19"/>
            <p:cNvSpPr txBox="1"/>
            <p:nvPr/>
          </p:nvSpPr>
          <p:spPr>
            <a:xfrm>
              <a:off x="0" y="-28575"/>
              <a:ext cx="9784080" cy="5772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650" u="none" cap="none" strike="noStrike">
                  <a:solidFill>
                    <a:srgbClr val="495057"/>
                  </a:solidFill>
                  <a:latin typeface="Calibri"/>
                  <a:ea typeface="Calibri"/>
                  <a:cs typeface="Calibri"/>
                  <a:sym typeface="Calibri"/>
                </a:rPr>
                <a:t>Akustik şarkılarda enerji düşük kalır</a:t>
              </a:r>
              <a:endParaRPr/>
            </a:p>
          </p:txBody>
        </p:sp>
      </p:grpSp>
      <p:sp>
        <p:nvSpPr>
          <p:cNvPr id="677" name="Google Shape;677;p19"/>
          <p:cNvSpPr/>
          <p:nvPr/>
        </p:nvSpPr>
        <p:spPr>
          <a:xfrm>
            <a:off x="10355580" y="4942332"/>
            <a:ext cx="7338060" cy="411480"/>
          </a:xfrm>
          <a:custGeom>
            <a:rect b="b" l="l" r="r" t="t"/>
            <a:pathLst>
              <a:path extrusionOk="0" h="548640" w="9784080">
                <a:moveTo>
                  <a:pt x="0" y="0"/>
                </a:moveTo>
                <a:lnTo>
                  <a:pt x="9784080" y="0"/>
                </a:lnTo>
                <a:lnTo>
                  <a:pt x="9784080" y="548640"/>
                </a:lnTo>
                <a:lnTo>
                  <a:pt x="0" y="548640"/>
                </a:lnTo>
                <a:close/>
              </a:path>
            </a:pathLst>
          </a:custGeom>
          <a:solidFill>
            <a:srgbClr val="2E86C1">
              <a:alpha val="1960"/>
            </a:srgbClr>
          </a:solidFill>
          <a:ln>
            <a:noFill/>
          </a:ln>
        </p:spPr>
      </p:sp>
      <p:grpSp>
        <p:nvGrpSpPr>
          <p:cNvPr id="678" name="Google Shape;678;p19"/>
          <p:cNvGrpSpPr/>
          <p:nvPr/>
        </p:nvGrpSpPr>
        <p:grpSpPr>
          <a:xfrm>
            <a:off x="10492740" y="4913757"/>
            <a:ext cx="7132320" cy="440055"/>
            <a:chOff x="0" y="-38100"/>
            <a:chExt cx="9509760" cy="586740"/>
          </a:xfrm>
        </p:grpSpPr>
        <p:sp>
          <p:nvSpPr>
            <p:cNvPr id="679" name="Google Shape;679;p19"/>
            <p:cNvSpPr/>
            <p:nvPr/>
          </p:nvSpPr>
          <p:spPr>
            <a:xfrm>
              <a:off x="0" y="0"/>
              <a:ext cx="9509760" cy="548640"/>
            </a:xfrm>
            <a:custGeom>
              <a:rect b="b" l="l" r="r" t="t"/>
              <a:pathLst>
                <a:path extrusionOk="0" h="548640" w="9509760">
                  <a:moveTo>
                    <a:pt x="0" y="0"/>
                  </a:moveTo>
                  <a:lnTo>
                    <a:pt x="9509760" y="0"/>
                  </a:lnTo>
                  <a:lnTo>
                    <a:pt x="9509760" y="548640"/>
                  </a:lnTo>
                  <a:lnTo>
                    <a:pt x="0" y="548640"/>
                  </a:lnTo>
                  <a:close/>
                </a:path>
              </a:pathLst>
            </a:custGeom>
            <a:blipFill rotWithShape="1">
              <a:blip r:embed="rId3">
                <a:alphaModFix amt="0"/>
              </a:blip>
              <a:stretch>
                <a:fillRect b="-287746" l="0" r="0" t="-287746"/>
              </a:stretch>
            </a:blipFill>
            <a:ln>
              <a:noFill/>
            </a:ln>
          </p:spPr>
        </p:sp>
        <p:sp>
          <p:nvSpPr>
            <p:cNvPr id="680" name="Google Shape;680;p19"/>
            <p:cNvSpPr txBox="1"/>
            <p:nvPr/>
          </p:nvSpPr>
          <p:spPr>
            <a:xfrm>
              <a:off x="0" y="-38100"/>
              <a:ext cx="9509760" cy="586740"/>
            </a:xfrm>
            <a:prstGeom prst="rect">
              <a:avLst/>
            </a:prstGeom>
            <a:noFill/>
            <a:ln>
              <a:noFill/>
            </a:ln>
          </p:spPr>
          <p:txBody>
            <a:bodyPr anchorCtr="0" anchor="ctr" bIns="0" lIns="0" spcFirstLastPara="1" rIns="0" wrap="square" tIns="0">
              <a:noAutofit/>
            </a:bodyPr>
            <a:lstStyle/>
            <a:p>
              <a:pPr indent="0" lvl="0" marL="0" marR="0" rtl="0" algn="l">
                <a:lnSpc>
                  <a:spcPct val="119929"/>
                </a:lnSpc>
                <a:spcBef>
                  <a:spcPts val="0"/>
                </a:spcBef>
                <a:spcAft>
                  <a:spcPts val="0"/>
                </a:spcAft>
                <a:buNone/>
              </a:pPr>
              <a:r>
                <a:rPr b="1" i="0" lang="en-US" sz="1425" u="none" cap="none" strike="noStrike">
                  <a:solidFill>
                    <a:srgbClr val="2E86C1"/>
                  </a:solidFill>
                  <a:latin typeface="Calibri"/>
                  <a:ea typeface="Calibri"/>
                  <a:cs typeface="Calibri"/>
                  <a:sym typeface="Calibri"/>
                </a:rPr>
                <a:t>→ FE özelliği: energy − acousticness</a:t>
              </a:r>
              <a:endParaRPr/>
            </a:p>
          </p:txBody>
        </p:sp>
      </p:grpSp>
      <p:grpSp>
        <p:nvGrpSpPr>
          <p:cNvPr id="681" name="Google Shape;681;p19"/>
          <p:cNvGrpSpPr/>
          <p:nvPr/>
        </p:nvGrpSpPr>
        <p:grpSpPr>
          <a:xfrm>
            <a:off x="8357235" y="5732907"/>
            <a:ext cx="9483090" cy="1911858"/>
            <a:chOff x="0" y="0"/>
            <a:chExt cx="12644120" cy="2549144"/>
          </a:xfrm>
        </p:grpSpPr>
        <p:sp>
          <p:nvSpPr>
            <p:cNvPr id="682" name="Google Shape;682;p19"/>
            <p:cNvSpPr/>
            <p:nvPr/>
          </p:nvSpPr>
          <p:spPr>
            <a:xfrm>
              <a:off x="12700" y="12700"/>
              <a:ext cx="12618720" cy="2523744"/>
            </a:xfrm>
            <a:custGeom>
              <a:rect b="b" l="l" r="r" t="t"/>
              <a:pathLst>
                <a:path extrusionOk="0" h="2523744" w="12618720">
                  <a:moveTo>
                    <a:pt x="0" y="0"/>
                  </a:moveTo>
                  <a:lnTo>
                    <a:pt x="12618720" y="0"/>
                  </a:lnTo>
                  <a:lnTo>
                    <a:pt x="12618720" y="2523744"/>
                  </a:lnTo>
                  <a:lnTo>
                    <a:pt x="0" y="2523744"/>
                  </a:lnTo>
                  <a:close/>
                </a:path>
              </a:pathLst>
            </a:custGeom>
            <a:solidFill>
              <a:srgbClr val="7D3C98">
                <a:alpha val="392"/>
              </a:srgbClr>
            </a:solidFill>
            <a:ln>
              <a:noFill/>
            </a:ln>
          </p:spPr>
        </p:sp>
        <p:sp>
          <p:nvSpPr>
            <p:cNvPr id="683" name="Google Shape;683;p19"/>
            <p:cNvSpPr/>
            <p:nvPr/>
          </p:nvSpPr>
          <p:spPr>
            <a:xfrm>
              <a:off x="0" y="0"/>
              <a:ext cx="12644120" cy="2549144"/>
            </a:xfrm>
            <a:custGeom>
              <a:rect b="b" l="l" r="r" t="t"/>
              <a:pathLst>
                <a:path extrusionOk="0" h="2549144" w="12644120">
                  <a:moveTo>
                    <a:pt x="12700" y="0"/>
                  </a:moveTo>
                  <a:lnTo>
                    <a:pt x="12631420" y="0"/>
                  </a:lnTo>
                  <a:cubicBezTo>
                    <a:pt x="12638405" y="0"/>
                    <a:pt x="12644120" y="5715"/>
                    <a:pt x="12644120" y="12700"/>
                  </a:cubicBezTo>
                  <a:lnTo>
                    <a:pt x="12644120" y="2536444"/>
                  </a:lnTo>
                  <a:cubicBezTo>
                    <a:pt x="12644120" y="2543429"/>
                    <a:pt x="12638405" y="2549144"/>
                    <a:pt x="12631420" y="2549144"/>
                  </a:cubicBezTo>
                  <a:lnTo>
                    <a:pt x="12700" y="2549144"/>
                  </a:lnTo>
                  <a:cubicBezTo>
                    <a:pt x="5715" y="2549144"/>
                    <a:pt x="0" y="2543429"/>
                    <a:pt x="0" y="2536444"/>
                  </a:cubicBezTo>
                  <a:lnTo>
                    <a:pt x="0" y="12700"/>
                  </a:lnTo>
                  <a:cubicBezTo>
                    <a:pt x="0" y="5715"/>
                    <a:pt x="5715" y="0"/>
                    <a:pt x="12700" y="0"/>
                  </a:cubicBezTo>
                  <a:moveTo>
                    <a:pt x="12700" y="25400"/>
                  </a:moveTo>
                  <a:lnTo>
                    <a:pt x="12700" y="12700"/>
                  </a:lnTo>
                  <a:lnTo>
                    <a:pt x="25400" y="12700"/>
                  </a:lnTo>
                  <a:lnTo>
                    <a:pt x="25400" y="2536444"/>
                  </a:lnTo>
                  <a:lnTo>
                    <a:pt x="12700" y="2536444"/>
                  </a:lnTo>
                  <a:lnTo>
                    <a:pt x="12700" y="2523744"/>
                  </a:lnTo>
                  <a:lnTo>
                    <a:pt x="12631420" y="2523744"/>
                  </a:lnTo>
                  <a:lnTo>
                    <a:pt x="12631420" y="2536444"/>
                  </a:lnTo>
                  <a:lnTo>
                    <a:pt x="12618720" y="2536444"/>
                  </a:lnTo>
                  <a:lnTo>
                    <a:pt x="12618720" y="12700"/>
                  </a:lnTo>
                  <a:lnTo>
                    <a:pt x="12631420" y="12700"/>
                  </a:lnTo>
                  <a:lnTo>
                    <a:pt x="12631420" y="25400"/>
                  </a:lnTo>
                  <a:lnTo>
                    <a:pt x="12700" y="25400"/>
                  </a:lnTo>
                  <a:close/>
                </a:path>
              </a:pathLst>
            </a:custGeom>
            <a:solidFill>
              <a:srgbClr val="7D3C98">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19"/>
          <p:cNvGrpSpPr/>
          <p:nvPr/>
        </p:nvGrpSpPr>
        <p:grpSpPr>
          <a:xfrm>
            <a:off x="8357235" y="5732907"/>
            <a:ext cx="156210" cy="1911858"/>
            <a:chOff x="0" y="0"/>
            <a:chExt cx="208280" cy="2549144"/>
          </a:xfrm>
        </p:grpSpPr>
        <p:sp>
          <p:nvSpPr>
            <p:cNvPr id="685" name="Google Shape;685;p19"/>
            <p:cNvSpPr/>
            <p:nvPr/>
          </p:nvSpPr>
          <p:spPr>
            <a:xfrm>
              <a:off x="12700" y="12700"/>
              <a:ext cx="182880" cy="2523744"/>
            </a:xfrm>
            <a:custGeom>
              <a:rect b="b" l="l" r="r" t="t"/>
              <a:pathLst>
                <a:path extrusionOk="0" h="2523744" w="182880">
                  <a:moveTo>
                    <a:pt x="0" y="0"/>
                  </a:moveTo>
                  <a:lnTo>
                    <a:pt x="182880" y="0"/>
                  </a:lnTo>
                  <a:lnTo>
                    <a:pt x="182880" y="2523744"/>
                  </a:lnTo>
                  <a:lnTo>
                    <a:pt x="0" y="2523744"/>
                  </a:lnTo>
                  <a:close/>
                </a:path>
              </a:pathLst>
            </a:custGeom>
            <a:solidFill>
              <a:srgbClr val="7D3C98"/>
            </a:solidFill>
            <a:ln>
              <a:noFill/>
            </a:ln>
          </p:spPr>
        </p:sp>
        <p:sp>
          <p:nvSpPr>
            <p:cNvPr id="686" name="Google Shape;686;p19"/>
            <p:cNvSpPr/>
            <p:nvPr/>
          </p:nvSpPr>
          <p:spPr>
            <a:xfrm>
              <a:off x="0" y="0"/>
              <a:ext cx="208280" cy="2549144"/>
            </a:xfrm>
            <a:custGeom>
              <a:rect b="b" l="l" r="r" t="t"/>
              <a:pathLst>
                <a:path extrusionOk="0" h="2549144" w="208280">
                  <a:moveTo>
                    <a:pt x="12700" y="0"/>
                  </a:moveTo>
                  <a:lnTo>
                    <a:pt x="195580" y="0"/>
                  </a:lnTo>
                  <a:cubicBezTo>
                    <a:pt x="202565" y="0"/>
                    <a:pt x="208280" y="5715"/>
                    <a:pt x="208280" y="12700"/>
                  </a:cubicBezTo>
                  <a:lnTo>
                    <a:pt x="208280" y="2536444"/>
                  </a:lnTo>
                  <a:cubicBezTo>
                    <a:pt x="208280" y="2543429"/>
                    <a:pt x="202565" y="2549144"/>
                    <a:pt x="195580" y="2549144"/>
                  </a:cubicBezTo>
                  <a:lnTo>
                    <a:pt x="12700" y="2549144"/>
                  </a:lnTo>
                  <a:cubicBezTo>
                    <a:pt x="5715" y="2549144"/>
                    <a:pt x="0" y="2543429"/>
                    <a:pt x="0" y="2536444"/>
                  </a:cubicBezTo>
                  <a:lnTo>
                    <a:pt x="0" y="12700"/>
                  </a:lnTo>
                  <a:cubicBezTo>
                    <a:pt x="0" y="5715"/>
                    <a:pt x="5715" y="0"/>
                    <a:pt x="12700" y="0"/>
                  </a:cubicBezTo>
                  <a:moveTo>
                    <a:pt x="12700" y="25400"/>
                  </a:moveTo>
                  <a:lnTo>
                    <a:pt x="12700" y="12700"/>
                  </a:lnTo>
                  <a:lnTo>
                    <a:pt x="25400" y="12700"/>
                  </a:lnTo>
                  <a:lnTo>
                    <a:pt x="25400" y="2536444"/>
                  </a:lnTo>
                  <a:lnTo>
                    <a:pt x="12700" y="2536444"/>
                  </a:lnTo>
                  <a:lnTo>
                    <a:pt x="12700" y="2523744"/>
                  </a:lnTo>
                  <a:lnTo>
                    <a:pt x="195580" y="2523744"/>
                  </a:lnTo>
                  <a:lnTo>
                    <a:pt x="195580" y="2536444"/>
                  </a:lnTo>
                  <a:lnTo>
                    <a:pt x="182880" y="2536444"/>
                  </a:lnTo>
                  <a:lnTo>
                    <a:pt x="182880" y="12700"/>
                  </a:lnTo>
                  <a:lnTo>
                    <a:pt x="195580" y="12700"/>
                  </a:lnTo>
                  <a:lnTo>
                    <a:pt x="195580" y="25400"/>
                  </a:lnTo>
                  <a:lnTo>
                    <a:pt x="12700" y="25400"/>
                  </a:lnTo>
                  <a:close/>
                </a:path>
              </a:pathLst>
            </a:custGeom>
            <a:solidFill>
              <a:srgbClr val="7D3C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 name="Google Shape;687;p19"/>
          <p:cNvGrpSpPr/>
          <p:nvPr/>
        </p:nvGrpSpPr>
        <p:grpSpPr>
          <a:xfrm>
            <a:off x="8641080" y="5780722"/>
            <a:ext cx="1508760" cy="962978"/>
            <a:chOff x="0" y="-95250"/>
            <a:chExt cx="2011680" cy="1283970"/>
          </a:xfrm>
        </p:grpSpPr>
        <p:sp>
          <p:nvSpPr>
            <p:cNvPr id="688" name="Google Shape;688;p19"/>
            <p:cNvSpPr/>
            <p:nvPr/>
          </p:nvSpPr>
          <p:spPr>
            <a:xfrm>
              <a:off x="0" y="0"/>
              <a:ext cx="2011680" cy="1188720"/>
            </a:xfrm>
            <a:custGeom>
              <a:rect b="b" l="l" r="r" t="t"/>
              <a:pathLst>
                <a:path extrusionOk="0" h="1188720" w="2011680">
                  <a:moveTo>
                    <a:pt x="0" y="0"/>
                  </a:moveTo>
                  <a:lnTo>
                    <a:pt x="2011680" y="0"/>
                  </a:lnTo>
                  <a:lnTo>
                    <a:pt x="2011680" y="1188720"/>
                  </a:lnTo>
                  <a:lnTo>
                    <a:pt x="0" y="1188720"/>
                  </a:lnTo>
                  <a:close/>
                </a:path>
              </a:pathLst>
            </a:custGeom>
            <a:blipFill rotWithShape="1">
              <a:blip r:embed="rId3">
                <a:alphaModFix amt="0"/>
              </a:blip>
              <a:stretch>
                <a:fillRect b="0" l="-25815" r="-25815" t="0"/>
              </a:stretch>
            </a:blipFill>
            <a:ln>
              <a:noFill/>
            </a:ln>
          </p:spPr>
        </p:sp>
        <p:sp>
          <p:nvSpPr>
            <p:cNvPr id="689" name="Google Shape;689;p19"/>
            <p:cNvSpPr txBox="1"/>
            <p:nvPr/>
          </p:nvSpPr>
          <p:spPr>
            <a:xfrm>
              <a:off x="0" y="-95250"/>
              <a:ext cx="2011680" cy="128397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500" u="none" cap="none" strike="noStrike">
                  <a:solidFill>
                    <a:srgbClr val="7D3C98"/>
                  </a:solidFill>
                  <a:latin typeface="Calibri"/>
                  <a:ea typeface="Calibri"/>
                  <a:cs typeface="Calibri"/>
                  <a:sym typeface="Calibri"/>
                </a:rPr>
                <a:t>−0.58</a:t>
              </a:r>
              <a:endParaRPr/>
            </a:p>
          </p:txBody>
        </p:sp>
      </p:grpSp>
      <p:grpSp>
        <p:nvGrpSpPr>
          <p:cNvPr id="690" name="Google Shape;690;p19"/>
          <p:cNvGrpSpPr/>
          <p:nvPr/>
        </p:nvGrpSpPr>
        <p:grpSpPr>
          <a:xfrm>
            <a:off x="10355580" y="5816441"/>
            <a:ext cx="7338060" cy="556927"/>
            <a:chOff x="0" y="-47625"/>
            <a:chExt cx="9784080" cy="742569"/>
          </a:xfrm>
        </p:grpSpPr>
        <p:sp>
          <p:nvSpPr>
            <p:cNvPr id="691" name="Google Shape;691;p19"/>
            <p:cNvSpPr/>
            <p:nvPr/>
          </p:nvSpPr>
          <p:spPr>
            <a:xfrm>
              <a:off x="0" y="0"/>
              <a:ext cx="9784080" cy="694944"/>
            </a:xfrm>
            <a:custGeom>
              <a:rect b="b" l="l" r="r" t="t"/>
              <a:pathLst>
                <a:path extrusionOk="0" h="694944" w="9784080">
                  <a:moveTo>
                    <a:pt x="0" y="0"/>
                  </a:moveTo>
                  <a:lnTo>
                    <a:pt x="9784080" y="0"/>
                  </a:lnTo>
                  <a:lnTo>
                    <a:pt x="9784080" y="694944"/>
                  </a:lnTo>
                  <a:lnTo>
                    <a:pt x="0" y="694944"/>
                  </a:lnTo>
                  <a:close/>
                </a:path>
              </a:pathLst>
            </a:custGeom>
            <a:blipFill rotWithShape="1">
              <a:blip r:embed="rId3">
                <a:alphaModFix amt="0"/>
              </a:blip>
              <a:stretch>
                <a:fillRect b="-224333" l="0" r="0" t="-224333"/>
              </a:stretch>
            </a:blipFill>
            <a:ln>
              <a:noFill/>
            </a:ln>
          </p:spPr>
        </p:sp>
        <p:sp>
          <p:nvSpPr>
            <p:cNvPr id="692" name="Google Shape;692;p19"/>
            <p:cNvSpPr txBox="1"/>
            <p:nvPr/>
          </p:nvSpPr>
          <p:spPr>
            <a:xfrm>
              <a:off x="0" y="-47625"/>
              <a:ext cx="9784080" cy="74256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212529"/>
                  </a:solidFill>
                  <a:latin typeface="Calibri"/>
                  <a:ea typeface="Calibri"/>
                  <a:cs typeface="Calibri"/>
                  <a:sym typeface="Calibri"/>
                </a:rPr>
                <a:t>loudness ↔ acousticness</a:t>
              </a:r>
              <a:endParaRPr/>
            </a:p>
          </p:txBody>
        </p:sp>
      </p:grpSp>
      <p:grpSp>
        <p:nvGrpSpPr>
          <p:cNvPr id="693" name="Google Shape;693;p19"/>
          <p:cNvGrpSpPr/>
          <p:nvPr/>
        </p:nvGrpSpPr>
        <p:grpSpPr>
          <a:xfrm>
            <a:off x="10355580" y="6379369"/>
            <a:ext cx="7338060" cy="432911"/>
            <a:chOff x="0" y="-28575"/>
            <a:chExt cx="9784080" cy="577215"/>
          </a:xfrm>
        </p:grpSpPr>
        <p:sp>
          <p:nvSpPr>
            <p:cNvPr id="694" name="Google Shape;694;p19"/>
            <p:cNvSpPr/>
            <p:nvPr/>
          </p:nvSpPr>
          <p:spPr>
            <a:xfrm>
              <a:off x="0" y="0"/>
              <a:ext cx="9784080" cy="548640"/>
            </a:xfrm>
            <a:custGeom>
              <a:rect b="b" l="l" r="r" t="t"/>
              <a:pathLst>
                <a:path extrusionOk="0" h="548640" w="9784080">
                  <a:moveTo>
                    <a:pt x="0" y="0"/>
                  </a:moveTo>
                  <a:lnTo>
                    <a:pt x="9784080" y="0"/>
                  </a:lnTo>
                  <a:lnTo>
                    <a:pt x="9784080" y="548640"/>
                  </a:lnTo>
                  <a:lnTo>
                    <a:pt x="0" y="548640"/>
                  </a:lnTo>
                  <a:close/>
                </a:path>
              </a:pathLst>
            </a:custGeom>
            <a:blipFill rotWithShape="1">
              <a:blip r:embed="rId3">
                <a:alphaModFix amt="0"/>
              </a:blip>
              <a:stretch>
                <a:fillRect b="-297464" l="0" r="0" t="-297464"/>
              </a:stretch>
            </a:blipFill>
            <a:ln>
              <a:noFill/>
            </a:ln>
          </p:spPr>
        </p:sp>
        <p:sp>
          <p:nvSpPr>
            <p:cNvPr id="695" name="Google Shape;695;p19"/>
            <p:cNvSpPr txBox="1"/>
            <p:nvPr/>
          </p:nvSpPr>
          <p:spPr>
            <a:xfrm>
              <a:off x="0" y="-28575"/>
              <a:ext cx="9784080" cy="5772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650" u="none" cap="none" strike="noStrike">
                  <a:solidFill>
                    <a:srgbClr val="495057"/>
                  </a:solidFill>
                  <a:latin typeface="Calibri"/>
                  <a:ea typeface="Calibri"/>
                  <a:cs typeface="Calibri"/>
                  <a:sym typeface="Calibri"/>
                </a:rPr>
                <a:t>Akustik = sessiz, elektronik = gürültülü</a:t>
              </a:r>
              <a:endParaRPr/>
            </a:p>
          </p:txBody>
        </p:sp>
      </p:grpSp>
      <p:sp>
        <p:nvSpPr>
          <p:cNvPr id="696" name="Google Shape;696;p19"/>
          <p:cNvSpPr/>
          <p:nvPr/>
        </p:nvSpPr>
        <p:spPr>
          <a:xfrm>
            <a:off x="10355580" y="6949440"/>
            <a:ext cx="7338060" cy="411480"/>
          </a:xfrm>
          <a:custGeom>
            <a:rect b="b" l="l" r="r" t="t"/>
            <a:pathLst>
              <a:path extrusionOk="0" h="548640" w="9784080">
                <a:moveTo>
                  <a:pt x="0" y="0"/>
                </a:moveTo>
                <a:lnTo>
                  <a:pt x="9784080" y="0"/>
                </a:lnTo>
                <a:lnTo>
                  <a:pt x="9784080" y="548640"/>
                </a:lnTo>
                <a:lnTo>
                  <a:pt x="0" y="548640"/>
                </a:lnTo>
                <a:close/>
              </a:path>
            </a:pathLst>
          </a:custGeom>
          <a:solidFill>
            <a:srgbClr val="7D3C98">
              <a:alpha val="1960"/>
            </a:srgbClr>
          </a:solidFill>
          <a:ln>
            <a:noFill/>
          </a:ln>
        </p:spPr>
      </p:sp>
      <p:grpSp>
        <p:nvGrpSpPr>
          <p:cNvPr id="697" name="Google Shape;697;p19"/>
          <p:cNvGrpSpPr/>
          <p:nvPr/>
        </p:nvGrpSpPr>
        <p:grpSpPr>
          <a:xfrm>
            <a:off x="10492740" y="6920865"/>
            <a:ext cx="7132320" cy="440055"/>
            <a:chOff x="0" y="-38100"/>
            <a:chExt cx="9509760" cy="586740"/>
          </a:xfrm>
        </p:grpSpPr>
        <p:sp>
          <p:nvSpPr>
            <p:cNvPr id="698" name="Google Shape;698;p19"/>
            <p:cNvSpPr/>
            <p:nvPr/>
          </p:nvSpPr>
          <p:spPr>
            <a:xfrm>
              <a:off x="0" y="0"/>
              <a:ext cx="9509760" cy="548640"/>
            </a:xfrm>
            <a:custGeom>
              <a:rect b="b" l="l" r="r" t="t"/>
              <a:pathLst>
                <a:path extrusionOk="0" h="548640" w="9509760">
                  <a:moveTo>
                    <a:pt x="0" y="0"/>
                  </a:moveTo>
                  <a:lnTo>
                    <a:pt x="9509760" y="0"/>
                  </a:lnTo>
                  <a:lnTo>
                    <a:pt x="9509760" y="548640"/>
                  </a:lnTo>
                  <a:lnTo>
                    <a:pt x="0" y="548640"/>
                  </a:lnTo>
                  <a:close/>
                </a:path>
              </a:pathLst>
            </a:custGeom>
            <a:blipFill rotWithShape="1">
              <a:blip r:embed="rId3">
                <a:alphaModFix amt="0"/>
              </a:blip>
              <a:stretch>
                <a:fillRect b="-287746" l="0" r="0" t="-287746"/>
              </a:stretch>
            </a:blipFill>
            <a:ln>
              <a:noFill/>
            </a:ln>
          </p:spPr>
        </p:sp>
        <p:sp>
          <p:nvSpPr>
            <p:cNvPr id="699" name="Google Shape;699;p19"/>
            <p:cNvSpPr txBox="1"/>
            <p:nvPr/>
          </p:nvSpPr>
          <p:spPr>
            <a:xfrm>
              <a:off x="0" y="-38100"/>
              <a:ext cx="9509760" cy="586740"/>
            </a:xfrm>
            <a:prstGeom prst="rect">
              <a:avLst/>
            </a:prstGeom>
            <a:noFill/>
            <a:ln>
              <a:noFill/>
            </a:ln>
          </p:spPr>
          <p:txBody>
            <a:bodyPr anchorCtr="0" anchor="ctr" bIns="0" lIns="0" spcFirstLastPara="1" rIns="0" wrap="square" tIns="0">
              <a:noAutofit/>
            </a:bodyPr>
            <a:lstStyle/>
            <a:p>
              <a:pPr indent="0" lvl="0" marL="0" marR="0" rtl="0" algn="l">
                <a:lnSpc>
                  <a:spcPct val="119929"/>
                </a:lnSpc>
                <a:spcBef>
                  <a:spcPts val="0"/>
                </a:spcBef>
                <a:spcAft>
                  <a:spcPts val="0"/>
                </a:spcAft>
                <a:buNone/>
              </a:pPr>
              <a:r>
                <a:rPr b="1" i="0" lang="en-US" sz="1425" u="none" cap="none" strike="noStrike">
                  <a:solidFill>
                    <a:srgbClr val="7D3C98"/>
                  </a:solidFill>
                  <a:latin typeface="Calibri"/>
                  <a:ea typeface="Calibri"/>
                  <a:cs typeface="Calibri"/>
                  <a:sym typeface="Calibri"/>
                </a:rPr>
                <a:t>→ Pipeline'da MinMaxScaler zorunlu kılıyor</a:t>
              </a:r>
              <a:endParaRPr/>
            </a:p>
          </p:txBody>
        </p:sp>
      </p:grpSp>
      <p:grpSp>
        <p:nvGrpSpPr>
          <p:cNvPr id="700" name="Google Shape;700;p19"/>
          <p:cNvGrpSpPr/>
          <p:nvPr/>
        </p:nvGrpSpPr>
        <p:grpSpPr>
          <a:xfrm>
            <a:off x="8357235" y="7740015"/>
            <a:ext cx="9483090" cy="1911858"/>
            <a:chOff x="0" y="0"/>
            <a:chExt cx="12644120" cy="2549144"/>
          </a:xfrm>
        </p:grpSpPr>
        <p:sp>
          <p:nvSpPr>
            <p:cNvPr id="701" name="Google Shape;701;p19"/>
            <p:cNvSpPr/>
            <p:nvPr/>
          </p:nvSpPr>
          <p:spPr>
            <a:xfrm>
              <a:off x="12700" y="12700"/>
              <a:ext cx="12618720" cy="2523744"/>
            </a:xfrm>
            <a:custGeom>
              <a:rect b="b" l="l" r="r" t="t"/>
              <a:pathLst>
                <a:path extrusionOk="0" h="2523744" w="12618720">
                  <a:moveTo>
                    <a:pt x="0" y="0"/>
                  </a:moveTo>
                  <a:lnTo>
                    <a:pt x="12618720" y="0"/>
                  </a:lnTo>
                  <a:lnTo>
                    <a:pt x="12618720" y="2523744"/>
                  </a:lnTo>
                  <a:lnTo>
                    <a:pt x="0" y="2523744"/>
                  </a:lnTo>
                  <a:close/>
                </a:path>
              </a:pathLst>
            </a:custGeom>
            <a:solidFill>
              <a:srgbClr val="1DB954">
                <a:alpha val="392"/>
              </a:srgbClr>
            </a:solidFill>
            <a:ln>
              <a:noFill/>
            </a:ln>
          </p:spPr>
        </p:sp>
        <p:sp>
          <p:nvSpPr>
            <p:cNvPr id="702" name="Google Shape;702;p19"/>
            <p:cNvSpPr/>
            <p:nvPr/>
          </p:nvSpPr>
          <p:spPr>
            <a:xfrm>
              <a:off x="0" y="0"/>
              <a:ext cx="12644120" cy="2549144"/>
            </a:xfrm>
            <a:custGeom>
              <a:rect b="b" l="l" r="r" t="t"/>
              <a:pathLst>
                <a:path extrusionOk="0" h="2549144" w="12644120">
                  <a:moveTo>
                    <a:pt x="12700" y="0"/>
                  </a:moveTo>
                  <a:lnTo>
                    <a:pt x="12631420" y="0"/>
                  </a:lnTo>
                  <a:cubicBezTo>
                    <a:pt x="12638405" y="0"/>
                    <a:pt x="12644120" y="5715"/>
                    <a:pt x="12644120" y="12700"/>
                  </a:cubicBezTo>
                  <a:lnTo>
                    <a:pt x="12644120" y="2536444"/>
                  </a:lnTo>
                  <a:cubicBezTo>
                    <a:pt x="12644120" y="2543429"/>
                    <a:pt x="12638405" y="2549144"/>
                    <a:pt x="12631420" y="2549144"/>
                  </a:cubicBezTo>
                  <a:lnTo>
                    <a:pt x="12700" y="2549144"/>
                  </a:lnTo>
                  <a:cubicBezTo>
                    <a:pt x="5715" y="2549144"/>
                    <a:pt x="0" y="2543429"/>
                    <a:pt x="0" y="2536444"/>
                  </a:cubicBezTo>
                  <a:lnTo>
                    <a:pt x="0" y="12700"/>
                  </a:lnTo>
                  <a:cubicBezTo>
                    <a:pt x="0" y="5715"/>
                    <a:pt x="5715" y="0"/>
                    <a:pt x="12700" y="0"/>
                  </a:cubicBezTo>
                  <a:moveTo>
                    <a:pt x="12700" y="25400"/>
                  </a:moveTo>
                  <a:lnTo>
                    <a:pt x="12700" y="12700"/>
                  </a:lnTo>
                  <a:lnTo>
                    <a:pt x="25400" y="12700"/>
                  </a:lnTo>
                  <a:lnTo>
                    <a:pt x="25400" y="2536444"/>
                  </a:lnTo>
                  <a:lnTo>
                    <a:pt x="12700" y="2536444"/>
                  </a:lnTo>
                  <a:lnTo>
                    <a:pt x="12700" y="2523744"/>
                  </a:lnTo>
                  <a:lnTo>
                    <a:pt x="12631420" y="2523744"/>
                  </a:lnTo>
                  <a:lnTo>
                    <a:pt x="12631420" y="2536444"/>
                  </a:lnTo>
                  <a:lnTo>
                    <a:pt x="12618720" y="2536444"/>
                  </a:lnTo>
                  <a:lnTo>
                    <a:pt x="12618720" y="12700"/>
                  </a:lnTo>
                  <a:lnTo>
                    <a:pt x="12631420" y="12700"/>
                  </a:lnTo>
                  <a:lnTo>
                    <a:pt x="12631420" y="25400"/>
                  </a:lnTo>
                  <a:lnTo>
                    <a:pt x="12700" y="25400"/>
                  </a:lnTo>
                  <a:close/>
                </a:path>
              </a:pathLst>
            </a:custGeom>
            <a:solidFill>
              <a:srgbClr val="1DB954">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 name="Google Shape;703;p19"/>
          <p:cNvGrpSpPr/>
          <p:nvPr/>
        </p:nvGrpSpPr>
        <p:grpSpPr>
          <a:xfrm>
            <a:off x="8357235" y="7740015"/>
            <a:ext cx="156210" cy="1911858"/>
            <a:chOff x="0" y="0"/>
            <a:chExt cx="208280" cy="2549144"/>
          </a:xfrm>
        </p:grpSpPr>
        <p:sp>
          <p:nvSpPr>
            <p:cNvPr id="704" name="Google Shape;704;p19"/>
            <p:cNvSpPr/>
            <p:nvPr/>
          </p:nvSpPr>
          <p:spPr>
            <a:xfrm>
              <a:off x="12700" y="12700"/>
              <a:ext cx="182880" cy="2523744"/>
            </a:xfrm>
            <a:custGeom>
              <a:rect b="b" l="l" r="r" t="t"/>
              <a:pathLst>
                <a:path extrusionOk="0" h="2523744" w="182880">
                  <a:moveTo>
                    <a:pt x="0" y="0"/>
                  </a:moveTo>
                  <a:lnTo>
                    <a:pt x="182880" y="0"/>
                  </a:lnTo>
                  <a:lnTo>
                    <a:pt x="182880" y="2523744"/>
                  </a:lnTo>
                  <a:lnTo>
                    <a:pt x="0" y="2523744"/>
                  </a:lnTo>
                  <a:close/>
                </a:path>
              </a:pathLst>
            </a:custGeom>
            <a:solidFill>
              <a:srgbClr val="1DB954"/>
            </a:solidFill>
            <a:ln>
              <a:noFill/>
            </a:ln>
          </p:spPr>
        </p:sp>
        <p:sp>
          <p:nvSpPr>
            <p:cNvPr id="705" name="Google Shape;705;p19"/>
            <p:cNvSpPr/>
            <p:nvPr/>
          </p:nvSpPr>
          <p:spPr>
            <a:xfrm>
              <a:off x="0" y="0"/>
              <a:ext cx="208280" cy="2549144"/>
            </a:xfrm>
            <a:custGeom>
              <a:rect b="b" l="l" r="r" t="t"/>
              <a:pathLst>
                <a:path extrusionOk="0" h="2549144" w="208280">
                  <a:moveTo>
                    <a:pt x="12700" y="0"/>
                  </a:moveTo>
                  <a:lnTo>
                    <a:pt x="195580" y="0"/>
                  </a:lnTo>
                  <a:cubicBezTo>
                    <a:pt x="202565" y="0"/>
                    <a:pt x="208280" y="5715"/>
                    <a:pt x="208280" y="12700"/>
                  </a:cubicBezTo>
                  <a:lnTo>
                    <a:pt x="208280" y="2536444"/>
                  </a:lnTo>
                  <a:cubicBezTo>
                    <a:pt x="208280" y="2543429"/>
                    <a:pt x="202565" y="2549144"/>
                    <a:pt x="195580" y="2549144"/>
                  </a:cubicBezTo>
                  <a:lnTo>
                    <a:pt x="12700" y="2549144"/>
                  </a:lnTo>
                  <a:cubicBezTo>
                    <a:pt x="5715" y="2549144"/>
                    <a:pt x="0" y="2543429"/>
                    <a:pt x="0" y="2536444"/>
                  </a:cubicBezTo>
                  <a:lnTo>
                    <a:pt x="0" y="12700"/>
                  </a:lnTo>
                  <a:cubicBezTo>
                    <a:pt x="0" y="5715"/>
                    <a:pt x="5715" y="0"/>
                    <a:pt x="12700" y="0"/>
                  </a:cubicBezTo>
                  <a:moveTo>
                    <a:pt x="12700" y="25400"/>
                  </a:moveTo>
                  <a:lnTo>
                    <a:pt x="12700" y="12700"/>
                  </a:lnTo>
                  <a:lnTo>
                    <a:pt x="25400" y="12700"/>
                  </a:lnTo>
                  <a:lnTo>
                    <a:pt x="25400" y="2536444"/>
                  </a:lnTo>
                  <a:lnTo>
                    <a:pt x="12700" y="2536444"/>
                  </a:lnTo>
                  <a:lnTo>
                    <a:pt x="12700" y="2523744"/>
                  </a:lnTo>
                  <a:lnTo>
                    <a:pt x="195580" y="2523744"/>
                  </a:lnTo>
                  <a:lnTo>
                    <a:pt x="195580" y="2536444"/>
                  </a:lnTo>
                  <a:lnTo>
                    <a:pt x="182880" y="2536444"/>
                  </a:lnTo>
                  <a:lnTo>
                    <a:pt x="182880" y="12700"/>
                  </a:lnTo>
                  <a:lnTo>
                    <a:pt x="195580" y="12700"/>
                  </a:lnTo>
                  <a:lnTo>
                    <a:pt x="195580" y="25400"/>
                  </a:lnTo>
                  <a:lnTo>
                    <a:pt x="12700" y="25400"/>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 name="Google Shape;706;p19"/>
          <p:cNvGrpSpPr/>
          <p:nvPr/>
        </p:nvGrpSpPr>
        <p:grpSpPr>
          <a:xfrm>
            <a:off x="8641080" y="7787831"/>
            <a:ext cx="1508760" cy="962977"/>
            <a:chOff x="0" y="-95250"/>
            <a:chExt cx="2011680" cy="1283970"/>
          </a:xfrm>
        </p:grpSpPr>
        <p:sp>
          <p:nvSpPr>
            <p:cNvPr id="707" name="Google Shape;707;p19"/>
            <p:cNvSpPr/>
            <p:nvPr/>
          </p:nvSpPr>
          <p:spPr>
            <a:xfrm>
              <a:off x="0" y="0"/>
              <a:ext cx="2011680" cy="1188720"/>
            </a:xfrm>
            <a:custGeom>
              <a:rect b="b" l="l" r="r" t="t"/>
              <a:pathLst>
                <a:path extrusionOk="0" h="1188720" w="2011680">
                  <a:moveTo>
                    <a:pt x="0" y="0"/>
                  </a:moveTo>
                  <a:lnTo>
                    <a:pt x="2011680" y="0"/>
                  </a:lnTo>
                  <a:lnTo>
                    <a:pt x="2011680" y="1188720"/>
                  </a:lnTo>
                  <a:lnTo>
                    <a:pt x="0" y="1188720"/>
                  </a:lnTo>
                  <a:close/>
                </a:path>
              </a:pathLst>
            </a:custGeom>
            <a:blipFill rotWithShape="1">
              <a:blip r:embed="rId3">
                <a:alphaModFix amt="0"/>
              </a:blip>
              <a:stretch>
                <a:fillRect b="0" l="-25815" r="-25815" t="0"/>
              </a:stretch>
            </a:blipFill>
            <a:ln>
              <a:noFill/>
            </a:ln>
          </p:spPr>
        </p:sp>
        <p:sp>
          <p:nvSpPr>
            <p:cNvPr id="708" name="Google Shape;708;p19"/>
            <p:cNvSpPr txBox="1"/>
            <p:nvPr/>
          </p:nvSpPr>
          <p:spPr>
            <a:xfrm>
              <a:off x="0" y="-95250"/>
              <a:ext cx="2011680" cy="128397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500" u="none" cap="none" strike="noStrike">
                  <a:solidFill>
                    <a:srgbClr val="1DB954"/>
                  </a:solidFill>
                  <a:latin typeface="Calibri"/>
                  <a:ea typeface="Calibri"/>
                  <a:cs typeface="Calibri"/>
                  <a:sym typeface="Calibri"/>
                </a:rPr>
                <a:t>+0.49</a:t>
              </a:r>
              <a:endParaRPr/>
            </a:p>
          </p:txBody>
        </p:sp>
      </p:grpSp>
      <p:grpSp>
        <p:nvGrpSpPr>
          <p:cNvPr id="709" name="Google Shape;709;p19"/>
          <p:cNvGrpSpPr/>
          <p:nvPr/>
        </p:nvGrpSpPr>
        <p:grpSpPr>
          <a:xfrm>
            <a:off x="10355580" y="7823549"/>
            <a:ext cx="7338060" cy="556927"/>
            <a:chOff x="0" y="-47625"/>
            <a:chExt cx="9784080" cy="742569"/>
          </a:xfrm>
        </p:grpSpPr>
        <p:sp>
          <p:nvSpPr>
            <p:cNvPr id="710" name="Google Shape;710;p19"/>
            <p:cNvSpPr/>
            <p:nvPr/>
          </p:nvSpPr>
          <p:spPr>
            <a:xfrm>
              <a:off x="0" y="0"/>
              <a:ext cx="9784080" cy="694944"/>
            </a:xfrm>
            <a:custGeom>
              <a:rect b="b" l="l" r="r" t="t"/>
              <a:pathLst>
                <a:path extrusionOk="0" h="694944" w="9784080">
                  <a:moveTo>
                    <a:pt x="0" y="0"/>
                  </a:moveTo>
                  <a:lnTo>
                    <a:pt x="9784080" y="0"/>
                  </a:lnTo>
                  <a:lnTo>
                    <a:pt x="9784080" y="694944"/>
                  </a:lnTo>
                  <a:lnTo>
                    <a:pt x="0" y="694944"/>
                  </a:lnTo>
                  <a:close/>
                </a:path>
              </a:pathLst>
            </a:custGeom>
            <a:blipFill rotWithShape="1">
              <a:blip r:embed="rId3">
                <a:alphaModFix amt="0"/>
              </a:blip>
              <a:stretch>
                <a:fillRect b="-224333" l="0" r="0" t="-224333"/>
              </a:stretch>
            </a:blipFill>
            <a:ln>
              <a:noFill/>
            </a:ln>
          </p:spPr>
        </p:sp>
        <p:sp>
          <p:nvSpPr>
            <p:cNvPr id="711" name="Google Shape;711;p19"/>
            <p:cNvSpPr txBox="1"/>
            <p:nvPr/>
          </p:nvSpPr>
          <p:spPr>
            <a:xfrm>
              <a:off x="0" y="-47625"/>
              <a:ext cx="9784080" cy="74256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212529"/>
                  </a:solidFill>
                  <a:latin typeface="Calibri"/>
                  <a:ea typeface="Calibri"/>
                  <a:cs typeface="Calibri"/>
                  <a:sym typeface="Calibri"/>
                </a:rPr>
                <a:t>danceability ↔ valence</a:t>
              </a:r>
              <a:endParaRPr/>
            </a:p>
          </p:txBody>
        </p:sp>
      </p:grpSp>
      <p:grpSp>
        <p:nvGrpSpPr>
          <p:cNvPr id="712" name="Google Shape;712;p19"/>
          <p:cNvGrpSpPr/>
          <p:nvPr/>
        </p:nvGrpSpPr>
        <p:grpSpPr>
          <a:xfrm>
            <a:off x="10355580" y="8386477"/>
            <a:ext cx="7338060" cy="432911"/>
            <a:chOff x="0" y="-28575"/>
            <a:chExt cx="9784080" cy="577215"/>
          </a:xfrm>
        </p:grpSpPr>
        <p:sp>
          <p:nvSpPr>
            <p:cNvPr id="713" name="Google Shape;713;p19"/>
            <p:cNvSpPr/>
            <p:nvPr/>
          </p:nvSpPr>
          <p:spPr>
            <a:xfrm>
              <a:off x="0" y="0"/>
              <a:ext cx="9784080" cy="548640"/>
            </a:xfrm>
            <a:custGeom>
              <a:rect b="b" l="l" r="r" t="t"/>
              <a:pathLst>
                <a:path extrusionOk="0" h="548640" w="9784080">
                  <a:moveTo>
                    <a:pt x="0" y="0"/>
                  </a:moveTo>
                  <a:lnTo>
                    <a:pt x="9784080" y="0"/>
                  </a:lnTo>
                  <a:lnTo>
                    <a:pt x="9784080" y="548640"/>
                  </a:lnTo>
                  <a:lnTo>
                    <a:pt x="0" y="548640"/>
                  </a:lnTo>
                  <a:close/>
                </a:path>
              </a:pathLst>
            </a:custGeom>
            <a:blipFill rotWithShape="1">
              <a:blip r:embed="rId3">
                <a:alphaModFix amt="0"/>
              </a:blip>
              <a:stretch>
                <a:fillRect b="-297464" l="0" r="0" t="-297464"/>
              </a:stretch>
            </a:blipFill>
            <a:ln>
              <a:noFill/>
            </a:ln>
          </p:spPr>
        </p:sp>
        <p:sp>
          <p:nvSpPr>
            <p:cNvPr id="714" name="Google Shape;714;p19"/>
            <p:cNvSpPr txBox="1"/>
            <p:nvPr/>
          </p:nvSpPr>
          <p:spPr>
            <a:xfrm>
              <a:off x="0" y="-28575"/>
              <a:ext cx="9784080" cy="5772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650" u="none" cap="none" strike="noStrike">
                  <a:solidFill>
                    <a:srgbClr val="495057"/>
                  </a:solidFill>
                  <a:latin typeface="Calibri"/>
                  <a:ea typeface="Calibri"/>
                  <a:cs typeface="Calibri"/>
                  <a:sym typeface="Calibri"/>
                </a:rPr>
                <a:t>Dans edilebilir şarkılar daha neşeli</a:t>
              </a:r>
              <a:endParaRPr/>
            </a:p>
          </p:txBody>
        </p:sp>
      </p:grpSp>
      <p:sp>
        <p:nvSpPr>
          <p:cNvPr id="715" name="Google Shape;715;p19"/>
          <p:cNvSpPr/>
          <p:nvPr/>
        </p:nvSpPr>
        <p:spPr>
          <a:xfrm>
            <a:off x="10355580" y="8956548"/>
            <a:ext cx="7338060" cy="411480"/>
          </a:xfrm>
          <a:custGeom>
            <a:rect b="b" l="l" r="r" t="t"/>
            <a:pathLst>
              <a:path extrusionOk="0" h="548640" w="9784080">
                <a:moveTo>
                  <a:pt x="0" y="0"/>
                </a:moveTo>
                <a:lnTo>
                  <a:pt x="9784080" y="0"/>
                </a:lnTo>
                <a:lnTo>
                  <a:pt x="9784080" y="548640"/>
                </a:lnTo>
                <a:lnTo>
                  <a:pt x="0" y="548640"/>
                </a:lnTo>
                <a:close/>
              </a:path>
            </a:pathLst>
          </a:custGeom>
          <a:solidFill>
            <a:srgbClr val="1DB954">
              <a:alpha val="1960"/>
            </a:srgbClr>
          </a:solidFill>
          <a:ln>
            <a:noFill/>
          </a:ln>
        </p:spPr>
      </p:sp>
      <p:grpSp>
        <p:nvGrpSpPr>
          <p:cNvPr id="716" name="Google Shape;716;p19"/>
          <p:cNvGrpSpPr/>
          <p:nvPr/>
        </p:nvGrpSpPr>
        <p:grpSpPr>
          <a:xfrm>
            <a:off x="10492740" y="8927973"/>
            <a:ext cx="7132320" cy="440055"/>
            <a:chOff x="0" y="-38100"/>
            <a:chExt cx="9509760" cy="586740"/>
          </a:xfrm>
        </p:grpSpPr>
        <p:sp>
          <p:nvSpPr>
            <p:cNvPr id="717" name="Google Shape;717;p19"/>
            <p:cNvSpPr/>
            <p:nvPr/>
          </p:nvSpPr>
          <p:spPr>
            <a:xfrm>
              <a:off x="0" y="0"/>
              <a:ext cx="9509760" cy="548640"/>
            </a:xfrm>
            <a:custGeom>
              <a:rect b="b" l="l" r="r" t="t"/>
              <a:pathLst>
                <a:path extrusionOk="0" h="548640" w="9509760">
                  <a:moveTo>
                    <a:pt x="0" y="0"/>
                  </a:moveTo>
                  <a:lnTo>
                    <a:pt x="9509760" y="0"/>
                  </a:lnTo>
                  <a:lnTo>
                    <a:pt x="9509760" y="548640"/>
                  </a:lnTo>
                  <a:lnTo>
                    <a:pt x="0" y="548640"/>
                  </a:lnTo>
                  <a:close/>
                </a:path>
              </a:pathLst>
            </a:custGeom>
            <a:blipFill rotWithShape="1">
              <a:blip r:embed="rId3">
                <a:alphaModFix amt="0"/>
              </a:blip>
              <a:stretch>
                <a:fillRect b="-287746" l="0" r="0" t="-287746"/>
              </a:stretch>
            </a:blipFill>
            <a:ln>
              <a:noFill/>
            </a:ln>
          </p:spPr>
        </p:sp>
        <p:sp>
          <p:nvSpPr>
            <p:cNvPr id="718" name="Google Shape;718;p19"/>
            <p:cNvSpPr txBox="1"/>
            <p:nvPr/>
          </p:nvSpPr>
          <p:spPr>
            <a:xfrm>
              <a:off x="0" y="-38100"/>
              <a:ext cx="9509760" cy="586740"/>
            </a:xfrm>
            <a:prstGeom prst="rect">
              <a:avLst/>
            </a:prstGeom>
            <a:noFill/>
            <a:ln>
              <a:noFill/>
            </a:ln>
          </p:spPr>
          <p:txBody>
            <a:bodyPr anchorCtr="0" anchor="ctr" bIns="0" lIns="0" spcFirstLastPara="1" rIns="0" wrap="square" tIns="0">
              <a:noAutofit/>
            </a:bodyPr>
            <a:lstStyle/>
            <a:p>
              <a:pPr indent="0" lvl="0" marL="0" marR="0" rtl="0" algn="l">
                <a:lnSpc>
                  <a:spcPct val="119929"/>
                </a:lnSpc>
                <a:spcBef>
                  <a:spcPts val="0"/>
                </a:spcBef>
                <a:spcAft>
                  <a:spcPts val="0"/>
                </a:spcAft>
                <a:buNone/>
              </a:pPr>
              <a:r>
                <a:rPr b="1" i="0" lang="en-US" sz="1425" u="none" cap="none" strike="noStrike">
                  <a:solidFill>
                    <a:srgbClr val="1DB954"/>
                  </a:solidFill>
                  <a:latin typeface="Calibri"/>
                  <a:ea typeface="Calibri"/>
                  <a:cs typeface="Calibri"/>
                  <a:sym typeface="Calibri"/>
                </a:rPr>
                <a:t>→ FE özelliği: dancefloor_score = (dance+val)/2</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grpSp>
        <p:nvGrpSpPr>
          <p:cNvPr id="727" name="Google Shape;727;p20"/>
          <p:cNvGrpSpPr/>
          <p:nvPr/>
        </p:nvGrpSpPr>
        <p:grpSpPr>
          <a:xfrm>
            <a:off x="-12697" y="-12697"/>
            <a:ext cx="18313336" cy="1579816"/>
            <a:chOff x="0" y="0"/>
            <a:chExt cx="24417782" cy="2106422"/>
          </a:xfrm>
        </p:grpSpPr>
        <p:sp>
          <p:nvSpPr>
            <p:cNvPr id="728" name="Google Shape;728;p20"/>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729" name="Google Shape;729;p20"/>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 name="Google Shape;730;p20"/>
          <p:cNvGrpSpPr/>
          <p:nvPr/>
        </p:nvGrpSpPr>
        <p:grpSpPr>
          <a:xfrm>
            <a:off x="-12697" y="-12697"/>
            <a:ext cx="244792" cy="1579816"/>
            <a:chOff x="0" y="0"/>
            <a:chExt cx="326390" cy="2106422"/>
          </a:xfrm>
        </p:grpSpPr>
        <p:sp>
          <p:nvSpPr>
            <p:cNvPr id="731" name="Google Shape;731;p20"/>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732" name="Google Shape;732;p20"/>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20"/>
          <p:cNvGrpSpPr/>
          <p:nvPr/>
        </p:nvGrpSpPr>
        <p:grpSpPr>
          <a:xfrm>
            <a:off x="548640" y="89154"/>
            <a:ext cx="12801600" cy="880110"/>
            <a:chOff x="0" y="-76200"/>
            <a:chExt cx="17068800" cy="1173480"/>
          </a:xfrm>
        </p:grpSpPr>
        <p:sp>
          <p:nvSpPr>
            <p:cNvPr id="734" name="Google Shape;734;p20"/>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735" name="Google Shape;735;p20"/>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Keşifsel Veri Analizi (EDA)</a:t>
              </a:r>
              <a:endParaRPr/>
            </a:p>
          </p:txBody>
        </p:sp>
      </p:grpSp>
      <p:grpSp>
        <p:nvGrpSpPr>
          <p:cNvPr id="736" name="Google Shape;736;p20"/>
          <p:cNvGrpSpPr/>
          <p:nvPr/>
        </p:nvGrpSpPr>
        <p:grpSpPr>
          <a:xfrm>
            <a:off x="548640" y="915257"/>
            <a:ext cx="16459200" cy="547783"/>
            <a:chOff x="0" y="-47625"/>
            <a:chExt cx="21945600" cy="730377"/>
          </a:xfrm>
        </p:grpSpPr>
        <p:sp>
          <p:nvSpPr>
            <p:cNvPr id="737" name="Google Shape;737;p20"/>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738" name="Google Shape;738;p20"/>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Neden tür tahmini yapıldı?</a:t>
              </a:r>
              <a:endParaRPr/>
            </a:p>
          </p:txBody>
        </p:sp>
      </p:grpSp>
      <p:grpSp>
        <p:nvGrpSpPr>
          <p:cNvPr id="739" name="Google Shape;739;p20"/>
          <p:cNvGrpSpPr/>
          <p:nvPr/>
        </p:nvGrpSpPr>
        <p:grpSpPr>
          <a:xfrm>
            <a:off x="-12697" y="1541783"/>
            <a:ext cx="18313336" cy="98490"/>
            <a:chOff x="0" y="0"/>
            <a:chExt cx="24417782" cy="131320"/>
          </a:xfrm>
        </p:grpSpPr>
        <p:sp>
          <p:nvSpPr>
            <p:cNvPr id="740" name="Google Shape;740;p20"/>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741" name="Google Shape;741;p20"/>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2" name="Google Shape;742;p20"/>
          <p:cNvGrpSpPr/>
          <p:nvPr/>
        </p:nvGrpSpPr>
        <p:grpSpPr>
          <a:xfrm>
            <a:off x="232162" y="1899914"/>
            <a:ext cx="8425186" cy="7358386"/>
            <a:chOff x="0" y="0"/>
            <a:chExt cx="11233582" cy="9811182"/>
          </a:xfrm>
        </p:grpSpPr>
        <p:sp>
          <p:nvSpPr>
            <p:cNvPr id="743" name="Google Shape;743;p20"/>
            <p:cNvSpPr/>
            <p:nvPr/>
          </p:nvSpPr>
          <p:spPr>
            <a:xfrm>
              <a:off x="25884" y="42926"/>
              <a:ext cx="11181814" cy="9725330"/>
            </a:xfrm>
            <a:custGeom>
              <a:rect b="b" l="l" r="r" t="t"/>
              <a:pathLst>
                <a:path extrusionOk="0" h="9725330" w="11181814">
                  <a:moveTo>
                    <a:pt x="0" y="0"/>
                  </a:moveTo>
                  <a:lnTo>
                    <a:pt x="11181814" y="0"/>
                  </a:lnTo>
                  <a:lnTo>
                    <a:pt x="11181814" y="9725330"/>
                  </a:lnTo>
                  <a:lnTo>
                    <a:pt x="0" y="9725330"/>
                  </a:lnTo>
                  <a:close/>
                </a:path>
              </a:pathLst>
            </a:custGeom>
            <a:solidFill>
              <a:srgbClr val="F4F4F4"/>
            </a:solidFill>
            <a:ln>
              <a:noFill/>
            </a:ln>
          </p:spPr>
        </p:sp>
        <p:sp>
          <p:nvSpPr>
            <p:cNvPr id="744" name="Google Shape;744;p20"/>
            <p:cNvSpPr/>
            <p:nvPr/>
          </p:nvSpPr>
          <p:spPr>
            <a:xfrm>
              <a:off x="0" y="0"/>
              <a:ext cx="11233582" cy="9811182"/>
            </a:xfrm>
            <a:custGeom>
              <a:rect b="b" l="l" r="r" t="t"/>
              <a:pathLst>
                <a:path extrusionOk="0" h="9811182" w="11233582">
                  <a:moveTo>
                    <a:pt x="25884" y="0"/>
                  </a:moveTo>
                  <a:lnTo>
                    <a:pt x="11207698" y="0"/>
                  </a:lnTo>
                  <a:cubicBezTo>
                    <a:pt x="11221934" y="0"/>
                    <a:pt x="11233582" y="19317"/>
                    <a:pt x="11233582" y="42926"/>
                  </a:cubicBezTo>
                  <a:lnTo>
                    <a:pt x="11233582" y="9768256"/>
                  </a:lnTo>
                  <a:cubicBezTo>
                    <a:pt x="11233582" y="9791865"/>
                    <a:pt x="11221934" y="9811182"/>
                    <a:pt x="11207698" y="9811182"/>
                  </a:cubicBezTo>
                  <a:lnTo>
                    <a:pt x="25884" y="9811182"/>
                  </a:lnTo>
                  <a:cubicBezTo>
                    <a:pt x="11648" y="9811182"/>
                    <a:pt x="0" y="9791865"/>
                    <a:pt x="0" y="9768256"/>
                  </a:cubicBezTo>
                  <a:lnTo>
                    <a:pt x="0" y="42926"/>
                  </a:lnTo>
                  <a:cubicBezTo>
                    <a:pt x="0" y="19317"/>
                    <a:pt x="11648" y="0"/>
                    <a:pt x="25884" y="0"/>
                  </a:cubicBezTo>
                  <a:moveTo>
                    <a:pt x="25884" y="85852"/>
                  </a:moveTo>
                  <a:lnTo>
                    <a:pt x="25884" y="42926"/>
                  </a:lnTo>
                  <a:lnTo>
                    <a:pt x="51768" y="42926"/>
                  </a:lnTo>
                  <a:lnTo>
                    <a:pt x="51768" y="9768256"/>
                  </a:lnTo>
                  <a:lnTo>
                    <a:pt x="25884" y="9768256"/>
                  </a:lnTo>
                  <a:lnTo>
                    <a:pt x="25884" y="9725330"/>
                  </a:lnTo>
                  <a:lnTo>
                    <a:pt x="11207698" y="9725330"/>
                  </a:lnTo>
                  <a:lnTo>
                    <a:pt x="11207698" y="9768256"/>
                  </a:lnTo>
                  <a:lnTo>
                    <a:pt x="11181814" y="9768256"/>
                  </a:lnTo>
                  <a:lnTo>
                    <a:pt x="11181814" y="42926"/>
                  </a:lnTo>
                  <a:lnTo>
                    <a:pt x="11207698" y="42926"/>
                  </a:lnTo>
                  <a:lnTo>
                    <a:pt x="11207698" y="85852"/>
                  </a:lnTo>
                  <a:lnTo>
                    <a:pt x="25884" y="85852"/>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 name="Google Shape;745;p20"/>
          <p:cNvSpPr/>
          <p:nvPr/>
        </p:nvSpPr>
        <p:spPr>
          <a:xfrm>
            <a:off x="399674" y="2103426"/>
            <a:ext cx="7989902" cy="3955001"/>
          </a:xfrm>
          <a:custGeom>
            <a:rect b="b" l="l" r="r" t="t"/>
            <a:pathLst>
              <a:path extrusionOk="0" h="3955001" w="7989902">
                <a:moveTo>
                  <a:pt x="0" y="0"/>
                </a:moveTo>
                <a:lnTo>
                  <a:pt x="7989902" y="0"/>
                </a:lnTo>
                <a:lnTo>
                  <a:pt x="7989902" y="3955002"/>
                </a:lnTo>
                <a:lnTo>
                  <a:pt x="0" y="3955002"/>
                </a:lnTo>
                <a:lnTo>
                  <a:pt x="0" y="0"/>
                </a:lnTo>
                <a:close/>
              </a:path>
            </a:pathLst>
          </a:custGeom>
          <a:blipFill rotWithShape="1">
            <a:blip r:embed="rId4">
              <a:alphaModFix/>
            </a:blip>
            <a:stretch>
              <a:fillRect b="0" l="0" r="0" t="0"/>
            </a:stretch>
          </a:blipFill>
          <a:ln>
            <a:noFill/>
          </a:ln>
        </p:spPr>
      </p:sp>
      <p:grpSp>
        <p:nvGrpSpPr>
          <p:cNvPr id="746" name="Google Shape;746;p20"/>
          <p:cNvGrpSpPr/>
          <p:nvPr/>
        </p:nvGrpSpPr>
        <p:grpSpPr>
          <a:xfrm>
            <a:off x="399674" y="6291442"/>
            <a:ext cx="7989902" cy="1344782"/>
            <a:chOff x="0" y="-38100"/>
            <a:chExt cx="11394770" cy="1917856"/>
          </a:xfrm>
        </p:grpSpPr>
        <p:sp>
          <p:nvSpPr>
            <p:cNvPr id="747" name="Google Shape;747;p20"/>
            <p:cNvSpPr/>
            <p:nvPr/>
          </p:nvSpPr>
          <p:spPr>
            <a:xfrm>
              <a:off x="0" y="0"/>
              <a:ext cx="11394770" cy="1879756"/>
            </a:xfrm>
            <a:custGeom>
              <a:rect b="b" l="l" r="r" t="t"/>
              <a:pathLst>
                <a:path extrusionOk="0" h="1879756" w="11394770">
                  <a:moveTo>
                    <a:pt x="0" y="0"/>
                  </a:moveTo>
                  <a:lnTo>
                    <a:pt x="11394770" y="0"/>
                  </a:lnTo>
                  <a:lnTo>
                    <a:pt x="11394770" y="1879756"/>
                  </a:lnTo>
                  <a:lnTo>
                    <a:pt x="0" y="1879756"/>
                  </a:lnTo>
                  <a:close/>
                </a:path>
              </a:pathLst>
            </a:custGeom>
            <a:blipFill rotWithShape="1">
              <a:blip r:embed="rId3">
                <a:alphaModFix amt="0"/>
              </a:blip>
              <a:stretch>
                <a:fillRect b="-29955" l="0" r="3703" t="-97525"/>
              </a:stretch>
            </a:blipFill>
            <a:ln>
              <a:noFill/>
            </a:ln>
          </p:spPr>
        </p:sp>
        <p:sp>
          <p:nvSpPr>
            <p:cNvPr id="748" name="Google Shape;748;p20"/>
            <p:cNvSpPr txBox="1"/>
            <p:nvPr/>
          </p:nvSpPr>
          <p:spPr>
            <a:xfrm>
              <a:off x="0" y="-38100"/>
              <a:ext cx="11394770" cy="1917856"/>
            </a:xfrm>
            <a:prstGeom prst="rect">
              <a:avLst/>
            </a:prstGeom>
            <a:noFill/>
            <a:ln>
              <a:noFill/>
            </a:ln>
          </p:spPr>
          <p:txBody>
            <a:bodyPr anchorCtr="0" anchor="ctr" bIns="0" lIns="0" spcFirstLastPara="1" rIns="0" wrap="square" tIns="0">
              <a:noAutofit/>
            </a:bodyPr>
            <a:lstStyle/>
            <a:p>
              <a:pPr indent="0" lvl="0" marL="0" marR="0" rtl="0" algn="just">
                <a:lnSpc>
                  <a:spcPct val="120010"/>
                </a:lnSpc>
                <a:spcBef>
                  <a:spcPts val="0"/>
                </a:spcBef>
                <a:spcAft>
                  <a:spcPts val="0"/>
                </a:spcAft>
                <a:buNone/>
              </a:pPr>
              <a:r>
                <a:rPr b="0" i="0" lang="en-US" sz="1899" u="none" cap="none" strike="noStrike">
                  <a:solidFill>
                    <a:srgbClr val="444444"/>
                  </a:solidFill>
                  <a:latin typeface="Calibri"/>
                  <a:ea typeface="Calibri"/>
                  <a:cs typeface="Calibri"/>
                  <a:sym typeface="Calibri"/>
                </a:rPr>
                <a:t>• Isı haritasında gördüğümüz üzere, 'popularity' (popülerlik) değerinin diğer hiçbir ses özelliğiyle (energy, tempo, danceability vb.) güçlü bir korelasyonu (ilişkisi) yoktur. Yani sadece sesin matematiğine bakarak bir şarkının ne kadar popüler olacağını tahmin etmek veri bilimi açısından mantıklı bir yaklaşım değildir.</a:t>
              </a:r>
              <a:endParaRPr/>
            </a:p>
          </p:txBody>
        </p:sp>
      </p:grpSp>
      <p:grpSp>
        <p:nvGrpSpPr>
          <p:cNvPr id="749" name="Google Shape;749;p20"/>
          <p:cNvGrpSpPr/>
          <p:nvPr/>
        </p:nvGrpSpPr>
        <p:grpSpPr>
          <a:xfrm>
            <a:off x="399674" y="7604723"/>
            <a:ext cx="7989902" cy="1550030"/>
            <a:chOff x="0" y="-38100"/>
            <a:chExt cx="11025270" cy="2138886"/>
          </a:xfrm>
        </p:grpSpPr>
        <p:sp>
          <p:nvSpPr>
            <p:cNvPr id="750" name="Google Shape;750;p20"/>
            <p:cNvSpPr/>
            <p:nvPr/>
          </p:nvSpPr>
          <p:spPr>
            <a:xfrm>
              <a:off x="0" y="0"/>
              <a:ext cx="11025270" cy="2100786"/>
            </a:xfrm>
            <a:custGeom>
              <a:rect b="b" l="l" r="r" t="t"/>
              <a:pathLst>
                <a:path extrusionOk="0" h="2100786" w="11025270">
                  <a:moveTo>
                    <a:pt x="0" y="0"/>
                  </a:moveTo>
                  <a:lnTo>
                    <a:pt x="11025270" y="0"/>
                  </a:lnTo>
                  <a:lnTo>
                    <a:pt x="11025270" y="2100786"/>
                  </a:lnTo>
                  <a:lnTo>
                    <a:pt x="0" y="2100786"/>
                  </a:lnTo>
                  <a:close/>
                </a:path>
              </a:pathLst>
            </a:custGeom>
            <a:blipFill rotWithShape="1">
              <a:blip r:embed="rId3">
                <a:alphaModFix amt="0"/>
              </a:blip>
              <a:stretch>
                <a:fillRect b="-16282" l="0" r="475" t="-87264"/>
              </a:stretch>
            </a:blipFill>
            <a:ln>
              <a:noFill/>
            </a:ln>
          </p:spPr>
        </p:sp>
        <p:sp>
          <p:nvSpPr>
            <p:cNvPr id="751" name="Google Shape;751;p20"/>
            <p:cNvSpPr txBox="1"/>
            <p:nvPr/>
          </p:nvSpPr>
          <p:spPr>
            <a:xfrm>
              <a:off x="0" y="-38100"/>
              <a:ext cx="11025270" cy="2138886"/>
            </a:xfrm>
            <a:prstGeom prst="rect">
              <a:avLst/>
            </a:prstGeom>
            <a:noFill/>
            <a:ln>
              <a:noFill/>
            </a:ln>
          </p:spPr>
          <p:txBody>
            <a:bodyPr anchorCtr="0" anchor="ctr" bIns="0" lIns="0" spcFirstLastPara="1" rIns="0" wrap="square" tIns="0">
              <a:noAutofit/>
            </a:bodyPr>
            <a:lstStyle/>
            <a:p>
              <a:pPr indent="0" lvl="0" marL="0" marR="0" rtl="0" algn="just">
                <a:lnSpc>
                  <a:spcPct val="120010"/>
                </a:lnSpc>
                <a:spcBef>
                  <a:spcPts val="0"/>
                </a:spcBef>
                <a:spcAft>
                  <a:spcPts val="0"/>
                </a:spcAft>
                <a:buNone/>
              </a:pPr>
              <a:r>
                <a:rPr b="0" i="0" lang="en-US" sz="1899" u="none" cap="none" strike="noStrike">
                  <a:solidFill>
                    <a:srgbClr val="444444"/>
                  </a:solidFill>
                  <a:latin typeface="Calibri"/>
                  <a:ea typeface="Calibri"/>
                  <a:cs typeface="Calibri"/>
                  <a:sym typeface="Calibri"/>
                </a:rPr>
                <a:t>• Ayrıca popülerlik dağılım grafiğine baktığımızda çok ciddi bir 'sağa çarpıklık' (uzun kuyruk) görülmekte. Veri setindeki şarkıların büyük çoğunluğunun popülerliği çok düşük. Bu kadar dengesiz (imbalanced) sürekli bir değişkeni tahmin etmeye çalışmak (regresyon), modeli tamamen düşük değerli tahminler yapmaya (bias) itecekti.</a:t>
              </a:r>
              <a:endParaRPr/>
            </a:p>
          </p:txBody>
        </p:sp>
      </p:grpSp>
      <p:grpSp>
        <p:nvGrpSpPr>
          <p:cNvPr id="752" name="Google Shape;752;p20"/>
          <p:cNvGrpSpPr/>
          <p:nvPr/>
        </p:nvGrpSpPr>
        <p:grpSpPr>
          <a:xfrm>
            <a:off x="9137647" y="1899914"/>
            <a:ext cx="8425186" cy="7358386"/>
            <a:chOff x="0" y="0"/>
            <a:chExt cx="11233582" cy="9811182"/>
          </a:xfrm>
        </p:grpSpPr>
        <p:sp>
          <p:nvSpPr>
            <p:cNvPr id="753" name="Google Shape;753;p20"/>
            <p:cNvSpPr/>
            <p:nvPr/>
          </p:nvSpPr>
          <p:spPr>
            <a:xfrm>
              <a:off x="25884" y="42926"/>
              <a:ext cx="11181814" cy="9725330"/>
            </a:xfrm>
            <a:custGeom>
              <a:rect b="b" l="l" r="r" t="t"/>
              <a:pathLst>
                <a:path extrusionOk="0" h="9725330" w="11181814">
                  <a:moveTo>
                    <a:pt x="0" y="0"/>
                  </a:moveTo>
                  <a:lnTo>
                    <a:pt x="11181814" y="0"/>
                  </a:lnTo>
                  <a:lnTo>
                    <a:pt x="11181814" y="9725330"/>
                  </a:lnTo>
                  <a:lnTo>
                    <a:pt x="0" y="9725330"/>
                  </a:lnTo>
                  <a:close/>
                </a:path>
              </a:pathLst>
            </a:custGeom>
            <a:solidFill>
              <a:srgbClr val="F4F4F4"/>
            </a:solidFill>
            <a:ln>
              <a:noFill/>
            </a:ln>
          </p:spPr>
        </p:sp>
        <p:sp>
          <p:nvSpPr>
            <p:cNvPr id="754" name="Google Shape;754;p20"/>
            <p:cNvSpPr/>
            <p:nvPr/>
          </p:nvSpPr>
          <p:spPr>
            <a:xfrm>
              <a:off x="0" y="0"/>
              <a:ext cx="11233582" cy="9811182"/>
            </a:xfrm>
            <a:custGeom>
              <a:rect b="b" l="l" r="r" t="t"/>
              <a:pathLst>
                <a:path extrusionOk="0" h="9811182" w="11233582">
                  <a:moveTo>
                    <a:pt x="25884" y="0"/>
                  </a:moveTo>
                  <a:lnTo>
                    <a:pt x="11207698" y="0"/>
                  </a:lnTo>
                  <a:cubicBezTo>
                    <a:pt x="11221934" y="0"/>
                    <a:pt x="11233582" y="19317"/>
                    <a:pt x="11233582" y="42926"/>
                  </a:cubicBezTo>
                  <a:lnTo>
                    <a:pt x="11233582" y="9768256"/>
                  </a:lnTo>
                  <a:cubicBezTo>
                    <a:pt x="11233582" y="9791865"/>
                    <a:pt x="11221934" y="9811182"/>
                    <a:pt x="11207698" y="9811182"/>
                  </a:cubicBezTo>
                  <a:lnTo>
                    <a:pt x="25884" y="9811182"/>
                  </a:lnTo>
                  <a:cubicBezTo>
                    <a:pt x="11648" y="9811182"/>
                    <a:pt x="0" y="9791865"/>
                    <a:pt x="0" y="9768256"/>
                  </a:cubicBezTo>
                  <a:lnTo>
                    <a:pt x="0" y="42926"/>
                  </a:lnTo>
                  <a:cubicBezTo>
                    <a:pt x="0" y="19317"/>
                    <a:pt x="11648" y="0"/>
                    <a:pt x="25884" y="0"/>
                  </a:cubicBezTo>
                  <a:moveTo>
                    <a:pt x="25884" y="85852"/>
                  </a:moveTo>
                  <a:lnTo>
                    <a:pt x="25884" y="42926"/>
                  </a:lnTo>
                  <a:lnTo>
                    <a:pt x="51768" y="42926"/>
                  </a:lnTo>
                  <a:lnTo>
                    <a:pt x="51768" y="9768256"/>
                  </a:lnTo>
                  <a:lnTo>
                    <a:pt x="25884" y="9768256"/>
                  </a:lnTo>
                  <a:lnTo>
                    <a:pt x="25884" y="9725330"/>
                  </a:lnTo>
                  <a:lnTo>
                    <a:pt x="11207698" y="9725330"/>
                  </a:lnTo>
                  <a:lnTo>
                    <a:pt x="11207698" y="9768256"/>
                  </a:lnTo>
                  <a:lnTo>
                    <a:pt x="11181814" y="9768256"/>
                  </a:lnTo>
                  <a:lnTo>
                    <a:pt x="11181814" y="42926"/>
                  </a:lnTo>
                  <a:lnTo>
                    <a:pt x="11207698" y="42926"/>
                  </a:lnTo>
                  <a:lnTo>
                    <a:pt x="11207698" y="85852"/>
                  </a:lnTo>
                  <a:lnTo>
                    <a:pt x="25884" y="85852"/>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5" name="Google Shape;755;p20"/>
          <p:cNvSpPr/>
          <p:nvPr/>
        </p:nvSpPr>
        <p:spPr>
          <a:xfrm>
            <a:off x="10693043" y="2211838"/>
            <a:ext cx="5314395" cy="4121897"/>
          </a:xfrm>
          <a:custGeom>
            <a:rect b="b" l="l" r="r" t="t"/>
            <a:pathLst>
              <a:path extrusionOk="0" h="4121897" w="5314395">
                <a:moveTo>
                  <a:pt x="0" y="0"/>
                </a:moveTo>
                <a:lnTo>
                  <a:pt x="5314394" y="0"/>
                </a:lnTo>
                <a:lnTo>
                  <a:pt x="5314394" y="4121897"/>
                </a:lnTo>
                <a:lnTo>
                  <a:pt x="0" y="4121897"/>
                </a:lnTo>
                <a:lnTo>
                  <a:pt x="0" y="0"/>
                </a:lnTo>
                <a:close/>
              </a:path>
            </a:pathLst>
          </a:custGeom>
          <a:blipFill rotWithShape="1">
            <a:blip r:embed="rId5">
              <a:alphaModFix/>
            </a:blip>
            <a:stretch>
              <a:fillRect b="0" l="0" r="0" t="0"/>
            </a:stretch>
          </a:blipFill>
          <a:ln>
            <a:noFill/>
          </a:ln>
        </p:spPr>
      </p:sp>
      <p:grpSp>
        <p:nvGrpSpPr>
          <p:cNvPr id="756" name="Google Shape;756;p20"/>
          <p:cNvGrpSpPr/>
          <p:nvPr/>
        </p:nvGrpSpPr>
        <p:grpSpPr>
          <a:xfrm>
            <a:off x="9355289" y="6382324"/>
            <a:ext cx="7989902" cy="1250010"/>
            <a:chOff x="0" y="-38100"/>
            <a:chExt cx="11025270" cy="1724890"/>
          </a:xfrm>
        </p:grpSpPr>
        <p:sp>
          <p:nvSpPr>
            <p:cNvPr id="757" name="Google Shape;757;p20"/>
            <p:cNvSpPr/>
            <p:nvPr/>
          </p:nvSpPr>
          <p:spPr>
            <a:xfrm>
              <a:off x="0" y="0"/>
              <a:ext cx="11025270" cy="1686790"/>
            </a:xfrm>
            <a:custGeom>
              <a:rect b="b" l="l" r="r" t="t"/>
              <a:pathLst>
                <a:path extrusionOk="0" h="1686790" w="11025270">
                  <a:moveTo>
                    <a:pt x="0" y="0"/>
                  </a:moveTo>
                  <a:lnTo>
                    <a:pt x="11025270" y="0"/>
                  </a:lnTo>
                  <a:lnTo>
                    <a:pt x="11025270" y="1686790"/>
                  </a:lnTo>
                  <a:lnTo>
                    <a:pt x="0" y="1686790"/>
                  </a:lnTo>
                  <a:close/>
                </a:path>
              </a:pathLst>
            </a:custGeom>
            <a:blipFill rotWithShape="1">
              <a:blip r:embed="rId3">
                <a:alphaModFix amt="0"/>
              </a:blip>
              <a:stretch>
                <a:fillRect b="-44822" l="0" r="475" t="-108683"/>
              </a:stretch>
            </a:blipFill>
            <a:ln>
              <a:noFill/>
            </a:ln>
          </p:spPr>
        </p:sp>
        <p:sp>
          <p:nvSpPr>
            <p:cNvPr id="758" name="Google Shape;758;p20"/>
            <p:cNvSpPr txBox="1"/>
            <p:nvPr/>
          </p:nvSpPr>
          <p:spPr>
            <a:xfrm>
              <a:off x="0" y="-38100"/>
              <a:ext cx="11025270" cy="1724890"/>
            </a:xfrm>
            <a:prstGeom prst="rect">
              <a:avLst/>
            </a:prstGeom>
            <a:noFill/>
            <a:ln>
              <a:noFill/>
            </a:ln>
          </p:spPr>
          <p:txBody>
            <a:bodyPr anchorCtr="0" anchor="ctr" bIns="0" lIns="0" spcFirstLastPara="1" rIns="0" wrap="square" tIns="0">
              <a:noAutofit/>
            </a:bodyPr>
            <a:lstStyle/>
            <a:p>
              <a:pPr indent="0" lvl="0" marL="0" marR="0" rtl="0" algn="just">
                <a:lnSpc>
                  <a:spcPct val="120010"/>
                </a:lnSpc>
                <a:spcBef>
                  <a:spcPts val="0"/>
                </a:spcBef>
                <a:spcAft>
                  <a:spcPts val="0"/>
                </a:spcAft>
                <a:buNone/>
              </a:pPr>
              <a:r>
                <a:rPr b="0" i="0" lang="en-US" sz="1899" u="none" cap="none" strike="noStrike">
                  <a:solidFill>
                    <a:srgbClr val="444444"/>
                  </a:solidFill>
                  <a:latin typeface="Calibri"/>
                  <a:ea typeface="Calibri"/>
                  <a:cs typeface="Calibri"/>
                  <a:sym typeface="Calibri"/>
                </a:rPr>
                <a:t>• Radar grafiğinde görüldüğü üzere, türler müzikal özelliklere göre çok net ve ayırt edici geometrik şekiller oluşturmaktadır.</a:t>
              </a:r>
              <a:endParaRPr/>
            </a:p>
            <a:p>
              <a:pPr indent="0" lvl="0" marL="0" marR="0" rtl="0" algn="just">
                <a:lnSpc>
                  <a:spcPct val="120010"/>
                </a:lnSpc>
                <a:spcBef>
                  <a:spcPts val="0"/>
                </a:spcBef>
                <a:spcAft>
                  <a:spcPts val="0"/>
                </a:spcAft>
                <a:buNone/>
              </a:pPr>
              <a:r>
                <a:t/>
              </a:r>
              <a:endParaRPr b="0" i="0" sz="1899" u="none" cap="none" strike="noStrike">
                <a:solidFill>
                  <a:srgbClr val="444444"/>
                </a:solidFill>
                <a:latin typeface="Calibri"/>
                <a:ea typeface="Calibri"/>
                <a:cs typeface="Calibri"/>
                <a:sym typeface="Calibri"/>
              </a:endParaRPr>
            </a:p>
          </p:txBody>
        </p:sp>
      </p:grpSp>
      <p:grpSp>
        <p:nvGrpSpPr>
          <p:cNvPr id="759" name="Google Shape;759;p20"/>
          <p:cNvGrpSpPr/>
          <p:nvPr/>
        </p:nvGrpSpPr>
        <p:grpSpPr>
          <a:xfrm>
            <a:off x="9355289" y="7298072"/>
            <a:ext cx="7989902" cy="1389851"/>
            <a:chOff x="0" y="-38100"/>
            <a:chExt cx="11025270" cy="1917856"/>
          </a:xfrm>
        </p:grpSpPr>
        <p:sp>
          <p:nvSpPr>
            <p:cNvPr id="760" name="Google Shape;760;p20"/>
            <p:cNvSpPr/>
            <p:nvPr/>
          </p:nvSpPr>
          <p:spPr>
            <a:xfrm>
              <a:off x="0" y="0"/>
              <a:ext cx="11025270" cy="1879756"/>
            </a:xfrm>
            <a:custGeom>
              <a:rect b="b" l="l" r="r" t="t"/>
              <a:pathLst>
                <a:path extrusionOk="0" h="1879756" w="11025270">
                  <a:moveTo>
                    <a:pt x="0" y="0"/>
                  </a:moveTo>
                  <a:lnTo>
                    <a:pt x="11025270" y="0"/>
                  </a:lnTo>
                  <a:lnTo>
                    <a:pt x="11025270" y="1879756"/>
                  </a:lnTo>
                  <a:lnTo>
                    <a:pt x="0" y="1879756"/>
                  </a:lnTo>
                  <a:close/>
                </a:path>
              </a:pathLst>
            </a:custGeom>
            <a:blipFill rotWithShape="1">
              <a:blip r:embed="rId3">
                <a:alphaModFix amt="0"/>
              </a:blip>
              <a:stretch>
                <a:fillRect b="-29955" l="0" r="475" t="-97525"/>
              </a:stretch>
            </a:blipFill>
            <a:ln>
              <a:noFill/>
            </a:ln>
          </p:spPr>
        </p:sp>
        <p:sp>
          <p:nvSpPr>
            <p:cNvPr id="761" name="Google Shape;761;p20"/>
            <p:cNvSpPr txBox="1"/>
            <p:nvPr/>
          </p:nvSpPr>
          <p:spPr>
            <a:xfrm>
              <a:off x="0" y="-38100"/>
              <a:ext cx="11025270" cy="1917856"/>
            </a:xfrm>
            <a:prstGeom prst="rect">
              <a:avLst/>
            </a:prstGeom>
            <a:noFill/>
            <a:ln>
              <a:noFill/>
            </a:ln>
          </p:spPr>
          <p:txBody>
            <a:bodyPr anchorCtr="0" anchor="ctr" bIns="0" lIns="0" spcFirstLastPara="1" rIns="0" wrap="square" tIns="0">
              <a:noAutofit/>
            </a:bodyPr>
            <a:lstStyle/>
            <a:p>
              <a:pPr indent="0" lvl="0" marL="0" marR="0" rtl="0" algn="just">
                <a:lnSpc>
                  <a:spcPct val="120010"/>
                </a:lnSpc>
                <a:spcBef>
                  <a:spcPts val="0"/>
                </a:spcBef>
                <a:spcAft>
                  <a:spcPts val="0"/>
                </a:spcAft>
                <a:buNone/>
              </a:pPr>
              <a:r>
                <a:rPr b="0" i="0" lang="en-US" sz="1899" u="none" cap="none" strike="noStrike">
                  <a:solidFill>
                    <a:srgbClr val="444444"/>
                  </a:solidFill>
                  <a:latin typeface="Calibri"/>
                  <a:ea typeface="Calibri"/>
                  <a:cs typeface="Calibri"/>
                  <a:sym typeface="Calibri"/>
                </a:rPr>
                <a:t>• Bu nedenlerle; elimizdeki veri seti popülerlik tahmini (regresyon) için değil, müzik türü tahmini (113 sınıflı sınıflandırma) problemi için çok daha güçlü ve uygundur. bu okey mi</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grpSp>
        <p:nvGrpSpPr>
          <p:cNvPr id="770" name="Google Shape;770;p21"/>
          <p:cNvGrpSpPr/>
          <p:nvPr/>
        </p:nvGrpSpPr>
        <p:grpSpPr>
          <a:xfrm>
            <a:off x="-12697" y="-12697"/>
            <a:ext cx="18313336" cy="1579816"/>
            <a:chOff x="0" y="0"/>
            <a:chExt cx="24417782" cy="2106422"/>
          </a:xfrm>
        </p:grpSpPr>
        <p:sp>
          <p:nvSpPr>
            <p:cNvPr id="771" name="Google Shape;771;p21"/>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772" name="Google Shape;772;p21"/>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 name="Google Shape;773;p21"/>
          <p:cNvGrpSpPr/>
          <p:nvPr/>
        </p:nvGrpSpPr>
        <p:grpSpPr>
          <a:xfrm>
            <a:off x="-12697" y="-12697"/>
            <a:ext cx="244792" cy="1579816"/>
            <a:chOff x="0" y="0"/>
            <a:chExt cx="326390" cy="2106422"/>
          </a:xfrm>
        </p:grpSpPr>
        <p:sp>
          <p:nvSpPr>
            <p:cNvPr id="774" name="Google Shape;774;p21"/>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775" name="Google Shape;775;p21"/>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 name="Google Shape;776;p21"/>
          <p:cNvGrpSpPr/>
          <p:nvPr/>
        </p:nvGrpSpPr>
        <p:grpSpPr>
          <a:xfrm>
            <a:off x="548640" y="89154"/>
            <a:ext cx="12801600" cy="880110"/>
            <a:chOff x="0" y="-76200"/>
            <a:chExt cx="17068800" cy="1173480"/>
          </a:xfrm>
        </p:grpSpPr>
        <p:sp>
          <p:nvSpPr>
            <p:cNvPr id="777" name="Google Shape;777;p21"/>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778" name="Google Shape;778;p21"/>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Feature Engineering</a:t>
              </a:r>
              <a:endParaRPr/>
            </a:p>
          </p:txBody>
        </p:sp>
      </p:grpSp>
      <p:grpSp>
        <p:nvGrpSpPr>
          <p:cNvPr id="779" name="Google Shape;779;p21"/>
          <p:cNvGrpSpPr/>
          <p:nvPr/>
        </p:nvGrpSpPr>
        <p:grpSpPr>
          <a:xfrm>
            <a:off x="548640" y="915257"/>
            <a:ext cx="16459200" cy="547783"/>
            <a:chOff x="0" y="-47625"/>
            <a:chExt cx="21945600" cy="730377"/>
          </a:xfrm>
        </p:grpSpPr>
        <p:sp>
          <p:nvSpPr>
            <p:cNvPr id="780" name="Google Shape;780;p21"/>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781" name="Google Shape;781;p21"/>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Silver katmanından 5 yeni özellik üretildi → Delta Lake Gold'a yazıldı</a:t>
              </a:r>
              <a:endParaRPr/>
            </a:p>
          </p:txBody>
        </p:sp>
      </p:grpSp>
      <p:grpSp>
        <p:nvGrpSpPr>
          <p:cNvPr id="782" name="Google Shape;782;p21"/>
          <p:cNvGrpSpPr/>
          <p:nvPr/>
        </p:nvGrpSpPr>
        <p:grpSpPr>
          <a:xfrm>
            <a:off x="-12697" y="1541783"/>
            <a:ext cx="18313336" cy="98490"/>
            <a:chOff x="0" y="0"/>
            <a:chExt cx="24417782" cy="131320"/>
          </a:xfrm>
        </p:grpSpPr>
        <p:sp>
          <p:nvSpPr>
            <p:cNvPr id="783" name="Google Shape;783;p21"/>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784" name="Google Shape;784;p21"/>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5" name="Google Shape;785;p21"/>
          <p:cNvGrpSpPr/>
          <p:nvPr/>
        </p:nvGrpSpPr>
        <p:grpSpPr>
          <a:xfrm>
            <a:off x="447675" y="1910715"/>
            <a:ext cx="17392650" cy="1390650"/>
            <a:chOff x="0" y="0"/>
            <a:chExt cx="23190200" cy="1854200"/>
          </a:xfrm>
        </p:grpSpPr>
        <p:sp>
          <p:nvSpPr>
            <p:cNvPr id="786" name="Google Shape;786;p21"/>
            <p:cNvSpPr/>
            <p:nvPr/>
          </p:nvSpPr>
          <p:spPr>
            <a:xfrm>
              <a:off x="12700" y="12700"/>
              <a:ext cx="23164800" cy="1828800"/>
            </a:xfrm>
            <a:custGeom>
              <a:rect b="b" l="l" r="r" t="t"/>
              <a:pathLst>
                <a:path extrusionOk="0" h="1828800" w="23164800">
                  <a:moveTo>
                    <a:pt x="0" y="0"/>
                  </a:moveTo>
                  <a:lnTo>
                    <a:pt x="23164800" y="0"/>
                  </a:lnTo>
                  <a:lnTo>
                    <a:pt x="23164800" y="1828800"/>
                  </a:lnTo>
                  <a:lnTo>
                    <a:pt x="0" y="1828800"/>
                  </a:lnTo>
                  <a:close/>
                </a:path>
              </a:pathLst>
            </a:custGeom>
            <a:solidFill>
              <a:srgbClr val="F4F4F4"/>
            </a:solidFill>
            <a:ln>
              <a:noFill/>
            </a:ln>
          </p:spPr>
        </p:sp>
        <p:sp>
          <p:nvSpPr>
            <p:cNvPr id="787" name="Google Shape;787;p21"/>
            <p:cNvSpPr/>
            <p:nvPr/>
          </p:nvSpPr>
          <p:spPr>
            <a:xfrm>
              <a:off x="0" y="0"/>
              <a:ext cx="23190200" cy="1854200"/>
            </a:xfrm>
            <a:custGeom>
              <a:rect b="b" l="l" r="r" t="t"/>
              <a:pathLst>
                <a:path extrusionOk="0" h="1854200" w="23190200">
                  <a:moveTo>
                    <a:pt x="12700" y="0"/>
                  </a:moveTo>
                  <a:lnTo>
                    <a:pt x="23177500" y="0"/>
                  </a:lnTo>
                  <a:cubicBezTo>
                    <a:pt x="23184486" y="0"/>
                    <a:pt x="23190200" y="5715"/>
                    <a:pt x="23190200" y="12700"/>
                  </a:cubicBezTo>
                  <a:lnTo>
                    <a:pt x="23190200" y="1841500"/>
                  </a:lnTo>
                  <a:cubicBezTo>
                    <a:pt x="23190200" y="1848485"/>
                    <a:pt x="23184486" y="1854200"/>
                    <a:pt x="23177500" y="1854200"/>
                  </a:cubicBezTo>
                  <a:lnTo>
                    <a:pt x="12700" y="1854200"/>
                  </a:lnTo>
                  <a:cubicBezTo>
                    <a:pt x="5715" y="1854200"/>
                    <a:pt x="0" y="1848485"/>
                    <a:pt x="0" y="1841500"/>
                  </a:cubicBezTo>
                  <a:lnTo>
                    <a:pt x="0" y="12700"/>
                  </a:lnTo>
                  <a:cubicBezTo>
                    <a:pt x="0" y="5715"/>
                    <a:pt x="5715" y="0"/>
                    <a:pt x="12700" y="0"/>
                  </a:cubicBezTo>
                  <a:moveTo>
                    <a:pt x="12700" y="25400"/>
                  </a:moveTo>
                  <a:lnTo>
                    <a:pt x="12700" y="12700"/>
                  </a:lnTo>
                  <a:lnTo>
                    <a:pt x="25400" y="12700"/>
                  </a:lnTo>
                  <a:lnTo>
                    <a:pt x="25400" y="1841500"/>
                  </a:lnTo>
                  <a:lnTo>
                    <a:pt x="12700" y="1841500"/>
                  </a:lnTo>
                  <a:lnTo>
                    <a:pt x="12700" y="1828800"/>
                  </a:lnTo>
                  <a:lnTo>
                    <a:pt x="23177500" y="1828800"/>
                  </a:lnTo>
                  <a:lnTo>
                    <a:pt x="23177500" y="1841500"/>
                  </a:lnTo>
                  <a:lnTo>
                    <a:pt x="23164800" y="184150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8" name="Google Shape;788;p21"/>
          <p:cNvGrpSpPr/>
          <p:nvPr/>
        </p:nvGrpSpPr>
        <p:grpSpPr>
          <a:xfrm>
            <a:off x="444503" y="1907543"/>
            <a:ext cx="171640" cy="1396936"/>
            <a:chOff x="0" y="0"/>
            <a:chExt cx="228854" cy="1862582"/>
          </a:xfrm>
        </p:grpSpPr>
        <p:sp>
          <p:nvSpPr>
            <p:cNvPr id="789" name="Google Shape;789;p21"/>
            <p:cNvSpPr/>
            <p:nvPr/>
          </p:nvSpPr>
          <p:spPr>
            <a:xfrm>
              <a:off x="16891" y="16891"/>
              <a:ext cx="195072" cy="1828800"/>
            </a:xfrm>
            <a:custGeom>
              <a:rect b="b" l="l" r="r" t="t"/>
              <a:pathLst>
                <a:path extrusionOk="0" h="1828800" w="195072">
                  <a:moveTo>
                    <a:pt x="0" y="0"/>
                  </a:moveTo>
                  <a:lnTo>
                    <a:pt x="195072" y="0"/>
                  </a:lnTo>
                  <a:lnTo>
                    <a:pt x="195072" y="1828800"/>
                  </a:lnTo>
                  <a:lnTo>
                    <a:pt x="0" y="1828800"/>
                  </a:lnTo>
                  <a:close/>
                </a:path>
              </a:pathLst>
            </a:custGeom>
            <a:solidFill>
              <a:srgbClr val="2980B9"/>
            </a:solidFill>
            <a:ln>
              <a:noFill/>
            </a:ln>
          </p:spPr>
        </p:sp>
        <p:sp>
          <p:nvSpPr>
            <p:cNvPr id="790" name="Google Shape;790;p21"/>
            <p:cNvSpPr/>
            <p:nvPr/>
          </p:nvSpPr>
          <p:spPr>
            <a:xfrm>
              <a:off x="0" y="0"/>
              <a:ext cx="228854" cy="1862582"/>
            </a:xfrm>
            <a:custGeom>
              <a:rect b="b" l="l" r="r" t="t"/>
              <a:pathLst>
                <a:path extrusionOk="0" h="1862582" w="228854">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1" name="Google Shape;791;p21"/>
          <p:cNvGrpSpPr/>
          <p:nvPr/>
        </p:nvGrpSpPr>
        <p:grpSpPr>
          <a:xfrm>
            <a:off x="731520" y="1975961"/>
            <a:ext cx="6400800" cy="547783"/>
            <a:chOff x="0" y="-47625"/>
            <a:chExt cx="8534400" cy="730377"/>
          </a:xfrm>
        </p:grpSpPr>
        <p:sp>
          <p:nvSpPr>
            <p:cNvPr id="792" name="Google Shape;792;p21"/>
            <p:cNvSpPr/>
            <p:nvPr/>
          </p:nvSpPr>
          <p:spPr>
            <a:xfrm>
              <a:off x="0" y="0"/>
              <a:ext cx="8534400" cy="682752"/>
            </a:xfrm>
            <a:custGeom>
              <a:rect b="b" l="l" r="r" t="t"/>
              <a:pathLst>
                <a:path extrusionOk="0" h="682752" w="8534400">
                  <a:moveTo>
                    <a:pt x="0" y="0"/>
                  </a:moveTo>
                  <a:lnTo>
                    <a:pt x="8534400" y="0"/>
                  </a:lnTo>
                  <a:lnTo>
                    <a:pt x="8534400" y="682752"/>
                  </a:lnTo>
                  <a:lnTo>
                    <a:pt x="0" y="682752"/>
                  </a:lnTo>
                  <a:close/>
                </a:path>
              </a:pathLst>
            </a:custGeom>
            <a:blipFill rotWithShape="1">
              <a:blip r:embed="rId3">
                <a:alphaModFix amt="0"/>
              </a:blip>
              <a:stretch>
                <a:fillRect b="-193570" l="0" r="0" t="-193570"/>
              </a:stretch>
            </a:blipFill>
            <a:ln>
              <a:noFill/>
            </a:ln>
          </p:spPr>
        </p:sp>
        <p:sp>
          <p:nvSpPr>
            <p:cNvPr id="793" name="Google Shape;793;p21"/>
            <p:cNvSpPr txBox="1"/>
            <p:nvPr/>
          </p:nvSpPr>
          <p:spPr>
            <a:xfrm>
              <a:off x="0" y="-47625"/>
              <a:ext cx="85344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2980B9"/>
                  </a:solidFill>
                  <a:latin typeface="Calibri"/>
                  <a:ea typeface="Calibri"/>
                  <a:cs typeface="Calibri"/>
                  <a:sym typeface="Calibri"/>
                </a:rPr>
                <a:t>energy_danceability_ratio</a:t>
              </a:r>
              <a:endParaRPr/>
            </a:p>
          </p:txBody>
        </p:sp>
      </p:grpSp>
      <p:grpSp>
        <p:nvGrpSpPr>
          <p:cNvPr id="794" name="Google Shape;794;p21"/>
          <p:cNvGrpSpPr/>
          <p:nvPr/>
        </p:nvGrpSpPr>
        <p:grpSpPr>
          <a:xfrm>
            <a:off x="7132320" y="1983105"/>
            <a:ext cx="10424160" cy="540639"/>
            <a:chOff x="0" y="-38100"/>
            <a:chExt cx="13898880" cy="720852"/>
          </a:xfrm>
        </p:grpSpPr>
        <p:sp>
          <p:nvSpPr>
            <p:cNvPr id="795" name="Google Shape;795;p21"/>
            <p:cNvSpPr/>
            <p:nvPr/>
          </p:nvSpPr>
          <p:spPr>
            <a:xfrm>
              <a:off x="0" y="0"/>
              <a:ext cx="13898880" cy="682752"/>
            </a:xfrm>
            <a:custGeom>
              <a:rect b="b" l="l" r="r" t="t"/>
              <a:pathLst>
                <a:path extrusionOk="0" h="682752" w="13898880">
                  <a:moveTo>
                    <a:pt x="0" y="0"/>
                  </a:moveTo>
                  <a:lnTo>
                    <a:pt x="13898880" y="0"/>
                  </a:lnTo>
                  <a:lnTo>
                    <a:pt x="13898880" y="682752"/>
                  </a:lnTo>
                  <a:lnTo>
                    <a:pt x="0" y="682752"/>
                  </a:lnTo>
                  <a:close/>
                </a:path>
              </a:pathLst>
            </a:custGeom>
            <a:blipFill rotWithShape="1">
              <a:blip r:embed="rId3">
                <a:alphaModFix amt="0"/>
              </a:blip>
              <a:stretch>
                <a:fillRect b="-346636" l="0" r="0" t="-346636"/>
              </a:stretch>
            </a:blipFill>
            <a:ln>
              <a:noFill/>
            </a:ln>
          </p:spPr>
        </p:sp>
        <p:sp>
          <p:nvSpPr>
            <p:cNvPr id="796" name="Google Shape;796;p21"/>
            <p:cNvSpPr txBox="1"/>
            <p:nvPr/>
          </p:nvSpPr>
          <p:spPr>
            <a:xfrm>
              <a:off x="0" y="-38100"/>
              <a:ext cx="138988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000" u="none" cap="none" strike="noStrike">
                  <a:solidFill>
                    <a:srgbClr val="555555"/>
                  </a:solidFill>
                  <a:latin typeface="Calibri"/>
                  <a:ea typeface="Calibri"/>
                  <a:cs typeface="Calibri"/>
                  <a:sym typeface="Calibri"/>
                </a:rPr>
                <a:t>= energy / (danceability + 0.0001)</a:t>
              </a:r>
              <a:endParaRPr/>
            </a:p>
          </p:txBody>
        </p:sp>
      </p:grpSp>
      <p:grpSp>
        <p:nvGrpSpPr>
          <p:cNvPr id="797" name="Google Shape;797;p21"/>
          <p:cNvGrpSpPr/>
          <p:nvPr/>
        </p:nvGrpSpPr>
        <p:grpSpPr>
          <a:xfrm>
            <a:off x="731520" y="2586609"/>
            <a:ext cx="16824960" cy="540639"/>
            <a:chOff x="0" y="-38100"/>
            <a:chExt cx="22433280" cy="720852"/>
          </a:xfrm>
        </p:grpSpPr>
        <p:sp>
          <p:nvSpPr>
            <p:cNvPr id="798" name="Google Shape;798;p21"/>
            <p:cNvSpPr/>
            <p:nvPr/>
          </p:nvSpPr>
          <p:spPr>
            <a:xfrm>
              <a:off x="0" y="0"/>
              <a:ext cx="22433280" cy="682752"/>
            </a:xfrm>
            <a:custGeom>
              <a:rect b="b" l="l" r="r" t="t"/>
              <a:pathLst>
                <a:path extrusionOk="0" h="682752" w="22433280">
                  <a:moveTo>
                    <a:pt x="0" y="0"/>
                  </a:moveTo>
                  <a:lnTo>
                    <a:pt x="22433280" y="0"/>
                  </a:lnTo>
                  <a:lnTo>
                    <a:pt x="22433280" y="682752"/>
                  </a:lnTo>
                  <a:lnTo>
                    <a:pt x="0" y="682752"/>
                  </a:lnTo>
                  <a:close/>
                </a:path>
              </a:pathLst>
            </a:custGeom>
            <a:blipFill rotWithShape="1">
              <a:blip r:embed="rId3">
                <a:alphaModFix amt="0"/>
              </a:blip>
              <a:stretch>
                <a:fillRect b="-590205" l="0" r="0" t="-590205"/>
              </a:stretch>
            </a:blipFill>
            <a:ln>
              <a:noFill/>
            </a:ln>
          </p:spPr>
        </p:sp>
        <p:sp>
          <p:nvSpPr>
            <p:cNvPr id="799" name="Google Shape;799;p21"/>
            <p:cNvSpPr txBox="1"/>
            <p:nvPr/>
          </p:nvSpPr>
          <p:spPr>
            <a:xfrm>
              <a:off x="0" y="-38100"/>
              <a:ext cx="224332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Enerjik ama dans edilemeyen şarkıları ayırt eder. En yüksek: sleep türü.</a:t>
              </a:r>
              <a:endParaRPr/>
            </a:p>
          </p:txBody>
        </p:sp>
      </p:grpSp>
      <p:grpSp>
        <p:nvGrpSpPr>
          <p:cNvPr id="800" name="Google Shape;800;p21"/>
          <p:cNvGrpSpPr/>
          <p:nvPr/>
        </p:nvGrpSpPr>
        <p:grpSpPr>
          <a:xfrm>
            <a:off x="447675" y="3410331"/>
            <a:ext cx="17392650" cy="1390650"/>
            <a:chOff x="0" y="0"/>
            <a:chExt cx="23190200" cy="1854200"/>
          </a:xfrm>
        </p:grpSpPr>
        <p:sp>
          <p:nvSpPr>
            <p:cNvPr id="801" name="Google Shape;801;p21"/>
            <p:cNvSpPr/>
            <p:nvPr/>
          </p:nvSpPr>
          <p:spPr>
            <a:xfrm>
              <a:off x="12700" y="12700"/>
              <a:ext cx="23164800" cy="1828800"/>
            </a:xfrm>
            <a:custGeom>
              <a:rect b="b" l="l" r="r" t="t"/>
              <a:pathLst>
                <a:path extrusionOk="0" h="1828800" w="23164800">
                  <a:moveTo>
                    <a:pt x="0" y="0"/>
                  </a:moveTo>
                  <a:lnTo>
                    <a:pt x="23164800" y="0"/>
                  </a:lnTo>
                  <a:lnTo>
                    <a:pt x="23164800" y="1828800"/>
                  </a:lnTo>
                  <a:lnTo>
                    <a:pt x="0" y="1828800"/>
                  </a:lnTo>
                  <a:close/>
                </a:path>
              </a:pathLst>
            </a:custGeom>
            <a:solidFill>
              <a:srgbClr val="FFFFFF"/>
            </a:solidFill>
            <a:ln>
              <a:noFill/>
            </a:ln>
          </p:spPr>
        </p:sp>
        <p:sp>
          <p:nvSpPr>
            <p:cNvPr id="802" name="Google Shape;802;p21"/>
            <p:cNvSpPr/>
            <p:nvPr/>
          </p:nvSpPr>
          <p:spPr>
            <a:xfrm>
              <a:off x="0" y="0"/>
              <a:ext cx="23190200" cy="1854200"/>
            </a:xfrm>
            <a:custGeom>
              <a:rect b="b" l="l" r="r" t="t"/>
              <a:pathLst>
                <a:path extrusionOk="0" h="1854200" w="23190200">
                  <a:moveTo>
                    <a:pt x="12700" y="0"/>
                  </a:moveTo>
                  <a:lnTo>
                    <a:pt x="23177500" y="0"/>
                  </a:lnTo>
                  <a:cubicBezTo>
                    <a:pt x="23184486" y="0"/>
                    <a:pt x="23190200" y="5715"/>
                    <a:pt x="23190200" y="12700"/>
                  </a:cubicBezTo>
                  <a:lnTo>
                    <a:pt x="23190200" y="1841500"/>
                  </a:lnTo>
                  <a:cubicBezTo>
                    <a:pt x="23190200" y="1848485"/>
                    <a:pt x="23184486" y="1854200"/>
                    <a:pt x="23177500" y="1854200"/>
                  </a:cubicBezTo>
                  <a:lnTo>
                    <a:pt x="12700" y="1854200"/>
                  </a:lnTo>
                  <a:cubicBezTo>
                    <a:pt x="5715" y="1854200"/>
                    <a:pt x="0" y="1848485"/>
                    <a:pt x="0" y="1841500"/>
                  </a:cubicBezTo>
                  <a:lnTo>
                    <a:pt x="0" y="12700"/>
                  </a:lnTo>
                  <a:cubicBezTo>
                    <a:pt x="0" y="5715"/>
                    <a:pt x="5715" y="0"/>
                    <a:pt x="12700" y="0"/>
                  </a:cubicBezTo>
                  <a:moveTo>
                    <a:pt x="12700" y="25400"/>
                  </a:moveTo>
                  <a:lnTo>
                    <a:pt x="12700" y="12700"/>
                  </a:lnTo>
                  <a:lnTo>
                    <a:pt x="25400" y="12700"/>
                  </a:lnTo>
                  <a:lnTo>
                    <a:pt x="25400" y="1841500"/>
                  </a:lnTo>
                  <a:lnTo>
                    <a:pt x="12700" y="1841500"/>
                  </a:lnTo>
                  <a:lnTo>
                    <a:pt x="12700" y="1828800"/>
                  </a:lnTo>
                  <a:lnTo>
                    <a:pt x="23177500" y="1828800"/>
                  </a:lnTo>
                  <a:lnTo>
                    <a:pt x="23177500" y="1841500"/>
                  </a:lnTo>
                  <a:lnTo>
                    <a:pt x="23164800" y="184150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 name="Google Shape;803;p21"/>
          <p:cNvGrpSpPr/>
          <p:nvPr/>
        </p:nvGrpSpPr>
        <p:grpSpPr>
          <a:xfrm>
            <a:off x="444503" y="3407159"/>
            <a:ext cx="171640" cy="1396936"/>
            <a:chOff x="0" y="0"/>
            <a:chExt cx="228854" cy="1862582"/>
          </a:xfrm>
        </p:grpSpPr>
        <p:sp>
          <p:nvSpPr>
            <p:cNvPr id="804" name="Google Shape;804;p21"/>
            <p:cNvSpPr/>
            <p:nvPr/>
          </p:nvSpPr>
          <p:spPr>
            <a:xfrm>
              <a:off x="16891" y="16891"/>
              <a:ext cx="195072" cy="1828800"/>
            </a:xfrm>
            <a:custGeom>
              <a:rect b="b" l="l" r="r" t="t"/>
              <a:pathLst>
                <a:path extrusionOk="0" h="1828800" w="195072">
                  <a:moveTo>
                    <a:pt x="0" y="0"/>
                  </a:moveTo>
                  <a:lnTo>
                    <a:pt x="195072" y="0"/>
                  </a:lnTo>
                  <a:lnTo>
                    <a:pt x="195072" y="1828800"/>
                  </a:lnTo>
                  <a:lnTo>
                    <a:pt x="0" y="1828800"/>
                  </a:lnTo>
                  <a:close/>
                </a:path>
              </a:pathLst>
            </a:custGeom>
            <a:solidFill>
              <a:srgbClr val="8E44AD"/>
            </a:solidFill>
            <a:ln>
              <a:noFill/>
            </a:ln>
          </p:spPr>
        </p:sp>
        <p:sp>
          <p:nvSpPr>
            <p:cNvPr id="805" name="Google Shape;805;p21"/>
            <p:cNvSpPr/>
            <p:nvPr/>
          </p:nvSpPr>
          <p:spPr>
            <a:xfrm>
              <a:off x="0" y="0"/>
              <a:ext cx="228854" cy="1862582"/>
            </a:xfrm>
            <a:custGeom>
              <a:rect b="b" l="l" r="r" t="t"/>
              <a:pathLst>
                <a:path extrusionOk="0" h="1862582" w="228854">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6" name="Google Shape;806;p21"/>
          <p:cNvGrpSpPr/>
          <p:nvPr/>
        </p:nvGrpSpPr>
        <p:grpSpPr>
          <a:xfrm>
            <a:off x="731520" y="3475577"/>
            <a:ext cx="6400800" cy="547783"/>
            <a:chOff x="0" y="-47625"/>
            <a:chExt cx="8534400" cy="730377"/>
          </a:xfrm>
        </p:grpSpPr>
        <p:sp>
          <p:nvSpPr>
            <p:cNvPr id="807" name="Google Shape;807;p21"/>
            <p:cNvSpPr/>
            <p:nvPr/>
          </p:nvSpPr>
          <p:spPr>
            <a:xfrm>
              <a:off x="0" y="0"/>
              <a:ext cx="8534400" cy="682752"/>
            </a:xfrm>
            <a:custGeom>
              <a:rect b="b" l="l" r="r" t="t"/>
              <a:pathLst>
                <a:path extrusionOk="0" h="682752" w="8534400">
                  <a:moveTo>
                    <a:pt x="0" y="0"/>
                  </a:moveTo>
                  <a:lnTo>
                    <a:pt x="8534400" y="0"/>
                  </a:lnTo>
                  <a:lnTo>
                    <a:pt x="8534400" y="682752"/>
                  </a:lnTo>
                  <a:lnTo>
                    <a:pt x="0" y="682752"/>
                  </a:lnTo>
                  <a:close/>
                </a:path>
              </a:pathLst>
            </a:custGeom>
            <a:blipFill rotWithShape="1">
              <a:blip r:embed="rId3">
                <a:alphaModFix amt="0"/>
              </a:blip>
              <a:stretch>
                <a:fillRect b="-193570" l="0" r="0" t="-193570"/>
              </a:stretch>
            </a:blipFill>
            <a:ln>
              <a:noFill/>
            </a:ln>
          </p:spPr>
        </p:sp>
        <p:sp>
          <p:nvSpPr>
            <p:cNvPr id="808" name="Google Shape;808;p21"/>
            <p:cNvSpPr txBox="1"/>
            <p:nvPr/>
          </p:nvSpPr>
          <p:spPr>
            <a:xfrm>
              <a:off x="0" y="-47625"/>
              <a:ext cx="85344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8E44AD"/>
                  </a:solidFill>
                  <a:latin typeface="Calibri"/>
                  <a:ea typeface="Calibri"/>
                  <a:cs typeface="Calibri"/>
                  <a:sym typeface="Calibri"/>
                </a:rPr>
                <a:t>loudness_normalized</a:t>
              </a:r>
              <a:endParaRPr/>
            </a:p>
          </p:txBody>
        </p:sp>
      </p:grpSp>
      <p:grpSp>
        <p:nvGrpSpPr>
          <p:cNvPr id="809" name="Google Shape;809;p21"/>
          <p:cNvGrpSpPr/>
          <p:nvPr/>
        </p:nvGrpSpPr>
        <p:grpSpPr>
          <a:xfrm>
            <a:off x="7132320" y="3482721"/>
            <a:ext cx="10424160" cy="540639"/>
            <a:chOff x="0" y="-38100"/>
            <a:chExt cx="13898880" cy="720852"/>
          </a:xfrm>
        </p:grpSpPr>
        <p:sp>
          <p:nvSpPr>
            <p:cNvPr id="810" name="Google Shape;810;p21"/>
            <p:cNvSpPr/>
            <p:nvPr/>
          </p:nvSpPr>
          <p:spPr>
            <a:xfrm>
              <a:off x="0" y="0"/>
              <a:ext cx="13898880" cy="682752"/>
            </a:xfrm>
            <a:custGeom>
              <a:rect b="b" l="l" r="r" t="t"/>
              <a:pathLst>
                <a:path extrusionOk="0" h="682752" w="13898880">
                  <a:moveTo>
                    <a:pt x="0" y="0"/>
                  </a:moveTo>
                  <a:lnTo>
                    <a:pt x="13898880" y="0"/>
                  </a:lnTo>
                  <a:lnTo>
                    <a:pt x="13898880" y="682752"/>
                  </a:lnTo>
                  <a:lnTo>
                    <a:pt x="0" y="682752"/>
                  </a:lnTo>
                  <a:close/>
                </a:path>
              </a:pathLst>
            </a:custGeom>
            <a:blipFill rotWithShape="1">
              <a:blip r:embed="rId3">
                <a:alphaModFix amt="0"/>
              </a:blip>
              <a:stretch>
                <a:fillRect b="-346636" l="0" r="0" t="-346636"/>
              </a:stretch>
            </a:blipFill>
            <a:ln>
              <a:noFill/>
            </a:ln>
          </p:spPr>
        </p:sp>
        <p:sp>
          <p:nvSpPr>
            <p:cNvPr id="811" name="Google Shape;811;p21"/>
            <p:cNvSpPr txBox="1"/>
            <p:nvPr/>
          </p:nvSpPr>
          <p:spPr>
            <a:xfrm>
              <a:off x="0" y="-38100"/>
              <a:ext cx="138988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000" u="none" cap="none" strike="noStrike">
                  <a:solidFill>
                    <a:srgbClr val="555555"/>
                  </a:solidFill>
                  <a:latin typeface="Calibri"/>
                  <a:ea typeface="Calibri"/>
                  <a:cs typeface="Calibri"/>
                  <a:sym typeface="Calibri"/>
                </a:rPr>
                <a:t>= (loudness − min) / (max − min)</a:t>
              </a:r>
              <a:endParaRPr/>
            </a:p>
          </p:txBody>
        </p:sp>
      </p:grpSp>
      <p:grpSp>
        <p:nvGrpSpPr>
          <p:cNvPr id="812" name="Google Shape;812;p21"/>
          <p:cNvGrpSpPr/>
          <p:nvPr/>
        </p:nvGrpSpPr>
        <p:grpSpPr>
          <a:xfrm>
            <a:off x="731520" y="4086225"/>
            <a:ext cx="16824960" cy="540639"/>
            <a:chOff x="0" y="-38100"/>
            <a:chExt cx="22433280" cy="720852"/>
          </a:xfrm>
        </p:grpSpPr>
        <p:sp>
          <p:nvSpPr>
            <p:cNvPr id="813" name="Google Shape;813;p21"/>
            <p:cNvSpPr/>
            <p:nvPr/>
          </p:nvSpPr>
          <p:spPr>
            <a:xfrm>
              <a:off x="0" y="0"/>
              <a:ext cx="22433280" cy="682752"/>
            </a:xfrm>
            <a:custGeom>
              <a:rect b="b" l="l" r="r" t="t"/>
              <a:pathLst>
                <a:path extrusionOk="0" h="682752" w="22433280">
                  <a:moveTo>
                    <a:pt x="0" y="0"/>
                  </a:moveTo>
                  <a:lnTo>
                    <a:pt x="22433280" y="0"/>
                  </a:lnTo>
                  <a:lnTo>
                    <a:pt x="22433280" y="682752"/>
                  </a:lnTo>
                  <a:lnTo>
                    <a:pt x="0" y="682752"/>
                  </a:lnTo>
                  <a:close/>
                </a:path>
              </a:pathLst>
            </a:custGeom>
            <a:blipFill rotWithShape="1">
              <a:blip r:embed="rId3">
                <a:alphaModFix amt="0"/>
              </a:blip>
              <a:stretch>
                <a:fillRect b="-590205" l="0" r="0" t="-590205"/>
              </a:stretch>
            </a:blipFill>
            <a:ln>
              <a:noFill/>
            </a:ln>
          </p:spPr>
        </p:sp>
        <p:sp>
          <p:nvSpPr>
            <p:cNvPr id="814" name="Google Shape;814;p21"/>
            <p:cNvSpPr txBox="1"/>
            <p:nvPr/>
          </p:nvSpPr>
          <p:spPr>
            <a:xfrm>
              <a:off x="0" y="-38100"/>
              <a:ext cx="224332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Loudness −49.53 / +4.53 dB aralığını 0–1'e normalize eder. Ort: 0.759.</a:t>
              </a:r>
              <a:endParaRPr/>
            </a:p>
          </p:txBody>
        </p:sp>
      </p:grpSp>
      <p:grpSp>
        <p:nvGrpSpPr>
          <p:cNvPr id="815" name="Google Shape;815;p21"/>
          <p:cNvGrpSpPr/>
          <p:nvPr/>
        </p:nvGrpSpPr>
        <p:grpSpPr>
          <a:xfrm>
            <a:off x="447675" y="4909947"/>
            <a:ext cx="17392650" cy="1390650"/>
            <a:chOff x="0" y="0"/>
            <a:chExt cx="23190200" cy="1854200"/>
          </a:xfrm>
        </p:grpSpPr>
        <p:sp>
          <p:nvSpPr>
            <p:cNvPr id="816" name="Google Shape;816;p21"/>
            <p:cNvSpPr/>
            <p:nvPr/>
          </p:nvSpPr>
          <p:spPr>
            <a:xfrm>
              <a:off x="12700" y="12700"/>
              <a:ext cx="23164800" cy="1828800"/>
            </a:xfrm>
            <a:custGeom>
              <a:rect b="b" l="l" r="r" t="t"/>
              <a:pathLst>
                <a:path extrusionOk="0" h="1828800" w="23164800">
                  <a:moveTo>
                    <a:pt x="0" y="0"/>
                  </a:moveTo>
                  <a:lnTo>
                    <a:pt x="23164800" y="0"/>
                  </a:lnTo>
                  <a:lnTo>
                    <a:pt x="23164800" y="1828800"/>
                  </a:lnTo>
                  <a:lnTo>
                    <a:pt x="0" y="1828800"/>
                  </a:lnTo>
                  <a:close/>
                </a:path>
              </a:pathLst>
            </a:custGeom>
            <a:solidFill>
              <a:srgbClr val="F4F4F4"/>
            </a:solidFill>
            <a:ln>
              <a:noFill/>
            </a:ln>
          </p:spPr>
        </p:sp>
        <p:sp>
          <p:nvSpPr>
            <p:cNvPr id="817" name="Google Shape;817;p21"/>
            <p:cNvSpPr/>
            <p:nvPr/>
          </p:nvSpPr>
          <p:spPr>
            <a:xfrm>
              <a:off x="0" y="0"/>
              <a:ext cx="23190200" cy="1854200"/>
            </a:xfrm>
            <a:custGeom>
              <a:rect b="b" l="l" r="r" t="t"/>
              <a:pathLst>
                <a:path extrusionOk="0" h="1854200" w="23190200">
                  <a:moveTo>
                    <a:pt x="12700" y="0"/>
                  </a:moveTo>
                  <a:lnTo>
                    <a:pt x="23177500" y="0"/>
                  </a:lnTo>
                  <a:cubicBezTo>
                    <a:pt x="23184486" y="0"/>
                    <a:pt x="23190200" y="5715"/>
                    <a:pt x="23190200" y="12700"/>
                  </a:cubicBezTo>
                  <a:lnTo>
                    <a:pt x="23190200" y="1841500"/>
                  </a:lnTo>
                  <a:cubicBezTo>
                    <a:pt x="23190200" y="1848485"/>
                    <a:pt x="23184486" y="1854200"/>
                    <a:pt x="23177500" y="1854200"/>
                  </a:cubicBezTo>
                  <a:lnTo>
                    <a:pt x="12700" y="1854200"/>
                  </a:lnTo>
                  <a:cubicBezTo>
                    <a:pt x="5715" y="1854200"/>
                    <a:pt x="0" y="1848485"/>
                    <a:pt x="0" y="1841500"/>
                  </a:cubicBezTo>
                  <a:lnTo>
                    <a:pt x="0" y="12700"/>
                  </a:lnTo>
                  <a:cubicBezTo>
                    <a:pt x="0" y="5715"/>
                    <a:pt x="5715" y="0"/>
                    <a:pt x="12700" y="0"/>
                  </a:cubicBezTo>
                  <a:moveTo>
                    <a:pt x="12700" y="25400"/>
                  </a:moveTo>
                  <a:lnTo>
                    <a:pt x="12700" y="12700"/>
                  </a:lnTo>
                  <a:lnTo>
                    <a:pt x="25400" y="12700"/>
                  </a:lnTo>
                  <a:lnTo>
                    <a:pt x="25400" y="1841500"/>
                  </a:lnTo>
                  <a:lnTo>
                    <a:pt x="12700" y="1841500"/>
                  </a:lnTo>
                  <a:lnTo>
                    <a:pt x="12700" y="1828800"/>
                  </a:lnTo>
                  <a:lnTo>
                    <a:pt x="23177500" y="1828800"/>
                  </a:lnTo>
                  <a:lnTo>
                    <a:pt x="23177500" y="1841500"/>
                  </a:lnTo>
                  <a:lnTo>
                    <a:pt x="23164800" y="184150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8" name="Google Shape;818;p21"/>
          <p:cNvGrpSpPr/>
          <p:nvPr/>
        </p:nvGrpSpPr>
        <p:grpSpPr>
          <a:xfrm>
            <a:off x="444503" y="4906775"/>
            <a:ext cx="171640" cy="1396936"/>
            <a:chOff x="0" y="0"/>
            <a:chExt cx="228854" cy="1862582"/>
          </a:xfrm>
        </p:grpSpPr>
        <p:sp>
          <p:nvSpPr>
            <p:cNvPr id="819" name="Google Shape;819;p21"/>
            <p:cNvSpPr/>
            <p:nvPr/>
          </p:nvSpPr>
          <p:spPr>
            <a:xfrm>
              <a:off x="16891" y="16891"/>
              <a:ext cx="195072" cy="1828800"/>
            </a:xfrm>
            <a:custGeom>
              <a:rect b="b" l="l" r="r" t="t"/>
              <a:pathLst>
                <a:path extrusionOk="0" h="1828800" w="195072">
                  <a:moveTo>
                    <a:pt x="0" y="0"/>
                  </a:moveTo>
                  <a:lnTo>
                    <a:pt x="195072" y="0"/>
                  </a:lnTo>
                  <a:lnTo>
                    <a:pt x="195072" y="1828800"/>
                  </a:lnTo>
                  <a:lnTo>
                    <a:pt x="0" y="1828800"/>
                  </a:lnTo>
                  <a:close/>
                </a:path>
              </a:pathLst>
            </a:custGeom>
            <a:solidFill>
              <a:srgbClr val="E67E22"/>
            </a:solidFill>
            <a:ln>
              <a:noFill/>
            </a:ln>
          </p:spPr>
        </p:sp>
        <p:sp>
          <p:nvSpPr>
            <p:cNvPr id="820" name="Google Shape;820;p21"/>
            <p:cNvSpPr/>
            <p:nvPr/>
          </p:nvSpPr>
          <p:spPr>
            <a:xfrm>
              <a:off x="0" y="0"/>
              <a:ext cx="228854" cy="1862582"/>
            </a:xfrm>
            <a:custGeom>
              <a:rect b="b" l="l" r="r" t="t"/>
              <a:pathLst>
                <a:path extrusionOk="0" h="1862582" w="228854">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E67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 name="Google Shape;821;p21"/>
          <p:cNvGrpSpPr/>
          <p:nvPr/>
        </p:nvGrpSpPr>
        <p:grpSpPr>
          <a:xfrm>
            <a:off x="731520" y="4975193"/>
            <a:ext cx="6400800" cy="547783"/>
            <a:chOff x="0" y="-47625"/>
            <a:chExt cx="8534400" cy="730377"/>
          </a:xfrm>
        </p:grpSpPr>
        <p:sp>
          <p:nvSpPr>
            <p:cNvPr id="822" name="Google Shape;822;p21"/>
            <p:cNvSpPr/>
            <p:nvPr/>
          </p:nvSpPr>
          <p:spPr>
            <a:xfrm>
              <a:off x="0" y="0"/>
              <a:ext cx="8534400" cy="682752"/>
            </a:xfrm>
            <a:custGeom>
              <a:rect b="b" l="l" r="r" t="t"/>
              <a:pathLst>
                <a:path extrusionOk="0" h="682752" w="8534400">
                  <a:moveTo>
                    <a:pt x="0" y="0"/>
                  </a:moveTo>
                  <a:lnTo>
                    <a:pt x="8534400" y="0"/>
                  </a:lnTo>
                  <a:lnTo>
                    <a:pt x="8534400" y="682752"/>
                  </a:lnTo>
                  <a:lnTo>
                    <a:pt x="0" y="682752"/>
                  </a:lnTo>
                  <a:close/>
                </a:path>
              </a:pathLst>
            </a:custGeom>
            <a:blipFill rotWithShape="1">
              <a:blip r:embed="rId3">
                <a:alphaModFix amt="0"/>
              </a:blip>
              <a:stretch>
                <a:fillRect b="-193570" l="0" r="0" t="-193570"/>
              </a:stretch>
            </a:blipFill>
            <a:ln>
              <a:noFill/>
            </a:ln>
          </p:spPr>
        </p:sp>
        <p:sp>
          <p:nvSpPr>
            <p:cNvPr id="823" name="Google Shape;823;p21"/>
            <p:cNvSpPr txBox="1"/>
            <p:nvPr/>
          </p:nvSpPr>
          <p:spPr>
            <a:xfrm>
              <a:off x="0" y="-47625"/>
              <a:ext cx="85344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E67E22"/>
                  </a:solidFill>
                  <a:latin typeface="Calibri"/>
                  <a:ea typeface="Calibri"/>
                  <a:cs typeface="Calibri"/>
                  <a:sym typeface="Calibri"/>
                </a:rPr>
                <a:t>tempo_category</a:t>
              </a:r>
              <a:endParaRPr/>
            </a:p>
          </p:txBody>
        </p:sp>
      </p:grpSp>
      <p:grpSp>
        <p:nvGrpSpPr>
          <p:cNvPr id="824" name="Google Shape;824;p21"/>
          <p:cNvGrpSpPr/>
          <p:nvPr/>
        </p:nvGrpSpPr>
        <p:grpSpPr>
          <a:xfrm>
            <a:off x="7132320" y="4982337"/>
            <a:ext cx="10424160" cy="540639"/>
            <a:chOff x="0" y="-38100"/>
            <a:chExt cx="13898880" cy="720852"/>
          </a:xfrm>
        </p:grpSpPr>
        <p:sp>
          <p:nvSpPr>
            <p:cNvPr id="825" name="Google Shape;825;p21"/>
            <p:cNvSpPr/>
            <p:nvPr/>
          </p:nvSpPr>
          <p:spPr>
            <a:xfrm>
              <a:off x="0" y="0"/>
              <a:ext cx="13898880" cy="682752"/>
            </a:xfrm>
            <a:custGeom>
              <a:rect b="b" l="l" r="r" t="t"/>
              <a:pathLst>
                <a:path extrusionOk="0" h="682752" w="13898880">
                  <a:moveTo>
                    <a:pt x="0" y="0"/>
                  </a:moveTo>
                  <a:lnTo>
                    <a:pt x="13898880" y="0"/>
                  </a:lnTo>
                  <a:lnTo>
                    <a:pt x="13898880" y="682752"/>
                  </a:lnTo>
                  <a:lnTo>
                    <a:pt x="0" y="682752"/>
                  </a:lnTo>
                  <a:close/>
                </a:path>
              </a:pathLst>
            </a:custGeom>
            <a:blipFill rotWithShape="1">
              <a:blip r:embed="rId3">
                <a:alphaModFix amt="0"/>
              </a:blip>
              <a:stretch>
                <a:fillRect b="-346636" l="0" r="0" t="-346636"/>
              </a:stretch>
            </a:blipFill>
            <a:ln>
              <a:noFill/>
            </a:ln>
          </p:spPr>
        </p:sp>
        <p:sp>
          <p:nvSpPr>
            <p:cNvPr id="826" name="Google Shape;826;p21"/>
            <p:cNvSpPr txBox="1"/>
            <p:nvPr/>
          </p:nvSpPr>
          <p:spPr>
            <a:xfrm>
              <a:off x="0" y="-38100"/>
              <a:ext cx="138988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000" u="none" cap="none" strike="noStrike">
                  <a:solidFill>
                    <a:srgbClr val="555555"/>
                  </a:solidFill>
                  <a:latin typeface="Calibri"/>
                  <a:ea typeface="Calibri"/>
                  <a:cs typeface="Calibri"/>
                  <a:sym typeface="Calibri"/>
                </a:rPr>
                <a:t>= yavaş (&lt;100) / orta (100–140) / hızlı (&gt;140 BPM)</a:t>
              </a:r>
              <a:endParaRPr/>
            </a:p>
          </p:txBody>
        </p:sp>
      </p:grpSp>
      <p:grpSp>
        <p:nvGrpSpPr>
          <p:cNvPr id="827" name="Google Shape;827;p21"/>
          <p:cNvGrpSpPr/>
          <p:nvPr/>
        </p:nvGrpSpPr>
        <p:grpSpPr>
          <a:xfrm>
            <a:off x="731520" y="5585841"/>
            <a:ext cx="16824960" cy="540639"/>
            <a:chOff x="0" y="-38100"/>
            <a:chExt cx="22433280" cy="720852"/>
          </a:xfrm>
        </p:grpSpPr>
        <p:sp>
          <p:nvSpPr>
            <p:cNvPr id="828" name="Google Shape;828;p21"/>
            <p:cNvSpPr/>
            <p:nvPr/>
          </p:nvSpPr>
          <p:spPr>
            <a:xfrm>
              <a:off x="0" y="0"/>
              <a:ext cx="22433280" cy="682752"/>
            </a:xfrm>
            <a:custGeom>
              <a:rect b="b" l="l" r="r" t="t"/>
              <a:pathLst>
                <a:path extrusionOk="0" h="682752" w="22433280">
                  <a:moveTo>
                    <a:pt x="0" y="0"/>
                  </a:moveTo>
                  <a:lnTo>
                    <a:pt x="22433280" y="0"/>
                  </a:lnTo>
                  <a:lnTo>
                    <a:pt x="22433280" y="682752"/>
                  </a:lnTo>
                  <a:lnTo>
                    <a:pt x="0" y="682752"/>
                  </a:lnTo>
                  <a:close/>
                </a:path>
              </a:pathLst>
            </a:custGeom>
            <a:blipFill rotWithShape="1">
              <a:blip r:embed="rId3">
                <a:alphaModFix amt="0"/>
              </a:blip>
              <a:stretch>
                <a:fillRect b="-590205" l="0" r="0" t="-590205"/>
              </a:stretch>
            </a:blipFill>
            <a:ln>
              <a:noFill/>
            </a:ln>
          </p:spPr>
        </p:sp>
        <p:sp>
          <p:nvSpPr>
            <p:cNvPr id="829" name="Google Shape;829;p21"/>
            <p:cNvSpPr txBox="1"/>
            <p:nvPr/>
          </p:nvSpPr>
          <p:spPr>
            <a:xfrm>
              <a:off x="0" y="-38100"/>
              <a:ext cx="224332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Şarkıların yarısından fazlası 'orta' grupta. ML için kategorik özellik.</a:t>
              </a:r>
              <a:endParaRPr/>
            </a:p>
          </p:txBody>
        </p:sp>
      </p:grpSp>
      <p:grpSp>
        <p:nvGrpSpPr>
          <p:cNvPr id="830" name="Google Shape;830;p21"/>
          <p:cNvGrpSpPr/>
          <p:nvPr/>
        </p:nvGrpSpPr>
        <p:grpSpPr>
          <a:xfrm>
            <a:off x="447675" y="6409563"/>
            <a:ext cx="17392650" cy="1390650"/>
            <a:chOff x="0" y="0"/>
            <a:chExt cx="23190200" cy="1854200"/>
          </a:xfrm>
        </p:grpSpPr>
        <p:sp>
          <p:nvSpPr>
            <p:cNvPr id="831" name="Google Shape;831;p21"/>
            <p:cNvSpPr/>
            <p:nvPr/>
          </p:nvSpPr>
          <p:spPr>
            <a:xfrm>
              <a:off x="12700" y="12700"/>
              <a:ext cx="23164800" cy="1828800"/>
            </a:xfrm>
            <a:custGeom>
              <a:rect b="b" l="l" r="r" t="t"/>
              <a:pathLst>
                <a:path extrusionOk="0" h="1828800" w="23164800">
                  <a:moveTo>
                    <a:pt x="0" y="0"/>
                  </a:moveTo>
                  <a:lnTo>
                    <a:pt x="23164800" y="0"/>
                  </a:lnTo>
                  <a:lnTo>
                    <a:pt x="23164800" y="1828800"/>
                  </a:lnTo>
                  <a:lnTo>
                    <a:pt x="0" y="1828800"/>
                  </a:lnTo>
                  <a:close/>
                </a:path>
              </a:pathLst>
            </a:custGeom>
            <a:solidFill>
              <a:srgbClr val="FFFFFF"/>
            </a:solidFill>
            <a:ln>
              <a:noFill/>
            </a:ln>
          </p:spPr>
        </p:sp>
        <p:sp>
          <p:nvSpPr>
            <p:cNvPr id="832" name="Google Shape;832;p21"/>
            <p:cNvSpPr/>
            <p:nvPr/>
          </p:nvSpPr>
          <p:spPr>
            <a:xfrm>
              <a:off x="0" y="0"/>
              <a:ext cx="23190200" cy="1854200"/>
            </a:xfrm>
            <a:custGeom>
              <a:rect b="b" l="l" r="r" t="t"/>
              <a:pathLst>
                <a:path extrusionOk="0" h="1854200" w="23190200">
                  <a:moveTo>
                    <a:pt x="12700" y="0"/>
                  </a:moveTo>
                  <a:lnTo>
                    <a:pt x="23177500" y="0"/>
                  </a:lnTo>
                  <a:cubicBezTo>
                    <a:pt x="23184486" y="0"/>
                    <a:pt x="23190200" y="5715"/>
                    <a:pt x="23190200" y="12700"/>
                  </a:cubicBezTo>
                  <a:lnTo>
                    <a:pt x="23190200" y="1841500"/>
                  </a:lnTo>
                  <a:cubicBezTo>
                    <a:pt x="23190200" y="1848485"/>
                    <a:pt x="23184486" y="1854200"/>
                    <a:pt x="23177500" y="1854200"/>
                  </a:cubicBezTo>
                  <a:lnTo>
                    <a:pt x="12700" y="1854200"/>
                  </a:lnTo>
                  <a:cubicBezTo>
                    <a:pt x="5715" y="1854200"/>
                    <a:pt x="0" y="1848485"/>
                    <a:pt x="0" y="1841500"/>
                  </a:cubicBezTo>
                  <a:lnTo>
                    <a:pt x="0" y="12700"/>
                  </a:lnTo>
                  <a:cubicBezTo>
                    <a:pt x="0" y="5715"/>
                    <a:pt x="5715" y="0"/>
                    <a:pt x="12700" y="0"/>
                  </a:cubicBezTo>
                  <a:moveTo>
                    <a:pt x="12700" y="25400"/>
                  </a:moveTo>
                  <a:lnTo>
                    <a:pt x="12700" y="12700"/>
                  </a:lnTo>
                  <a:lnTo>
                    <a:pt x="25400" y="12700"/>
                  </a:lnTo>
                  <a:lnTo>
                    <a:pt x="25400" y="1841500"/>
                  </a:lnTo>
                  <a:lnTo>
                    <a:pt x="12700" y="1841500"/>
                  </a:lnTo>
                  <a:lnTo>
                    <a:pt x="12700" y="1828800"/>
                  </a:lnTo>
                  <a:lnTo>
                    <a:pt x="23177500" y="1828800"/>
                  </a:lnTo>
                  <a:lnTo>
                    <a:pt x="23177500" y="1841500"/>
                  </a:lnTo>
                  <a:lnTo>
                    <a:pt x="23164800" y="184150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 name="Google Shape;833;p21"/>
          <p:cNvGrpSpPr/>
          <p:nvPr/>
        </p:nvGrpSpPr>
        <p:grpSpPr>
          <a:xfrm>
            <a:off x="444503" y="6406391"/>
            <a:ext cx="171640" cy="1396936"/>
            <a:chOff x="0" y="0"/>
            <a:chExt cx="228854" cy="1862582"/>
          </a:xfrm>
        </p:grpSpPr>
        <p:sp>
          <p:nvSpPr>
            <p:cNvPr id="834" name="Google Shape;834;p21"/>
            <p:cNvSpPr/>
            <p:nvPr/>
          </p:nvSpPr>
          <p:spPr>
            <a:xfrm>
              <a:off x="16891" y="16891"/>
              <a:ext cx="195072" cy="1828800"/>
            </a:xfrm>
            <a:custGeom>
              <a:rect b="b" l="l" r="r" t="t"/>
              <a:pathLst>
                <a:path extrusionOk="0" h="1828800" w="195072">
                  <a:moveTo>
                    <a:pt x="0" y="0"/>
                  </a:moveTo>
                  <a:lnTo>
                    <a:pt x="195072" y="0"/>
                  </a:lnTo>
                  <a:lnTo>
                    <a:pt x="195072" y="1828800"/>
                  </a:lnTo>
                  <a:lnTo>
                    <a:pt x="0" y="1828800"/>
                  </a:lnTo>
                  <a:close/>
                </a:path>
              </a:pathLst>
            </a:custGeom>
            <a:solidFill>
              <a:srgbClr val="27AE60"/>
            </a:solidFill>
            <a:ln>
              <a:noFill/>
            </a:ln>
          </p:spPr>
        </p:sp>
        <p:sp>
          <p:nvSpPr>
            <p:cNvPr id="835" name="Google Shape;835;p21"/>
            <p:cNvSpPr/>
            <p:nvPr/>
          </p:nvSpPr>
          <p:spPr>
            <a:xfrm>
              <a:off x="0" y="0"/>
              <a:ext cx="228854" cy="1862582"/>
            </a:xfrm>
            <a:custGeom>
              <a:rect b="b" l="l" r="r" t="t"/>
              <a:pathLst>
                <a:path extrusionOk="0" h="1862582" w="228854">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 name="Google Shape;836;p21"/>
          <p:cNvGrpSpPr/>
          <p:nvPr/>
        </p:nvGrpSpPr>
        <p:grpSpPr>
          <a:xfrm>
            <a:off x="731520" y="6474809"/>
            <a:ext cx="6400800" cy="547783"/>
            <a:chOff x="0" y="-47625"/>
            <a:chExt cx="8534400" cy="730377"/>
          </a:xfrm>
        </p:grpSpPr>
        <p:sp>
          <p:nvSpPr>
            <p:cNvPr id="837" name="Google Shape;837;p21"/>
            <p:cNvSpPr/>
            <p:nvPr/>
          </p:nvSpPr>
          <p:spPr>
            <a:xfrm>
              <a:off x="0" y="0"/>
              <a:ext cx="8534400" cy="682752"/>
            </a:xfrm>
            <a:custGeom>
              <a:rect b="b" l="l" r="r" t="t"/>
              <a:pathLst>
                <a:path extrusionOk="0" h="682752" w="8534400">
                  <a:moveTo>
                    <a:pt x="0" y="0"/>
                  </a:moveTo>
                  <a:lnTo>
                    <a:pt x="8534400" y="0"/>
                  </a:lnTo>
                  <a:lnTo>
                    <a:pt x="8534400" y="682752"/>
                  </a:lnTo>
                  <a:lnTo>
                    <a:pt x="0" y="682752"/>
                  </a:lnTo>
                  <a:close/>
                </a:path>
              </a:pathLst>
            </a:custGeom>
            <a:blipFill rotWithShape="1">
              <a:blip r:embed="rId3">
                <a:alphaModFix amt="0"/>
              </a:blip>
              <a:stretch>
                <a:fillRect b="-193570" l="0" r="0" t="-193570"/>
              </a:stretch>
            </a:blipFill>
            <a:ln>
              <a:noFill/>
            </a:ln>
          </p:spPr>
        </p:sp>
        <p:sp>
          <p:nvSpPr>
            <p:cNvPr id="838" name="Google Shape;838;p21"/>
            <p:cNvSpPr txBox="1"/>
            <p:nvPr/>
          </p:nvSpPr>
          <p:spPr>
            <a:xfrm>
              <a:off x="0" y="-47625"/>
              <a:ext cx="85344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27AE60"/>
                  </a:solidFill>
                  <a:latin typeface="Calibri"/>
                  <a:ea typeface="Calibri"/>
                  <a:cs typeface="Calibri"/>
                  <a:sym typeface="Calibri"/>
                </a:rPr>
                <a:t>energy_acoustic_contrast</a:t>
              </a:r>
              <a:endParaRPr/>
            </a:p>
          </p:txBody>
        </p:sp>
      </p:grpSp>
      <p:grpSp>
        <p:nvGrpSpPr>
          <p:cNvPr id="839" name="Google Shape;839;p21"/>
          <p:cNvGrpSpPr/>
          <p:nvPr/>
        </p:nvGrpSpPr>
        <p:grpSpPr>
          <a:xfrm>
            <a:off x="7132320" y="6481953"/>
            <a:ext cx="10424160" cy="540639"/>
            <a:chOff x="0" y="-38100"/>
            <a:chExt cx="13898880" cy="720852"/>
          </a:xfrm>
        </p:grpSpPr>
        <p:sp>
          <p:nvSpPr>
            <p:cNvPr id="840" name="Google Shape;840;p21"/>
            <p:cNvSpPr/>
            <p:nvPr/>
          </p:nvSpPr>
          <p:spPr>
            <a:xfrm>
              <a:off x="0" y="0"/>
              <a:ext cx="13898880" cy="682752"/>
            </a:xfrm>
            <a:custGeom>
              <a:rect b="b" l="l" r="r" t="t"/>
              <a:pathLst>
                <a:path extrusionOk="0" h="682752" w="13898880">
                  <a:moveTo>
                    <a:pt x="0" y="0"/>
                  </a:moveTo>
                  <a:lnTo>
                    <a:pt x="13898880" y="0"/>
                  </a:lnTo>
                  <a:lnTo>
                    <a:pt x="13898880" y="682752"/>
                  </a:lnTo>
                  <a:lnTo>
                    <a:pt x="0" y="682752"/>
                  </a:lnTo>
                  <a:close/>
                </a:path>
              </a:pathLst>
            </a:custGeom>
            <a:blipFill rotWithShape="1">
              <a:blip r:embed="rId3">
                <a:alphaModFix amt="0"/>
              </a:blip>
              <a:stretch>
                <a:fillRect b="-346636" l="0" r="0" t="-346636"/>
              </a:stretch>
            </a:blipFill>
            <a:ln>
              <a:noFill/>
            </a:ln>
          </p:spPr>
        </p:sp>
        <p:sp>
          <p:nvSpPr>
            <p:cNvPr id="841" name="Google Shape;841;p21"/>
            <p:cNvSpPr txBox="1"/>
            <p:nvPr/>
          </p:nvSpPr>
          <p:spPr>
            <a:xfrm>
              <a:off x="0" y="-38100"/>
              <a:ext cx="138988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000" u="none" cap="none" strike="noStrike">
                  <a:solidFill>
                    <a:srgbClr val="555555"/>
                  </a:solidFill>
                  <a:latin typeface="Calibri"/>
                  <a:ea typeface="Calibri"/>
                  <a:cs typeface="Calibri"/>
                  <a:sym typeface="Calibri"/>
                </a:rPr>
                <a:t>= energy − acousticness </a:t>
              </a:r>
              <a:endParaRPr/>
            </a:p>
          </p:txBody>
        </p:sp>
      </p:grpSp>
      <p:grpSp>
        <p:nvGrpSpPr>
          <p:cNvPr id="842" name="Google Shape;842;p21"/>
          <p:cNvGrpSpPr/>
          <p:nvPr/>
        </p:nvGrpSpPr>
        <p:grpSpPr>
          <a:xfrm>
            <a:off x="731520" y="7085457"/>
            <a:ext cx="16824960" cy="540639"/>
            <a:chOff x="0" y="-38100"/>
            <a:chExt cx="22433280" cy="720852"/>
          </a:xfrm>
        </p:grpSpPr>
        <p:sp>
          <p:nvSpPr>
            <p:cNvPr id="843" name="Google Shape;843;p21"/>
            <p:cNvSpPr/>
            <p:nvPr/>
          </p:nvSpPr>
          <p:spPr>
            <a:xfrm>
              <a:off x="0" y="0"/>
              <a:ext cx="22433280" cy="682752"/>
            </a:xfrm>
            <a:custGeom>
              <a:rect b="b" l="l" r="r" t="t"/>
              <a:pathLst>
                <a:path extrusionOk="0" h="682752" w="22433280">
                  <a:moveTo>
                    <a:pt x="0" y="0"/>
                  </a:moveTo>
                  <a:lnTo>
                    <a:pt x="22433280" y="0"/>
                  </a:lnTo>
                  <a:lnTo>
                    <a:pt x="22433280" y="682752"/>
                  </a:lnTo>
                  <a:lnTo>
                    <a:pt x="0" y="682752"/>
                  </a:lnTo>
                  <a:close/>
                </a:path>
              </a:pathLst>
            </a:custGeom>
            <a:blipFill rotWithShape="1">
              <a:blip r:embed="rId3">
                <a:alphaModFix amt="0"/>
              </a:blip>
              <a:stretch>
                <a:fillRect b="-590205" l="0" r="0" t="-590205"/>
              </a:stretch>
            </a:blipFill>
            <a:ln>
              <a:noFill/>
            </a:ln>
          </p:spPr>
        </p:sp>
        <p:sp>
          <p:nvSpPr>
            <p:cNvPr id="844" name="Google Shape;844;p21"/>
            <p:cNvSpPr txBox="1"/>
            <p:nvPr/>
          </p:nvSpPr>
          <p:spPr>
            <a:xfrm>
              <a:off x="0" y="-38100"/>
              <a:ext cx="224332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Yüksek değer: metal/rock/grindcore. Düşük değer: sleep/piano/classical. RF önem sıralamasında orta-yüksek katkı sağlar.</a:t>
              </a:r>
              <a:endParaRPr/>
            </a:p>
          </p:txBody>
        </p:sp>
      </p:grpSp>
      <p:grpSp>
        <p:nvGrpSpPr>
          <p:cNvPr id="845" name="Google Shape;845;p21"/>
          <p:cNvGrpSpPr/>
          <p:nvPr/>
        </p:nvGrpSpPr>
        <p:grpSpPr>
          <a:xfrm>
            <a:off x="447675" y="7909179"/>
            <a:ext cx="17392650" cy="1390650"/>
            <a:chOff x="0" y="0"/>
            <a:chExt cx="23190200" cy="1854200"/>
          </a:xfrm>
        </p:grpSpPr>
        <p:sp>
          <p:nvSpPr>
            <p:cNvPr id="846" name="Google Shape;846;p21"/>
            <p:cNvSpPr/>
            <p:nvPr/>
          </p:nvSpPr>
          <p:spPr>
            <a:xfrm>
              <a:off x="12700" y="12700"/>
              <a:ext cx="23164800" cy="1828800"/>
            </a:xfrm>
            <a:custGeom>
              <a:rect b="b" l="l" r="r" t="t"/>
              <a:pathLst>
                <a:path extrusionOk="0" h="1828800" w="23164800">
                  <a:moveTo>
                    <a:pt x="0" y="0"/>
                  </a:moveTo>
                  <a:lnTo>
                    <a:pt x="23164800" y="0"/>
                  </a:lnTo>
                  <a:lnTo>
                    <a:pt x="23164800" y="1828800"/>
                  </a:lnTo>
                  <a:lnTo>
                    <a:pt x="0" y="1828800"/>
                  </a:lnTo>
                  <a:close/>
                </a:path>
              </a:pathLst>
            </a:custGeom>
            <a:solidFill>
              <a:srgbClr val="F4F4F4"/>
            </a:solidFill>
            <a:ln>
              <a:noFill/>
            </a:ln>
          </p:spPr>
        </p:sp>
        <p:sp>
          <p:nvSpPr>
            <p:cNvPr id="847" name="Google Shape;847;p21"/>
            <p:cNvSpPr/>
            <p:nvPr/>
          </p:nvSpPr>
          <p:spPr>
            <a:xfrm>
              <a:off x="0" y="0"/>
              <a:ext cx="23190200" cy="1854200"/>
            </a:xfrm>
            <a:custGeom>
              <a:rect b="b" l="l" r="r" t="t"/>
              <a:pathLst>
                <a:path extrusionOk="0" h="1854200" w="23190200">
                  <a:moveTo>
                    <a:pt x="12700" y="0"/>
                  </a:moveTo>
                  <a:lnTo>
                    <a:pt x="23177500" y="0"/>
                  </a:lnTo>
                  <a:cubicBezTo>
                    <a:pt x="23184486" y="0"/>
                    <a:pt x="23190200" y="5715"/>
                    <a:pt x="23190200" y="12700"/>
                  </a:cubicBezTo>
                  <a:lnTo>
                    <a:pt x="23190200" y="1841500"/>
                  </a:lnTo>
                  <a:cubicBezTo>
                    <a:pt x="23190200" y="1848485"/>
                    <a:pt x="23184486" y="1854200"/>
                    <a:pt x="23177500" y="1854200"/>
                  </a:cubicBezTo>
                  <a:lnTo>
                    <a:pt x="12700" y="1854200"/>
                  </a:lnTo>
                  <a:cubicBezTo>
                    <a:pt x="5715" y="1854200"/>
                    <a:pt x="0" y="1848485"/>
                    <a:pt x="0" y="1841500"/>
                  </a:cubicBezTo>
                  <a:lnTo>
                    <a:pt x="0" y="12700"/>
                  </a:lnTo>
                  <a:cubicBezTo>
                    <a:pt x="0" y="5715"/>
                    <a:pt x="5715" y="0"/>
                    <a:pt x="12700" y="0"/>
                  </a:cubicBezTo>
                  <a:moveTo>
                    <a:pt x="12700" y="25400"/>
                  </a:moveTo>
                  <a:lnTo>
                    <a:pt x="12700" y="12700"/>
                  </a:lnTo>
                  <a:lnTo>
                    <a:pt x="25400" y="12700"/>
                  </a:lnTo>
                  <a:lnTo>
                    <a:pt x="25400" y="1841500"/>
                  </a:lnTo>
                  <a:lnTo>
                    <a:pt x="12700" y="1841500"/>
                  </a:lnTo>
                  <a:lnTo>
                    <a:pt x="12700" y="1828800"/>
                  </a:lnTo>
                  <a:lnTo>
                    <a:pt x="23177500" y="1828800"/>
                  </a:lnTo>
                  <a:lnTo>
                    <a:pt x="23177500" y="1841500"/>
                  </a:lnTo>
                  <a:lnTo>
                    <a:pt x="23164800" y="184150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 name="Google Shape;848;p21"/>
          <p:cNvGrpSpPr/>
          <p:nvPr/>
        </p:nvGrpSpPr>
        <p:grpSpPr>
          <a:xfrm>
            <a:off x="444503" y="7906007"/>
            <a:ext cx="171640" cy="1396936"/>
            <a:chOff x="0" y="0"/>
            <a:chExt cx="228854" cy="1862582"/>
          </a:xfrm>
        </p:grpSpPr>
        <p:sp>
          <p:nvSpPr>
            <p:cNvPr id="849" name="Google Shape;849;p21"/>
            <p:cNvSpPr/>
            <p:nvPr/>
          </p:nvSpPr>
          <p:spPr>
            <a:xfrm>
              <a:off x="16891" y="16891"/>
              <a:ext cx="195072" cy="1828800"/>
            </a:xfrm>
            <a:custGeom>
              <a:rect b="b" l="l" r="r" t="t"/>
              <a:pathLst>
                <a:path extrusionOk="0" h="1828800" w="195072">
                  <a:moveTo>
                    <a:pt x="0" y="0"/>
                  </a:moveTo>
                  <a:lnTo>
                    <a:pt x="195072" y="0"/>
                  </a:lnTo>
                  <a:lnTo>
                    <a:pt x="195072" y="1828800"/>
                  </a:lnTo>
                  <a:lnTo>
                    <a:pt x="0" y="1828800"/>
                  </a:lnTo>
                  <a:close/>
                </a:path>
              </a:pathLst>
            </a:custGeom>
            <a:solidFill>
              <a:srgbClr val="1DB954"/>
            </a:solidFill>
            <a:ln>
              <a:noFill/>
            </a:ln>
          </p:spPr>
        </p:sp>
        <p:sp>
          <p:nvSpPr>
            <p:cNvPr id="850" name="Google Shape;850;p21"/>
            <p:cNvSpPr/>
            <p:nvPr/>
          </p:nvSpPr>
          <p:spPr>
            <a:xfrm>
              <a:off x="0" y="0"/>
              <a:ext cx="228854" cy="1862582"/>
            </a:xfrm>
            <a:custGeom>
              <a:rect b="b" l="l" r="r" t="t"/>
              <a:pathLst>
                <a:path extrusionOk="0" h="1862582" w="228854">
                  <a:moveTo>
                    <a:pt x="16891" y="0"/>
                  </a:moveTo>
                  <a:lnTo>
                    <a:pt x="211963" y="0"/>
                  </a:lnTo>
                  <a:cubicBezTo>
                    <a:pt x="221361" y="0"/>
                    <a:pt x="228854" y="7620"/>
                    <a:pt x="228854" y="16891"/>
                  </a:cubicBezTo>
                  <a:lnTo>
                    <a:pt x="228854" y="1845691"/>
                  </a:lnTo>
                  <a:cubicBezTo>
                    <a:pt x="228854" y="1855089"/>
                    <a:pt x="221234" y="1862582"/>
                    <a:pt x="21196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11963" y="1828800"/>
                  </a:lnTo>
                  <a:lnTo>
                    <a:pt x="211963" y="1845691"/>
                  </a:lnTo>
                  <a:lnTo>
                    <a:pt x="195072" y="1845691"/>
                  </a:lnTo>
                  <a:lnTo>
                    <a:pt x="195072" y="16891"/>
                  </a:lnTo>
                  <a:lnTo>
                    <a:pt x="211963" y="16891"/>
                  </a:lnTo>
                  <a:lnTo>
                    <a:pt x="211963"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21"/>
          <p:cNvGrpSpPr/>
          <p:nvPr/>
        </p:nvGrpSpPr>
        <p:grpSpPr>
          <a:xfrm>
            <a:off x="731520" y="7974425"/>
            <a:ext cx="6400800" cy="547783"/>
            <a:chOff x="0" y="-47625"/>
            <a:chExt cx="8534400" cy="730377"/>
          </a:xfrm>
        </p:grpSpPr>
        <p:sp>
          <p:nvSpPr>
            <p:cNvPr id="852" name="Google Shape;852;p21"/>
            <p:cNvSpPr/>
            <p:nvPr/>
          </p:nvSpPr>
          <p:spPr>
            <a:xfrm>
              <a:off x="0" y="0"/>
              <a:ext cx="8534400" cy="682752"/>
            </a:xfrm>
            <a:custGeom>
              <a:rect b="b" l="l" r="r" t="t"/>
              <a:pathLst>
                <a:path extrusionOk="0" h="682752" w="8534400">
                  <a:moveTo>
                    <a:pt x="0" y="0"/>
                  </a:moveTo>
                  <a:lnTo>
                    <a:pt x="8534400" y="0"/>
                  </a:lnTo>
                  <a:lnTo>
                    <a:pt x="8534400" y="682752"/>
                  </a:lnTo>
                  <a:lnTo>
                    <a:pt x="0" y="682752"/>
                  </a:lnTo>
                  <a:close/>
                </a:path>
              </a:pathLst>
            </a:custGeom>
            <a:blipFill rotWithShape="1">
              <a:blip r:embed="rId3">
                <a:alphaModFix amt="0"/>
              </a:blip>
              <a:stretch>
                <a:fillRect b="-193570" l="0" r="0" t="-193570"/>
              </a:stretch>
            </a:blipFill>
            <a:ln>
              <a:noFill/>
            </a:ln>
          </p:spPr>
        </p:sp>
        <p:sp>
          <p:nvSpPr>
            <p:cNvPr id="853" name="Google Shape;853;p21"/>
            <p:cNvSpPr txBox="1"/>
            <p:nvPr/>
          </p:nvSpPr>
          <p:spPr>
            <a:xfrm>
              <a:off x="0" y="-47625"/>
              <a:ext cx="85344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1DB954"/>
                  </a:solidFill>
                  <a:latin typeface="Calibri"/>
                  <a:ea typeface="Calibri"/>
                  <a:cs typeface="Calibri"/>
                  <a:sym typeface="Calibri"/>
                </a:rPr>
                <a:t>dancefloor_score</a:t>
              </a:r>
              <a:endParaRPr/>
            </a:p>
          </p:txBody>
        </p:sp>
      </p:grpSp>
      <p:grpSp>
        <p:nvGrpSpPr>
          <p:cNvPr id="854" name="Google Shape;854;p21"/>
          <p:cNvGrpSpPr/>
          <p:nvPr/>
        </p:nvGrpSpPr>
        <p:grpSpPr>
          <a:xfrm>
            <a:off x="7132320" y="7981569"/>
            <a:ext cx="10424160" cy="540639"/>
            <a:chOff x="0" y="-38100"/>
            <a:chExt cx="13898880" cy="720852"/>
          </a:xfrm>
        </p:grpSpPr>
        <p:sp>
          <p:nvSpPr>
            <p:cNvPr id="855" name="Google Shape;855;p21"/>
            <p:cNvSpPr/>
            <p:nvPr/>
          </p:nvSpPr>
          <p:spPr>
            <a:xfrm>
              <a:off x="0" y="0"/>
              <a:ext cx="13898880" cy="682752"/>
            </a:xfrm>
            <a:custGeom>
              <a:rect b="b" l="l" r="r" t="t"/>
              <a:pathLst>
                <a:path extrusionOk="0" h="682752" w="13898880">
                  <a:moveTo>
                    <a:pt x="0" y="0"/>
                  </a:moveTo>
                  <a:lnTo>
                    <a:pt x="13898880" y="0"/>
                  </a:lnTo>
                  <a:lnTo>
                    <a:pt x="13898880" y="682752"/>
                  </a:lnTo>
                  <a:lnTo>
                    <a:pt x="0" y="682752"/>
                  </a:lnTo>
                  <a:close/>
                </a:path>
              </a:pathLst>
            </a:custGeom>
            <a:blipFill rotWithShape="1">
              <a:blip r:embed="rId3">
                <a:alphaModFix amt="0"/>
              </a:blip>
              <a:stretch>
                <a:fillRect b="-346636" l="0" r="0" t="-346636"/>
              </a:stretch>
            </a:blipFill>
            <a:ln>
              <a:noFill/>
            </a:ln>
          </p:spPr>
        </p:sp>
        <p:sp>
          <p:nvSpPr>
            <p:cNvPr id="856" name="Google Shape;856;p21"/>
            <p:cNvSpPr txBox="1"/>
            <p:nvPr/>
          </p:nvSpPr>
          <p:spPr>
            <a:xfrm>
              <a:off x="0" y="-38100"/>
              <a:ext cx="138988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000" u="none" cap="none" strike="noStrike">
                  <a:solidFill>
                    <a:srgbClr val="555555"/>
                  </a:solidFill>
                  <a:latin typeface="Calibri"/>
                  <a:ea typeface="Calibri"/>
                  <a:cs typeface="Calibri"/>
                  <a:sym typeface="Calibri"/>
                </a:rPr>
                <a:t>= (danceability +valence)/2</a:t>
              </a:r>
              <a:endParaRPr/>
            </a:p>
          </p:txBody>
        </p:sp>
      </p:grpSp>
      <p:grpSp>
        <p:nvGrpSpPr>
          <p:cNvPr id="857" name="Google Shape;857;p21"/>
          <p:cNvGrpSpPr/>
          <p:nvPr/>
        </p:nvGrpSpPr>
        <p:grpSpPr>
          <a:xfrm>
            <a:off x="731520" y="8585073"/>
            <a:ext cx="16824960" cy="540639"/>
            <a:chOff x="0" y="-38100"/>
            <a:chExt cx="22433280" cy="720852"/>
          </a:xfrm>
        </p:grpSpPr>
        <p:sp>
          <p:nvSpPr>
            <p:cNvPr id="858" name="Google Shape;858;p21"/>
            <p:cNvSpPr/>
            <p:nvPr/>
          </p:nvSpPr>
          <p:spPr>
            <a:xfrm>
              <a:off x="0" y="0"/>
              <a:ext cx="22433280" cy="682752"/>
            </a:xfrm>
            <a:custGeom>
              <a:rect b="b" l="l" r="r" t="t"/>
              <a:pathLst>
                <a:path extrusionOk="0" h="682752" w="22433280">
                  <a:moveTo>
                    <a:pt x="0" y="0"/>
                  </a:moveTo>
                  <a:lnTo>
                    <a:pt x="22433280" y="0"/>
                  </a:lnTo>
                  <a:lnTo>
                    <a:pt x="22433280" y="682752"/>
                  </a:lnTo>
                  <a:lnTo>
                    <a:pt x="0" y="682752"/>
                  </a:lnTo>
                  <a:close/>
                </a:path>
              </a:pathLst>
            </a:custGeom>
            <a:blipFill rotWithShape="1">
              <a:blip r:embed="rId3">
                <a:alphaModFix amt="0"/>
              </a:blip>
              <a:stretch>
                <a:fillRect b="-590205" l="0" r="0" t="-590205"/>
              </a:stretch>
            </a:blipFill>
            <a:ln>
              <a:noFill/>
            </a:ln>
          </p:spPr>
        </p:sp>
        <p:sp>
          <p:nvSpPr>
            <p:cNvPr id="859" name="Google Shape;859;p21"/>
            <p:cNvSpPr txBox="1"/>
            <p:nvPr/>
          </p:nvSpPr>
          <p:spPr>
            <a:xfrm>
              <a:off x="0" y="-38100"/>
              <a:ext cx="2243328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Dans edilebilirlik ve pozitif duygu tonunu birleştirir. En yüksek: children/kids. En düşük: sleep, show-tunes, romance.</a:t>
              </a:r>
              <a:endParaRPr/>
            </a:p>
          </p:txBody>
        </p:sp>
      </p:grpSp>
      <p:grpSp>
        <p:nvGrpSpPr>
          <p:cNvPr id="860" name="Google Shape;860;p21"/>
          <p:cNvGrpSpPr/>
          <p:nvPr/>
        </p:nvGrpSpPr>
        <p:grpSpPr>
          <a:xfrm>
            <a:off x="444503" y="9460487"/>
            <a:ext cx="17398936" cy="610554"/>
            <a:chOff x="0" y="0"/>
            <a:chExt cx="23198582" cy="814072"/>
          </a:xfrm>
        </p:grpSpPr>
        <p:sp>
          <p:nvSpPr>
            <p:cNvPr id="861" name="Google Shape;861;p21"/>
            <p:cNvSpPr/>
            <p:nvPr/>
          </p:nvSpPr>
          <p:spPr>
            <a:xfrm>
              <a:off x="16891" y="16891"/>
              <a:ext cx="23164799" cy="780288"/>
            </a:xfrm>
            <a:custGeom>
              <a:rect b="b" l="l" r="r" t="t"/>
              <a:pathLst>
                <a:path extrusionOk="0" h="780288" w="23164799">
                  <a:moveTo>
                    <a:pt x="0" y="0"/>
                  </a:moveTo>
                  <a:lnTo>
                    <a:pt x="23164799" y="0"/>
                  </a:lnTo>
                  <a:lnTo>
                    <a:pt x="23164799" y="780288"/>
                  </a:lnTo>
                  <a:lnTo>
                    <a:pt x="0" y="780288"/>
                  </a:lnTo>
                  <a:close/>
                </a:path>
              </a:pathLst>
            </a:custGeom>
            <a:solidFill>
              <a:srgbClr val="121212"/>
            </a:solidFill>
            <a:ln>
              <a:noFill/>
            </a:ln>
          </p:spPr>
        </p:sp>
        <p:sp>
          <p:nvSpPr>
            <p:cNvPr id="862" name="Google Shape;862;p21"/>
            <p:cNvSpPr/>
            <p:nvPr/>
          </p:nvSpPr>
          <p:spPr>
            <a:xfrm>
              <a:off x="0" y="0"/>
              <a:ext cx="23198582" cy="814072"/>
            </a:xfrm>
            <a:custGeom>
              <a:rect b="b" l="l" r="r" t="t"/>
              <a:pathLst>
                <a:path extrusionOk="0" h="814072" w="23198582">
                  <a:moveTo>
                    <a:pt x="16891" y="0"/>
                  </a:moveTo>
                  <a:lnTo>
                    <a:pt x="23181690" y="0"/>
                  </a:lnTo>
                  <a:cubicBezTo>
                    <a:pt x="23191090" y="0"/>
                    <a:pt x="23198582" y="7620"/>
                    <a:pt x="23198582" y="16891"/>
                  </a:cubicBezTo>
                  <a:lnTo>
                    <a:pt x="23198582" y="797179"/>
                  </a:lnTo>
                  <a:cubicBezTo>
                    <a:pt x="23198582" y="806577"/>
                    <a:pt x="23190963" y="814070"/>
                    <a:pt x="23181690"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23181690" y="780288"/>
                  </a:lnTo>
                  <a:lnTo>
                    <a:pt x="23181690" y="797179"/>
                  </a:lnTo>
                  <a:lnTo>
                    <a:pt x="23164800" y="797179"/>
                  </a:lnTo>
                  <a:lnTo>
                    <a:pt x="23164800" y="16891"/>
                  </a:lnTo>
                  <a:lnTo>
                    <a:pt x="23181690" y="16891"/>
                  </a:lnTo>
                  <a:lnTo>
                    <a:pt x="231816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 name="Google Shape;863;p21"/>
          <p:cNvGrpSpPr/>
          <p:nvPr/>
        </p:nvGrpSpPr>
        <p:grpSpPr>
          <a:xfrm>
            <a:off x="640080" y="9499473"/>
            <a:ext cx="17007840" cy="485775"/>
            <a:chOff x="0" y="-38100"/>
            <a:chExt cx="22677120" cy="647700"/>
          </a:xfrm>
        </p:grpSpPr>
        <p:sp>
          <p:nvSpPr>
            <p:cNvPr id="864" name="Google Shape;864;p21"/>
            <p:cNvSpPr/>
            <p:nvPr/>
          </p:nvSpPr>
          <p:spPr>
            <a:xfrm>
              <a:off x="0" y="0"/>
              <a:ext cx="22677120" cy="609600"/>
            </a:xfrm>
            <a:custGeom>
              <a:rect b="b" l="l" r="r" t="t"/>
              <a:pathLst>
                <a:path extrusionOk="0" h="609600" w="22677120">
                  <a:moveTo>
                    <a:pt x="0" y="0"/>
                  </a:moveTo>
                  <a:lnTo>
                    <a:pt x="22677120" y="0"/>
                  </a:lnTo>
                  <a:lnTo>
                    <a:pt x="22677120" y="609600"/>
                  </a:lnTo>
                  <a:lnTo>
                    <a:pt x="0" y="609600"/>
                  </a:lnTo>
                  <a:close/>
                </a:path>
              </a:pathLst>
            </a:custGeom>
            <a:blipFill rotWithShape="1">
              <a:blip r:embed="rId3">
                <a:alphaModFix amt="0"/>
              </a:blip>
              <a:stretch>
                <a:fillRect b="-674848" l="0" r="0" t="-674848"/>
              </a:stretch>
            </a:blipFill>
            <a:ln>
              <a:noFill/>
            </a:ln>
          </p:spPr>
        </p:sp>
        <p:sp>
          <p:nvSpPr>
            <p:cNvPr id="865" name="Google Shape;865;p21"/>
            <p:cNvSpPr txBox="1"/>
            <p:nvPr/>
          </p:nvSpPr>
          <p:spPr>
            <a:xfrm>
              <a:off x="0" y="-38100"/>
              <a:ext cx="22677120" cy="647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000" u="none" cap="none" strike="noStrike">
                  <a:solidFill>
                    <a:srgbClr val="1DB954"/>
                  </a:solidFill>
                  <a:latin typeface="Calibri"/>
                  <a:ea typeface="Calibri"/>
                  <a:cs typeface="Calibri"/>
                  <a:sym typeface="Calibri"/>
                </a:rPr>
                <a:t>✅  Delta Lake Gold katmanına 89.740 satır, 28 kolon olarak yazıldı ve doğrulandı</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grpSp>
        <p:nvGrpSpPr>
          <p:cNvPr id="874" name="Google Shape;874;p22"/>
          <p:cNvGrpSpPr/>
          <p:nvPr/>
        </p:nvGrpSpPr>
        <p:grpSpPr>
          <a:xfrm>
            <a:off x="-12697" y="-12697"/>
            <a:ext cx="18313336" cy="1579816"/>
            <a:chOff x="0" y="0"/>
            <a:chExt cx="24417782" cy="2106422"/>
          </a:xfrm>
        </p:grpSpPr>
        <p:sp>
          <p:nvSpPr>
            <p:cNvPr id="875" name="Google Shape;875;p22"/>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876" name="Google Shape;876;p22"/>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7" name="Google Shape;877;p22"/>
          <p:cNvGrpSpPr/>
          <p:nvPr/>
        </p:nvGrpSpPr>
        <p:grpSpPr>
          <a:xfrm>
            <a:off x="-12697" y="-12697"/>
            <a:ext cx="244792" cy="1579816"/>
            <a:chOff x="0" y="0"/>
            <a:chExt cx="326390" cy="2106422"/>
          </a:xfrm>
        </p:grpSpPr>
        <p:sp>
          <p:nvSpPr>
            <p:cNvPr id="878" name="Google Shape;878;p22"/>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879" name="Google Shape;879;p22"/>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0" name="Google Shape;880;p22"/>
          <p:cNvGrpSpPr/>
          <p:nvPr/>
        </p:nvGrpSpPr>
        <p:grpSpPr>
          <a:xfrm>
            <a:off x="548640" y="89154"/>
            <a:ext cx="12801600" cy="880110"/>
            <a:chOff x="0" y="-76200"/>
            <a:chExt cx="17068800" cy="1173480"/>
          </a:xfrm>
        </p:grpSpPr>
        <p:sp>
          <p:nvSpPr>
            <p:cNvPr id="881" name="Google Shape;881;p22"/>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882" name="Google Shape;882;p22"/>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Veri Ön İşleme Süreci</a:t>
              </a:r>
              <a:endParaRPr/>
            </a:p>
          </p:txBody>
        </p:sp>
      </p:grpSp>
      <p:grpSp>
        <p:nvGrpSpPr>
          <p:cNvPr id="883" name="Google Shape;883;p22"/>
          <p:cNvGrpSpPr/>
          <p:nvPr/>
        </p:nvGrpSpPr>
        <p:grpSpPr>
          <a:xfrm>
            <a:off x="548640" y="915257"/>
            <a:ext cx="16459200" cy="547783"/>
            <a:chOff x="0" y="-47625"/>
            <a:chExt cx="21945600" cy="730377"/>
          </a:xfrm>
        </p:grpSpPr>
        <p:sp>
          <p:nvSpPr>
            <p:cNvPr id="884" name="Google Shape;884;p22"/>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885" name="Google Shape;885;p22"/>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Bronze → Silver dönüşümü — 4 aşamalı temizleme pipeline'ı</a:t>
              </a:r>
              <a:endParaRPr/>
            </a:p>
          </p:txBody>
        </p:sp>
      </p:grpSp>
      <p:grpSp>
        <p:nvGrpSpPr>
          <p:cNvPr id="886" name="Google Shape;886;p22"/>
          <p:cNvGrpSpPr/>
          <p:nvPr/>
        </p:nvGrpSpPr>
        <p:grpSpPr>
          <a:xfrm>
            <a:off x="-12697" y="1541783"/>
            <a:ext cx="18313336" cy="98490"/>
            <a:chOff x="0" y="0"/>
            <a:chExt cx="24417782" cy="131320"/>
          </a:xfrm>
        </p:grpSpPr>
        <p:sp>
          <p:nvSpPr>
            <p:cNvPr id="887" name="Google Shape;887;p22"/>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888" name="Google Shape;888;p22"/>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 name="Google Shape;889;p22"/>
          <p:cNvGrpSpPr/>
          <p:nvPr/>
        </p:nvGrpSpPr>
        <p:grpSpPr>
          <a:xfrm>
            <a:off x="447675" y="1910715"/>
            <a:ext cx="17392650" cy="1756410"/>
            <a:chOff x="0" y="0"/>
            <a:chExt cx="23190200" cy="2341880"/>
          </a:xfrm>
        </p:grpSpPr>
        <p:sp>
          <p:nvSpPr>
            <p:cNvPr id="890" name="Google Shape;890;p22"/>
            <p:cNvSpPr/>
            <p:nvPr/>
          </p:nvSpPr>
          <p:spPr>
            <a:xfrm>
              <a:off x="12700" y="12700"/>
              <a:ext cx="23164800" cy="2316480"/>
            </a:xfrm>
            <a:custGeom>
              <a:rect b="b" l="l" r="r" t="t"/>
              <a:pathLst>
                <a:path extrusionOk="0" h="2316480" w="23164800">
                  <a:moveTo>
                    <a:pt x="0" y="0"/>
                  </a:moveTo>
                  <a:lnTo>
                    <a:pt x="23164800" y="0"/>
                  </a:lnTo>
                  <a:lnTo>
                    <a:pt x="23164800" y="2316480"/>
                  </a:lnTo>
                  <a:lnTo>
                    <a:pt x="0" y="2316480"/>
                  </a:lnTo>
                  <a:close/>
                </a:path>
              </a:pathLst>
            </a:custGeom>
            <a:solidFill>
              <a:srgbClr val="F4F4F4"/>
            </a:solidFill>
            <a:ln>
              <a:noFill/>
            </a:ln>
          </p:spPr>
        </p:sp>
        <p:sp>
          <p:nvSpPr>
            <p:cNvPr id="891" name="Google Shape;891;p22"/>
            <p:cNvSpPr/>
            <p:nvPr/>
          </p:nvSpPr>
          <p:spPr>
            <a:xfrm>
              <a:off x="0" y="0"/>
              <a:ext cx="23190200" cy="2341880"/>
            </a:xfrm>
            <a:custGeom>
              <a:rect b="b" l="l" r="r" t="t"/>
              <a:pathLst>
                <a:path extrusionOk="0" h="2341880" w="23190200">
                  <a:moveTo>
                    <a:pt x="12700" y="0"/>
                  </a:moveTo>
                  <a:lnTo>
                    <a:pt x="23177500" y="0"/>
                  </a:lnTo>
                  <a:cubicBezTo>
                    <a:pt x="23184486" y="0"/>
                    <a:pt x="23190200" y="5715"/>
                    <a:pt x="23190200" y="12700"/>
                  </a:cubicBezTo>
                  <a:lnTo>
                    <a:pt x="23190200" y="2329180"/>
                  </a:lnTo>
                  <a:cubicBezTo>
                    <a:pt x="23190200" y="2336165"/>
                    <a:pt x="23184486" y="2341880"/>
                    <a:pt x="23177500" y="2341880"/>
                  </a:cubicBezTo>
                  <a:lnTo>
                    <a:pt x="12700" y="2341880"/>
                  </a:lnTo>
                  <a:cubicBezTo>
                    <a:pt x="5715" y="2341880"/>
                    <a:pt x="0" y="2336165"/>
                    <a:pt x="0" y="2329180"/>
                  </a:cubicBezTo>
                  <a:lnTo>
                    <a:pt x="0" y="12700"/>
                  </a:lnTo>
                  <a:cubicBezTo>
                    <a:pt x="0" y="5715"/>
                    <a:pt x="5715" y="0"/>
                    <a:pt x="12700" y="0"/>
                  </a:cubicBezTo>
                  <a:moveTo>
                    <a:pt x="12700" y="25400"/>
                  </a:moveTo>
                  <a:lnTo>
                    <a:pt x="12700" y="12700"/>
                  </a:lnTo>
                  <a:lnTo>
                    <a:pt x="25400" y="12700"/>
                  </a:lnTo>
                  <a:lnTo>
                    <a:pt x="25400" y="2329180"/>
                  </a:lnTo>
                  <a:lnTo>
                    <a:pt x="12700" y="2329180"/>
                  </a:lnTo>
                  <a:lnTo>
                    <a:pt x="12700" y="2316480"/>
                  </a:lnTo>
                  <a:lnTo>
                    <a:pt x="23177500" y="2316480"/>
                  </a:lnTo>
                  <a:lnTo>
                    <a:pt x="23177500" y="2329180"/>
                  </a:lnTo>
                  <a:lnTo>
                    <a:pt x="23164800" y="232918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2" name="Google Shape;892;p22"/>
          <p:cNvGrpSpPr/>
          <p:nvPr/>
        </p:nvGrpSpPr>
        <p:grpSpPr>
          <a:xfrm>
            <a:off x="444503" y="1907543"/>
            <a:ext cx="2219896" cy="1762696"/>
            <a:chOff x="0" y="0"/>
            <a:chExt cx="2959862" cy="2350262"/>
          </a:xfrm>
        </p:grpSpPr>
        <p:sp>
          <p:nvSpPr>
            <p:cNvPr id="893" name="Google Shape;893;p22"/>
            <p:cNvSpPr/>
            <p:nvPr/>
          </p:nvSpPr>
          <p:spPr>
            <a:xfrm>
              <a:off x="16891" y="16891"/>
              <a:ext cx="2926080" cy="2316480"/>
            </a:xfrm>
            <a:custGeom>
              <a:rect b="b" l="l" r="r" t="t"/>
              <a:pathLst>
                <a:path extrusionOk="0" h="2316480" w="2926080">
                  <a:moveTo>
                    <a:pt x="0" y="0"/>
                  </a:moveTo>
                  <a:lnTo>
                    <a:pt x="2926080" y="0"/>
                  </a:lnTo>
                  <a:lnTo>
                    <a:pt x="2926080" y="2316480"/>
                  </a:lnTo>
                  <a:lnTo>
                    <a:pt x="0" y="2316480"/>
                  </a:lnTo>
                  <a:close/>
                </a:path>
              </a:pathLst>
            </a:custGeom>
            <a:solidFill>
              <a:srgbClr val="2980B9"/>
            </a:solidFill>
            <a:ln>
              <a:noFill/>
            </a:ln>
          </p:spPr>
        </p:sp>
        <p:sp>
          <p:nvSpPr>
            <p:cNvPr id="894" name="Google Shape;894;p22"/>
            <p:cNvSpPr/>
            <p:nvPr/>
          </p:nvSpPr>
          <p:spPr>
            <a:xfrm>
              <a:off x="0" y="0"/>
              <a:ext cx="2959862" cy="2350262"/>
            </a:xfrm>
            <a:custGeom>
              <a:rect b="b" l="l" r="r" t="t"/>
              <a:pathLst>
                <a:path extrusionOk="0" h="2350262" w="2959862">
                  <a:moveTo>
                    <a:pt x="16891" y="0"/>
                  </a:moveTo>
                  <a:lnTo>
                    <a:pt x="2942971" y="0"/>
                  </a:lnTo>
                  <a:cubicBezTo>
                    <a:pt x="2952369" y="0"/>
                    <a:pt x="2959862" y="7620"/>
                    <a:pt x="2959862" y="16891"/>
                  </a:cubicBezTo>
                  <a:lnTo>
                    <a:pt x="2959862" y="2333371"/>
                  </a:lnTo>
                  <a:cubicBezTo>
                    <a:pt x="2959862" y="2342769"/>
                    <a:pt x="2952242" y="2350262"/>
                    <a:pt x="29429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942971" y="2316480"/>
                  </a:lnTo>
                  <a:lnTo>
                    <a:pt x="2942971" y="2333371"/>
                  </a:lnTo>
                  <a:lnTo>
                    <a:pt x="2926080" y="2333371"/>
                  </a:lnTo>
                  <a:lnTo>
                    <a:pt x="2926080" y="16891"/>
                  </a:lnTo>
                  <a:lnTo>
                    <a:pt x="2942971" y="16891"/>
                  </a:lnTo>
                  <a:lnTo>
                    <a:pt x="2942971" y="33909"/>
                  </a:lnTo>
                  <a:lnTo>
                    <a:pt x="16891" y="33909"/>
                  </a:lnTo>
                  <a:close/>
                </a:path>
              </a:pathLst>
            </a:cu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 name="Google Shape;895;p22"/>
          <p:cNvGrpSpPr/>
          <p:nvPr/>
        </p:nvGrpSpPr>
        <p:grpSpPr>
          <a:xfrm>
            <a:off x="457200" y="2396585"/>
            <a:ext cx="2194560" cy="675799"/>
            <a:chOff x="0" y="-47625"/>
            <a:chExt cx="2926080" cy="901065"/>
          </a:xfrm>
        </p:grpSpPr>
        <p:sp>
          <p:nvSpPr>
            <p:cNvPr id="896" name="Google Shape;896;p22"/>
            <p:cNvSpPr/>
            <p:nvPr/>
          </p:nvSpPr>
          <p:spPr>
            <a:xfrm>
              <a:off x="0" y="0"/>
              <a:ext cx="2926080" cy="853440"/>
            </a:xfrm>
            <a:custGeom>
              <a:rect b="b" l="l" r="r" t="t"/>
              <a:pathLst>
                <a:path extrusionOk="0" h="853440" w="2926080">
                  <a:moveTo>
                    <a:pt x="0" y="0"/>
                  </a:moveTo>
                  <a:lnTo>
                    <a:pt x="2926080" y="0"/>
                  </a:lnTo>
                  <a:lnTo>
                    <a:pt x="2926080" y="853440"/>
                  </a:lnTo>
                  <a:lnTo>
                    <a:pt x="0" y="853440"/>
                  </a:lnTo>
                  <a:close/>
                </a:path>
              </a:pathLst>
            </a:custGeom>
            <a:blipFill rotWithShape="1">
              <a:blip r:embed="rId3">
                <a:alphaModFix amt="0"/>
              </a:blip>
              <a:stretch>
                <a:fillRect b="-16806" l="0" r="0" t="-16806"/>
              </a:stretch>
            </a:blipFill>
            <a:ln>
              <a:noFill/>
            </a:ln>
          </p:spPr>
        </p:sp>
        <p:sp>
          <p:nvSpPr>
            <p:cNvPr id="897" name="Google Shape;897;p22"/>
            <p:cNvSpPr txBox="1"/>
            <p:nvPr/>
          </p:nvSpPr>
          <p:spPr>
            <a:xfrm>
              <a:off x="0" y="-47625"/>
              <a:ext cx="2926080" cy="90106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Aşama 1</a:t>
              </a:r>
              <a:endParaRPr/>
            </a:p>
          </p:txBody>
        </p:sp>
      </p:grpSp>
      <p:grpSp>
        <p:nvGrpSpPr>
          <p:cNvPr id="898" name="Google Shape;898;p22"/>
          <p:cNvGrpSpPr/>
          <p:nvPr/>
        </p:nvGrpSpPr>
        <p:grpSpPr>
          <a:xfrm>
            <a:off x="2834640" y="1975961"/>
            <a:ext cx="8229600" cy="620935"/>
            <a:chOff x="0" y="-47625"/>
            <a:chExt cx="10972800" cy="827913"/>
          </a:xfrm>
        </p:grpSpPr>
        <p:sp>
          <p:nvSpPr>
            <p:cNvPr id="899" name="Google Shape;899;p22"/>
            <p:cNvSpPr/>
            <p:nvPr/>
          </p:nvSpPr>
          <p:spPr>
            <a:xfrm>
              <a:off x="0" y="0"/>
              <a:ext cx="10972800" cy="780288"/>
            </a:xfrm>
            <a:custGeom>
              <a:rect b="b" l="l" r="r" t="t"/>
              <a:pathLst>
                <a:path extrusionOk="0" h="780288" w="10972800">
                  <a:moveTo>
                    <a:pt x="0" y="0"/>
                  </a:moveTo>
                  <a:lnTo>
                    <a:pt x="10972800" y="0"/>
                  </a:lnTo>
                  <a:lnTo>
                    <a:pt x="10972800" y="780288"/>
                  </a:lnTo>
                  <a:lnTo>
                    <a:pt x="0" y="780288"/>
                  </a:lnTo>
                  <a:close/>
                </a:path>
              </a:pathLst>
            </a:custGeom>
            <a:blipFill rotWithShape="1">
              <a:blip r:embed="rId3">
                <a:alphaModFix amt="0"/>
              </a:blip>
              <a:stretch>
                <a:fillRect b="-224003" l="0" r="0" t="-224003"/>
              </a:stretch>
            </a:blipFill>
            <a:ln>
              <a:noFill/>
            </a:ln>
          </p:spPr>
        </p:sp>
        <p:sp>
          <p:nvSpPr>
            <p:cNvPr id="900" name="Google Shape;900;p22"/>
            <p:cNvSpPr txBox="1"/>
            <p:nvPr/>
          </p:nvSpPr>
          <p:spPr>
            <a:xfrm>
              <a:off x="0" y="-47625"/>
              <a:ext cx="1097280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2980B9"/>
                  </a:solidFill>
                  <a:latin typeface="Calibri"/>
                  <a:ea typeface="Calibri"/>
                  <a:cs typeface="Calibri"/>
                  <a:sym typeface="Calibri"/>
                </a:rPr>
                <a:t>Null Değer Temizleme (dropna())</a:t>
              </a:r>
              <a:endParaRPr/>
            </a:p>
          </p:txBody>
        </p:sp>
      </p:grpSp>
      <p:grpSp>
        <p:nvGrpSpPr>
          <p:cNvPr id="901" name="Google Shape;901;p22"/>
          <p:cNvGrpSpPr/>
          <p:nvPr/>
        </p:nvGrpSpPr>
        <p:grpSpPr>
          <a:xfrm>
            <a:off x="11155680" y="1975961"/>
            <a:ext cx="6400800" cy="620935"/>
            <a:chOff x="0" y="-47625"/>
            <a:chExt cx="8534400" cy="827913"/>
          </a:xfrm>
        </p:grpSpPr>
        <p:sp>
          <p:nvSpPr>
            <p:cNvPr id="902" name="Google Shape;902;p22"/>
            <p:cNvSpPr/>
            <p:nvPr/>
          </p:nvSpPr>
          <p:spPr>
            <a:xfrm>
              <a:off x="0" y="0"/>
              <a:ext cx="8534400" cy="780288"/>
            </a:xfrm>
            <a:custGeom>
              <a:rect b="b" l="l" r="r" t="t"/>
              <a:pathLst>
                <a:path extrusionOk="0" h="780288" w="8534400">
                  <a:moveTo>
                    <a:pt x="0" y="0"/>
                  </a:moveTo>
                  <a:lnTo>
                    <a:pt x="8534400" y="0"/>
                  </a:lnTo>
                  <a:lnTo>
                    <a:pt x="8534400" y="780288"/>
                  </a:lnTo>
                  <a:lnTo>
                    <a:pt x="0" y="780288"/>
                  </a:lnTo>
                  <a:close/>
                </a:path>
              </a:pathLst>
            </a:custGeom>
            <a:blipFill rotWithShape="1">
              <a:blip r:embed="rId3">
                <a:alphaModFix amt="0"/>
              </a:blip>
              <a:stretch>
                <a:fillRect b="-163111" l="0" r="0" t="-163111"/>
              </a:stretch>
            </a:blipFill>
            <a:ln>
              <a:noFill/>
            </a:ln>
          </p:spPr>
        </p:sp>
        <p:sp>
          <p:nvSpPr>
            <p:cNvPr id="903" name="Google Shape;903;p22"/>
            <p:cNvSpPr txBox="1"/>
            <p:nvPr/>
          </p:nvSpPr>
          <p:spPr>
            <a:xfrm>
              <a:off x="0" y="-47625"/>
              <a:ext cx="8534400" cy="827913"/>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100" u="none" cap="none" strike="noStrike">
                  <a:solidFill>
                    <a:srgbClr val="333333"/>
                  </a:solidFill>
                  <a:latin typeface="Calibri"/>
                  <a:ea typeface="Calibri"/>
                  <a:cs typeface="Calibri"/>
                  <a:sym typeface="Calibri"/>
                </a:rPr>
                <a:t>→  114.000 → 113.999 satır</a:t>
              </a:r>
              <a:endParaRPr/>
            </a:p>
          </p:txBody>
        </p:sp>
      </p:grpSp>
      <p:grpSp>
        <p:nvGrpSpPr>
          <p:cNvPr id="904" name="Google Shape;904;p22"/>
          <p:cNvGrpSpPr/>
          <p:nvPr/>
        </p:nvGrpSpPr>
        <p:grpSpPr>
          <a:xfrm>
            <a:off x="2834640" y="2659761"/>
            <a:ext cx="14447521" cy="851535"/>
            <a:chOff x="0" y="-38100"/>
            <a:chExt cx="19263361" cy="1135380"/>
          </a:xfrm>
        </p:grpSpPr>
        <p:sp>
          <p:nvSpPr>
            <p:cNvPr id="905" name="Google Shape;905;p22"/>
            <p:cNvSpPr/>
            <p:nvPr/>
          </p:nvSpPr>
          <p:spPr>
            <a:xfrm>
              <a:off x="0" y="0"/>
              <a:ext cx="19263361" cy="1097280"/>
            </a:xfrm>
            <a:custGeom>
              <a:rect b="b" l="l" r="r" t="t"/>
              <a:pathLst>
                <a:path extrusionOk="0" h="1097280" w="19263361">
                  <a:moveTo>
                    <a:pt x="0" y="0"/>
                  </a:moveTo>
                  <a:lnTo>
                    <a:pt x="19263361" y="0"/>
                  </a:lnTo>
                  <a:lnTo>
                    <a:pt x="19263361" y="1097280"/>
                  </a:lnTo>
                  <a:lnTo>
                    <a:pt x="0" y="1097280"/>
                  </a:lnTo>
                  <a:close/>
                </a:path>
              </a:pathLst>
            </a:custGeom>
            <a:blipFill rotWithShape="1">
              <a:blip r:embed="rId3">
                <a:alphaModFix amt="0"/>
              </a:blip>
              <a:stretch>
                <a:fillRect b="-292091" l="0" r="0" t="-292091"/>
              </a:stretch>
            </a:blipFill>
            <a:ln>
              <a:noFill/>
            </a:ln>
          </p:spPr>
        </p:sp>
        <p:sp>
          <p:nvSpPr>
            <p:cNvPr id="906" name="Google Shape;906;p22"/>
            <p:cNvSpPr txBox="1"/>
            <p:nvPr/>
          </p:nvSpPr>
          <p:spPr>
            <a:xfrm>
              <a:off x="0" y="-38100"/>
              <a:ext cx="19263360" cy="11353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555555"/>
                  </a:solidFill>
                  <a:latin typeface="Calibri"/>
                  <a:ea typeface="Calibri"/>
                  <a:cs typeface="Calibri"/>
                  <a:sym typeface="Calibri"/>
                </a:rPr>
                <a:t>Tüm 23 kolonda null kontrolü. Yalnızca 1 satırda null tespit edildi (track_name, artists, album_name aynı anda null).</a:t>
              </a:r>
              <a:endParaRPr/>
            </a:p>
          </p:txBody>
        </p:sp>
      </p:grpSp>
      <p:grpSp>
        <p:nvGrpSpPr>
          <p:cNvPr id="907" name="Google Shape;907;p22"/>
          <p:cNvGrpSpPr/>
          <p:nvPr/>
        </p:nvGrpSpPr>
        <p:grpSpPr>
          <a:xfrm>
            <a:off x="447675" y="3830955"/>
            <a:ext cx="17392650" cy="1756410"/>
            <a:chOff x="0" y="0"/>
            <a:chExt cx="23190200" cy="2341880"/>
          </a:xfrm>
        </p:grpSpPr>
        <p:sp>
          <p:nvSpPr>
            <p:cNvPr id="908" name="Google Shape;908;p22"/>
            <p:cNvSpPr/>
            <p:nvPr/>
          </p:nvSpPr>
          <p:spPr>
            <a:xfrm>
              <a:off x="12700" y="12700"/>
              <a:ext cx="23164800" cy="2316480"/>
            </a:xfrm>
            <a:custGeom>
              <a:rect b="b" l="l" r="r" t="t"/>
              <a:pathLst>
                <a:path extrusionOk="0" h="2316480" w="23164800">
                  <a:moveTo>
                    <a:pt x="0" y="0"/>
                  </a:moveTo>
                  <a:lnTo>
                    <a:pt x="23164800" y="0"/>
                  </a:lnTo>
                  <a:lnTo>
                    <a:pt x="23164800" y="2316480"/>
                  </a:lnTo>
                  <a:lnTo>
                    <a:pt x="0" y="2316480"/>
                  </a:lnTo>
                  <a:close/>
                </a:path>
              </a:pathLst>
            </a:custGeom>
            <a:solidFill>
              <a:srgbClr val="FFFFFF"/>
            </a:solidFill>
            <a:ln>
              <a:noFill/>
            </a:ln>
          </p:spPr>
        </p:sp>
        <p:sp>
          <p:nvSpPr>
            <p:cNvPr id="909" name="Google Shape;909;p22"/>
            <p:cNvSpPr/>
            <p:nvPr/>
          </p:nvSpPr>
          <p:spPr>
            <a:xfrm>
              <a:off x="0" y="0"/>
              <a:ext cx="23190200" cy="2341880"/>
            </a:xfrm>
            <a:custGeom>
              <a:rect b="b" l="l" r="r" t="t"/>
              <a:pathLst>
                <a:path extrusionOk="0" h="2341880" w="23190200">
                  <a:moveTo>
                    <a:pt x="12700" y="0"/>
                  </a:moveTo>
                  <a:lnTo>
                    <a:pt x="23177500" y="0"/>
                  </a:lnTo>
                  <a:cubicBezTo>
                    <a:pt x="23184486" y="0"/>
                    <a:pt x="23190200" y="5715"/>
                    <a:pt x="23190200" y="12700"/>
                  </a:cubicBezTo>
                  <a:lnTo>
                    <a:pt x="23190200" y="2329180"/>
                  </a:lnTo>
                  <a:cubicBezTo>
                    <a:pt x="23190200" y="2336165"/>
                    <a:pt x="23184486" y="2341880"/>
                    <a:pt x="23177500" y="2341880"/>
                  </a:cubicBezTo>
                  <a:lnTo>
                    <a:pt x="12700" y="2341880"/>
                  </a:lnTo>
                  <a:cubicBezTo>
                    <a:pt x="5715" y="2341880"/>
                    <a:pt x="0" y="2336165"/>
                    <a:pt x="0" y="2329180"/>
                  </a:cubicBezTo>
                  <a:lnTo>
                    <a:pt x="0" y="12700"/>
                  </a:lnTo>
                  <a:cubicBezTo>
                    <a:pt x="0" y="5715"/>
                    <a:pt x="5715" y="0"/>
                    <a:pt x="12700" y="0"/>
                  </a:cubicBezTo>
                  <a:moveTo>
                    <a:pt x="12700" y="25400"/>
                  </a:moveTo>
                  <a:lnTo>
                    <a:pt x="12700" y="12700"/>
                  </a:lnTo>
                  <a:lnTo>
                    <a:pt x="25400" y="12700"/>
                  </a:lnTo>
                  <a:lnTo>
                    <a:pt x="25400" y="2329180"/>
                  </a:lnTo>
                  <a:lnTo>
                    <a:pt x="12700" y="2329180"/>
                  </a:lnTo>
                  <a:lnTo>
                    <a:pt x="12700" y="2316480"/>
                  </a:lnTo>
                  <a:lnTo>
                    <a:pt x="23177500" y="2316480"/>
                  </a:lnTo>
                  <a:lnTo>
                    <a:pt x="23177500" y="2329180"/>
                  </a:lnTo>
                  <a:lnTo>
                    <a:pt x="23164800" y="232918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0" name="Google Shape;910;p22"/>
          <p:cNvGrpSpPr/>
          <p:nvPr/>
        </p:nvGrpSpPr>
        <p:grpSpPr>
          <a:xfrm>
            <a:off x="444503" y="3827783"/>
            <a:ext cx="2219896" cy="1762696"/>
            <a:chOff x="0" y="0"/>
            <a:chExt cx="2959862" cy="2350262"/>
          </a:xfrm>
        </p:grpSpPr>
        <p:sp>
          <p:nvSpPr>
            <p:cNvPr id="911" name="Google Shape;911;p22"/>
            <p:cNvSpPr/>
            <p:nvPr/>
          </p:nvSpPr>
          <p:spPr>
            <a:xfrm>
              <a:off x="16891" y="16891"/>
              <a:ext cx="2926080" cy="2316480"/>
            </a:xfrm>
            <a:custGeom>
              <a:rect b="b" l="l" r="r" t="t"/>
              <a:pathLst>
                <a:path extrusionOk="0" h="2316480" w="2926080">
                  <a:moveTo>
                    <a:pt x="0" y="0"/>
                  </a:moveTo>
                  <a:lnTo>
                    <a:pt x="2926080" y="0"/>
                  </a:lnTo>
                  <a:lnTo>
                    <a:pt x="2926080" y="2316480"/>
                  </a:lnTo>
                  <a:lnTo>
                    <a:pt x="0" y="2316480"/>
                  </a:lnTo>
                  <a:close/>
                </a:path>
              </a:pathLst>
            </a:custGeom>
            <a:solidFill>
              <a:srgbClr val="8E44AD"/>
            </a:solidFill>
            <a:ln>
              <a:noFill/>
            </a:ln>
          </p:spPr>
        </p:sp>
        <p:sp>
          <p:nvSpPr>
            <p:cNvPr id="912" name="Google Shape;912;p22"/>
            <p:cNvSpPr/>
            <p:nvPr/>
          </p:nvSpPr>
          <p:spPr>
            <a:xfrm>
              <a:off x="0" y="0"/>
              <a:ext cx="2959862" cy="2350262"/>
            </a:xfrm>
            <a:custGeom>
              <a:rect b="b" l="l" r="r" t="t"/>
              <a:pathLst>
                <a:path extrusionOk="0" h="2350262" w="2959862">
                  <a:moveTo>
                    <a:pt x="16891" y="0"/>
                  </a:moveTo>
                  <a:lnTo>
                    <a:pt x="2942971" y="0"/>
                  </a:lnTo>
                  <a:cubicBezTo>
                    <a:pt x="2952369" y="0"/>
                    <a:pt x="2959862" y="7620"/>
                    <a:pt x="2959862" y="16891"/>
                  </a:cubicBezTo>
                  <a:lnTo>
                    <a:pt x="2959862" y="2333371"/>
                  </a:lnTo>
                  <a:cubicBezTo>
                    <a:pt x="2959862" y="2342769"/>
                    <a:pt x="2952242" y="2350262"/>
                    <a:pt x="29429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942971" y="2316480"/>
                  </a:lnTo>
                  <a:lnTo>
                    <a:pt x="2942971" y="2333371"/>
                  </a:lnTo>
                  <a:lnTo>
                    <a:pt x="2926080" y="2333371"/>
                  </a:lnTo>
                  <a:lnTo>
                    <a:pt x="2926080" y="16891"/>
                  </a:lnTo>
                  <a:lnTo>
                    <a:pt x="2942971" y="16891"/>
                  </a:lnTo>
                  <a:lnTo>
                    <a:pt x="2942971" y="33909"/>
                  </a:lnTo>
                  <a:lnTo>
                    <a:pt x="16891" y="33909"/>
                  </a:lnTo>
                  <a:close/>
                </a:path>
              </a:pathLst>
            </a:cu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3" name="Google Shape;913;p22"/>
          <p:cNvGrpSpPr/>
          <p:nvPr/>
        </p:nvGrpSpPr>
        <p:grpSpPr>
          <a:xfrm>
            <a:off x="457200" y="4316825"/>
            <a:ext cx="2194560" cy="675799"/>
            <a:chOff x="0" y="-47625"/>
            <a:chExt cx="2926080" cy="901065"/>
          </a:xfrm>
        </p:grpSpPr>
        <p:sp>
          <p:nvSpPr>
            <p:cNvPr id="914" name="Google Shape;914;p22"/>
            <p:cNvSpPr/>
            <p:nvPr/>
          </p:nvSpPr>
          <p:spPr>
            <a:xfrm>
              <a:off x="0" y="0"/>
              <a:ext cx="2926080" cy="853440"/>
            </a:xfrm>
            <a:custGeom>
              <a:rect b="b" l="l" r="r" t="t"/>
              <a:pathLst>
                <a:path extrusionOk="0" h="853440" w="2926080">
                  <a:moveTo>
                    <a:pt x="0" y="0"/>
                  </a:moveTo>
                  <a:lnTo>
                    <a:pt x="2926080" y="0"/>
                  </a:lnTo>
                  <a:lnTo>
                    <a:pt x="2926080" y="853440"/>
                  </a:lnTo>
                  <a:lnTo>
                    <a:pt x="0" y="853440"/>
                  </a:lnTo>
                  <a:close/>
                </a:path>
              </a:pathLst>
            </a:custGeom>
            <a:blipFill rotWithShape="1">
              <a:blip r:embed="rId3">
                <a:alphaModFix amt="0"/>
              </a:blip>
              <a:stretch>
                <a:fillRect b="-16806" l="0" r="0" t="-16806"/>
              </a:stretch>
            </a:blipFill>
            <a:ln>
              <a:noFill/>
            </a:ln>
          </p:spPr>
        </p:sp>
        <p:sp>
          <p:nvSpPr>
            <p:cNvPr id="915" name="Google Shape;915;p22"/>
            <p:cNvSpPr txBox="1"/>
            <p:nvPr/>
          </p:nvSpPr>
          <p:spPr>
            <a:xfrm>
              <a:off x="0" y="-47625"/>
              <a:ext cx="2926080" cy="90106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Aşama 2</a:t>
              </a:r>
              <a:endParaRPr/>
            </a:p>
          </p:txBody>
        </p:sp>
      </p:grpSp>
      <p:grpSp>
        <p:nvGrpSpPr>
          <p:cNvPr id="916" name="Google Shape;916;p22"/>
          <p:cNvGrpSpPr/>
          <p:nvPr/>
        </p:nvGrpSpPr>
        <p:grpSpPr>
          <a:xfrm>
            <a:off x="2834640" y="3896201"/>
            <a:ext cx="8229600" cy="620935"/>
            <a:chOff x="0" y="-47625"/>
            <a:chExt cx="10972800" cy="827913"/>
          </a:xfrm>
        </p:grpSpPr>
        <p:sp>
          <p:nvSpPr>
            <p:cNvPr id="917" name="Google Shape;917;p22"/>
            <p:cNvSpPr/>
            <p:nvPr/>
          </p:nvSpPr>
          <p:spPr>
            <a:xfrm>
              <a:off x="0" y="0"/>
              <a:ext cx="10972800" cy="780288"/>
            </a:xfrm>
            <a:custGeom>
              <a:rect b="b" l="l" r="r" t="t"/>
              <a:pathLst>
                <a:path extrusionOk="0" h="780288" w="10972800">
                  <a:moveTo>
                    <a:pt x="0" y="0"/>
                  </a:moveTo>
                  <a:lnTo>
                    <a:pt x="10972800" y="0"/>
                  </a:lnTo>
                  <a:lnTo>
                    <a:pt x="10972800" y="780288"/>
                  </a:lnTo>
                  <a:lnTo>
                    <a:pt x="0" y="780288"/>
                  </a:lnTo>
                  <a:close/>
                </a:path>
              </a:pathLst>
            </a:custGeom>
            <a:blipFill rotWithShape="1">
              <a:blip r:embed="rId3">
                <a:alphaModFix amt="0"/>
              </a:blip>
              <a:stretch>
                <a:fillRect b="-224003" l="0" r="0" t="-224003"/>
              </a:stretch>
            </a:blipFill>
            <a:ln>
              <a:noFill/>
            </a:ln>
          </p:spPr>
        </p:sp>
        <p:sp>
          <p:nvSpPr>
            <p:cNvPr id="918" name="Google Shape;918;p22"/>
            <p:cNvSpPr txBox="1"/>
            <p:nvPr/>
          </p:nvSpPr>
          <p:spPr>
            <a:xfrm>
              <a:off x="0" y="-47625"/>
              <a:ext cx="1097280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8E44AD"/>
                  </a:solidFill>
                  <a:latin typeface="Calibri"/>
                  <a:ea typeface="Calibri"/>
                  <a:cs typeface="Calibri"/>
                  <a:sym typeface="Calibri"/>
                </a:rPr>
                <a:t>Duplike Kayıt Temizleme (dropDuplicates)</a:t>
              </a:r>
              <a:endParaRPr/>
            </a:p>
          </p:txBody>
        </p:sp>
      </p:grpSp>
      <p:grpSp>
        <p:nvGrpSpPr>
          <p:cNvPr id="919" name="Google Shape;919;p22"/>
          <p:cNvGrpSpPr/>
          <p:nvPr/>
        </p:nvGrpSpPr>
        <p:grpSpPr>
          <a:xfrm>
            <a:off x="11155680" y="3896201"/>
            <a:ext cx="6400800" cy="620935"/>
            <a:chOff x="0" y="-47625"/>
            <a:chExt cx="8534400" cy="827913"/>
          </a:xfrm>
        </p:grpSpPr>
        <p:sp>
          <p:nvSpPr>
            <p:cNvPr id="920" name="Google Shape;920;p22"/>
            <p:cNvSpPr/>
            <p:nvPr/>
          </p:nvSpPr>
          <p:spPr>
            <a:xfrm>
              <a:off x="0" y="0"/>
              <a:ext cx="8534400" cy="780288"/>
            </a:xfrm>
            <a:custGeom>
              <a:rect b="b" l="l" r="r" t="t"/>
              <a:pathLst>
                <a:path extrusionOk="0" h="780288" w="8534400">
                  <a:moveTo>
                    <a:pt x="0" y="0"/>
                  </a:moveTo>
                  <a:lnTo>
                    <a:pt x="8534400" y="0"/>
                  </a:lnTo>
                  <a:lnTo>
                    <a:pt x="8534400" y="780288"/>
                  </a:lnTo>
                  <a:lnTo>
                    <a:pt x="0" y="780288"/>
                  </a:lnTo>
                  <a:close/>
                </a:path>
              </a:pathLst>
            </a:custGeom>
            <a:blipFill rotWithShape="1">
              <a:blip r:embed="rId3">
                <a:alphaModFix amt="0"/>
              </a:blip>
              <a:stretch>
                <a:fillRect b="-163111" l="0" r="0" t="-163111"/>
              </a:stretch>
            </a:blipFill>
            <a:ln>
              <a:noFill/>
            </a:ln>
          </p:spPr>
        </p:sp>
        <p:sp>
          <p:nvSpPr>
            <p:cNvPr id="921" name="Google Shape;921;p22"/>
            <p:cNvSpPr txBox="1"/>
            <p:nvPr/>
          </p:nvSpPr>
          <p:spPr>
            <a:xfrm>
              <a:off x="0" y="-47625"/>
              <a:ext cx="8534400" cy="827913"/>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100" u="none" cap="none" strike="noStrike">
                  <a:solidFill>
                    <a:srgbClr val="333333"/>
                  </a:solidFill>
                  <a:latin typeface="Calibri"/>
                  <a:ea typeface="Calibri"/>
                  <a:cs typeface="Calibri"/>
                  <a:sym typeface="Calibri"/>
                </a:rPr>
                <a:t>→  113.999 → 89.740 satır</a:t>
              </a:r>
              <a:endParaRPr/>
            </a:p>
          </p:txBody>
        </p:sp>
      </p:grpSp>
      <p:grpSp>
        <p:nvGrpSpPr>
          <p:cNvPr id="922" name="Google Shape;922;p22"/>
          <p:cNvGrpSpPr/>
          <p:nvPr/>
        </p:nvGrpSpPr>
        <p:grpSpPr>
          <a:xfrm>
            <a:off x="2834640" y="4580001"/>
            <a:ext cx="14447521" cy="851535"/>
            <a:chOff x="0" y="-38100"/>
            <a:chExt cx="19263361" cy="1135380"/>
          </a:xfrm>
        </p:grpSpPr>
        <p:sp>
          <p:nvSpPr>
            <p:cNvPr id="923" name="Google Shape;923;p22"/>
            <p:cNvSpPr/>
            <p:nvPr/>
          </p:nvSpPr>
          <p:spPr>
            <a:xfrm>
              <a:off x="0" y="0"/>
              <a:ext cx="19263361" cy="1097280"/>
            </a:xfrm>
            <a:custGeom>
              <a:rect b="b" l="l" r="r" t="t"/>
              <a:pathLst>
                <a:path extrusionOk="0" h="1097280" w="19263361">
                  <a:moveTo>
                    <a:pt x="0" y="0"/>
                  </a:moveTo>
                  <a:lnTo>
                    <a:pt x="19263361" y="0"/>
                  </a:lnTo>
                  <a:lnTo>
                    <a:pt x="19263361" y="1097280"/>
                  </a:lnTo>
                  <a:lnTo>
                    <a:pt x="0" y="1097280"/>
                  </a:lnTo>
                  <a:close/>
                </a:path>
              </a:pathLst>
            </a:custGeom>
            <a:blipFill rotWithShape="1">
              <a:blip r:embed="rId3">
                <a:alphaModFix amt="0"/>
              </a:blip>
              <a:stretch>
                <a:fillRect b="-292091" l="0" r="0" t="-292091"/>
              </a:stretch>
            </a:blipFill>
            <a:ln>
              <a:noFill/>
            </a:ln>
          </p:spPr>
        </p:sp>
        <p:sp>
          <p:nvSpPr>
            <p:cNvPr id="924" name="Google Shape;924;p22"/>
            <p:cNvSpPr txBox="1"/>
            <p:nvPr/>
          </p:nvSpPr>
          <p:spPr>
            <a:xfrm>
              <a:off x="0" y="-38100"/>
              <a:ext cx="19263360" cy="11353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555555"/>
                  </a:solidFill>
                  <a:latin typeface="Calibri"/>
                  <a:ea typeface="Calibri"/>
                  <a:cs typeface="Calibri"/>
                  <a:sym typeface="Calibri"/>
                </a:rPr>
                <a:t>track_id bazında duplike temizleme. 24.259 kirli kayıt silindi. Aynı şarkı farklı türlerde listelenebiliyor — 1 tane tutuldu.</a:t>
              </a:r>
              <a:endParaRPr/>
            </a:p>
          </p:txBody>
        </p:sp>
      </p:grpSp>
      <p:grpSp>
        <p:nvGrpSpPr>
          <p:cNvPr id="925" name="Google Shape;925;p22"/>
          <p:cNvGrpSpPr/>
          <p:nvPr/>
        </p:nvGrpSpPr>
        <p:grpSpPr>
          <a:xfrm>
            <a:off x="447675" y="5751195"/>
            <a:ext cx="17392650" cy="1756410"/>
            <a:chOff x="0" y="0"/>
            <a:chExt cx="23190200" cy="2341880"/>
          </a:xfrm>
        </p:grpSpPr>
        <p:sp>
          <p:nvSpPr>
            <p:cNvPr id="926" name="Google Shape;926;p22"/>
            <p:cNvSpPr/>
            <p:nvPr/>
          </p:nvSpPr>
          <p:spPr>
            <a:xfrm>
              <a:off x="12700" y="12700"/>
              <a:ext cx="23164800" cy="2316480"/>
            </a:xfrm>
            <a:custGeom>
              <a:rect b="b" l="l" r="r" t="t"/>
              <a:pathLst>
                <a:path extrusionOk="0" h="2316480" w="23164800">
                  <a:moveTo>
                    <a:pt x="0" y="0"/>
                  </a:moveTo>
                  <a:lnTo>
                    <a:pt x="23164800" y="0"/>
                  </a:lnTo>
                  <a:lnTo>
                    <a:pt x="23164800" y="2316480"/>
                  </a:lnTo>
                  <a:lnTo>
                    <a:pt x="0" y="2316480"/>
                  </a:lnTo>
                  <a:close/>
                </a:path>
              </a:pathLst>
            </a:custGeom>
            <a:solidFill>
              <a:srgbClr val="F4F4F4"/>
            </a:solidFill>
            <a:ln>
              <a:noFill/>
            </a:ln>
          </p:spPr>
        </p:sp>
        <p:sp>
          <p:nvSpPr>
            <p:cNvPr id="927" name="Google Shape;927;p22"/>
            <p:cNvSpPr/>
            <p:nvPr/>
          </p:nvSpPr>
          <p:spPr>
            <a:xfrm>
              <a:off x="0" y="0"/>
              <a:ext cx="23190200" cy="2341880"/>
            </a:xfrm>
            <a:custGeom>
              <a:rect b="b" l="l" r="r" t="t"/>
              <a:pathLst>
                <a:path extrusionOk="0" h="2341880" w="23190200">
                  <a:moveTo>
                    <a:pt x="12700" y="0"/>
                  </a:moveTo>
                  <a:lnTo>
                    <a:pt x="23177500" y="0"/>
                  </a:lnTo>
                  <a:cubicBezTo>
                    <a:pt x="23184486" y="0"/>
                    <a:pt x="23190200" y="5715"/>
                    <a:pt x="23190200" y="12700"/>
                  </a:cubicBezTo>
                  <a:lnTo>
                    <a:pt x="23190200" y="2329180"/>
                  </a:lnTo>
                  <a:cubicBezTo>
                    <a:pt x="23190200" y="2336165"/>
                    <a:pt x="23184486" y="2341880"/>
                    <a:pt x="23177500" y="2341880"/>
                  </a:cubicBezTo>
                  <a:lnTo>
                    <a:pt x="12700" y="2341880"/>
                  </a:lnTo>
                  <a:cubicBezTo>
                    <a:pt x="5715" y="2341880"/>
                    <a:pt x="0" y="2336165"/>
                    <a:pt x="0" y="2329180"/>
                  </a:cubicBezTo>
                  <a:lnTo>
                    <a:pt x="0" y="12700"/>
                  </a:lnTo>
                  <a:cubicBezTo>
                    <a:pt x="0" y="5715"/>
                    <a:pt x="5715" y="0"/>
                    <a:pt x="12700" y="0"/>
                  </a:cubicBezTo>
                  <a:moveTo>
                    <a:pt x="12700" y="25400"/>
                  </a:moveTo>
                  <a:lnTo>
                    <a:pt x="12700" y="12700"/>
                  </a:lnTo>
                  <a:lnTo>
                    <a:pt x="25400" y="12700"/>
                  </a:lnTo>
                  <a:lnTo>
                    <a:pt x="25400" y="2329180"/>
                  </a:lnTo>
                  <a:lnTo>
                    <a:pt x="12700" y="2329180"/>
                  </a:lnTo>
                  <a:lnTo>
                    <a:pt x="12700" y="2316480"/>
                  </a:lnTo>
                  <a:lnTo>
                    <a:pt x="23177500" y="2316480"/>
                  </a:lnTo>
                  <a:lnTo>
                    <a:pt x="23177500" y="2329180"/>
                  </a:lnTo>
                  <a:lnTo>
                    <a:pt x="23164800" y="232918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8" name="Google Shape;928;p22"/>
          <p:cNvGrpSpPr/>
          <p:nvPr/>
        </p:nvGrpSpPr>
        <p:grpSpPr>
          <a:xfrm>
            <a:off x="444503" y="5748023"/>
            <a:ext cx="2219896" cy="1762696"/>
            <a:chOff x="0" y="0"/>
            <a:chExt cx="2959862" cy="2350262"/>
          </a:xfrm>
        </p:grpSpPr>
        <p:sp>
          <p:nvSpPr>
            <p:cNvPr id="929" name="Google Shape;929;p22"/>
            <p:cNvSpPr/>
            <p:nvPr/>
          </p:nvSpPr>
          <p:spPr>
            <a:xfrm>
              <a:off x="16891" y="16891"/>
              <a:ext cx="2926080" cy="2316480"/>
            </a:xfrm>
            <a:custGeom>
              <a:rect b="b" l="l" r="r" t="t"/>
              <a:pathLst>
                <a:path extrusionOk="0" h="2316480" w="2926080">
                  <a:moveTo>
                    <a:pt x="0" y="0"/>
                  </a:moveTo>
                  <a:lnTo>
                    <a:pt x="2926080" y="0"/>
                  </a:lnTo>
                  <a:lnTo>
                    <a:pt x="2926080" y="2316480"/>
                  </a:lnTo>
                  <a:lnTo>
                    <a:pt x="0" y="2316480"/>
                  </a:lnTo>
                  <a:close/>
                </a:path>
              </a:pathLst>
            </a:custGeom>
            <a:solidFill>
              <a:srgbClr val="27AE60"/>
            </a:solidFill>
            <a:ln>
              <a:noFill/>
            </a:ln>
          </p:spPr>
        </p:sp>
        <p:sp>
          <p:nvSpPr>
            <p:cNvPr id="930" name="Google Shape;930;p22"/>
            <p:cNvSpPr/>
            <p:nvPr/>
          </p:nvSpPr>
          <p:spPr>
            <a:xfrm>
              <a:off x="0" y="0"/>
              <a:ext cx="2959862" cy="2350262"/>
            </a:xfrm>
            <a:custGeom>
              <a:rect b="b" l="l" r="r" t="t"/>
              <a:pathLst>
                <a:path extrusionOk="0" h="2350262" w="2959862">
                  <a:moveTo>
                    <a:pt x="16891" y="0"/>
                  </a:moveTo>
                  <a:lnTo>
                    <a:pt x="2942971" y="0"/>
                  </a:lnTo>
                  <a:cubicBezTo>
                    <a:pt x="2952369" y="0"/>
                    <a:pt x="2959862" y="7620"/>
                    <a:pt x="2959862" y="16891"/>
                  </a:cubicBezTo>
                  <a:lnTo>
                    <a:pt x="2959862" y="2333371"/>
                  </a:lnTo>
                  <a:cubicBezTo>
                    <a:pt x="2959862" y="2342769"/>
                    <a:pt x="2952242" y="2350262"/>
                    <a:pt x="29429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942971" y="2316480"/>
                  </a:lnTo>
                  <a:lnTo>
                    <a:pt x="2942971" y="2333371"/>
                  </a:lnTo>
                  <a:lnTo>
                    <a:pt x="2926080" y="2333371"/>
                  </a:lnTo>
                  <a:lnTo>
                    <a:pt x="2926080" y="16891"/>
                  </a:lnTo>
                  <a:lnTo>
                    <a:pt x="2942971" y="16891"/>
                  </a:lnTo>
                  <a:lnTo>
                    <a:pt x="2942971" y="33909"/>
                  </a:lnTo>
                  <a:lnTo>
                    <a:pt x="16891" y="33909"/>
                  </a:lnTo>
                  <a:close/>
                </a:path>
              </a:pathLst>
            </a:cu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1" name="Google Shape;931;p22"/>
          <p:cNvGrpSpPr/>
          <p:nvPr/>
        </p:nvGrpSpPr>
        <p:grpSpPr>
          <a:xfrm>
            <a:off x="457200" y="6237065"/>
            <a:ext cx="2194560" cy="675799"/>
            <a:chOff x="0" y="-47625"/>
            <a:chExt cx="2926080" cy="901065"/>
          </a:xfrm>
        </p:grpSpPr>
        <p:sp>
          <p:nvSpPr>
            <p:cNvPr id="932" name="Google Shape;932;p22"/>
            <p:cNvSpPr/>
            <p:nvPr/>
          </p:nvSpPr>
          <p:spPr>
            <a:xfrm>
              <a:off x="0" y="0"/>
              <a:ext cx="2926080" cy="853440"/>
            </a:xfrm>
            <a:custGeom>
              <a:rect b="b" l="l" r="r" t="t"/>
              <a:pathLst>
                <a:path extrusionOk="0" h="853440" w="2926080">
                  <a:moveTo>
                    <a:pt x="0" y="0"/>
                  </a:moveTo>
                  <a:lnTo>
                    <a:pt x="2926080" y="0"/>
                  </a:lnTo>
                  <a:lnTo>
                    <a:pt x="2926080" y="853440"/>
                  </a:lnTo>
                  <a:lnTo>
                    <a:pt x="0" y="853440"/>
                  </a:lnTo>
                  <a:close/>
                </a:path>
              </a:pathLst>
            </a:custGeom>
            <a:blipFill rotWithShape="1">
              <a:blip r:embed="rId3">
                <a:alphaModFix amt="0"/>
              </a:blip>
              <a:stretch>
                <a:fillRect b="-16806" l="0" r="0" t="-16806"/>
              </a:stretch>
            </a:blipFill>
            <a:ln>
              <a:noFill/>
            </a:ln>
          </p:spPr>
        </p:sp>
        <p:sp>
          <p:nvSpPr>
            <p:cNvPr id="933" name="Google Shape;933;p22"/>
            <p:cNvSpPr txBox="1"/>
            <p:nvPr/>
          </p:nvSpPr>
          <p:spPr>
            <a:xfrm>
              <a:off x="0" y="-47625"/>
              <a:ext cx="2926080" cy="90106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Aşama 3</a:t>
              </a:r>
              <a:endParaRPr/>
            </a:p>
          </p:txBody>
        </p:sp>
      </p:grpSp>
      <p:grpSp>
        <p:nvGrpSpPr>
          <p:cNvPr id="934" name="Google Shape;934;p22"/>
          <p:cNvGrpSpPr/>
          <p:nvPr/>
        </p:nvGrpSpPr>
        <p:grpSpPr>
          <a:xfrm>
            <a:off x="2834640" y="5816441"/>
            <a:ext cx="8229600" cy="620935"/>
            <a:chOff x="0" y="-47625"/>
            <a:chExt cx="10972800" cy="827913"/>
          </a:xfrm>
        </p:grpSpPr>
        <p:sp>
          <p:nvSpPr>
            <p:cNvPr id="935" name="Google Shape;935;p22"/>
            <p:cNvSpPr/>
            <p:nvPr/>
          </p:nvSpPr>
          <p:spPr>
            <a:xfrm>
              <a:off x="0" y="0"/>
              <a:ext cx="10972800" cy="780288"/>
            </a:xfrm>
            <a:custGeom>
              <a:rect b="b" l="l" r="r" t="t"/>
              <a:pathLst>
                <a:path extrusionOk="0" h="780288" w="10972800">
                  <a:moveTo>
                    <a:pt x="0" y="0"/>
                  </a:moveTo>
                  <a:lnTo>
                    <a:pt x="10972800" y="0"/>
                  </a:lnTo>
                  <a:lnTo>
                    <a:pt x="10972800" y="780288"/>
                  </a:lnTo>
                  <a:lnTo>
                    <a:pt x="0" y="780288"/>
                  </a:lnTo>
                  <a:close/>
                </a:path>
              </a:pathLst>
            </a:custGeom>
            <a:blipFill rotWithShape="1">
              <a:blip r:embed="rId3">
                <a:alphaModFix amt="0"/>
              </a:blip>
              <a:stretch>
                <a:fillRect b="-224003" l="0" r="0" t="-224003"/>
              </a:stretch>
            </a:blipFill>
            <a:ln>
              <a:noFill/>
            </a:ln>
          </p:spPr>
        </p:sp>
        <p:sp>
          <p:nvSpPr>
            <p:cNvPr id="936" name="Google Shape;936;p22"/>
            <p:cNvSpPr txBox="1"/>
            <p:nvPr/>
          </p:nvSpPr>
          <p:spPr>
            <a:xfrm>
              <a:off x="0" y="-47625"/>
              <a:ext cx="1097280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27AE60"/>
                  </a:solidFill>
                  <a:latin typeface="Calibri"/>
                  <a:ea typeface="Calibri"/>
                  <a:cs typeface="Calibri"/>
                  <a:sym typeface="Calibri"/>
                </a:rPr>
                <a:t>Popularity Filtresi</a:t>
              </a:r>
              <a:endParaRPr/>
            </a:p>
          </p:txBody>
        </p:sp>
      </p:grpSp>
      <p:grpSp>
        <p:nvGrpSpPr>
          <p:cNvPr id="937" name="Google Shape;937;p22"/>
          <p:cNvGrpSpPr/>
          <p:nvPr/>
        </p:nvGrpSpPr>
        <p:grpSpPr>
          <a:xfrm>
            <a:off x="11155680" y="5816441"/>
            <a:ext cx="6400800" cy="620935"/>
            <a:chOff x="0" y="-47625"/>
            <a:chExt cx="8534400" cy="827913"/>
          </a:xfrm>
        </p:grpSpPr>
        <p:sp>
          <p:nvSpPr>
            <p:cNvPr id="938" name="Google Shape;938;p22"/>
            <p:cNvSpPr/>
            <p:nvPr/>
          </p:nvSpPr>
          <p:spPr>
            <a:xfrm>
              <a:off x="0" y="0"/>
              <a:ext cx="8534400" cy="780288"/>
            </a:xfrm>
            <a:custGeom>
              <a:rect b="b" l="l" r="r" t="t"/>
              <a:pathLst>
                <a:path extrusionOk="0" h="780288" w="8534400">
                  <a:moveTo>
                    <a:pt x="0" y="0"/>
                  </a:moveTo>
                  <a:lnTo>
                    <a:pt x="8534400" y="0"/>
                  </a:lnTo>
                  <a:lnTo>
                    <a:pt x="8534400" y="780288"/>
                  </a:lnTo>
                  <a:lnTo>
                    <a:pt x="0" y="780288"/>
                  </a:lnTo>
                  <a:close/>
                </a:path>
              </a:pathLst>
            </a:custGeom>
            <a:blipFill rotWithShape="1">
              <a:blip r:embed="rId3">
                <a:alphaModFix amt="0"/>
              </a:blip>
              <a:stretch>
                <a:fillRect b="-163111" l="0" r="0" t="-163111"/>
              </a:stretch>
            </a:blipFill>
            <a:ln>
              <a:noFill/>
            </a:ln>
          </p:spPr>
        </p:sp>
        <p:sp>
          <p:nvSpPr>
            <p:cNvPr id="939" name="Google Shape;939;p22"/>
            <p:cNvSpPr txBox="1"/>
            <p:nvPr/>
          </p:nvSpPr>
          <p:spPr>
            <a:xfrm>
              <a:off x="0" y="-47625"/>
              <a:ext cx="8534400" cy="827913"/>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100" u="none" cap="none" strike="noStrike">
                  <a:solidFill>
                    <a:srgbClr val="333333"/>
                  </a:solidFill>
                  <a:latin typeface="Calibri"/>
                  <a:ea typeface="Calibri"/>
                  <a:cs typeface="Calibri"/>
                  <a:sym typeface="Calibri"/>
                </a:rPr>
                <a:t>→  89.740 satır (değişmedi)</a:t>
              </a:r>
              <a:endParaRPr/>
            </a:p>
          </p:txBody>
        </p:sp>
      </p:grpSp>
      <p:grpSp>
        <p:nvGrpSpPr>
          <p:cNvPr id="940" name="Google Shape;940;p22"/>
          <p:cNvGrpSpPr/>
          <p:nvPr/>
        </p:nvGrpSpPr>
        <p:grpSpPr>
          <a:xfrm>
            <a:off x="2834640" y="6500241"/>
            <a:ext cx="14447521" cy="851535"/>
            <a:chOff x="0" y="-38100"/>
            <a:chExt cx="19263361" cy="1135380"/>
          </a:xfrm>
        </p:grpSpPr>
        <p:sp>
          <p:nvSpPr>
            <p:cNvPr id="941" name="Google Shape;941;p22"/>
            <p:cNvSpPr/>
            <p:nvPr/>
          </p:nvSpPr>
          <p:spPr>
            <a:xfrm>
              <a:off x="0" y="0"/>
              <a:ext cx="19263361" cy="1097280"/>
            </a:xfrm>
            <a:custGeom>
              <a:rect b="b" l="l" r="r" t="t"/>
              <a:pathLst>
                <a:path extrusionOk="0" h="1097280" w="19263361">
                  <a:moveTo>
                    <a:pt x="0" y="0"/>
                  </a:moveTo>
                  <a:lnTo>
                    <a:pt x="19263361" y="0"/>
                  </a:lnTo>
                  <a:lnTo>
                    <a:pt x="19263361" y="1097280"/>
                  </a:lnTo>
                  <a:lnTo>
                    <a:pt x="0" y="1097280"/>
                  </a:lnTo>
                  <a:close/>
                </a:path>
              </a:pathLst>
            </a:custGeom>
            <a:blipFill rotWithShape="1">
              <a:blip r:embed="rId3">
                <a:alphaModFix amt="0"/>
              </a:blip>
              <a:stretch>
                <a:fillRect b="-292091" l="0" r="0" t="-292091"/>
              </a:stretch>
            </a:blipFill>
            <a:ln>
              <a:noFill/>
            </a:ln>
          </p:spPr>
        </p:sp>
        <p:sp>
          <p:nvSpPr>
            <p:cNvPr id="942" name="Google Shape;942;p22"/>
            <p:cNvSpPr txBox="1"/>
            <p:nvPr/>
          </p:nvSpPr>
          <p:spPr>
            <a:xfrm>
              <a:off x="0" y="-38100"/>
              <a:ext cx="19263360" cy="11353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555555"/>
                  </a:solidFill>
                  <a:latin typeface="Calibri"/>
                  <a:ea typeface="Calibri"/>
                  <a:cs typeface="Calibri"/>
                  <a:sym typeface="Calibri"/>
                </a:rPr>
                <a:t>0–100 aralığı dışında kayıt yoktu. Tüm veri geçerli aralıkta. Filtre doğrulama amaçlı uygulandı.</a:t>
              </a:r>
              <a:endParaRPr/>
            </a:p>
          </p:txBody>
        </p:sp>
      </p:grpSp>
      <p:grpSp>
        <p:nvGrpSpPr>
          <p:cNvPr id="943" name="Google Shape;943;p22"/>
          <p:cNvGrpSpPr/>
          <p:nvPr/>
        </p:nvGrpSpPr>
        <p:grpSpPr>
          <a:xfrm>
            <a:off x="447675" y="7671435"/>
            <a:ext cx="17392650" cy="1756410"/>
            <a:chOff x="0" y="0"/>
            <a:chExt cx="23190200" cy="2341880"/>
          </a:xfrm>
        </p:grpSpPr>
        <p:sp>
          <p:nvSpPr>
            <p:cNvPr id="944" name="Google Shape;944;p22"/>
            <p:cNvSpPr/>
            <p:nvPr/>
          </p:nvSpPr>
          <p:spPr>
            <a:xfrm>
              <a:off x="12700" y="12700"/>
              <a:ext cx="23164800" cy="2316480"/>
            </a:xfrm>
            <a:custGeom>
              <a:rect b="b" l="l" r="r" t="t"/>
              <a:pathLst>
                <a:path extrusionOk="0" h="2316480" w="23164800">
                  <a:moveTo>
                    <a:pt x="0" y="0"/>
                  </a:moveTo>
                  <a:lnTo>
                    <a:pt x="23164800" y="0"/>
                  </a:lnTo>
                  <a:lnTo>
                    <a:pt x="23164800" y="2316480"/>
                  </a:lnTo>
                  <a:lnTo>
                    <a:pt x="0" y="2316480"/>
                  </a:lnTo>
                  <a:close/>
                </a:path>
              </a:pathLst>
            </a:custGeom>
            <a:solidFill>
              <a:srgbClr val="FFFFFF"/>
            </a:solidFill>
            <a:ln>
              <a:noFill/>
            </a:ln>
          </p:spPr>
        </p:sp>
        <p:sp>
          <p:nvSpPr>
            <p:cNvPr id="945" name="Google Shape;945;p22"/>
            <p:cNvSpPr/>
            <p:nvPr/>
          </p:nvSpPr>
          <p:spPr>
            <a:xfrm>
              <a:off x="0" y="0"/>
              <a:ext cx="23190200" cy="2341880"/>
            </a:xfrm>
            <a:custGeom>
              <a:rect b="b" l="l" r="r" t="t"/>
              <a:pathLst>
                <a:path extrusionOk="0" h="2341880" w="23190200">
                  <a:moveTo>
                    <a:pt x="12700" y="0"/>
                  </a:moveTo>
                  <a:lnTo>
                    <a:pt x="23177500" y="0"/>
                  </a:lnTo>
                  <a:cubicBezTo>
                    <a:pt x="23184486" y="0"/>
                    <a:pt x="23190200" y="5715"/>
                    <a:pt x="23190200" y="12700"/>
                  </a:cubicBezTo>
                  <a:lnTo>
                    <a:pt x="23190200" y="2329180"/>
                  </a:lnTo>
                  <a:cubicBezTo>
                    <a:pt x="23190200" y="2336165"/>
                    <a:pt x="23184486" y="2341880"/>
                    <a:pt x="23177500" y="2341880"/>
                  </a:cubicBezTo>
                  <a:lnTo>
                    <a:pt x="12700" y="2341880"/>
                  </a:lnTo>
                  <a:cubicBezTo>
                    <a:pt x="5715" y="2341880"/>
                    <a:pt x="0" y="2336165"/>
                    <a:pt x="0" y="2329180"/>
                  </a:cubicBezTo>
                  <a:lnTo>
                    <a:pt x="0" y="12700"/>
                  </a:lnTo>
                  <a:cubicBezTo>
                    <a:pt x="0" y="5715"/>
                    <a:pt x="5715" y="0"/>
                    <a:pt x="12700" y="0"/>
                  </a:cubicBezTo>
                  <a:moveTo>
                    <a:pt x="12700" y="25400"/>
                  </a:moveTo>
                  <a:lnTo>
                    <a:pt x="12700" y="12700"/>
                  </a:lnTo>
                  <a:lnTo>
                    <a:pt x="25400" y="12700"/>
                  </a:lnTo>
                  <a:lnTo>
                    <a:pt x="25400" y="2329180"/>
                  </a:lnTo>
                  <a:lnTo>
                    <a:pt x="12700" y="2329180"/>
                  </a:lnTo>
                  <a:lnTo>
                    <a:pt x="12700" y="2316480"/>
                  </a:lnTo>
                  <a:lnTo>
                    <a:pt x="23177500" y="2316480"/>
                  </a:lnTo>
                  <a:lnTo>
                    <a:pt x="23177500" y="2329180"/>
                  </a:lnTo>
                  <a:lnTo>
                    <a:pt x="23164800" y="232918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6" name="Google Shape;946;p22"/>
          <p:cNvGrpSpPr/>
          <p:nvPr/>
        </p:nvGrpSpPr>
        <p:grpSpPr>
          <a:xfrm>
            <a:off x="444503" y="7668263"/>
            <a:ext cx="2219896" cy="1762696"/>
            <a:chOff x="0" y="0"/>
            <a:chExt cx="2959862" cy="2350262"/>
          </a:xfrm>
        </p:grpSpPr>
        <p:sp>
          <p:nvSpPr>
            <p:cNvPr id="947" name="Google Shape;947;p22"/>
            <p:cNvSpPr/>
            <p:nvPr/>
          </p:nvSpPr>
          <p:spPr>
            <a:xfrm>
              <a:off x="16891" y="16891"/>
              <a:ext cx="2926080" cy="2316480"/>
            </a:xfrm>
            <a:custGeom>
              <a:rect b="b" l="l" r="r" t="t"/>
              <a:pathLst>
                <a:path extrusionOk="0" h="2316480" w="2926080">
                  <a:moveTo>
                    <a:pt x="0" y="0"/>
                  </a:moveTo>
                  <a:lnTo>
                    <a:pt x="2926080" y="0"/>
                  </a:lnTo>
                  <a:lnTo>
                    <a:pt x="2926080" y="2316480"/>
                  </a:lnTo>
                  <a:lnTo>
                    <a:pt x="0" y="2316480"/>
                  </a:lnTo>
                  <a:close/>
                </a:path>
              </a:pathLst>
            </a:custGeom>
            <a:solidFill>
              <a:srgbClr val="E67E22"/>
            </a:solidFill>
            <a:ln>
              <a:noFill/>
            </a:ln>
          </p:spPr>
        </p:sp>
        <p:sp>
          <p:nvSpPr>
            <p:cNvPr id="948" name="Google Shape;948;p22"/>
            <p:cNvSpPr/>
            <p:nvPr/>
          </p:nvSpPr>
          <p:spPr>
            <a:xfrm>
              <a:off x="0" y="0"/>
              <a:ext cx="2959862" cy="2350262"/>
            </a:xfrm>
            <a:custGeom>
              <a:rect b="b" l="l" r="r" t="t"/>
              <a:pathLst>
                <a:path extrusionOk="0" h="2350262" w="2959862">
                  <a:moveTo>
                    <a:pt x="16891" y="0"/>
                  </a:moveTo>
                  <a:lnTo>
                    <a:pt x="2942971" y="0"/>
                  </a:lnTo>
                  <a:cubicBezTo>
                    <a:pt x="2952369" y="0"/>
                    <a:pt x="2959862" y="7620"/>
                    <a:pt x="2959862" y="16891"/>
                  </a:cubicBezTo>
                  <a:lnTo>
                    <a:pt x="2959862" y="2333371"/>
                  </a:lnTo>
                  <a:cubicBezTo>
                    <a:pt x="2959862" y="2342769"/>
                    <a:pt x="2952242" y="2350262"/>
                    <a:pt x="29429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942971" y="2316480"/>
                  </a:lnTo>
                  <a:lnTo>
                    <a:pt x="2942971" y="2333371"/>
                  </a:lnTo>
                  <a:lnTo>
                    <a:pt x="2926080" y="2333371"/>
                  </a:lnTo>
                  <a:lnTo>
                    <a:pt x="2926080" y="16891"/>
                  </a:lnTo>
                  <a:lnTo>
                    <a:pt x="2942971" y="16891"/>
                  </a:lnTo>
                  <a:lnTo>
                    <a:pt x="2942971" y="33909"/>
                  </a:lnTo>
                  <a:lnTo>
                    <a:pt x="16891" y="33909"/>
                  </a:lnTo>
                  <a:close/>
                </a:path>
              </a:pathLst>
            </a:custGeom>
            <a:solidFill>
              <a:srgbClr val="E67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9" name="Google Shape;949;p22"/>
          <p:cNvGrpSpPr/>
          <p:nvPr/>
        </p:nvGrpSpPr>
        <p:grpSpPr>
          <a:xfrm>
            <a:off x="457200" y="8157305"/>
            <a:ext cx="2194560" cy="675799"/>
            <a:chOff x="0" y="-47625"/>
            <a:chExt cx="2926080" cy="901065"/>
          </a:xfrm>
        </p:grpSpPr>
        <p:sp>
          <p:nvSpPr>
            <p:cNvPr id="950" name="Google Shape;950;p22"/>
            <p:cNvSpPr/>
            <p:nvPr/>
          </p:nvSpPr>
          <p:spPr>
            <a:xfrm>
              <a:off x="0" y="0"/>
              <a:ext cx="2926080" cy="853440"/>
            </a:xfrm>
            <a:custGeom>
              <a:rect b="b" l="l" r="r" t="t"/>
              <a:pathLst>
                <a:path extrusionOk="0" h="853440" w="2926080">
                  <a:moveTo>
                    <a:pt x="0" y="0"/>
                  </a:moveTo>
                  <a:lnTo>
                    <a:pt x="2926080" y="0"/>
                  </a:lnTo>
                  <a:lnTo>
                    <a:pt x="2926080" y="853440"/>
                  </a:lnTo>
                  <a:lnTo>
                    <a:pt x="0" y="853440"/>
                  </a:lnTo>
                  <a:close/>
                </a:path>
              </a:pathLst>
            </a:custGeom>
            <a:blipFill rotWithShape="1">
              <a:blip r:embed="rId3">
                <a:alphaModFix amt="0"/>
              </a:blip>
              <a:stretch>
                <a:fillRect b="-16806" l="0" r="0" t="-16806"/>
              </a:stretch>
            </a:blipFill>
            <a:ln>
              <a:noFill/>
            </a:ln>
          </p:spPr>
        </p:sp>
        <p:sp>
          <p:nvSpPr>
            <p:cNvPr id="951" name="Google Shape;951;p22"/>
            <p:cNvSpPr txBox="1"/>
            <p:nvPr/>
          </p:nvSpPr>
          <p:spPr>
            <a:xfrm>
              <a:off x="0" y="-47625"/>
              <a:ext cx="2926080" cy="90106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2200" u="none" cap="none" strike="noStrike">
                  <a:solidFill>
                    <a:srgbClr val="FFFFFF"/>
                  </a:solidFill>
                  <a:latin typeface="Calibri"/>
                  <a:ea typeface="Calibri"/>
                  <a:cs typeface="Calibri"/>
                  <a:sym typeface="Calibri"/>
                </a:rPr>
                <a:t>Aşama 4</a:t>
              </a:r>
              <a:endParaRPr/>
            </a:p>
          </p:txBody>
        </p:sp>
      </p:grpSp>
      <p:grpSp>
        <p:nvGrpSpPr>
          <p:cNvPr id="952" name="Google Shape;952;p22"/>
          <p:cNvGrpSpPr/>
          <p:nvPr/>
        </p:nvGrpSpPr>
        <p:grpSpPr>
          <a:xfrm>
            <a:off x="2834640" y="7736681"/>
            <a:ext cx="8229600" cy="620935"/>
            <a:chOff x="0" y="-47625"/>
            <a:chExt cx="10972800" cy="827913"/>
          </a:xfrm>
        </p:grpSpPr>
        <p:sp>
          <p:nvSpPr>
            <p:cNvPr id="953" name="Google Shape;953;p22"/>
            <p:cNvSpPr/>
            <p:nvPr/>
          </p:nvSpPr>
          <p:spPr>
            <a:xfrm>
              <a:off x="0" y="0"/>
              <a:ext cx="10972800" cy="780288"/>
            </a:xfrm>
            <a:custGeom>
              <a:rect b="b" l="l" r="r" t="t"/>
              <a:pathLst>
                <a:path extrusionOk="0" h="780288" w="10972800">
                  <a:moveTo>
                    <a:pt x="0" y="0"/>
                  </a:moveTo>
                  <a:lnTo>
                    <a:pt x="10972800" y="0"/>
                  </a:lnTo>
                  <a:lnTo>
                    <a:pt x="10972800" y="780288"/>
                  </a:lnTo>
                  <a:lnTo>
                    <a:pt x="0" y="780288"/>
                  </a:lnTo>
                  <a:close/>
                </a:path>
              </a:pathLst>
            </a:custGeom>
            <a:blipFill rotWithShape="1">
              <a:blip r:embed="rId3">
                <a:alphaModFix amt="0"/>
              </a:blip>
              <a:stretch>
                <a:fillRect b="-224003" l="0" r="0" t="-224003"/>
              </a:stretch>
            </a:blipFill>
            <a:ln>
              <a:noFill/>
            </a:ln>
          </p:spPr>
        </p:sp>
        <p:sp>
          <p:nvSpPr>
            <p:cNvPr id="954" name="Google Shape;954;p22"/>
            <p:cNvSpPr txBox="1"/>
            <p:nvPr/>
          </p:nvSpPr>
          <p:spPr>
            <a:xfrm>
              <a:off x="0" y="-47625"/>
              <a:ext cx="1097280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E67E22"/>
                  </a:solidFill>
                  <a:latin typeface="Calibri"/>
                  <a:ea typeface="Calibri"/>
                  <a:cs typeface="Calibri"/>
                  <a:sym typeface="Calibri"/>
                </a:rPr>
                <a:t>explicit: String → Integer Dönüşümü</a:t>
              </a:r>
              <a:endParaRPr/>
            </a:p>
          </p:txBody>
        </p:sp>
      </p:grpSp>
      <p:grpSp>
        <p:nvGrpSpPr>
          <p:cNvPr id="955" name="Google Shape;955;p22"/>
          <p:cNvGrpSpPr/>
          <p:nvPr/>
        </p:nvGrpSpPr>
        <p:grpSpPr>
          <a:xfrm>
            <a:off x="11155680" y="7736681"/>
            <a:ext cx="6400800" cy="620935"/>
            <a:chOff x="0" y="-47625"/>
            <a:chExt cx="8534400" cy="827913"/>
          </a:xfrm>
        </p:grpSpPr>
        <p:sp>
          <p:nvSpPr>
            <p:cNvPr id="956" name="Google Shape;956;p22"/>
            <p:cNvSpPr/>
            <p:nvPr/>
          </p:nvSpPr>
          <p:spPr>
            <a:xfrm>
              <a:off x="0" y="0"/>
              <a:ext cx="8534400" cy="780288"/>
            </a:xfrm>
            <a:custGeom>
              <a:rect b="b" l="l" r="r" t="t"/>
              <a:pathLst>
                <a:path extrusionOk="0" h="780288" w="8534400">
                  <a:moveTo>
                    <a:pt x="0" y="0"/>
                  </a:moveTo>
                  <a:lnTo>
                    <a:pt x="8534400" y="0"/>
                  </a:lnTo>
                  <a:lnTo>
                    <a:pt x="8534400" y="780288"/>
                  </a:lnTo>
                  <a:lnTo>
                    <a:pt x="0" y="780288"/>
                  </a:lnTo>
                  <a:close/>
                </a:path>
              </a:pathLst>
            </a:custGeom>
            <a:blipFill rotWithShape="1">
              <a:blip r:embed="rId3">
                <a:alphaModFix amt="0"/>
              </a:blip>
              <a:stretch>
                <a:fillRect b="-163111" l="0" r="0" t="-163111"/>
              </a:stretch>
            </a:blipFill>
            <a:ln>
              <a:noFill/>
            </a:ln>
          </p:spPr>
        </p:sp>
        <p:sp>
          <p:nvSpPr>
            <p:cNvPr id="957" name="Google Shape;957;p22"/>
            <p:cNvSpPr txBox="1"/>
            <p:nvPr/>
          </p:nvSpPr>
          <p:spPr>
            <a:xfrm>
              <a:off x="0" y="-47625"/>
              <a:ext cx="8534400" cy="827913"/>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b="1" i="0" lang="en-US" sz="2100" u="none" cap="none" strike="noStrike">
                  <a:solidFill>
                    <a:srgbClr val="333333"/>
                  </a:solidFill>
                  <a:latin typeface="Calibri"/>
                  <a:ea typeface="Calibri"/>
                  <a:cs typeface="Calibri"/>
                  <a:sym typeface="Calibri"/>
                </a:rPr>
                <a:t>→  Format düzeltildi</a:t>
              </a:r>
              <a:endParaRPr/>
            </a:p>
          </p:txBody>
        </p:sp>
      </p:grpSp>
      <p:grpSp>
        <p:nvGrpSpPr>
          <p:cNvPr id="958" name="Google Shape;958;p22"/>
          <p:cNvGrpSpPr/>
          <p:nvPr/>
        </p:nvGrpSpPr>
        <p:grpSpPr>
          <a:xfrm>
            <a:off x="2834640" y="8420481"/>
            <a:ext cx="14447521" cy="851535"/>
            <a:chOff x="0" y="-38100"/>
            <a:chExt cx="19263361" cy="1135380"/>
          </a:xfrm>
        </p:grpSpPr>
        <p:sp>
          <p:nvSpPr>
            <p:cNvPr id="959" name="Google Shape;959;p22"/>
            <p:cNvSpPr/>
            <p:nvPr/>
          </p:nvSpPr>
          <p:spPr>
            <a:xfrm>
              <a:off x="0" y="0"/>
              <a:ext cx="19263361" cy="1097280"/>
            </a:xfrm>
            <a:custGeom>
              <a:rect b="b" l="l" r="r" t="t"/>
              <a:pathLst>
                <a:path extrusionOk="0" h="1097280" w="19263361">
                  <a:moveTo>
                    <a:pt x="0" y="0"/>
                  </a:moveTo>
                  <a:lnTo>
                    <a:pt x="19263361" y="0"/>
                  </a:lnTo>
                  <a:lnTo>
                    <a:pt x="19263361" y="1097280"/>
                  </a:lnTo>
                  <a:lnTo>
                    <a:pt x="0" y="1097280"/>
                  </a:lnTo>
                  <a:close/>
                </a:path>
              </a:pathLst>
            </a:custGeom>
            <a:blipFill rotWithShape="1">
              <a:blip r:embed="rId3">
                <a:alphaModFix amt="0"/>
              </a:blip>
              <a:stretch>
                <a:fillRect b="-292091" l="0" r="0" t="-292091"/>
              </a:stretch>
            </a:blipFill>
            <a:ln>
              <a:noFill/>
            </a:ln>
          </p:spPr>
        </p:sp>
        <p:sp>
          <p:nvSpPr>
            <p:cNvPr id="960" name="Google Shape;960;p22"/>
            <p:cNvSpPr txBox="1"/>
            <p:nvPr/>
          </p:nvSpPr>
          <p:spPr>
            <a:xfrm>
              <a:off x="0" y="-38100"/>
              <a:ext cx="19263360" cy="11353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555555"/>
                  </a:solidFill>
                  <a:latin typeface="Calibri"/>
                  <a:ea typeface="Calibri"/>
                  <a:cs typeface="Calibri"/>
                  <a:sym typeface="Calibri"/>
                </a:rPr>
                <a:t>'True' → 1, 'False' → 0. when() fonksiyonu kullanıldı. ML modeli sayısal değer gerektiriyor.</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grpSp>
        <p:nvGrpSpPr>
          <p:cNvPr id="969" name="Google Shape;969;p23"/>
          <p:cNvGrpSpPr/>
          <p:nvPr/>
        </p:nvGrpSpPr>
        <p:grpSpPr>
          <a:xfrm>
            <a:off x="-12697" y="-12697"/>
            <a:ext cx="18313336" cy="1579816"/>
            <a:chOff x="0" y="0"/>
            <a:chExt cx="24417782" cy="2106422"/>
          </a:xfrm>
        </p:grpSpPr>
        <p:sp>
          <p:nvSpPr>
            <p:cNvPr id="970" name="Google Shape;970;p23"/>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971" name="Google Shape;971;p23"/>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2" name="Google Shape;972;p23"/>
          <p:cNvGrpSpPr/>
          <p:nvPr/>
        </p:nvGrpSpPr>
        <p:grpSpPr>
          <a:xfrm>
            <a:off x="-12697" y="-12697"/>
            <a:ext cx="244792" cy="1579816"/>
            <a:chOff x="0" y="0"/>
            <a:chExt cx="326390" cy="2106422"/>
          </a:xfrm>
        </p:grpSpPr>
        <p:sp>
          <p:nvSpPr>
            <p:cNvPr id="973" name="Google Shape;973;p23"/>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974" name="Google Shape;974;p23"/>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5" name="Google Shape;975;p23"/>
          <p:cNvGrpSpPr/>
          <p:nvPr/>
        </p:nvGrpSpPr>
        <p:grpSpPr>
          <a:xfrm>
            <a:off x="548640" y="89154"/>
            <a:ext cx="12801600" cy="880110"/>
            <a:chOff x="0" y="-76200"/>
            <a:chExt cx="17068800" cy="1173480"/>
          </a:xfrm>
        </p:grpSpPr>
        <p:sp>
          <p:nvSpPr>
            <p:cNvPr id="976" name="Google Shape;976;p23"/>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977" name="Google Shape;977;p23"/>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Sınıflandırma Modelleri</a:t>
              </a:r>
              <a:endParaRPr/>
            </a:p>
          </p:txBody>
        </p:sp>
      </p:grpSp>
      <p:grpSp>
        <p:nvGrpSpPr>
          <p:cNvPr id="978" name="Google Shape;978;p23"/>
          <p:cNvGrpSpPr/>
          <p:nvPr/>
        </p:nvGrpSpPr>
        <p:grpSpPr>
          <a:xfrm>
            <a:off x="548640" y="915257"/>
            <a:ext cx="16459200" cy="547783"/>
            <a:chOff x="0" y="-47625"/>
            <a:chExt cx="21945600" cy="730377"/>
          </a:xfrm>
        </p:grpSpPr>
        <p:sp>
          <p:nvSpPr>
            <p:cNvPr id="979" name="Google Shape;979;p23"/>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980" name="Google Shape;980;p23"/>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5 model — PySpark MLlib — track_genre tahmini (113 tür)</a:t>
              </a:r>
              <a:endParaRPr/>
            </a:p>
          </p:txBody>
        </p:sp>
      </p:grpSp>
      <p:grpSp>
        <p:nvGrpSpPr>
          <p:cNvPr id="981" name="Google Shape;981;p23"/>
          <p:cNvGrpSpPr/>
          <p:nvPr/>
        </p:nvGrpSpPr>
        <p:grpSpPr>
          <a:xfrm>
            <a:off x="-12697" y="1541783"/>
            <a:ext cx="18313336" cy="98490"/>
            <a:chOff x="0" y="0"/>
            <a:chExt cx="24417782" cy="131320"/>
          </a:xfrm>
        </p:grpSpPr>
        <p:sp>
          <p:nvSpPr>
            <p:cNvPr id="982" name="Google Shape;982;p23"/>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983" name="Google Shape;983;p23"/>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4" name="Google Shape;984;p23"/>
          <p:cNvGrpSpPr/>
          <p:nvPr/>
        </p:nvGrpSpPr>
        <p:grpSpPr>
          <a:xfrm>
            <a:off x="457200" y="1800225"/>
            <a:ext cx="17373600" cy="577215"/>
            <a:chOff x="0" y="-38100"/>
            <a:chExt cx="23164800" cy="769620"/>
          </a:xfrm>
        </p:grpSpPr>
        <p:sp>
          <p:nvSpPr>
            <p:cNvPr id="985" name="Google Shape;985;p23"/>
            <p:cNvSpPr/>
            <p:nvPr/>
          </p:nvSpPr>
          <p:spPr>
            <a:xfrm>
              <a:off x="0" y="0"/>
              <a:ext cx="23164800" cy="731520"/>
            </a:xfrm>
            <a:custGeom>
              <a:rect b="b" l="l" r="r" t="t"/>
              <a:pathLst>
                <a:path extrusionOk="0" h="731520" w="23164800">
                  <a:moveTo>
                    <a:pt x="0" y="0"/>
                  </a:moveTo>
                  <a:lnTo>
                    <a:pt x="23164800" y="0"/>
                  </a:lnTo>
                  <a:lnTo>
                    <a:pt x="23164800" y="731520"/>
                  </a:lnTo>
                  <a:lnTo>
                    <a:pt x="0" y="731520"/>
                  </a:lnTo>
                  <a:close/>
                </a:path>
              </a:pathLst>
            </a:custGeom>
            <a:blipFill rotWithShape="1">
              <a:blip r:embed="rId3">
                <a:alphaModFix amt="0"/>
              </a:blip>
              <a:stretch>
                <a:fillRect b="-566980" l="0" r="0" t="-566980"/>
              </a:stretch>
            </a:blipFill>
            <a:ln>
              <a:noFill/>
            </a:ln>
          </p:spPr>
        </p:sp>
        <p:sp>
          <p:nvSpPr>
            <p:cNvPr id="986" name="Google Shape;986;p23"/>
            <p:cNvSpPr txBox="1"/>
            <p:nvPr/>
          </p:nvSpPr>
          <p:spPr>
            <a:xfrm>
              <a:off x="0" y="-38100"/>
              <a:ext cx="23164800" cy="7696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000" u="none" cap="none" strike="noStrike">
                  <a:solidFill>
                    <a:srgbClr val="555555"/>
                  </a:solidFill>
                  <a:latin typeface="Calibri"/>
                  <a:ea typeface="Calibri"/>
                  <a:cs typeface="Calibri"/>
                  <a:sym typeface="Calibri"/>
                </a:rPr>
                <a:t>Problem: track_genre Sınıflandırması  |  Hedef: Şarkı özelliklerinden müzik türü tahmini  |  Veri: 89.740 şarkı</a:t>
              </a:r>
              <a:endParaRPr/>
            </a:p>
          </p:txBody>
        </p:sp>
      </p:grpSp>
      <p:graphicFrame>
        <p:nvGraphicFramePr>
          <p:cNvPr id="987" name="Google Shape;987;p23"/>
          <p:cNvGraphicFramePr/>
          <p:nvPr/>
        </p:nvGraphicFramePr>
        <p:xfrm>
          <a:off x="457200" y="2523744"/>
          <a:ext cx="3000000" cy="3000000"/>
        </p:xfrm>
        <a:graphic>
          <a:graphicData uri="http://schemas.openxmlformats.org/drawingml/2006/table">
            <a:tbl>
              <a:tblPr>
                <a:noFill/>
                <a:tableStyleId>{2C93C83C-5392-4183-9727-79645D0AB389}</a:tableStyleId>
              </a:tblPr>
              <a:tblGrid>
                <a:gridCol w="6891525"/>
                <a:gridCol w="2923475"/>
                <a:gridCol w="2923475"/>
                <a:gridCol w="2923475"/>
                <a:gridCol w="1660850"/>
              </a:tblGrid>
              <a:tr h="609575">
                <a:tc>
                  <a:txBody>
                    <a:bodyPr/>
                    <a:lstStyle/>
                    <a:p>
                      <a:pPr indent="0" lvl="0" marL="0" marR="0" rtl="0" algn="l">
                        <a:lnSpc>
                          <a:spcPct val="120000"/>
                        </a:lnSpc>
                        <a:spcBef>
                          <a:spcPts val="0"/>
                        </a:spcBef>
                        <a:spcAft>
                          <a:spcPts val="0"/>
                        </a:spcAft>
                        <a:buNone/>
                      </a:pPr>
                      <a:r>
                        <a:rPr b="1" lang="en-US" sz="2000" u="none" cap="none" strike="noStrike">
                          <a:solidFill>
                            <a:srgbClr val="FFFFFF"/>
                          </a:solidFill>
                          <a:latin typeface="Calibri"/>
                          <a:ea typeface="Calibri"/>
                          <a:cs typeface="Calibri"/>
                          <a:sym typeface="Calibri"/>
                        </a:rPr>
                        <a:t>Model</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21212"/>
                    </a:solidFill>
                  </a:tcPr>
                </a:tc>
                <a:tc>
                  <a:txBody>
                    <a:bodyPr/>
                    <a:lstStyle/>
                    <a:p>
                      <a:pPr indent="0" lvl="0" marL="0" marR="0" rtl="0" algn="ctr">
                        <a:lnSpc>
                          <a:spcPct val="120000"/>
                        </a:lnSpc>
                        <a:spcBef>
                          <a:spcPts val="0"/>
                        </a:spcBef>
                        <a:spcAft>
                          <a:spcPts val="0"/>
                        </a:spcAft>
                        <a:buNone/>
                      </a:pPr>
                      <a:r>
                        <a:rPr b="1" lang="en-US" sz="2000" u="none" cap="none" strike="noStrike">
                          <a:solidFill>
                            <a:srgbClr val="FFFFFF"/>
                          </a:solidFill>
                          <a:latin typeface="Calibri"/>
                          <a:ea typeface="Calibri"/>
                          <a:cs typeface="Calibri"/>
                          <a:sym typeface="Calibri"/>
                        </a:rPr>
                        <a:t>Accuracy</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21212"/>
                    </a:solidFill>
                  </a:tcPr>
                </a:tc>
                <a:tc>
                  <a:txBody>
                    <a:bodyPr/>
                    <a:lstStyle/>
                    <a:p>
                      <a:pPr indent="0" lvl="0" marL="0" marR="0" rtl="0" algn="ctr">
                        <a:lnSpc>
                          <a:spcPct val="120000"/>
                        </a:lnSpc>
                        <a:spcBef>
                          <a:spcPts val="0"/>
                        </a:spcBef>
                        <a:spcAft>
                          <a:spcPts val="0"/>
                        </a:spcAft>
                        <a:buNone/>
                      </a:pPr>
                      <a:r>
                        <a:rPr b="1" lang="en-US" sz="2000" u="none" cap="none" strike="noStrike">
                          <a:solidFill>
                            <a:srgbClr val="FFFFFF"/>
                          </a:solidFill>
                          <a:latin typeface="Calibri"/>
                          <a:ea typeface="Calibri"/>
                          <a:cs typeface="Calibri"/>
                          <a:sym typeface="Calibri"/>
                        </a:rPr>
                        <a:t>F1-Score</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21212"/>
                    </a:solidFill>
                  </a:tcPr>
                </a:tc>
                <a:tc>
                  <a:txBody>
                    <a:bodyPr/>
                    <a:lstStyle/>
                    <a:p>
                      <a:pPr indent="0" lvl="0" marL="0" marR="0" rtl="0" algn="ctr">
                        <a:lnSpc>
                          <a:spcPct val="120000"/>
                        </a:lnSpc>
                        <a:spcBef>
                          <a:spcPts val="0"/>
                        </a:spcBef>
                        <a:spcAft>
                          <a:spcPts val="0"/>
                        </a:spcAft>
                        <a:buNone/>
                      </a:pPr>
                      <a:r>
                        <a:rPr b="1" lang="en-US" sz="2000" u="none" cap="none" strike="noStrike">
                          <a:solidFill>
                            <a:srgbClr val="FFFFFF"/>
                          </a:solidFill>
                          <a:latin typeface="Calibri"/>
                          <a:ea typeface="Calibri"/>
                          <a:cs typeface="Calibri"/>
                          <a:sym typeface="Calibri"/>
                        </a:rPr>
                        <a:t>AUC-ROC</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21212"/>
                    </a:solidFill>
                  </a:tcPr>
                </a:tc>
                <a:tc>
                  <a:txBody>
                    <a:bodyPr/>
                    <a:lstStyle/>
                    <a:p>
                      <a:pPr indent="0" lvl="0" marL="0" marR="0" rtl="0" algn="ctr">
                        <a:lnSpc>
                          <a:spcPct val="120000"/>
                        </a:lnSpc>
                        <a:spcBef>
                          <a:spcPts val="0"/>
                        </a:spcBef>
                        <a:spcAft>
                          <a:spcPts val="0"/>
                        </a:spcAft>
                        <a:buNone/>
                      </a:pPr>
                      <a:r>
                        <a:rPr b="1" lang="en-US" sz="2000" u="none" cap="none" strike="noStrike">
                          <a:solidFill>
                            <a:srgbClr val="FFFFFF"/>
                          </a:solidFill>
                          <a:latin typeface="Calibri"/>
                          <a:ea typeface="Calibri"/>
                          <a:cs typeface="Calibri"/>
                          <a:sym typeface="Calibri"/>
                        </a:rPr>
                        <a:t>Durum</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21212"/>
                    </a:solidFill>
                  </a:tcPr>
                </a:tc>
              </a:tr>
              <a:tr h="620725">
                <a:tc>
                  <a:txBody>
                    <a:bodyPr/>
                    <a:lstStyle/>
                    <a:p>
                      <a:pPr indent="0" lvl="0" marL="0" marR="0" rtl="0" algn="l">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Logistic Regression</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0.466</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0.449</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0.920</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lnSpc>
                          <a:spcPct val="152636"/>
                        </a:lnSpc>
                        <a:spcBef>
                          <a:spcPts val="0"/>
                        </a:spcBef>
                        <a:spcAft>
                          <a:spcPts val="0"/>
                        </a:spcAft>
                        <a:buNone/>
                      </a:pPr>
                      <a:r>
                        <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620725">
                <a:tc>
                  <a:txBody>
                    <a:bodyPr/>
                    <a:lstStyle/>
                    <a:p>
                      <a:pPr indent="0" lvl="0" marL="0" marR="0" rtl="0" algn="l">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Decision Tree Classifier</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0.481</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0.480</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0.899</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c>
                  <a:txBody>
                    <a:bodyPr/>
                    <a:lstStyle/>
                    <a:p>
                      <a:pPr indent="0" lvl="0" marL="0" marR="0" rtl="0" algn="l">
                        <a:lnSpc>
                          <a:spcPct val="152636"/>
                        </a:lnSpc>
                        <a:spcBef>
                          <a:spcPts val="0"/>
                        </a:spcBef>
                        <a:spcAft>
                          <a:spcPts val="0"/>
                        </a:spcAft>
                        <a:buNone/>
                      </a:pPr>
                      <a:r>
                        <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r>
              <a:tr h="609575">
                <a:tc>
                  <a:txBody>
                    <a:bodyPr/>
                    <a:lstStyle/>
                    <a:p>
                      <a:pPr indent="0" lvl="0" marL="0" marR="0" rtl="0" algn="l">
                        <a:lnSpc>
                          <a:spcPct val="120000"/>
                        </a:lnSpc>
                        <a:spcBef>
                          <a:spcPts val="0"/>
                        </a:spcBef>
                        <a:spcAft>
                          <a:spcPts val="0"/>
                        </a:spcAft>
                        <a:buNone/>
                      </a:pPr>
                      <a:r>
                        <a:rPr b="1" lang="en-US" sz="2100" u="none" cap="none" strike="noStrike">
                          <a:solidFill>
                            <a:srgbClr val="1DB954"/>
                          </a:solidFill>
                          <a:latin typeface="Calibri"/>
                          <a:ea typeface="Calibri"/>
                          <a:cs typeface="Calibri"/>
                          <a:sym typeface="Calibri"/>
                        </a:rPr>
                        <a:t>Random Forest Classifier ⭐</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8F8EE"/>
                    </a:solidFill>
                  </a:tcPr>
                </a:tc>
                <a:tc>
                  <a:txBody>
                    <a:bodyPr/>
                    <a:lstStyle/>
                    <a:p>
                      <a:pPr indent="0" lvl="0" marL="0" marR="0" rtl="0" algn="ctr">
                        <a:lnSpc>
                          <a:spcPct val="120000"/>
                        </a:lnSpc>
                        <a:spcBef>
                          <a:spcPts val="0"/>
                        </a:spcBef>
                        <a:spcAft>
                          <a:spcPts val="0"/>
                        </a:spcAft>
                        <a:buNone/>
                      </a:pPr>
                      <a:r>
                        <a:rPr b="1" lang="en-US" sz="2100" u="none" cap="none" strike="noStrike">
                          <a:solidFill>
                            <a:srgbClr val="1DB954"/>
                          </a:solidFill>
                          <a:latin typeface="Calibri"/>
                          <a:ea typeface="Calibri"/>
                          <a:cs typeface="Calibri"/>
                          <a:sym typeface="Calibri"/>
                        </a:rPr>
                        <a:t>0.560</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8F8EE"/>
                    </a:solidFill>
                  </a:tcPr>
                </a:tc>
                <a:tc>
                  <a:txBody>
                    <a:bodyPr/>
                    <a:lstStyle/>
                    <a:p>
                      <a:pPr indent="0" lvl="0" marL="0" marR="0" rtl="0" algn="ctr">
                        <a:lnSpc>
                          <a:spcPct val="120000"/>
                        </a:lnSpc>
                        <a:spcBef>
                          <a:spcPts val="0"/>
                        </a:spcBef>
                        <a:spcAft>
                          <a:spcPts val="0"/>
                        </a:spcAft>
                        <a:buNone/>
                      </a:pPr>
                      <a:r>
                        <a:rPr b="1" lang="en-US" sz="2100" u="none" cap="none" strike="noStrike">
                          <a:solidFill>
                            <a:srgbClr val="1DB954"/>
                          </a:solidFill>
                          <a:latin typeface="Calibri"/>
                          <a:ea typeface="Calibri"/>
                          <a:cs typeface="Calibri"/>
                          <a:sym typeface="Calibri"/>
                        </a:rPr>
                        <a:t>0.547</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8F8EE"/>
                    </a:solidFill>
                  </a:tcPr>
                </a:tc>
                <a:tc>
                  <a:txBody>
                    <a:bodyPr/>
                    <a:lstStyle/>
                    <a:p>
                      <a:pPr indent="0" lvl="0" marL="0" marR="0" rtl="0" algn="ctr">
                        <a:lnSpc>
                          <a:spcPct val="120000"/>
                        </a:lnSpc>
                        <a:spcBef>
                          <a:spcPts val="0"/>
                        </a:spcBef>
                        <a:spcAft>
                          <a:spcPts val="0"/>
                        </a:spcAft>
                        <a:buNone/>
                      </a:pPr>
                      <a:r>
                        <a:rPr b="1" lang="en-US" sz="2100" u="none" cap="none" strike="noStrike">
                          <a:solidFill>
                            <a:srgbClr val="1DB954"/>
                          </a:solidFill>
                          <a:latin typeface="Calibri"/>
                          <a:ea typeface="Calibri"/>
                          <a:cs typeface="Calibri"/>
                          <a:sym typeface="Calibri"/>
                        </a:rPr>
                        <a:t>0.944</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8F8EE"/>
                    </a:solidFill>
                  </a:tcPr>
                </a:tc>
                <a:tc>
                  <a:txBody>
                    <a:bodyPr/>
                    <a:lstStyle/>
                    <a:p>
                      <a:pPr indent="0" lvl="0" marL="0" marR="0" rtl="0" algn="ctr">
                        <a:lnSpc>
                          <a:spcPct val="120000"/>
                        </a:lnSpc>
                        <a:spcBef>
                          <a:spcPts val="0"/>
                        </a:spcBef>
                        <a:spcAft>
                          <a:spcPts val="0"/>
                        </a:spcAft>
                        <a:buNone/>
                      </a:pPr>
                      <a:r>
                        <a:rPr b="1" lang="en-US" sz="2100" u="none" cap="none" strike="noStrike">
                          <a:solidFill>
                            <a:srgbClr val="1DB954"/>
                          </a:solidFill>
                          <a:latin typeface="Calibri"/>
                          <a:ea typeface="Calibri"/>
                          <a:cs typeface="Calibri"/>
                          <a:sym typeface="Calibri"/>
                        </a:rPr>
                        <a:t>EN İYİ</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8F8EE"/>
                    </a:solidFill>
                  </a:tcPr>
                </a:tc>
              </a:tr>
              <a:tr h="620725">
                <a:tc>
                  <a:txBody>
                    <a:bodyPr/>
                    <a:lstStyle/>
                    <a:p>
                      <a:pPr indent="0" lvl="0" marL="0" marR="0" rtl="0" algn="l">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GBT Classifier</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0.506</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0.503</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0.928</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c>
                  <a:txBody>
                    <a:bodyPr/>
                    <a:lstStyle/>
                    <a:p>
                      <a:pPr indent="0" lvl="0" marL="0" marR="0" rtl="0" algn="l">
                        <a:lnSpc>
                          <a:spcPct val="152636"/>
                        </a:lnSpc>
                        <a:spcBef>
                          <a:spcPts val="0"/>
                        </a:spcBef>
                        <a:spcAft>
                          <a:spcPts val="0"/>
                        </a:spcAft>
                        <a:buNone/>
                      </a:pPr>
                      <a:r>
                        <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4F4F4"/>
                    </a:solidFill>
                  </a:tcPr>
                </a:tc>
              </a:tr>
              <a:tr h="620725">
                <a:tc>
                  <a:txBody>
                    <a:bodyPr/>
                    <a:lstStyle/>
                    <a:p>
                      <a:pPr indent="0" lvl="0" marL="0" marR="0" rtl="0" algn="l">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Naive Bayes</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0.299</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0.256</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100" u="none" cap="none" strike="noStrike">
                          <a:solidFill>
                            <a:srgbClr val="333333"/>
                          </a:solidFill>
                          <a:latin typeface="Calibri"/>
                          <a:ea typeface="Calibri"/>
                          <a:cs typeface="Calibri"/>
                          <a:sym typeface="Calibri"/>
                        </a:rPr>
                        <a:t>0.855</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lnSpc>
                          <a:spcPct val="152636"/>
                        </a:lnSpc>
                        <a:spcBef>
                          <a:spcPts val="0"/>
                        </a:spcBef>
                        <a:spcAft>
                          <a:spcPts val="0"/>
                        </a:spcAft>
                        <a:buNone/>
                      </a:pPr>
                      <a:r>
                        <a:t/>
                      </a:r>
                      <a:endParaRPr sz="1100" u="none" cap="none" strike="noStrike"/>
                    </a:p>
                  </a:txBody>
                  <a:tcPr marT="91450" marB="91450"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bl>
          </a:graphicData>
        </a:graphic>
      </p:graphicFrame>
      <p:grpSp>
        <p:nvGrpSpPr>
          <p:cNvPr id="988" name="Google Shape;988;p23"/>
          <p:cNvGrpSpPr/>
          <p:nvPr/>
        </p:nvGrpSpPr>
        <p:grpSpPr>
          <a:xfrm>
            <a:off x="444503" y="6424679"/>
            <a:ext cx="17398936" cy="793434"/>
            <a:chOff x="0" y="0"/>
            <a:chExt cx="23198582" cy="1057912"/>
          </a:xfrm>
        </p:grpSpPr>
        <p:sp>
          <p:nvSpPr>
            <p:cNvPr id="989" name="Google Shape;989;p23"/>
            <p:cNvSpPr/>
            <p:nvPr/>
          </p:nvSpPr>
          <p:spPr>
            <a:xfrm>
              <a:off x="16891" y="16891"/>
              <a:ext cx="23164799" cy="1024128"/>
            </a:xfrm>
            <a:custGeom>
              <a:rect b="b" l="l" r="r" t="t"/>
              <a:pathLst>
                <a:path extrusionOk="0" h="1024128" w="23164799">
                  <a:moveTo>
                    <a:pt x="0" y="0"/>
                  </a:moveTo>
                  <a:lnTo>
                    <a:pt x="23164799" y="0"/>
                  </a:lnTo>
                  <a:lnTo>
                    <a:pt x="23164799" y="1024128"/>
                  </a:lnTo>
                  <a:lnTo>
                    <a:pt x="0" y="1024128"/>
                  </a:lnTo>
                  <a:close/>
                </a:path>
              </a:pathLst>
            </a:custGeom>
            <a:solidFill>
              <a:srgbClr val="E8F8EE"/>
            </a:solidFill>
            <a:ln>
              <a:noFill/>
            </a:ln>
          </p:spPr>
        </p:sp>
        <p:sp>
          <p:nvSpPr>
            <p:cNvPr id="990" name="Google Shape;990;p23"/>
            <p:cNvSpPr/>
            <p:nvPr/>
          </p:nvSpPr>
          <p:spPr>
            <a:xfrm>
              <a:off x="0" y="0"/>
              <a:ext cx="23198582" cy="1057912"/>
            </a:xfrm>
            <a:custGeom>
              <a:rect b="b" l="l" r="r" t="t"/>
              <a:pathLst>
                <a:path extrusionOk="0" h="1057912" w="23198582">
                  <a:moveTo>
                    <a:pt x="16891" y="0"/>
                  </a:moveTo>
                  <a:lnTo>
                    <a:pt x="23181690" y="0"/>
                  </a:lnTo>
                  <a:cubicBezTo>
                    <a:pt x="23191090" y="0"/>
                    <a:pt x="23198582" y="7620"/>
                    <a:pt x="23198582" y="16891"/>
                  </a:cubicBezTo>
                  <a:lnTo>
                    <a:pt x="23198582" y="1041019"/>
                  </a:lnTo>
                  <a:cubicBezTo>
                    <a:pt x="23198582" y="1050417"/>
                    <a:pt x="23190963" y="1057910"/>
                    <a:pt x="23181690"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3181690" y="1024128"/>
                  </a:lnTo>
                  <a:lnTo>
                    <a:pt x="23181690" y="1041019"/>
                  </a:lnTo>
                  <a:lnTo>
                    <a:pt x="23164800" y="1041019"/>
                  </a:lnTo>
                  <a:lnTo>
                    <a:pt x="23164800" y="16891"/>
                  </a:lnTo>
                  <a:lnTo>
                    <a:pt x="23181690" y="16891"/>
                  </a:lnTo>
                  <a:lnTo>
                    <a:pt x="231816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1" name="Google Shape;991;p23"/>
          <p:cNvGrpSpPr/>
          <p:nvPr/>
        </p:nvGrpSpPr>
        <p:grpSpPr>
          <a:xfrm>
            <a:off x="640080" y="6493097"/>
            <a:ext cx="17007840" cy="584359"/>
            <a:chOff x="0" y="-47625"/>
            <a:chExt cx="22677120" cy="779145"/>
          </a:xfrm>
        </p:grpSpPr>
        <p:sp>
          <p:nvSpPr>
            <p:cNvPr id="992" name="Google Shape;992;p23"/>
            <p:cNvSpPr/>
            <p:nvPr/>
          </p:nvSpPr>
          <p:spPr>
            <a:xfrm>
              <a:off x="0" y="0"/>
              <a:ext cx="22677120" cy="731520"/>
            </a:xfrm>
            <a:custGeom>
              <a:rect b="b" l="l" r="r" t="t"/>
              <a:pathLst>
                <a:path extrusionOk="0" h="731520" w="22677120">
                  <a:moveTo>
                    <a:pt x="0" y="0"/>
                  </a:moveTo>
                  <a:lnTo>
                    <a:pt x="22677120" y="0"/>
                  </a:lnTo>
                  <a:lnTo>
                    <a:pt x="22677120" y="731520"/>
                  </a:lnTo>
                  <a:lnTo>
                    <a:pt x="0" y="731520"/>
                  </a:lnTo>
                  <a:close/>
                </a:path>
              </a:pathLst>
            </a:custGeom>
            <a:blipFill rotWithShape="1">
              <a:blip r:embed="rId3">
                <a:alphaModFix amt="0"/>
              </a:blip>
              <a:stretch>
                <a:fillRect b="-554011" l="0" r="0" t="-554011"/>
              </a:stretch>
            </a:blipFill>
            <a:ln>
              <a:noFill/>
            </a:ln>
          </p:spPr>
        </p:sp>
        <p:sp>
          <p:nvSpPr>
            <p:cNvPr id="993" name="Google Shape;993;p23"/>
            <p:cNvSpPr txBox="1"/>
            <p:nvPr/>
          </p:nvSpPr>
          <p:spPr>
            <a:xfrm>
              <a:off x="0" y="-47625"/>
              <a:ext cx="2267712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DB954"/>
                  </a:solidFill>
                  <a:latin typeface="Calibri"/>
                  <a:ea typeface="Calibri"/>
                  <a:cs typeface="Calibri"/>
                  <a:sym typeface="Calibri"/>
                </a:rPr>
                <a:t>⭐  En İyi Model: Random Forest  |  Accuracy: 0.560  |  F1-Score: 0.547  |  AUC-ROC: 0.944</a:t>
              </a:r>
              <a:endParaRPr/>
            </a:p>
          </p:txBody>
        </p:sp>
      </p:grpSp>
      <p:grpSp>
        <p:nvGrpSpPr>
          <p:cNvPr id="994" name="Google Shape;994;p23"/>
          <p:cNvGrpSpPr/>
          <p:nvPr/>
        </p:nvGrpSpPr>
        <p:grpSpPr>
          <a:xfrm>
            <a:off x="457200" y="7378065"/>
            <a:ext cx="17373600" cy="1125855"/>
            <a:chOff x="0" y="-38100"/>
            <a:chExt cx="23164800" cy="1501140"/>
          </a:xfrm>
        </p:grpSpPr>
        <p:sp>
          <p:nvSpPr>
            <p:cNvPr id="995" name="Google Shape;995;p23"/>
            <p:cNvSpPr/>
            <p:nvPr/>
          </p:nvSpPr>
          <p:spPr>
            <a:xfrm>
              <a:off x="0" y="0"/>
              <a:ext cx="23164800" cy="1463040"/>
            </a:xfrm>
            <a:custGeom>
              <a:rect b="b" l="l" r="r" t="t"/>
              <a:pathLst>
                <a:path extrusionOk="0" h="1463040" w="23164800">
                  <a:moveTo>
                    <a:pt x="0" y="0"/>
                  </a:moveTo>
                  <a:lnTo>
                    <a:pt x="23164800" y="0"/>
                  </a:lnTo>
                  <a:lnTo>
                    <a:pt x="23164800" y="1463040"/>
                  </a:lnTo>
                  <a:lnTo>
                    <a:pt x="0" y="1463040"/>
                  </a:lnTo>
                  <a:close/>
                </a:path>
              </a:pathLst>
            </a:custGeom>
            <a:blipFill rotWithShape="1">
              <a:blip r:embed="rId3">
                <a:alphaModFix amt="0"/>
              </a:blip>
              <a:stretch>
                <a:fillRect b="-258528" l="0" r="0" t="-258528"/>
              </a:stretch>
            </a:blipFill>
            <a:ln>
              <a:noFill/>
            </a:ln>
          </p:spPr>
        </p:sp>
        <p:sp>
          <p:nvSpPr>
            <p:cNvPr id="996" name="Google Shape;996;p23"/>
            <p:cNvSpPr txBox="1"/>
            <p:nvPr/>
          </p:nvSpPr>
          <p:spPr>
            <a:xfrm>
              <a:off x="0" y="-38100"/>
              <a:ext cx="23164800" cy="15011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555555"/>
                  </a:solidFill>
                  <a:latin typeface="Calibri"/>
                  <a:ea typeface="Calibri"/>
                  <a:cs typeface="Calibri"/>
                  <a:sym typeface="Calibri"/>
                </a:rPr>
                <a:t>📌  Kullanılan Özellikler: popularity, danceability, energy, loudness_normalized, speechiness, acousticness,</a:t>
              </a:r>
              <a:endParaRPr/>
            </a:p>
            <a:p>
              <a:pPr indent="0" lvl="0" marL="0" marR="0" rtl="0" algn="l">
                <a:lnSpc>
                  <a:spcPct val="120000"/>
                </a:lnSpc>
                <a:spcBef>
                  <a:spcPts val="0"/>
                </a:spcBef>
                <a:spcAft>
                  <a:spcPts val="0"/>
                </a:spcAft>
                <a:buNone/>
              </a:pPr>
              <a:r>
                <a:rPr b="0" i="0" lang="en-US" sz="1900" u="none" cap="none" strike="noStrike">
                  <a:solidFill>
                    <a:srgbClr val="555555"/>
                  </a:solidFill>
                  <a:latin typeface="Calibri"/>
                  <a:ea typeface="Calibri"/>
                  <a:cs typeface="Calibri"/>
                  <a:sym typeface="Calibri"/>
                </a:rPr>
                <a:t> instrumentalness, liveness, valence, tempo_category, energy_acoustic_contrast, dancefloor_score, key, mode, time_signature</a:t>
              </a:r>
              <a:endParaRPr/>
            </a:p>
          </p:txBody>
        </p:sp>
      </p:grpSp>
      <p:grpSp>
        <p:nvGrpSpPr>
          <p:cNvPr id="997" name="Google Shape;997;p23"/>
          <p:cNvGrpSpPr/>
          <p:nvPr/>
        </p:nvGrpSpPr>
        <p:grpSpPr>
          <a:xfrm>
            <a:off x="457200" y="8603361"/>
            <a:ext cx="17373600" cy="760095"/>
            <a:chOff x="0" y="-38100"/>
            <a:chExt cx="23164800" cy="1013460"/>
          </a:xfrm>
        </p:grpSpPr>
        <p:sp>
          <p:nvSpPr>
            <p:cNvPr id="998" name="Google Shape;998;p23"/>
            <p:cNvSpPr/>
            <p:nvPr/>
          </p:nvSpPr>
          <p:spPr>
            <a:xfrm>
              <a:off x="0" y="0"/>
              <a:ext cx="23164800" cy="975360"/>
            </a:xfrm>
            <a:custGeom>
              <a:rect b="b" l="l" r="r" t="t"/>
              <a:pathLst>
                <a:path extrusionOk="0" h="975360" w="23164800">
                  <a:moveTo>
                    <a:pt x="0" y="0"/>
                  </a:moveTo>
                  <a:lnTo>
                    <a:pt x="23164800" y="0"/>
                  </a:lnTo>
                  <a:lnTo>
                    <a:pt x="23164800" y="975360"/>
                  </a:lnTo>
                  <a:lnTo>
                    <a:pt x="0" y="975360"/>
                  </a:lnTo>
                  <a:close/>
                </a:path>
              </a:pathLst>
            </a:custGeom>
            <a:blipFill rotWithShape="1">
              <a:blip r:embed="rId3">
                <a:alphaModFix amt="0"/>
              </a:blip>
              <a:stretch>
                <a:fillRect b="-412791" l="0" r="0" t="-412791"/>
              </a:stretch>
            </a:blipFill>
            <a:ln>
              <a:noFill/>
            </a:ln>
          </p:spPr>
        </p:sp>
        <p:sp>
          <p:nvSpPr>
            <p:cNvPr id="999" name="Google Shape;999;p23"/>
            <p:cNvSpPr txBox="1"/>
            <p:nvPr/>
          </p:nvSpPr>
          <p:spPr>
            <a:xfrm>
              <a:off x="0" y="-38100"/>
              <a:ext cx="23164800" cy="10134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E67E22"/>
                  </a:solidFill>
                  <a:latin typeface="Calibri"/>
                  <a:ea typeface="Calibri"/>
                  <a:cs typeface="Calibri"/>
                  <a:sym typeface="Calibri"/>
                </a:rPr>
                <a:t>⚠️  Zorluklar: Spark bellek hatası → model parametreleri hafifletildi, veri örneklemesi yapıldı  |  Timestamp uyumsuzluğu → kafka_timestamp ve timestamp ikisi de desteklendi</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grpSp>
        <p:nvGrpSpPr>
          <p:cNvPr id="1008" name="Google Shape;1008;p24"/>
          <p:cNvGrpSpPr/>
          <p:nvPr/>
        </p:nvGrpSpPr>
        <p:grpSpPr>
          <a:xfrm>
            <a:off x="-12697" y="-12697"/>
            <a:ext cx="18313336" cy="1579816"/>
            <a:chOff x="0" y="0"/>
            <a:chExt cx="24417782" cy="2106422"/>
          </a:xfrm>
        </p:grpSpPr>
        <p:sp>
          <p:nvSpPr>
            <p:cNvPr id="1009" name="Google Shape;1009;p24"/>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010" name="Google Shape;1010;p24"/>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1" name="Google Shape;1011;p24"/>
          <p:cNvGrpSpPr/>
          <p:nvPr/>
        </p:nvGrpSpPr>
        <p:grpSpPr>
          <a:xfrm>
            <a:off x="-12697" y="-12697"/>
            <a:ext cx="244792" cy="1579816"/>
            <a:chOff x="0" y="0"/>
            <a:chExt cx="326390" cy="2106422"/>
          </a:xfrm>
        </p:grpSpPr>
        <p:sp>
          <p:nvSpPr>
            <p:cNvPr id="1012" name="Google Shape;1012;p24"/>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013" name="Google Shape;1013;p24"/>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4" name="Google Shape;1014;p24"/>
          <p:cNvGrpSpPr/>
          <p:nvPr/>
        </p:nvGrpSpPr>
        <p:grpSpPr>
          <a:xfrm>
            <a:off x="548640" y="89154"/>
            <a:ext cx="12801600" cy="880110"/>
            <a:chOff x="0" y="-76200"/>
            <a:chExt cx="17068800" cy="1173480"/>
          </a:xfrm>
        </p:grpSpPr>
        <p:sp>
          <p:nvSpPr>
            <p:cNvPr id="1015" name="Google Shape;1015;p24"/>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016" name="Google Shape;1016;p24"/>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Değerlendirme Metrikleri</a:t>
              </a:r>
              <a:endParaRPr/>
            </a:p>
          </p:txBody>
        </p:sp>
      </p:grpSp>
      <p:grpSp>
        <p:nvGrpSpPr>
          <p:cNvPr id="1017" name="Google Shape;1017;p24"/>
          <p:cNvGrpSpPr/>
          <p:nvPr/>
        </p:nvGrpSpPr>
        <p:grpSpPr>
          <a:xfrm>
            <a:off x="548640" y="915257"/>
            <a:ext cx="16459200" cy="547783"/>
            <a:chOff x="0" y="-47625"/>
            <a:chExt cx="21945600" cy="730377"/>
          </a:xfrm>
        </p:grpSpPr>
        <p:sp>
          <p:nvSpPr>
            <p:cNvPr id="1018" name="Google Shape;1018;p24"/>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019" name="Google Shape;1019;p24"/>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Feature Importance • Confusion Matrix • ROC Curve analizi</a:t>
              </a:r>
              <a:endParaRPr/>
            </a:p>
          </p:txBody>
        </p:sp>
      </p:grpSp>
      <p:grpSp>
        <p:nvGrpSpPr>
          <p:cNvPr id="1020" name="Google Shape;1020;p24"/>
          <p:cNvGrpSpPr/>
          <p:nvPr/>
        </p:nvGrpSpPr>
        <p:grpSpPr>
          <a:xfrm>
            <a:off x="-12697" y="1541783"/>
            <a:ext cx="18313336" cy="98490"/>
            <a:chOff x="0" y="0"/>
            <a:chExt cx="24417782" cy="131320"/>
          </a:xfrm>
        </p:grpSpPr>
        <p:sp>
          <p:nvSpPr>
            <p:cNvPr id="1021" name="Google Shape;1021;p24"/>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022" name="Google Shape;1022;p24"/>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3" name="Google Shape;1023;p24"/>
          <p:cNvGrpSpPr/>
          <p:nvPr/>
        </p:nvGrpSpPr>
        <p:grpSpPr>
          <a:xfrm>
            <a:off x="457200" y="1622012"/>
            <a:ext cx="9144000" cy="584359"/>
            <a:chOff x="0" y="-47625"/>
            <a:chExt cx="12192000" cy="779145"/>
          </a:xfrm>
        </p:grpSpPr>
        <p:sp>
          <p:nvSpPr>
            <p:cNvPr id="1024" name="Google Shape;1024;p24"/>
            <p:cNvSpPr/>
            <p:nvPr/>
          </p:nvSpPr>
          <p:spPr>
            <a:xfrm>
              <a:off x="0" y="0"/>
              <a:ext cx="12192000" cy="731520"/>
            </a:xfrm>
            <a:custGeom>
              <a:rect b="b" l="l" r="r" t="t"/>
              <a:pathLst>
                <a:path extrusionOk="0" h="731520" w="12192000">
                  <a:moveTo>
                    <a:pt x="0" y="0"/>
                  </a:moveTo>
                  <a:lnTo>
                    <a:pt x="12192000" y="0"/>
                  </a:lnTo>
                  <a:lnTo>
                    <a:pt x="12192000" y="731520"/>
                  </a:lnTo>
                  <a:lnTo>
                    <a:pt x="0" y="731520"/>
                  </a:lnTo>
                  <a:close/>
                </a:path>
              </a:pathLst>
            </a:custGeom>
            <a:blipFill rotWithShape="1">
              <a:blip r:embed="rId3">
                <a:alphaModFix amt="0"/>
              </a:blip>
              <a:stretch>
                <a:fillRect b="-274760" l="0" r="0" t="-274760"/>
              </a:stretch>
            </a:blipFill>
            <a:ln>
              <a:noFill/>
            </a:ln>
          </p:spPr>
        </p:sp>
        <p:sp>
          <p:nvSpPr>
            <p:cNvPr id="1025" name="Google Shape;1025;p24"/>
            <p:cNvSpPr txBox="1"/>
            <p:nvPr/>
          </p:nvSpPr>
          <p:spPr>
            <a:xfrm>
              <a:off x="0" y="-47625"/>
              <a:ext cx="1219200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21212"/>
                  </a:solidFill>
                  <a:latin typeface="Calibri"/>
                  <a:ea typeface="Calibri"/>
                  <a:cs typeface="Calibri"/>
                  <a:sym typeface="Calibri"/>
                </a:rPr>
                <a:t>Feature Importance (Random Forest):</a:t>
              </a:r>
              <a:endParaRPr/>
            </a:p>
          </p:txBody>
        </p:sp>
      </p:grpSp>
      <p:grpSp>
        <p:nvGrpSpPr>
          <p:cNvPr id="1026" name="Google Shape;1026;p24"/>
          <p:cNvGrpSpPr/>
          <p:nvPr/>
        </p:nvGrpSpPr>
        <p:grpSpPr>
          <a:xfrm>
            <a:off x="457200" y="2896015"/>
            <a:ext cx="3891191" cy="646689"/>
            <a:chOff x="0" y="-38100"/>
            <a:chExt cx="5364480" cy="891540"/>
          </a:xfrm>
        </p:grpSpPr>
        <p:sp>
          <p:nvSpPr>
            <p:cNvPr id="1027" name="Google Shape;1027;p24"/>
            <p:cNvSpPr/>
            <p:nvPr/>
          </p:nvSpPr>
          <p:spPr>
            <a:xfrm>
              <a:off x="0" y="0"/>
              <a:ext cx="5364480" cy="853440"/>
            </a:xfrm>
            <a:custGeom>
              <a:rect b="b" l="l" r="r" t="t"/>
              <a:pathLst>
                <a:path extrusionOk="0" h="853440" w="5364480">
                  <a:moveTo>
                    <a:pt x="0" y="0"/>
                  </a:moveTo>
                  <a:lnTo>
                    <a:pt x="5364480" y="0"/>
                  </a:lnTo>
                  <a:lnTo>
                    <a:pt x="5364480" y="853440"/>
                  </a:lnTo>
                  <a:lnTo>
                    <a:pt x="0" y="853440"/>
                  </a:lnTo>
                  <a:close/>
                </a:path>
              </a:pathLst>
            </a:custGeom>
            <a:blipFill rotWithShape="1">
              <a:blip r:embed="rId3">
                <a:alphaModFix amt="0"/>
              </a:blip>
              <a:stretch>
                <a:fillRect b="-72477" l="0" r="0" t="-72477"/>
              </a:stretch>
            </a:blipFill>
            <a:ln>
              <a:noFill/>
            </a:ln>
          </p:spPr>
        </p:sp>
        <p:sp>
          <p:nvSpPr>
            <p:cNvPr id="1028" name="Google Shape;1028;p24"/>
            <p:cNvSpPr txBox="1"/>
            <p:nvPr/>
          </p:nvSpPr>
          <p:spPr>
            <a:xfrm>
              <a:off x="0" y="-38100"/>
              <a:ext cx="536448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instrumentalness</a:t>
              </a:r>
              <a:endParaRPr/>
            </a:p>
          </p:txBody>
        </p:sp>
      </p:grpSp>
      <p:grpSp>
        <p:nvGrpSpPr>
          <p:cNvPr id="1029" name="Google Shape;1029;p24"/>
          <p:cNvGrpSpPr/>
          <p:nvPr/>
        </p:nvGrpSpPr>
        <p:grpSpPr>
          <a:xfrm>
            <a:off x="4424548" y="2999807"/>
            <a:ext cx="7453142" cy="466687"/>
            <a:chOff x="0" y="0"/>
            <a:chExt cx="10275062" cy="643384"/>
          </a:xfrm>
        </p:grpSpPr>
        <p:sp>
          <p:nvSpPr>
            <p:cNvPr id="1030" name="Google Shape;1030;p24"/>
            <p:cNvSpPr/>
            <p:nvPr/>
          </p:nvSpPr>
          <p:spPr>
            <a:xfrm>
              <a:off x="16891" y="16891"/>
              <a:ext cx="10241281" cy="609600"/>
            </a:xfrm>
            <a:custGeom>
              <a:rect b="b" l="l" r="r" t="t"/>
              <a:pathLst>
                <a:path extrusionOk="0" h="609600" w="10241281">
                  <a:moveTo>
                    <a:pt x="0" y="0"/>
                  </a:moveTo>
                  <a:lnTo>
                    <a:pt x="10241281" y="0"/>
                  </a:lnTo>
                  <a:lnTo>
                    <a:pt x="10241281" y="609600"/>
                  </a:lnTo>
                  <a:lnTo>
                    <a:pt x="0" y="609600"/>
                  </a:lnTo>
                  <a:close/>
                </a:path>
              </a:pathLst>
            </a:custGeom>
            <a:solidFill>
              <a:srgbClr val="E8E8E8"/>
            </a:solidFill>
            <a:ln>
              <a:noFill/>
            </a:ln>
          </p:spPr>
        </p:sp>
        <p:sp>
          <p:nvSpPr>
            <p:cNvPr id="1031" name="Google Shape;1031;p24"/>
            <p:cNvSpPr/>
            <p:nvPr/>
          </p:nvSpPr>
          <p:spPr>
            <a:xfrm>
              <a:off x="0" y="0"/>
              <a:ext cx="10275062" cy="643384"/>
            </a:xfrm>
            <a:custGeom>
              <a:rect b="b" l="l" r="r" t="t"/>
              <a:pathLst>
                <a:path extrusionOk="0" h="643384" w="10275062">
                  <a:moveTo>
                    <a:pt x="16891" y="0"/>
                  </a:moveTo>
                  <a:lnTo>
                    <a:pt x="10258172" y="0"/>
                  </a:lnTo>
                  <a:cubicBezTo>
                    <a:pt x="10267569" y="0"/>
                    <a:pt x="10275062" y="7620"/>
                    <a:pt x="10275062" y="16891"/>
                  </a:cubicBezTo>
                  <a:lnTo>
                    <a:pt x="10275062" y="626491"/>
                  </a:lnTo>
                  <a:cubicBezTo>
                    <a:pt x="10275062" y="635889"/>
                    <a:pt x="10267442" y="643382"/>
                    <a:pt x="10258172"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10258172" y="609600"/>
                  </a:lnTo>
                  <a:lnTo>
                    <a:pt x="10258172" y="626491"/>
                  </a:lnTo>
                  <a:lnTo>
                    <a:pt x="10241280" y="626491"/>
                  </a:lnTo>
                  <a:lnTo>
                    <a:pt x="10241280" y="16891"/>
                  </a:lnTo>
                  <a:lnTo>
                    <a:pt x="10258172" y="16891"/>
                  </a:lnTo>
                  <a:lnTo>
                    <a:pt x="10258172" y="33909"/>
                  </a:lnTo>
                  <a:lnTo>
                    <a:pt x="16891" y="33909"/>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2" name="Google Shape;1032;p24"/>
          <p:cNvGrpSpPr/>
          <p:nvPr/>
        </p:nvGrpSpPr>
        <p:grpSpPr>
          <a:xfrm>
            <a:off x="4424548" y="2999807"/>
            <a:ext cx="5898289" cy="466687"/>
            <a:chOff x="0" y="0"/>
            <a:chExt cx="8131508" cy="643384"/>
          </a:xfrm>
        </p:grpSpPr>
        <p:sp>
          <p:nvSpPr>
            <p:cNvPr id="1033" name="Google Shape;1033;p24"/>
            <p:cNvSpPr/>
            <p:nvPr/>
          </p:nvSpPr>
          <p:spPr>
            <a:xfrm>
              <a:off x="15717" y="16891"/>
              <a:ext cx="8100074" cy="609600"/>
            </a:xfrm>
            <a:custGeom>
              <a:rect b="b" l="l" r="r" t="t"/>
              <a:pathLst>
                <a:path extrusionOk="0" h="609600" w="8100074">
                  <a:moveTo>
                    <a:pt x="0" y="0"/>
                  </a:moveTo>
                  <a:lnTo>
                    <a:pt x="8100074" y="0"/>
                  </a:lnTo>
                  <a:lnTo>
                    <a:pt x="8100074" y="609600"/>
                  </a:lnTo>
                  <a:lnTo>
                    <a:pt x="0" y="609600"/>
                  </a:lnTo>
                  <a:close/>
                </a:path>
              </a:pathLst>
            </a:custGeom>
            <a:solidFill>
              <a:srgbClr val="750D23"/>
            </a:solidFill>
            <a:ln>
              <a:noFill/>
            </a:ln>
          </p:spPr>
        </p:sp>
        <p:sp>
          <p:nvSpPr>
            <p:cNvPr id="1034" name="Google Shape;1034;p24"/>
            <p:cNvSpPr/>
            <p:nvPr/>
          </p:nvSpPr>
          <p:spPr>
            <a:xfrm>
              <a:off x="0" y="0"/>
              <a:ext cx="8131508" cy="643384"/>
            </a:xfrm>
            <a:custGeom>
              <a:rect b="b" l="l" r="r" t="t"/>
              <a:pathLst>
                <a:path extrusionOk="0" h="643384" w="8131508">
                  <a:moveTo>
                    <a:pt x="15717" y="0"/>
                  </a:moveTo>
                  <a:lnTo>
                    <a:pt x="8115791" y="0"/>
                  </a:lnTo>
                  <a:cubicBezTo>
                    <a:pt x="8124536" y="0"/>
                    <a:pt x="8131508" y="7620"/>
                    <a:pt x="8131508" y="16891"/>
                  </a:cubicBezTo>
                  <a:lnTo>
                    <a:pt x="8131508" y="626491"/>
                  </a:lnTo>
                  <a:cubicBezTo>
                    <a:pt x="8131508" y="635889"/>
                    <a:pt x="8124418" y="643382"/>
                    <a:pt x="8115791" y="643382"/>
                  </a:cubicBezTo>
                  <a:lnTo>
                    <a:pt x="15717" y="643382"/>
                  </a:lnTo>
                  <a:cubicBezTo>
                    <a:pt x="7090" y="643509"/>
                    <a:pt x="0" y="635889"/>
                    <a:pt x="0" y="626491"/>
                  </a:cubicBezTo>
                  <a:lnTo>
                    <a:pt x="0" y="16891"/>
                  </a:lnTo>
                  <a:cubicBezTo>
                    <a:pt x="0" y="7620"/>
                    <a:pt x="7090" y="0"/>
                    <a:pt x="15717" y="0"/>
                  </a:cubicBezTo>
                  <a:moveTo>
                    <a:pt x="15717" y="33909"/>
                  </a:moveTo>
                  <a:lnTo>
                    <a:pt x="15717" y="16891"/>
                  </a:lnTo>
                  <a:lnTo>
                    <a:pt x="31552" y="16891"/>
                  </a:lnTo>
                  <a:lnTo>
                    <a:pt x="31552" y="626491"/>
                  </a:lnTo>
                  <a:lnTo>
                    <a:pt x="15717" y="626491"/>
                  </a:lnTo>
                  <a:lnTo>
                    <a:pt x="15717" y="609600"/>
                  </a:lnTo>
                  <a:lnTo>
                    <a:pt x="8115791" y="609600"/>
                  </a:lnTo>
                  <a:lnTo>
                    <a:pt x="8115791" y="626491"/>
                  </a:lnTo>
                  <a:lnTo>
                    <a:pt x="8100074" y="626491"/>
                  </a:lnTo>
                  <a:lnTo>
                    <a:pt x="8100074" y="16891"/>
                  </a:lnTo>
                  <a:lnTo>
                    <a:pt x="8115791" y="16891"/>
                  </a:lnTo>
                  <a:lnTo>
                    <a:pt x="8115791" y="33909"/>
                  </a:lnTo>
                  <a:lnTo>
                    <a:pt x="15717" y="33909"/>
                  </a:lnTo>
                  <a:close/>
                </a:path>
              </a:pathLst>
            </a:custGeom>
            <a:solidFill>
              <a:srgbClr val="750D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5" name="Google Shape;1035;p24"/>
          <p:cNvGrpSpPr/>
          <p:nvPr/>
        </p:nvGrpSpPr>
        <p:grpSpPr>
          <a:xfrm>
            <a:off x="12042338" y="2896015"/>
            <a:ext cx="1061234" cy="646689"/>
            <a:chOff x="0" y="-38100"/>
            <a:chExt cx="1463040" cy="891540"/>
          </a:xfrm>
        </p:grpSpPr>
        <p:sp>
          <p:nvSpPr>
            <p:cNvPr id="1036" name="Google Shape;1036;p24"/>
            <p:cNvSpPr/>
            <p:nvPr/>
          </p:nvSpPr>
          <p:spPr>
            <a:xfrm>
              <a:off x="0" y="0"/>
              <a:ext cx="1463040" cy="853440"/>
            </a:xfrm>
            <a:custGeom>
              <a:rect b="b" l="l" r="r" t="t"/>
              <a:pathLst>
                <a:path extrusionOk="0" h="853440" w="1463040">
                  <a:moveTo>
                    <a:pt x="0" y="0"/>
                  </a:moveTo>
                  <a:lnTo>
                    <a:pt x="1463040" y="0"/>
                  </a:lnTo>
                  <a:lnTo>
                    <a:pt x="1463040" y="853440"/>
                  </a:lnTo>
                  <a:lnTo>
                    <a:pt x="0" y="853440"/>
                  </a:lnTo>
                  <a:close/>
                </a:path>
              </a:pathLst>
            </a:custGeom>
            <a:blipFill rotWithShape="1">
              <a:blip r:embed="rId3">
                <a:alphaModFix amt="0"/>
              </a:blip>
              <a:stretch>
                <a:fillRect b="0" l="-24844" r="-24844" t="0"/>
              </a:stretch>
            </a:blipFill>
            <a:ln>
              <a:noFill/>
            </a:ln>
          </p:spPr>
        </p:sp>
        <p:sp>
          <p:nvSpPr>
            <p:cNvPr id="1037" name="Google Shape;1037;p24"/>
            <p:cNvSpPr txBox="1"/>
            <p:nvPr/>
          </p:nvSpPr>
          <p:spPr>
            <a:xfrm>
              <a:off x="0" y="-38100"/>
              <a:ext cx="146304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00" u="none" cap="none" strike="noStrike">
                  <a:solidFill>
                    <a:srgbClr val="750D23"/>
                  </a:solidFill>
                  <a:latin typeface="Calibri"/>
                  <a:ea typeface="Calibri"/>
                  <a:cs typeface="Calibri"/>
                  <a:sym typeface="Calibri"/>
                </a:rPr>
                <a:t>0.0925</a:t>
              </a:r>
              <a:endParaRPr/>
            </a:p>
          </p:txBody>
        </p:sp>
      </p:grpSp>
      <p:grpSp>
        <p:nvGrpSpPr>
          <p:cNvPr id="1038" name="Google Shape;1038;p24"/>
          <p:cNvGrpSpPr/>
          <p:nvPr/>
        </p:nvGrpSpPr>
        <p:grpSpPr>
          <a:xfrm>
            <a:off x="457200" y="3745002"/>
            <a:ext cx="3891191" cy="646689"/>
            <a:chOff x="0" y="-38100"/>
            <a:chExt cx="5364480" cy="891540"/>
          </a:xfrm>
        </p:grpSpPr>
        <p:sp>
          <p:nvSpPr>
            <p:cNvPr id="1039" name="Google Shape;1039;p24"/>
            <p:cNvSpPr/>
            <p:nvPr/>
          </p:nvSpPr>
          <p:spPr>
            <a:xfrm>
              <a:off x="0" y="0"/>
              <a:ext cx="5364480" cy="853440"/>
            </a:xfrm>
            <a:custGeom>
              <a:rect b="b" l="l" r="r" t="t"/>
              <a:pathLst>
                <a:path extrusionOk="0" h="853440" w="5364480">
                  <a:moveTo>
                    <a:pt x="0" y="0"/>
                  </a:moveTo>
                  <a:lnTo>
                    <a:pt x="5364480" y="0"/>
                  </a:lnTo>
                  <a:lnTo>
                    <a:pt x="5364480" y="853440"/>
                  </a:lnTo>
                  <a:lnTo>
                    <a:pt x="0" y="853440"/>
                  </a:lnTo>
                  <a:close/>
                </a:path>
              </a:pathLst>
            </a:custGeom>
            <a:blipFill rotWithShape="1">
              <a:blip r:embed="rId3">
                <a:alphaModFix amt="0"/>
              </a:blip>
              <a:stretch>
                <a:fillRect b="-72477" l="0" r="0" t="-72477"/>
              </a:stretch>
            </a:blipFill>
            <a:ln>
              <a:noFill/>
            </a:ln>
          </p:spPr>
        </p:sp>
        <p:sp>
          <p:nvSpPr>
            <p:cNvPr id="1040" name="Google Shape;1040;p24"/>
            <p:cNvSpPr txBox="1"/>
            <p:nvPr/>
          </p:nvSpPr>
          <p:spPr>
            <a:xfrm>
              <a:off x="0" y="-38100"/>
              <a:ext cx="536448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danceability</a:t>
              </a:r>
              <a:endParaRPr/>
            </a:p>
          </p:txBody>
        </p:sp>
      </p:grpSp>
      <p:grpSp>
        <p:nvGrpSpPr>
          <p:cNvPr id="1041" name="Google Shape;1041;p24"/>
          <p:cNvGrpSpPr/>
          <p:nvPr/>
        </p:nvGrpSpPr>
        <p:grpSpPr>
          <a:xfrm>
            <a:off x="4424548" y="3848794"/>
            <a:ext cx="7453142" cy="466687"/>
            <a:chOff x="0" y="0"/>
            <a:chExt cx="10275062" cy="643384"/>
          </a:xfrm>
        </p:grpSpPr>
        <p:sp>
          <p:nvSpPr>
            <p:cNvPr id="1042" name="Google Shape;1042;p24"/>
            <p:cNvSpPr/>
            <p:nvPr/>
          </p:nvSpPr>
          <p:spPr>
            <a:xfrm>
              <a:off x="16891" y="16891"/>
              <a:ext cx="10241281" cy="609600"/>
            </a:xfrm>
            <a:custGeom>
              <a:rect b="b" l="l" r="r" t="t"/>
              <a:pathLst>
                <a:path extrusionOk="0" h="609600" w="10241281">
                  <a:moveTo>
                    <a:pt x="0" y="0"/>
                  </a:moveTo>
                  <a:lnTo>
                    <a:pt x="10241281" y="0"/>
                  </a:lnTo>
                  <a:lnTo>
                    <a:pt x="10241281" y="609600"/>
                  </a:lnTo>
                  <a:lnTo>
                    <a:pt x="0" y="609600"/>
                  </a:lnTo>
                  <a:close/>
                </a:path>
              </a:pathLst>
            </a:custGeom>
            <a:solidFill>
              <a:srgbClr val="E8E8E8"/>
            </a:solidFill>
            <a:ln>
              <a:noFill/>
            </a:ln>
          </p:spPr>
        </p:sp>
        <p:sp>
          <p:nvSpPr>
            <p:cNvPr id="1043" name="Google Shape;1043;p24"/>
            <p:cNvSpPr/>
            <p:nvPr/>
          </p:nvSpPr>
          <p:spPr>
            <a:xfrm>
              <a:off x="0" y="0"/>
              <a:ext cx="10275062" cy="643384"/>
            </a:xfrm>
            <a:custGeom>
              <a:rect b="b" l="l" r="r" t="t"/>
              <a:pathLst>
                <a:path extrusionOk="0" h="643384" w="10275062">
                  <a:moveTo>
                    <a:pt x="16891" y="0"/>
                  </a:moveTo>
                  <a:lnTo>
                    <a:pt x="10258172" y="0"/>
                  </a:lnTo>
                  <a:cubicBezTo>
                    <a:pt x="10267569" y="0"/>
                    <a:pt x="10275062" y="7620"/>
                    <a:pt x="10275062" y="16891"/>
                  </a:cubicBezTo>
                  <a:lnTo>
                    <a:pt x="10275062" y="626491"/>
                  </a:lnTo>
                  <a:cubicBezTo>
                    <a:pt x="10275062" y="635889"/>
                    <a:pt x="10267442" y="643382"/>
                    <a:pt x="10258172"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10258172" y="609600"/>
                  </a:lnTo>
                  <a:lnTo>
                    <a:pt x="10258172" y="626491"/>
                  </a:lnTo>
                  <a:lnTo>
                    <a:pt x="10241280" y="626491"/>
                  </a:lnTo>
                  <a:lnTo>
                    <a:pt x="10241280" y="16891"/>
                  </a:lnTo>
                  <a:lnTo>
                    <a:pt x="10258172" y="16891"/>
                  </a:lnTo>
                  <a:lnTo>
                    <a:pt x="10258172" y="33909"/>
                  </a:lnTo>
                  <a:lnTo>
                    <a:pt x="16891" y="33909"/>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4" name="Google Shape;1044;p24"/>
          <p:cNvGrpSpPr/>
          <p:nvPr/>
        </p:nvGrpSpPr>
        <p:grpSpPr>
          <a:xfrm>
            <a:off x="4424548" y="3848794"/>
            <a:ext cx="5373142" cy="466687"/>
            <a:chOff x="0" y="0"/>
            <a:chExt cx="7407529" cy="643384"/>
          </a:xfrm>
        </p:grpSpPr>
        <p:sp>
          <p:nvSpPr>
            <p:cNvPr id="1045" name="Google Shape;1045;p24"/>
            <p:cNvSpPr/>
            <p:nvPr/>
          </p:nvSpPr>
          <p:spPr>
            <a:xfrm>
              <a:off x="16891" y="16891"/>
              <a:ext cx="7373747" cy="609600"/>
            </a:xfrm>
            <a:custGeom>
              <a:rect b="b" l="l" r="r" t="t"/>
              <a:pathLst>
                <a:path extrusionOk="0" h="609600" w="7373747">
                  <a:moveTo>
                    <a:pt x="0" y="0"/>
                  </a:moveTo>
                  <a:lnTo>
                    <a:pt x="7373747" y="0"/>
                  </a:lnTo>
                  <a:lnTo>
                    <a:pt x="7373747" y="609600"/>
                  </a:lnTo>
                  <a:lnTo>
                    <a:pt x="0" y="609600"/>
                  </a:lnTo>
                  <a:close/>
                </a:path>
              </a:pathLst>
            </a:custGeom>
            <a:solidFill>
              <a:srgbClr val="2980B9"/>
            </a:solidFill>
            <a:ln>
              <a:noFill/>
            </a:ln>
          </p:spPr>
        </p:sp>
        <p:sp>
          <p:nvSpPr>
            <p:cNvPr id="1046" name="Google Shape;1046;p24"/>
            <p:cNvSpPr/>
            <p:nvPr/>
          </p:nvSpPr>
          <p:spPr>
            <a:xfrm>
              <a:off x="0" y="0"/>
              <a:ext cx="7407529" cy="643384"/>
            </a:xfrm>
            <a:custGeom>
              <a:rect b="b" l="l" r="r" t="t"/>
              <a:pathLst>
                <a:path extrusionOk="0" h="643384" w="7407529">
                  <a:moveTo>
                    <a:pt x="16891" y="0"/>
                  </a:moveTo>
                  <a:lnTo>
                    <a:pt x="7390638" y="0"/>
                  </a:lnTo>
                  <a:cubicBezTo>
                    <a:pt x="7400036" y="0"/>
                    <a:pt x="7407529" y="7620"/>
                    <a:pt x="7407529" y="16891"/>
                  </a:cubicBezTo>
                  <a:lnTo>
                    <a:pt x="7407529" y="626491"/>
                  </a:lnTo>
                  <a:cubicBezTo>
                    <a:pt x="7407529" y="635889"/>
                    <a:pt x="7399909" y="643382"/>
                    <a:pt x="7390638"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7390638" y="609600"/>
                  </a:lnTo>
                  <a:lnTo>
                    <a:pt x="7390638" y="626491"/>
                  </a:lnTo>
                  <a:lnTo>
                    <a:pt x="7373747" y="626491"/>
                  </a:lnTo>
                  <a:lnTo>
                    <a:pt x="7373747" y="16891"/>
                  </a:lnTo>
                  <a:lnTo>
                    <a:pt x="7390638" y="16891"/>
                  </a:lnTo>
                  <a:lnTo>
                    <a:pt x="7390638" y="33909"/>
                  </a:lnTo>
                  <a:lnTo>
                    <a:pt x="16891" y="33909"/>
                  </a:lnTo>
                  <a:close/>
                </a:path>
              </a:pathLst>
            </a:cu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7" name="Google Shape;1047;p24"/>
          <p:cNvGrpSpPr/>
          <p:nvPr/>
        </p:nvGrpSpPr>
        <p:grpSpPr>
          <a:xfrm>
            <a:off x="12042338" y="3745002"/>
            <a:ext cx="1061234" cy="646689"/>
            <a:chOff x="0" y="-38100"/>
            <a:chExt cx="1463040" cy="891540"/>
          </a:xfrm>
        </p:grpSpPr>
        <p:sp>
          <p:nvSpPr>
            <p:cNvPr id="1048" name="Google Shape;1048;p24"/>
            <p:cNvSpPr/>
            <p:nvPr/>
          </p:nvSpPr>
          <p:spPr>
            <a:xfrm>
              <a:off x="0" y="0"/>
              <a:ext cx="1463040" cy="853440"/>
            </a:xfrm>
            <a:custGeom>
              <a:rect b="b" l="l" r="r" t="t"/>
              <a:pathLst>
                <a:path extrusionOk="0" h="853440" w="1463040">
                  <a:moveTo>
                    <a:pt x="0" y="0"/>
                  </a:moveTo>
                  <a:lnTo>
                    <a:pt x="1463040" y="0"/>
                  </a:lnTo>
                  <a:lnTo>
                    <a:pt x="1463040" y="853440"/>
                  </a:lnTo>
                  <a:lnTo>
                    <a:pt x="0" y="853440"/>
                  </a:lnTo>
                  <a:close/>
                </a:path>
              </a:pathLst>
            </a:custGeom>
            <a:blipFill rotWithShape="1">
              <a:blip r:embed="rId3">
                <a:alphaModFix amt="0"/>
              </a:blip>
              <a:stretch>
                <a:fillRect b="0" l="-24844" r="-24844" t="0"/>
              </a:stretch>
            </a:blipFill>
            <a:ln>
              <a:noFill/>
            </a:ln>
          </p:spPr>
        </p:sp>
        <p:sp>
          <p:nvSpPr>
            <p:cNvPr id="1049" name="Google Shape;1049;p24"/>
            <p:cNvSpPr txBox="1"/>
            <p:nvPr/>
          </p:nvSpPr>
          <p:spPr>
            <a:xfrm>
              <a:off x="0" y="-38100"/>
              <a:ext cx="146304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00" u="none" cap="none" strike="noStrike">
                  <a:solidFill>
                    <a:srgbClr val="2980B9"/>
                  </a:solidFill>
                  <a:latin typeface="Calibri"/>
                  <a:ea typeface="Calibri"/>
                  <a:cs typeface="Calibri"/>
                  <a:sym typeface="Calibri"/>
                </a:rPr>
                <a:t> 0.0909</a:t>
              </a:r>
              <a:endParaRPr/>
            </a:p>
          </p:txBody>
        </p:sp>
      </p:grpSp>
      <p:grpSp>
        <p:nvGrpSpPr>
          <p:cNvPr id="1050" name="Google Shape;1050;p24"/>
          <p:cNvGrpSpPr/>
          <p:nvPr/>
        </p:nvGrpSpPr>
        <p:grpSpPr>
          <a:xfrm>
            <a:off x="457200" y="4593989"/>
            <a:ext cx="3891191" cy="646689"/>
            <a:chOff x="0" y="-38100"/>
            <a:chExt cx="5364480" cy="891540"/>
          </a:xfrm>
        </p:grpSpPr>
        <p:sp>
          <p:nvSpPr>
            <p:cNvPr id="1051" name="Google Shape;1051;p24"/>
            <p:cNvSpPr/>
            <p:nvPr/>
          </p:nvSpPr>
          <p:spPr>
            <a:xfrm>
              <a:off x="0" y="0"/>
              <a:ext cx="5364480" cy="853440"/>
            </a:xfrm>
            <a:custGeom>
              <a:rect b="b" l="l" r="r" t="t"/>
              <a:pathLst>
                <a:path extrusionOk="0" h="853440" w="5364480">
                  <a:moveTo>
                    <a:pt x="0" y="0"/>
                  </a:moveTo>
                  <a:lnTo>
                    <a:pt x="5364480" y="0"/>
                  </a:lnTo>
                  <a:lnTo>
                    <a:pt x="5364480" y="853440"/>
                  </a:lnTo>
                  <a:lnTo>
                    <a:pt x="0" y="853440"/>
                  </a:lnTo>
                  <a:close/>
                </a:path>
              </a:pathLst>
            </a:custGeom>
            <a:blipFill rotWithShape="1">
              <a:blip r:embed="rId3">
                <a:alphaModFix amt="0"/>
              </a:blip>
              <a:stretch>
                <a:fillRect b="-72477" l="0" r="0" t="-72477"/>
              </a:stretch>
            </a:blipFill>
            <a:ln>
              <a:noFill/>
            </a:ln>
          </p:spPr>
        </p:sp>
        <p:sp>
          <p:nvSpPr>
            <p:cNvPr id="1052" name="Google Shape;1052;p24"/>
            <p:cNvSpPr txBox="1"/>
            <p:nvPr/>
          </p:nvSpPr>
          <p:spPr>
            <a:xfrm>
              <a:off x="0" y="-38100"/>
              <a:ext cx="536448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acousticness</a:t>
              </a:r>
              <a:endParaRPr/>
            </a:p>
          </p:txBody>
        </p:sp>
      </p:grpSp>
      <p:grpSp>
        <p:nvGrpSpPr>
          <p:cNvPr id="1053" name="Google Shape;1053;p24"/>
          <p:cNvGrpSpPr/>
          <p:nvPr/>
        </p:nvGrpSpPr>
        <p:grpSpPr>
          <a:xfrm>
            <a:off x="4424548" y="4697782"/>
            <a:ext cx="7453142" cy="466687"/>
            <a:chOff x="0" y="0"/>
            <a:chExt cx="10275062" cy="643384"/>
          </a:xfrm>
        </p:grpSpPr>
        <p:sp>
          <p:nvSpPr>
            <p:cNvPr id="1054" name="Google Shape;1054;p24"/>
            <p:cNvSpPr/>
            <p:nvPr/>
          </p:nvSpPr>
          <p:spPr>
            <a:xfrm>
              <a:off x="16891" y="16891"/>
              <a:ext cx="10241281" cy="609600"/>
            </a:xfrm>
            <a:custGeom>
              <a:rect b="b" l="l" r="r" t="t"/>
              <a:pathLst>
                <a:path extrusionOk="0" h="609600" w="10241281">
                  <a:moveTo>
                    <a:pt x="0" y="0"/>
                  </a:moveTo>
                  <a:lnTo>
                    <a:pt x="10241281" y="0"/>
                  </a:lnTo>
                  <a:lnTo>
                    <a:pt x="10241281" y="609600"/>
                  </a:lnTo>
                  <a:lnTo>
                    <a:pt x="0" y="609600"/>
                  </a:lnTo>
                  <a:close/>
                </a:path>
              </a:pathLst>
            </a:custGeom>
            <a:solidFill>
              <a:srgbClr val="E8E8E8"/>
            </a:solidFill>
            <a:ln>
              <a:noFill/>
            </a:ln>
          </p:spPr>
        </p:sp>
        <p:sp>
          <p:nvSpPr>
            <p:cNvPr id="1055" name="Google Shape;1055;p24"/>
            <p:cNvSpPr/>
            <p:nvPr/>
          </p:nvSpPr>
          <p:spPr>
            <a:xfrm>
              <a:off x="0" y="0"/>
              <a:ext cx="10275062" cy="643384"/>
            </a:xfrm>
            <a:custGeom>
              <a:rect b="b" l="l" r="r" t="t"/>
              <a:pathLst>
                <a:path extrusionOk="0" h="643384" w="10275062">
                  <a:moveTo>
                    <a:pt x="16891" y="0"/>
                  </a:moveTo>
                  <a:lnTo>
                    <a:pt x="10258172" y="0"/>
                  </a:lnTo>
                  <a:cubicBezTo>
                    <a:pt x="10267569" y="0"/>
                    <a:pt x="10275062" y="7620"/>
                    <a:pt x="10275062" y="16891"/>
                  </a:cubicBezTo>
                  <a:lnTo>
                    <a:pt x="10275062" y="626491"/>
                  </a:lnTo>
                  <a:cubicBezTo>
                    <a:pt x="10275062" y="635889"/>
                    <a:pt x="10267442" y="643382"/>
                    <a:pt x="10258172"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10258172" y="609600"/>
                  </a:lnTo>
                  <a:lnTo>
                    <a:pt x="10258172" y="626491"/>
                  </a:lnTo>
                  <a:lnTo>
                    <a:pt x="10241280" y="626491"/>
                  </a:lnTo>
                  <a:lnTo>
                    <a:pt x="10241280" y="16891"/>
                  </a:lnTo>
                  <a:lnTo>
                    <a:pt x="10258172" y="16891"/>
                  </a:lnTo>
                  <a:lnTo>
                    <a:pt x="10258172" y="33909"/>
                  </a:lnTo>
                  <a:lnTo>
                    <a:pt x="16891" y="33909"/>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6" name="Google Shape;1056;p24"/>
          <p:cNvGrpSpPr/>
          <p:nvPr/>
        </p:nvGrpSpPr>
        <p:grpSpPr>
          <a:xfrm>
            <a:off x="4424548" y="4697782"/>
            <a:ext cx="4853118" cy="466687"/>
            <a:chOff x="0" y="0"/>
            <a:chExt cx="6690614" cy="643384"/>
          </a:xfrm>
        </p:grpSpPr>
        <p:sp>
          <p:nvSpPr>
            <p:cNvPr id="1057" name="Google Shape;1057;p24"/>
            <p:cNvSpPr/>
            <p:nvPr/>
          </p:nvSpPr>
          <p:spPr>
            <a:xfrm>
              <a:off x="16891" y="16891"/>
              <a:ext cx="6656832" cy="609600"/>
            </a:xfrm>
            <a:custGeom>
              <a:rect b="b" l="l" r="r" t="t"/>
              <a:pathLst>
                <a:path extrusionOk="0" h="609600" w="6656832">
                  <a:moveTo>
                    <a:pt x="0" y="0"/>
                  </a:moveTo>
                  <a:lnTo>
                    <a:pt x="6656832" y="0"/>
                  </a:lnTo>
                  <a:lnTo>
                    <a:pt x="6656832" y="609600"/>
                  </a:lnTo>
                  <a:lnTo>
                    <a:pt x="0" y="609600"/>
                  </a:lnTo>
                  <a:close/>
                </a:path>
              </a:pathLst>
            </a:custGeom>
            <a:solidFill>
              <a:srgbClr val="8E44AD"/>
            </a:solidFill>
            <a:ln>
              <a:noFill/>
            </a:ln>
          </p:spPr>
        </p:sp>
        <p:sp>
          <p:nvSpPr>
            <p:cNvPr id="1058" name="Google Shape;1058;p24"/>
            <p:cNvSpPr/>
            <p:nvPr/>
          </p:nvSpPr>
          <p:spPr>
            <a:xfrm>
              <a:off x="0" y="0"/>
              <a:ext cx="6690614" cy="643384"/>
            </a:xfrm>
            <a:custGeom>
              <a:rect b="b" l="l" r="r" t="t"/>
              <a:pathLst>
                <a:path extrusionOk="0" h="643384" w="6690614">
                  <a:moveTo>
                    <a:pt x="16891" y="0"/>
                  </a:moveTo>
                  <a:lnTo>
                    <a:pt x="6673723" y="0"/>
                  </a:lnTo>
                  <a:cubicBezTo>
                    <a:pt x="6683121" y="0"/>
                    <a:pt x="6690614" y="7620"/>
                    <a:pt x="6690614" y="16891"/>
                  </a:cubicBezTo>
                  <a:lnTo>
                    <a:pt x="6690614" y="626491"/>
                  </a:lnTo>
                  <a:cubicBezTo>
                    <a:pt x="6690614" y="635889"/>
                    <a:pt x="6682994" y="643382"/>
                    <a:pt x="6673723"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6673723" y="609600"/>
                  </a:lnTo>
                  <a:lnTo>
                    <a:pt x="6673723" y="626491"/>
                  </a:lnTo>
                  <a:lnTo>
                    <a:pt x="6656832" y="626491"/>
                  </a:lnTo>
                  <a:lnTo>
                    <a:pt x="6656832" y="16891"/>
                  </a:lnTo>
                  <a:lnTo>
                    <a:pt x="6673723" y="16891"/>
                  </a:lnTo>
                  <a:lnTo>
                    <a:pt x="6673723" y="33909"/>
                  </a:lnTo>
                  <a:lnTo>
                    <a:pt x="16891" y="33909"/>
                  </a:lnTo>
                  <a:close/>
                </a:path>
              </a:pathLst>
            </a:cu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9" name="Google Shape;1059;p24"/>
          <p:cNvGrpSpPr/>
          <p:nvPr/>
        </p:nvGrpSpPr>
        <p:grpSpPr>
          <a:xfrm>
            <a:off x="12042338" y="4593989"/>
            <a:ext cx="1061234" cy="646689"/>
            <a:chOff x="0" y="-38100"/>
            <a:chExt cx="1463040" cy="891540"/>
          </a:xfrm>
        </p:grpSpPr>
        <p:sp>
          <p:nvSpPr>
            <p:cNvPr id="1060" name="Google Shape;1060;p24"/>
            <p:cNvSpPr/>
            <p:nvPr/>
          </p:nvSpPr>
          <p:spPr>
            <a:xfrm>
              <a:off x="0" y="0"/>
              <a:ext cx="1463040" cy="853440"/>
            </a:xfrm>
            <a:custGeom>
              <a:rect b="b" l="l" r="r" t="t"/>
              <a:pathLst>
                <a:path extrusionOk="0" h="853440" w="1463040">
                  <a:moveTo>
                    <a:pt x="0" y="0"/>
                  </a:moveTo>
                  <a:lnTo>
                    <a:pt x="1463040" y="0"/>
                  </a:lnTo>
                  <a:lnTo>
                    <a:pt x="1463040" y="853440"/>
                  </a:lnTo>
                  <a:lnTo>
                    <a:pt x="0" y="853440"/>
                  </a:lnTo>
                  <a:close/>
                </a:path>
              </a:pathLst>
            </a:custGeom>
            <a:blipFill rotWithShape="1">
              <a:blip r:embed="rId3">
                <a:alphaModFix amt="0"/>
              </a:blip>
              <a:stretch>
                <a:fillRect b="0" l="-24844" r="-24844" t="0"/>
              </a:stretch>
            </a:blipFill>
            <a:ln>
              <a:noFill/>
            </a:ln>
          </p:spPr>
        </p:sp>
        <p:sp>
          <p:nvSpPr>
            <p:cNvPr id="1061" name="Google Shape;1061;p24"/>
            <p:cNvSpPr txBox="1"/>
            <p:nvPr/>
          </p:nvSpPr>
          <p:spPr>
            <a:xfrm>
              <a:off x="0" y="-38100"/>
              <a:ext cx="146304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00" u="none" cap="none" strike="noStrike">
                  <a:solidFill>
                    <a:srgbClr val="8E44AD"/>
                  </a:solidFill>
                  <a:latin typeface="Calibri"/>
                  <a:ea typeface="Calibri"/>
                  <a:cs typeface="Calibri"/>
                  <a:sym typeface="Calibri"/>
                </a:rPr>
                <a:t>0.0899</a:t>
              </a:r>
              <a:endParaRPr/>
            </a:p>
          </p:txBody>
        </p:sp>
      </p:grpSp>
      <p:grpSp>
        <p:nvGrpSpPr>
          <p:cNvPr id="1062" name="Google Shape;1062;p24"/>
          <p:cNvGrpSpPr/>
          <p:nvPr/>
        </p:nvGrpSpPr>
        <p:grpSpPr>
          <a:xfrm>
            <a:off x="457200" y="5442976"/>
            <a:ext cx="3891191" cy="646689"/>
            <a:chOff x="0" y="-38100"/>
            <a:chExt cx="5364480" cy="891540"/>
          </a:xfrm>
        </p:grpSpPr>
        <p:sp>
          <p:nvSpPr>
            <p:cNvPr id="1063" name="Google Shape;1063;p24"/>
            <p:cNvSpPr/>
            <p:nvPr/>
          </p:nvSpPr>
          <p:spPr>
            <a:xfrm>
              <a:off x="0" y="0"/>
              <a:ext cx="5364480" cy="853440"/>
            </a:xfrm>
            <a:custGeom>
              <a:rect b="b" l="l" r="r" t="t"/>
              <a:pathLst>
                <a:path extrusionOk="0" h="853440" w="5364480">
                  <a:moveTo>
                    <a:pt x="0" y="0"/>
                  </a:moveTo>
                  <a:lnTo>
                    <a:pt x="5364480" y="0"/>
                  </a:lnTo>
                  <a:lnTo>
                    <a:pt x="5364480" y="853440"/>
                  </a:lnTo>
                  <a:lnTo>
                    <a:pt x="0" y="853440"/>
                  </a:lnTo>
                  <a:close/>
                </a:path>
              </a:pathLst>
            </a:custGeom>
            <a:blipFill rotWithShape="1">
              <a:blip r:embed="rId3">
                <a:alphaModFix amt="0"/>
              </a:blip>
              <a:stretch>
                <a:fillRect b="-72477" l="0" r="0" t="-72477"/>
              </a:stretch>
            </a:blipFill>
            <a:ln>
              <a:noFill/>
            </a:ln>
          </p:spPr>
        </p:sp>
        <p:sp>
          <p:nvSpPr>
            <p:cNvPr id="1064" name="Google Shape;1064;p24"/>
            <p:cNvSpPr txBox="1"/>
            <p:nvPr/>
          </p:nvSpPr>
          <p:spPr>
            <a:xfrm>
              <a:off x="0" y="-38100"/>
              <a:ext cx="536448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speechiness</a:t>
              </a:r>
              <a:endParaRPr/>
            </a:p>
          </p:txBody>
        </p:sp>
      </p:grpSp>
      <p:grpSp>
        <p:nvGrpSpPr>
          <p:cNvPr id="1065" name="Google Shape;1065;p24"/>
          <p:cNvGrpSpPr/>
          <p:nvPr/>
        </p:nvGrpSpPr>
        <p:grpSpPr>
          <a:xfrm>
            <a:off x="4424548" y="5546769"/>
            <a:ext cx="7453142" cy="466687"/>
            <a:chOff x="0" y="0"/>
            <a:chExt cx="10275062" cy="643384"/>
          </a:xfrm>
        </p:grpSpPr>
        <p:sp>
          <p:nvSpPr>
            <p:cNvPr id="1066" name="Google Shape;1066;p24"/>
            <p:cNvSpPr/>
            <p:nvPr/>
          </p:nvSpPr>
          <p:spPr>
            <a:xfrm>
              <a:off x="16891" y="16891"/>
              <a:ext cx="10241281" cy="609600"/>
            </a:xfrm>
            <a:custGeom>
              <a:rect b="b" l="l" r="r" t="t"/>
              <a:pathLst>
                <a:path extrusionOk="0" h="609600" w="10241281">
                  <a:moveTo>
                    <a:pt x="0" y="0"/>
                  </a:moveTo>
                  <a:lnTo>
                    <a:pt x="10241281" y="0"/>
                  </a:lnTo>
                  <a:lnTo>
                    <a:pt x="10241281" y="609600"/>
                  </a:lnTo>
                  <a:lnTo>
                    <a:pt x="0" y="609600"/>
                  </a:lnTo>
                  <a:close/>
                </a:path>
              </a:pathLst>
            </a:custGeom>
            <a:solidFill>
              <a:srgbClr val="E8E8E8"/>
            </a:solidFill>
            <a:ln>
              <a:noFill/>
            </a:ln>
          </p:spPr>
        </p:sp>
        <p:sp>
          <p:nvSpPr>
            <p:cNvPr id="1067" name="Google Shape;1067;p24"/>
            <p:cNvSpPr/>
            <p:nvPr/>
          </p:nvSpPr>
          <p:spPr>
            <a:xfrm>
              <a:off x="0" y="0"/>
              <a:ext cx="10275062" cy="643384"/>
            </a:xfrm>
            <a:custGeom>
              <a:rect b="b" l="l" r="r" t="t"/>
              <a:pathLst>
                <a:path extrusionOk="0" h="643384" w="10275062">
                  <a:moveTo>
                    <a:pt x="16891" y="0"/>
                  </a:moveTo>
                  <a:lnTo>
                    <a:pt x="10258172" y="0"/>
                  </a:lnTo>
                  <a:cubicBezTo>
                    <a:pt x="10267569" y="0"/>
                    <a:pt x="10275062" y="7620"/>
                    <a:pt x="10275062" y="16891"/>
                  </a:cubicBezTo>
                  <a:lnTo>
                    <a:pt x="10275062" y="626491"/>
                  </a:lnTo>
                  <a:cubicBezTo>
                    <a:pt x="10275062" y="635889"/>
                    <a:pt x="10267442" y="643382"/>
                    <a:pt x="10258172"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10258172" y="609600"/>
                  </a:lnTo>
                  <a:lnTo>
                    <a:pt x="10258172" y="626491"/>
                  </a:lnTo>
                  <a:lnTo>
                    <a:pt x="10241280" y="626491"/>
                  </a:lnTo>
                  <a:lnTo>
                    <a:pt x="10241280" y="16891"/>
                  </a:lnTo>
                  <a:lnTo>
                    <a:pt x="10258172" y="16891"/>
                  </a:lnTo>
                  <a:lnTo>
                    <a:pt x="10258172" y="33909"/>
                  </a:lnTo>
                  <a:lnTo>
                    <a:pt x="16891" y="33909"/>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8" name="Google Shape;1068;p24"/>
          <p:cNvGrpSpPr/>
          <p:nvPr/>
        </p:nvGrpSpPr>
        <p:grpSpPr>
          <a:xfrm>
            <a:off x="4424548" y="5546769"/>
            <a:ext cx="4333188" cy="466687"/>
            <a:chOff x="0" y="0"/>
            <a:chExt cx="5973826" cy="643384"/>
          </a:xfrm>
        </p:grpSpPr>
        <p:sp>
          <p:nvSpPr>
            <p:cNvPr id="1069" name="Google Shape;1069;p24"/>
            <p:cNvSpPr/>
            <p:nvPr/>
          </p:nvSpPr>
          <p:spPr>
            <a:xfrm>
              <a:off x="16891" y="16891"/>
              <a:ext cx="5940044" cy="609600"/>
            </a:xfrm>
            <a:custGeom>
              <a:rect b="b" l="l" r="r" t="t"/>
              <a:pathLst>
                <a:path extrusionOk="0" h="609600" w="5940044">
                  <a:moveTo>
                    <a:pt x="0" y="0"/>
                  </a:moveTo>
                  <a:lnTo>
                    <a:pt x="5940044" y="0"/>
                  </a:lnTo>
                  <a:lnTo>
                    <a:pt x="5940044" y="609600"/>
                  </a:lnTo>
                  <a:lnTo>
                    <a:pt x="0" y="609600"/>
                  </a:lnTo>
                  <a:close/>
                </a:path>
              </a:pathLst>
            </a:custGeom>
            <a:solidFill>
              <a:srgbClr val="E67E22"/>
            </a:solidFill>
            <a:ln>
              <a:noFill/>
            </a:ln>
          </p:spPr>
        </p:sp>
        <p:sp>
          <p:nvSpPr>
            <p:cNvPr id="1070" name="Google Shape;1070;p24"/>
            <p:cNvSpPr/>
            <p:nvPr/>
          </p:nvSpPr>
          <p:spPr>
            <a:xfrm>
              <a:off x="0" y="0"/>
              <a:ext cx="5973826" cy="643384"/>
            </a:xfrm>
            <a:custGeom>
              <a:rect b="b" l="l" r="r" t="t"/>
              <a:pathLst>
                <a:path extrusionOk="0" h="643384" w="5973826">
                  <a:moveTo>
                    <a:pt x="16891" y="0"/>
                  </a:moveTo>
                  <a:lnTo>
                    <a:pt x="5956935" y="0"/>
                  </a:lnTo>
                  <a:cubicBezTo>
                    <a:pt x="5966333" y="0"/>
                    <a:pt x="5973826" y="7620"/>
                    <a:pt x="5973826" y="16891"/>
                  </a:cubicBezTo>
                  <a:lnTo>
                    <a:pt x="5973826" y="626491"/>
                  </a:lnTo>
                  <a:cubicBezTo>
                    <a:pt x="5973826" y="635889"/>
                    <a:pt x="5966206" y="643382"/>
                    <a:pt x="5956935"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5956935" y="609600"/>
                  </a:lnTo>
                  <a:lnTo>
                    <a:pt x="5956935" y="626491"/>
                  </a:lnTo>
                  <a:lnTo>
                    <a:pt x="5940044" y="626491"/>
                  </a:lnTo>
                  <a:lnTo>
                    <a:pt x="5940044" y="16891"/>
                  </a:lnTo>
                  <a:lnTo>
                    <a:pt x="5956935" y="16891"/>
                  </a:lnTo>
                  <a:lnTo>
                    <a:pt x="5956935" y="33909"/>
                  </a:lnTo>
                  <a:lnTo>
                    <a:pt x="16891" y="33909"/>
                  </a:lnTo>
                  <a:close/>
                </a:path>
              </a:pathLst>
            </a:custGeom>
            <a:solidFill>
              <a:srgbClr val="E67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24"/>
          <p:cNvGrpSpPr/>
          <p:nvPr/>
        </p:nvGrpSpPr>
        <p:grpSpPr>
          <a:xfrm>
            <a:off x="12042338" y="5442976"/>
            <a:ext cx="1061234" cy="646689"/>
            <a:chOff x="0" y="-38100"/>
            <a:chExt cx="1463040" cy="891540"/>
          </a:xfrm>
        </p:grpSpPr>
        <p:sp>
          <p:nvSpPr>
            <p:cNvPr id="1072" name="Google Shape;1072;p24"/>
            <p:cNvSpPr/>
            <p:nvPr/>
          </p:nvSpPr>
          <p:spPr>
            <a:xfrm>
              <a:off x="0" y="0"/>
              <a:ext cx="1463040" cy="853440"/>
            </a:xfrm>
            <a:custGeom>
              <a:rect b="b" l="l" r="r" t="t"/>
              <a:pathLst>
                <a:path extrusionOk="0" h="853440" w="1463040">
                  <a:moveTo>
                    <a:pt x="0" y="0"/>
                  </a:moveTo>
                  <a:lnTo>
                    <a:pt x="1463040" y="0"/>
                  </a:lnTo>
                  <a:lnTo>
                    <a:pt x="1463040" y="853440"/>
                  </a:lnTo>
                  <a:lnTo>
                    <a:pt x="0" y="853440"/>
                  </a:lnTo>
                  <a:close/>
                </a:path>
              </a:pathLst>
            </a:custGeom>
            <a:blipFill rotWithShape="1">
              <a:blip r:embed="rId3">
                <a:alphaModFix amt="0"/>
              </a:blip>
              <a:stretch>
                <a:fillRect b="0" l="-24844" r="-24844" t="0"/>
              </a:stretch>
            </a:blipFill>
            <a:ln>
              <a:noFill/>
            </a:ln>
          </p:spPr>
        </p:sp>
        <p:sp>
          <p:nvSpPr>
            <p:cNvPr id="1073" name="Google Shape;1073;p24"/>
            <p:cNvSpPr txBox="1"/>
            <p:nvPr/>
          </p:nvSpPr>
          <p:spPr>
            <a:xfrm>
              <a:off x="0" y="-38100"/>
              <a:ext cx="146304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00" u="none" cap="none" strike="noStrike">
                  <a:solidFill>
                    <a:srgbClr val="E67E22"/>
                  </a:solidFill>
                  <a:latin typeface="Calibri"/>
                  <a:ea typeface="Calibri"/>
                  <a:cs typeface="Calibri"/>
                  <a:sym typeface="Calibri"/>
                </a:rPr>
                <a:t>0.0875</a:t>
              </a:r>
              <a:endParaRPr/>
            </a:p>
          </p:txBody>
        </p:sp>
      </p:grpSp>
      <p:grpSp>
        <p:nvGrpSpPr>
          <p:cNvPr id="1074" name="Google Shape;1074;p24"/>
          <p:cNvGrpSpPr/>
          <p:nvPr/>
        </p:nvGrpSpPr>
        <p:grpSpPr>
          <a:xfrm>
            <a:off x="457200" y="6291964"/>
            <a:ext cx="3891191" cy="646689"/>
            <a:chOff x="0" y="-38100"/>
            <a:chExt cx="5364480" cy="891540"/>
          </a:xfrm>
        </p:grpSpPr>
        <p:sp>
          <p:nvSpPr>
            <p:cNvPr id="1075" name="Google Shape;1075;p24"/>
            <p:cNvSpPr/>
            <p:nvPr/>
          </p:nvSpPr>
          <p:spPr>
            <a:xfrm>
              <a:off x="0" y="0"/>
              <a:ext cx="5364480" cy="853440"/>
            </a:xfrm>
            <a:custGeom>
              <a:rect b="b" l="l" r="r" t="t"/>
              <a:pathLst>
                <a:path extrusionOk="0" h="853440" w="5364480">
                  <a:moveTo>
                    <a:pt x="0" y="0"/>
                  </a:moveTo>
                  <a:lnTo>
                    <a:pt x="5364480" y="0"/>
                  </a:lnTo>
                  <a:lnTo>
                    <a:pt x="5364480" y="853440"/>
                  </a:lnTo>
                  <a:lnTo>
                    <a:pt x="0" y="853440"/>
                  </a:lnTo>
                  <a:close/>
                </a:path>
              </a:pathLst>
            </a:custGeom>
            <a:blipFill rotWithShape="1">
              <a:blip r:embed="rId3">
                <a:alphaModFix amt="0"/>
              </a:blip>
              <a:stretch>
                <a:fillRect b="-72477" l="0" r="0" t="-72477"/>
              </a:stretch>
            </a:blipFill>
            <a:ln>
              <a:noFill/>
            </a:ln>
          </p:spPr>
        </p:sp>
        <p:sp>
          <p:nvSpPr>
            <p:cNvPr id="1076" name="Google Shape;1076;p24"/>
            <p:cNvSpPr txBox="1"/>
            <p:nvPr/>
          </p:nvSpPr>
          <p:spPr>
            <a:xfrm>
              <a:off x="0" y="-38100"/>
              <a:ext cx="536448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dancefloor_score</a:t>
              </a:r>
              <a:endParaRPr/>
            </a:p>
          </p:txBody>
        </p:sp>
      </p:grpSp>
      <p:grpSp>
        <p:nvGrpSpPr>
          <p:cNvPr id="1077" name="Google Shape;1077;p24"/>
          <p:cNvGrpSpPr/>
          <p:nvPr/>
        </p:nvGrpSpPr>
        <p:grpSpPr>
          <a:xfrm>
            <a:off x="4424548" y="6395756"/>
            <a:ext cx="7453142" cy="466687"/>
            <a:chOff x="0" y="0"/>
            <a:chExt cx="10275062" cy="643384"/>
          </a:xfrm>
        </p:grpSpPr>
        <p:sp>
          <p:nvSpPr>
            <p:cNvPr id="1078" name="Google Shape;1078;p24"/>
            <p:cNvSpPr/>
            <p:nvPr/>
          </p:nvSpPr>
          <p:spPr>
            <a:xfrm>
              <a:off x="16891" y="16891"/>
              <a:ext cx="10241281" cy="609600"/>
            </a:xfrm>
            <a:custGeom>
              <a:rect b="b" l="l" r="r" t="t"/>
              <a:pathLst>
                <a:path extrusionOk="0" h="609600" w="10241281">
                  <a:moveTo>
                    <a:pt x="0" y="0"/>
                  </a:moveTo>
                  <a:lnTo>
                    <a:pt x="10241281" y="0"/>
                  </a:lnTo>
                  <a:lnTo>
                    <a:pt x="10241281" y="609600"/>
                  </a:lnTo>
                  <a:lnTo>
                    <a:pt x="0" y="609600"/>
                  </a:lnTo>
                  <a:close/>
                </a:path>
              </a:pathLst>
            </a:custGeom>
            <a:solidFill>
              <a:srgbClr val="E8E8E8"/>
            </a:solidFill>
            <a:ln>
              <a:noFill/>
            </a:ln>
          </p:spPr>
        </p:sp>
        <p:sp>
          <p:nvSpPr>
            <p:cNvPr id="1079" name="Google Shape;1079;p24"/>
            <p:cNvSpPr/>
            <p:nvPr/>
          </p:nvSpPr>
          <p:spPr>
            <a:xfrm>
              <a:off x="0" y="0"/>
              <a:ext cx="10275062" cy="643384"/>
            </a:xfrm>
            <a:custGeom>
              <a:rect b="b" l="l" r="r" t="t"/>
              <a:pathLst>
                <a:path extrusionOk="0" h="643384" w="10275062">
                  <a:moveTo>
                    <a:pt x="16891" y="0"/>
                  </a:moveTo>
                  <a:lnTo>
                    <a:pt x="10258172" y="0"/>
                  </a:lnTo>
                  <a:cubicBezTo>
                    <a:pt x="10267569" y="0"/>
                    <a:pt x="10275062" y="7620"/>
                    <a:pt x="10275062" y="16891"/>
                  </a:cubicBezTo>
                  <a:lnTo>
                    <a:pt x="10275062" y="626491"/>
                  </a:lnTo>
                  <a:cubicBezTo>
                    <a:pt x="10275062" y="635889"/>
                    <a:pt x="10267442" y="643382"/>
                    <a:pt x="10258172"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10258172" y="609600"/>
                  </a:lnTo>
                  <a:lnTo>
                    <a:pt x="10258172" y="626491"/>
                  </a:lnTo>
                  <a:lnTo>
                    <a:pt x="10241280" y="626491"/>
                  </a:lnTo>
                  <a:lnTo>
                    <a:pt x="10241280" y="16891"/>
                  </a:lnTo>
                  <a:lnTo>
                    <a:pt x="10258172" y="16891"/>
                  </a:lnTo>
                  <a:lnTo>
                    <a:pt x="10258172" y="33909"/>
                  </a:lnTo>
                  <a:lnTo>
                    <a:pt x="16891" y="33909"/>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24"/>
          <p:cNvGrpSpPr/>
          <p:nvPr/>
        </p:nvGrpSpPr>
        <p:grpSpPr>
          <a:xfrm>
            <a:off x="4424548" y="6395756"/>
            <a:ext cx="3887415" cy="466687"/>
            <a:chOff x="0" y="0"/>
            <a:chExt cx="5359273" cy="643384"/>
          </a:xfrm>
        </p:grpSpPr>
        <p:sp>
          <p:nvSpPr>
            <p:cNvPr id="1081" name="Google Shape;1081;p24"/>
            <p:cNvSpPr/>
            <p:nvPr/>
          </p:nvSpPr>
          <p:spPr>
            <a:xfrm>
              <a:off x="16891" y="16891"/>
              <a:ext cx="5325491" cy="609600"/>
            </a:xfrm>
            <a:custGeom>
              <a:rect b="b" l="l" r="r" t="t"/>
              <a:pathLst>
                <a:path extrusionOk="0" h="609600" w="5325491">
                  <a:moveTo>
                    <a:pt x="0" y="0"/>
                  </a:moveTo>
                  <a:lnTo>
                    <a:pt x="5325491" y="0"/>
                  </a:lnTo>
                  <a:lnTo>
                    <a:pt x="5325491" y="609600"/>
                  </a:lnTo>
                  <a:lnTo>
                    <a:pt x="0" y="609600"/>
                  </a:lnTo>
                  <a:close/>
                </a:path>
              </a:pathLst>
            </a:custGeom>
            <a:solidFill>
              <a:srgbClr val="27AE60"/>
            </a:solidFill>
            <a:ln>
              <a:noFill/>
            </a:ln>
          </p:spPr>
        </p:sp>
        <p:sp>
          <p:nvSpPr>
            <p:cNvPr id="1082" name="Google Shape;1082;p24"/>
            <p:cNvSpPr/>
            <p:nvPr/>
          </p:nvSpPr>
          <p:spPr>
            <a:xfrm>
              <a:off x="0" y="0"/>
              <a:ext cx="5359273" cy="643384"/>
            </a:xfrm>
            <a:custGeom>
              <a:rect b="b" l="l" r="r" t="t"/>
              <a:pathLst>
                <a:path extrusionOk="0" h="643384" w="5359273">
                  <a:moveTo>
                    <a:pt x="16891" y="0"/>
                  </a:moveTo>
                  <a:lnTo>
                    <a:pt x="5342382" y="0"/>
                  </a:lnTo>
                  <a:cubicBezTo>
                    <a:pt x="5351780" y="0"/>
                    <a:pt x="5359273" y="7620"/>
                    <a:pt x="5359273" y="16891"/>
                  </a:cubicBezTo>
                  <a:lnTo>
                    <a:pt x="5359273" y="626491"/>
                  </a:lnTo>
                  <a:cubicBezTo>
                    <a:pt x="5359273" y="635889"/>
                    <a:pt x="5351653" y="643382"/>
                    <a:pt x="5342382"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5342382" y="609600"/>
                  </a:lnTo>
                  <a:lnTo>
                    <a:pt x="5342382" y="626491"/>
                  </a:lnTo>
                  <a:lnTo>
                    <a:pt x="5325491" y="626491"/>
                  </a:lnTo>
                  <a:lnTo>
                    <a:pt x="5325491" y="16891"/>
                  </a:lnTo>
                  <a:lnTo>
                    <a:pt x="5342382" y="16891"/>
                  </a:lnTo>
                  <a:lnTo>
                    <a:pt x="5342382" y="33909"/>
                  </a:lnTo>
                  <a:lnTo>
                    <a:pt x="16891" y="33909"/>
                  </a:lnTo>
                  <a:close/>
                </a:path>
              </a:pathLst>
            </a:cu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3" name="Google Shape;1083;p24"/>
          <p:cNvGrpSpPr/>
          <p:nvPr/>
        </p:nvGrpSpPr>
        <p:grpSpPr>
          <a:xfrm>
            <a:off x="12042338" y="6291964"/>
            <a:ext cx="1061234" cy="646689"/>
            <a:chOff x="0" y="-38100"/>
            <a:chExt cx="1463040" cy="891540"/>
          </a:xfrm>
        </p:grpSpPr>
        <p:sp>
          <p:nvSpPr>
            <p:cNvPr id="1084" name="Google Shape;1084;p24"/>
            <p:cNvSpPr/>
            <p:nvPr/>
          </p:nvSpPr>
          <p:spPr>
            <a:xfrm>
              <a:off x="0" y="0"/>
              <a:ext cx="1463040" cy="853440"/>
            </a:xfrm>
            <a:custGeom>
              <a:rect b="b" l="l" r="r" t="t"/>
              <a:pathLst>
                <a:path extrusionOk="0" h="853440" w="1463040">
                  <a:moveTo>
                    <a:pt x="0" y="0"/>
                  </a:moveTo>
                  <a:lnTo>
                    <a:pt x="1463040" y="0"/>
                  </a:lnTo>
                  <a:lnTo>
                    <a:pt x="1463040" y="853440"/>
                  </a:lnTo>
                  <a:lnTo>
                    <a:pt x="0" y="853440"/>
                  </a:lnTo>
                  <a:close/>
                </a:path>
              </a:pathLst>
            </a:custGeom>
            <a:blipFill rotWithShape="1">
              <a:blip r:embed="rId3">
                <a:alphaModFix amt="0"/>
              </a:blip>
              <a:stretch>
                <a:fillRect b="0" l="-24844" r="-24844" t="0"/>
              </a:stretch>
            </a:blipFill>
            <a:ln>
              <a:noFill/>
            </a:ln>
          </p:spPr>
        </p:sp>
        <p:sp>
          <p:nvSpPr>
            <p:cNvPr id="1085" name="Google Shape;1085;p24"/>
            <p:cNvSpPr txBox="1"/>
            <p:nvPr/>
          </p:nvSpPr>
          <p:spPr>
            <a:xfrm>
              <a:off x="0" y="-38100"/>
              <a:ext cx="146304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00" u="none" cap="none" strike="noStrike">
                  <a:solidFill>
                    <a:srgbClr val="27AE60"/>
                  </a:solidFill>
                  <a:latin typeface="Calibri"/>
                  <a:ea typeface="Calibri"/>
                  <a:cs typeface="Calibri"/>
                  <a:sym typeface="Calibri"/>
                </a:rPr>
                <a:t>0.0873</a:t>
              </a:r>
              <a:endParaRPr/>
            </a:p>
          </p:txBody>
        </p:sp>
      </p:grpSp>
      <p:grpSp>
        <p:nvGrpSpPr>
          <p:cNvPr id="1086" name="Google Shape;1086;p24"/>
          <p:cNvGrpSpPr/>
          <p:nvPr/>
        </p:nvGrpSpPr>
        <p:grpSpPr>
          <a:xfrm>
            <a:off x="457200" y="7140951"/>
            <a:ext cx="3891191" cy="646689"/>
            <a:chOff x="0" y="-38100"/>
            <a:chExt cx="5364480" cy="891540"/>
          </a:xfrm>
        </p:grpSpPr>
        <p:sp>
          <p:nvSpPr>
            <p:cNvPr id="1087" name="Google Shape;1087;p24"/>
            <p:cNvSpPr/>
            <p:nvPr/>
          </p:nvSpPr>
          <p:spPr>
            <a:xfrm>
              <a:off x="0" y="0"/>
              <a:ext cx="5364480" cy="853440"/>
            </a:xfrm>
            <a:custGeom>
              <a:rect b="b" l="l" r="r" t="t"/>
              <a:pathLst>
                <a:path extrusionOk="0" h="853440" w="5364480">
                  <a:moveTo>
                    <a:pt x="0" y="0"/>
                  </a:moveTo>
                  <a:lnTo>
                    <a:pt x="5364480" y="0"/>
                  </a:lnTo>
                  <a:lnTo>
                    <a:pt x="5364480" y="853440"/>
                  </a:lnTo>
                  <a:lnTo>
                    <a:pt x="0" y="853440"/>
                  </a:lnTo>
                  <a:close/>
                </a:path>
              </a:pathLst>
            </a:custGeom>
            <a:blipFill rotWithShape="1">
              <a:blip r:embed="rId3">
                <a:alphaModFix amt="0"/>
              </a:blip>
              <a:stretch>
                <a:fillRect b="-72477" l="0" r="0" t="-72477"/>
              </a:stretch>
            </a:blipFill>
            <a:ln>
              <a:noFill/>
            </a:ln>
          </p:spPr>
        </p:sp>
        <p:sp>
          <p:nvSpPr>
            <p:cNvPr id="1088" name="Google Shape;1088;p24"/>
            <p:cNvSpPr txBox="1"/>
            <p:nvPr/>
          </p:nvSpPr>
          <p:spPr>
            <a:xfrm>
              <a:off x="0" y="-38100"/>
              <a:ext cx="536448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energy_acoustic_contrast</a:t>
              </a:r>
              <a:endParaRPr/>
            </a:p>
          </p:txBody>
        </p:sp>
      </p:grpSp>
      <p:grpSp>
        <p:nvGrpSpPr>
          <p:cNvPr id="1089" name="Google Shape;1089;p24"/>
          <p:cNvGrpSpPr/>
          <p:nvPr/>
        </p:nvGrpSpPr>
        <p:grpSpPr>
          <a:xfrm>
            <a:off x="4424548" y="7244743"/>
            <a:ext cx="7453142" cy="466687"/>
            <a:chOff x="0" y="0"/>
            <a:chExt cx="10275062" cy="643384"/>
          </a:xfrm>
        </p:grpSpPr>
        <p:sp>
          <p:nvSpPr>
            <p:cNvPr id="1090" name="Google Shape;1090;p24"/>
            <p:cNvSpPr/>
            <p:nvPr/>
          </p:nvSpPr>
          <p:spPr>
            <a:xfrm>
              <a:off x="16891" y="16891"/>
              <a:ext cx="10241281" cy="609600"/>
            </a:xfrm>
            <a:custGeom>
              <a:rect b="b" l="l" r="r" t="t"/>
              <a:pathLst>
                <a:path extrusionOk="0" h="609600" w="10241281">
                  <a:moveTo>
                    <a:pt x="0" y="0"/>
                  </a:moveTo>
                  <a:lnTo>
                    <a:pt x="10241281" y="0"/>
                  </a:lnTo>
                  <a:lnTo>
                    <a:pt x="10241281" y="609600"/>
                  </a:lnTo>
                  <a:lnTo>
                    <a:pt x="0" y="609600"/>
                  </a:lnTo>
                  <a:close/>
                </a:path>
              </a:pathLst>
            </a:custGeom>
            <a:solidFill>
              <a:srgbClr val="E8E8E8"/>
            </a:solidFill>
            <a:ln>
              <a:noFill/>
            </a:ln>
          </p:spPr>
        </p:sp>
        <p:sp>
          <p:nvSpPr>
            <p:cNvPr id="1091" name="Google Shape;1091;p24"/>
            <p:cNvSpPr/>
            <p:nvPr/>
          </p:nvSpPr>
          <p:spPr>
            <a:xfrm>
              <a:off x="0" y="0"/>
              <a:ext cx="10275062" cy="643384"/>
            </a:xfrm>
            <a:custGeom>
              <a:rect b="b" l="l" r="r" t="t"/>
              <a:pathLst>
                <a:path extrusionOk="0" h="643384" w="10275062">
                  <a:moveTo>
                    <a:pt x="16891" y="0"/>
                  </a:moveTo>
                  <a:lnTo>
                    <a:pt x="10258172" y="0"/>
                  </a:lnTo>
                  <a:cubicBezTo>
                    <a:pt x="10267569" y="0"/>
                    <a:pt x="10275062" y="7620"/>
                    <a:pt x="10275062" y="16891"/>
                  </a:cubicBezTo>
                  <a:lnTo>
                    <a:pt x="10275062" y="626491"/>
                  </a:lnTo>
                  <a:cubicBezTo>
                    <a:pt x="10275062" y="635889"/>
                    <a:pt x="10267442" y="643382"/>
                    <a:pt x="10258172"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10258172" y="609600"/>
                  </a:lnTo>
                  <a:lnTo>
                    <a:pt x="10258172" y="626491"/>
                  </a:lnTo>
                  <a:lnTo>
                    <a:pt x="10241280" y="626491"/>
                  </a:lnTo>
                  <a:lnTo>
                    <a:pt x="10241280" y="16891"/>
                  </a:lnTo>
                  <a:lnTo>
                    <a:pt x="10258172" y="16891"/>
                  </a:lnTo>
                  <a:lnTo>
                    <a:pt x="10258172" y="33909"/>
                  </a:lnTo>
                  <a:lnTo>
                    <a:pt x="16891" y="33909"/>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2" name="Google Shape;1092;p24"/>
          <p:cNvGrpSpPr/>
          <p:nvPr/>
        </p:nvGrpSpPr>
        <p:grpSpPr>
          <a:xfrm>
            <a:off x="4424548" y="7244743"/>
            <a:ext cx="3367391" cy="466687"/>
            <a:chOff x="0" y="0"/>
            <a:chExt cx="4642358" cy="643384"/>
          </a:xfrm>
        </p:grpSpPr>
        <p:sp>
          <p:nvSpPr>
            <p:cNvPr id="1093" name="Google Shape;1093;p24"/>
            <p:cNvSpPr/>
            <p:nvPr/>
          </p:nvSpPr>
          <p:spPr>
            <a:xfrm>
              <a:off x="16891" y="16891"/>
              <a:ext cx="4608576" cy="609600"/>
            </a:xfrm>
            <a:custGeom>
              <a:rect b="b" l="l" r="r" t="t"/>
              <a:pathLst>
                <a:path extrusionOk="0" h="609600" w="4608576">
                  <a:moveTo>
                    <a:pt x="0" y="0"/>
                  </a:moveTo>
                  <a:lnTo>
                    <a:pt x="4608576" y="0"/>
                  </a:lnTo>
                  <a:lnTo>
                    <a:pt x="4608576" y="609600"/>
                  </a:lnTo>
                  <a:lnTo>
                    <a:pt x="0" y="609600"/>
                  </a:lnTo>
                  <a:close/>
                </a:path>
              </a:pathLst>
            </a:custGeom>
            <a:solidFill>
              <a:srgbClr val="E74C3C"/>
            </a:solidFill>
            <a:ln>
              <a:noFill/>
            </a:ln>
          </p:spPr>
        </p:sp>
        <p:sp>
          <p:nvSpPr>
            <p:cNvPr id="1094" name="Google Shape;1094;p24"/>
            <p:cNvSpPr/>
            <p:nvPr/>
          </p:nvSpPr>
          <p:spPr>
            <a:xfrm>
              <a:off x="0" y="0"/>
              <a:ext cx="4642358" cy="643384"/>
            </a:xfrm>
            <a:custGeom>
              <a:rect b="b" l="l" r="r" t="t"/>
              <a:pathLst>
                <a:path extrusionOk="0" h="643384" w="4642358">
                  <a:moveTo>
                    <a:pt x="16891" y="0"/>
                  </a:moveTo>
                  <a:lnTo>
                    <a:pt x="4625467" y="0"/>
                  </a:lnTo>
                  <a:cubicBezTo>
                    <a:pt x="4634865" y="0"/>
                    <a:pt x="4642358" y="7620"/>
                    <a:pt x="4642358" y="16891"/>
                  </a:cubicBezTo>
                  <a:lnTo>
                    <a:pt x="4642358" y="626491"/>
                  </a:lnTo>
                  <a:cubicBezTo>
                    <a:pt x="4642358" y="635889"/>
                    <a:pt x="4634738" y="643382"/>
                    <a:pt x="4625467"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4625467" y="609600"/>
                  </a:lnTo>
                  <a:lnTo>
                    <a:pt x="4625467" y="626491"/>
                  </a:lnTo>
                  <a:lnTo>
                    <a:pt x="4608576" y="626491"/>
                  </a:lnTo>
                  <a:lnTo>
                    <a:pt x="4608576" y="16891"/>
                  </a:lnTo>
                  <a:lnTo>
                    <a:pt x="4625467" y="16891"/>
                  </a:lnTo>
                  <a:lnTo>
                    <a:pt x="4625467" y="33909"/>
                  </a:lnTo>
                  <a:lnTo>
                    <a:pt x="16891" y="33909"/>
                  </a:ln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5" name="Google Shape;1095;p24"/>
          <p:cNvGrpSpPr/>
          <p:nvPr/>
        </p:nvGrpSpPr>
        <p:grpSpPr>
          <a:xfrm>
            <a:off x="12042338" y="7140951"/>
            <a:ext cx="1061234" cy="646689"/>
            <a:chOff x="0" y="-38100"/>
            <a:chExt cx="1463040" cy="891540"/>
          </a:xfrm>
        </p:grpSpPr>
        <p:sp>
          <p:nvSpPr>
            <p:cNvPr id="1096" name="Google Shape;1096;p24"/>
            <p:cNvSpPr/>
            <p:nvPr/>
          </p:nvSpPr>
          <p:spPr>
            <a:xfrm>
              <a:off x="0" y="0"/>
              <a:ext cx="1463040" cy="853440"/>
            </a:xfrm>
            <a:custGeom>
              <a:rect b="b" l="l" r="r" t="t"/>
              <a:pathLst>
                <a:path extrusionOk="0" h="853440" w="1463040">
                  <a:moveTo>
                    <a:pt x="0" y="0"/>
                  </a:moveTo>
                  <a:lnTo>
                    <a:pt x="1463040" y="0"/>
                  </a:lnTo>
                  <a:lnTo>
                    <a:pt x="1463040" y="853440"/>
                  </a:lnTo>
                  <a:lnTo>
                    <a:pt x="0" y="853440"/>
                  </a:lnTo>
                  <a:close/>
                </a:path>
              </a:pathLst>
            </a:custGeom>
            <a:blipFill rotWithShape="1">
              <a:blip r:embed="rId3">
                <a:alphaModFix amt="0"/>
              </a:blip>
              <a:stretch>
                <a:fillRect b="0" l="-24844" r="-24844" t="0"/>
              </a:stretch>
            </a:blipFill>
            <a:ln>
              <a:noFill/>
            </a:ln>
          </p:spPr>
        </p:sp>
        <p:sp>
          <p:nvSpPr>
            <p:cNvPr id="1097" name="Google Shape;1097;p24"/>
            <p:cNvSpPr txBox="1"/>
            <p:nvPr/>
          </p:nvSpPr>
          <p:spPr>
            <a:xfrm>
              <a:off x="0" y="-38100"/>
              <a:ext cx="146304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00" u="none" cap="none" strike="noStrike">
                  <a:solidFill>
                    <a:srgbClr val="E74C3C"/>
                  </a:solidFill>
                  <a:latin typeface="Calibri"/>
                  <a:ea typeface="Calibri"/>
                  <a:cs typeface="Calibri"/>
                  <a:sym typeface="Calibri"/>
                </a:rPr>
                <a:t>0.0800</a:t>
              </a:r>
              <a:endParaRPr/>
            </a:p>
          </p:txBody>
        </p:sp>
      </p:grpSp>
      <p:grpSp>
        <p:nvGrpSpPr>
          <p:cNvPr id="1098" name="Google Shape;1098;p24"/>
          <p:cNvGrpSpPr/>
          <p:nvPr/>
        </p:nvGrpSpPr>
        <p:grpSpPr>
          <a:xfrm>
            <a:off x="457200" y="7828121"/>
            <a:ext cx="8229600" cy="547783"/>
            <a:chOff x="0" y="-47625"/>
            <a:chExt cx="10972800" cy="730377"/>
          </a:xfrm>
        </p:grpSpPr>
        <p:sp>
          <p:nvSpPr>
            <p:cNvPr id="1099" name="Google Shape;1099;p24"/>
            <p:cNvSpPr/>
            <p:nvPr/>
          </p:nvSpPr>
          <p:spPr>
            <a:xfrm>
              <a:off x="0" y="0"/>
              <a:ext cx="10972800" cy="682752"/>
            </a:xfrm>
            <a:custGeom>
              <a:rect b="b" l="l" r="r" t="t"/>
              <a:pathLst>
                <a:path extrusionOk="0" h="682752" w="10972800">
                  <a:moveTo>
                    <a:pt x="0" y="0"/>
                  </a:moveTo>
                  <a:lnTo>
                    <a:pt x="10972800" y="0"/>
                  </a:lnTo>
                  <a:lnTo>
                    <a:pt x="10972800" y="682752"/>
                  </a:lnTo>
                  <a:lnTo>
                    <a:pt x="0" y="682752"/>
                  </a:lnTo>
                  <a:close/>
                </a:path>
              </a:pathLst>
            </a:custGeom>
            <a:blipFill rotWithShape="1">
              <a:blip r:embed="rId3">
                <a:alphaModFix amt="0"/>
              </a:blip>
              <a:stretch>
                <a:fillRect b="-263165" l="0" r="0" t="-263165"/>
              </a:stretch>
            </a:blipFill>
            <a:ln>
              <a:noFill/>
            </a:ln>
          </p:spPr>
        </p:sp>
        <p:sp>
          <p:nvSpPr>
            <p:cNvPr id="1100" name="Google Shape;1100;p24"/>
            <p:cNvSpPr txBox="1"/>
            <p:nvPr/>
          </p:nvSpPr>
          <p:spPr>
            <a:xfrm>
              <a:off x="0" y="-47625"/>
              <a:ext cx="109728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100" u="none" cap="none" strike="noStrike">
                  <a:solidFill>
                    <a:srgbClr val="121212"/>
                  </a:solidFill>
                  <a:latin typeface="Calibri"/>
                  <a:ea typeface="Calibri"/>
                  <a:cs typeface="Calibri"/>
                  <a:sym typeface="Calibri"/>
                </a:rPr>
                <a:t>Confusion Matrix Bulguları:</a:t>
              </a:r>
              <a:endParaRPr/>
            </a:p>
          </p:txBody>
        </p:sp>
      </p:grpSp>
      <p:grpSp>
        <p:nvGrpSpPr>
          <p:cNvPr id="1101" name="Google Shape;1101;p24"/>
          <p:cNvGrpSpPr/>
          <p:nvPr/>
        </p:nvGrpSpPr>
        <p:grpSpPr>
          <a:xfrm>
            <a:off x="457200" y="8420481"/>
            <a:ext cx="8229600" cy="485775"/>
            <a:chOff x="0" y="-38100"/>
            <a:chExt cx="10972800" cy="647700"/>
          </a:xfrm>
        </p:grpSpPr>
        <p:sp>
          <p:nvSpPr>
            <p:cNvPr id="1102" name="Google Shape;1102;p24"/>
            <p:cNvSpPr/>
            <p:nvPr/>
          </p:nvSpPr>
          <p:spPr>
            <a:xfrm>
              <a:off x="0" y="0"/>
              <a:ext cx="10972800" cy="609600"/>
            </a:xfrm>
            <a:custGeom>
              <a:rect b="b" l="l" r="r" t="t"/>
              <a:pathLst>
                <a:path extrusionOk="0" h="609600" w="10972800">
                  <a:moveTo>
                    <a:pt x="0" y="0"/>
                  </a:moveTo>
                  <a:lnTo>
                    <a:pt x="10972800" y="0"/>
                  </a:lnTo>
                  <a:lnTo>
                    <a:pt x="10972800" y="609600"/>
                  </a:lnTo>
                  <a:lnTo>
                    <a:pt x="0" y="609600"/>
                  </a:lnTo>
                  <a:close/>
                </a:path>
              </a:pathLst>
            </a:custGeom>
            <a:blipFill rotWithShape="1">
              <a:blip r:embed="rId3">
                <a:alphaModFix amt="0"/>
              </a:blip>
              <a:stretch>
                <a:fillRect b="-300730" l="0" r="0" t="-300730"/>
              </a:stretch>
            </a:blipFill>
            <a:ln>
              <a:noFill/>
            </a:ln>
          </p:spPr>
        </p:sp>
        <p:sp>
          <p:nvSpPr>
            <p:cNvPr id="1103" name="Google Shape;1103;p24"/>
            <p:cNvSpPr txBox="1"/>
            <p:nvPr/>
          </p:nvSpPr>
          <p:spPr>
            <a:xfrm>
              <a:off x="0" y="-38100"/>
              <a:ext cx="10972800" cy="647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breakbeat → chicago-house (benzer ritim özellikleri)</a:t>
              </a:r>
              <a:endParaRPr/>
            </a:p>
          </p:txBody>
        </p:sp>
      </p:grpSp>
      <p:grpSp>
        <p:nvGrpSpPr>
          <p:cNvPr id="1104" name="Google Shape;1104;p24"/>
          <p:cNvGrpSpPr/>
          <p:nvPr/>
        </p:nvGrpSpPr>
        <p:grpSpPr>
          <a:xfrm>
            <a:off x="457200" y="8969121"/>
            <a:ext cx="8229600" cy="485775"/>
            <a:chOff x="0" y="-38100"/>
            <a:chExt cx="10972800" cy="647700"/>
          </a:xfrm>
        </p:grpSpPr>
        <p:sp>
          <p:nvSpPr>
            <p:cNvPr id="1105" name="Google Shape;1105;p24"/>
            <p:cNvSpPr/>
            <p:nvPr/>
          </p:nvSpPr>
          <p:spPr>
            <a:xfrm>
              <a:off x="0" y="0"/>
              <a:ext cx="10972800" cy="609600"/>
            </a:xfrm>
            <a:custGeom>
              <a:rect b="b" l="l" r="r" t="t"/>
              <a:pathLst>
                <a:path extrusionOk="0" h="609600" w="10972800">
                  <a:moveTo>
                    <a:pt x="0" y="0"/>
                  </a:moveTo>
                  <a:lnTo>
                    <a:pt x="10972800" y="0"/>
                  </a:lnTo>
                  <a:lnTo>
                    <a:pt x="10972800" y="609600"/>
                  </a:lnTo>
                  <a:lnTo>
                    <a:pt x="0" y="609600"/>
                  </a:lnTo>
                  <a:close/>
                </a:path>
              </a:pathLst>
            </a:custGeom>
            <a:blipFill rotWithShape="1">
              <a:blip r:embed="rId3">
                <a:alphaModFix amt="0"/>
              </a:blip>
              <a:stretch>
                <a:fillRect b="-300730" l="0" r="0" t="-300730"/>
              </a:stretch>
            </a:blipFill>
            <a:ln>
              <a:noFill/>
            </a:ln>
          </p:spPr>
        </p:sp>
        <p:sp>
          <p:nvSpPr>
            <p:cNvPr id="1106" name="Google Shape;1106;p24"/>
            <p:cNvSpPr txBox="1"/>
            <p:nvPr/>
          </p:nvSpPr>
          <p:spPr>
            <a:xfrm>
              <a:off x="0" y="-38100"/>
              <a:ext cx="10972800" cy="647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sleep → iranian, idm → study, malay → cantopop, heavy-metal → black-metal</a:t>
              </a:r>
              <a:endParaRPr/>
            </a:p>
          </p:txBody>
        </p:sp>
      </p:grpSp>
      <p:grpSp>
        <p:nvGrpSpPr>
          <p:cNvPr id="1107" name="Google Shape;1107;p24"/>
          <p:cNvGrpSpPr/>
          <p:nvPr/>
        </p:nvGrpSpPr>
        <p:grpSpPr>
          <a:xfrm>
            <a:off x="457200" y="9517761"/>
            <a:ext cx="8229600" cy="485775"/>
            <a:chOff x="0" y="-38100"/>
            <a:chExt cx="10972800" cy="647700"/>
          </a:xfrm>
        </p:grpSpPr>
        <p:sp>
          <p:nvSpPr>
            <p:cNvPr id="1108" name="Google Shape;1108;p24"/>
            <p:cNvSpPr/>
            <p:nvPr/>
          </p:nvSpPr>
          <p:spPr>
            <a:xfrm>
              <a:off x="0" y="0"/>
              <a:ext cx="10972800" cy="609600"/>
            </a:xfrm>
            <a:custGeom>
              <a:rect b="b" l="l" r="r" t="t"/>
              <a:pathLst>
                <a:path extrusionOk="0" h="609600" w="10972800">
                  <a:moveTo>
                    <a:pt x="0" y="0"/>
                  </a:moveTo>
                  <a:lnTo>
                    <a:pt x="10972800" y="0"/>
                  </a:lnTo>
                  <a:lnTo>
                    <a:pt x="10972800" y="609600"/>
                  </a:lnTo>
                  <a:lnTo>
                    <a:pt x="0" y="609600"/>
                  </a:lnTo>
                  <a:close/>
                </a:path>
              </a:pathLst>
            </a:custGeom>
            <a:blipFill rotWithShape="1">
              <a:blip r:embed="rId3">
                <a:alphaModFix amt="0"/>
              </a:blip>
              <a:stretch>
                <a:fillRect b="-300730" l="0" r="0" t="-300730"/>
              </a:stretch>
            </a:blipFill>
            <a:ln>
              <a:noFill/>
            </a:ln>
          </p:spPr>
        </p:sp>
        <p:sp>
          <p:nvSpPr>
            <p:cNvPr id="1109" name="Google Shape;1109;p24"/>
            <p:cNvSpPr txBox="1"/>
            <p:nvPr/>
          </p:nvSpPr>
          <p:spPr>
            <a:xfrm>
              <a:off x="0" y="-38100"/>
              <a:ext cx="10972800" cy="647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Yakın müzikal özelliklere sahip türlerde karışma beklenen bir sonuç</a:t>
              </a:r>
              <a:endParaRPr/>
            </a:p>
          </p:txBody>
        </p:sp>
      </p:grpSp>
      <p:sp>
        <p:nvSpPr>
          <p:cNvPr id="1110" name="Google Shape;1110;p24"/>
          <p:cNvSpPr/>
          <p:nvPr/>
        </p:nvSpPr>
        <p:spPr>
          <a:xfrm>
            <a:off x="13716000" y="1633128"/>
            <a:ext cx="3994119" cy="3994119"/>
          </a:xfrm>
          <a:custGeom>
            <a:rect b="b" l="l" r="r" t="t"/>
            <a:pathLst>
              <a:path extrusionOk="0" h="5325491" w="5325491">
                <a:moveTo>
                  <a:pt x="0" y="0"/>
                </a:moveTo>
                <a:lnTo>
                  <a:pt x="5325491" y="0"/>
                </a:lnTo>
                <a:lnTo>
                  <a:pt x="5325491" y="5325491"/>
                </a:lnTo>
                <a:lnTo>
                  <a:pt x="0" y="5325491"/>
                </a:lnTo>
                <a:lnTo>
                  <a:pt x="0" y="0"/>
                </a:lnTo>
                <a:close/>
              </a:path>
            </a:pathLst>
          </a:custGeom>
          <a:blipFill rotWithShape="1">
            <a:blip r:embed="rId4">
              <a:alphaModFix/>
            </a:blip>
            <a:stretch>
              <a:fillRect b="0" l="0" r="0" t="0"/>
            </a:stretch>
          </a:blipFill>
          <a:ln>
            <a:noFill/>
          </a:ln>
        </p:spPr>
      </p:sp>
      <p:sp>
        <p:nvSpPr>
          <p:cNvPr id="1111" name="Google Shape;1111;p24"/>
          <p:cNvSpPr/>
          <p:nvPr/>
        </p:nvSpPr>
        <p:spPr>
          <a:xfrm>
            <a:off x="13350250" y="5632704"/>
            <a:ext cx="4992623" cy="3883152"/>
          </a:xfrm>
          <a:custGeom>
            <a:rect b="b" l="l" r="r" t="t"/>
            <a:pathLst>
              <a:path extrusionOk="0" h="5177536" w="6656832">
                <a:moveTo>
                  <a:pt x="0" y="0"/>
                </a:moveTo>
                <a:lnTo>
                  <a:pt x="6656832" y="0"/>
                </a:lnTo>
                <a:lnTo>
                  <a:pt x="6656832" y="5177536"/>
                </a:lnTo>
                <a:lnTo>
                  <a:pt x="0" y="5177536"/>
                </a:lnTo>
                <a:lnTo>
                  <a:pt x="0" y="0"/>
                </a:lnTo>
                <a:close/>
              </a:path>
            </a:pathLst>
          </a:custGeom>
          <a:blipFill rotWithShape="1">
            <a:blip r:embed="rId5">
              <a:alphaModFix/>
            </a:blip>
            <a:stretch>
              <a:fillRect b="0" l="0" r="0" t="0"/>
            </a:stretch>
          </a:blipFill>
          <a:ln>
            <a:noFill/>
          </a:ln>
        </p:spPr>
      </p:sp>
      <p:grpSp>
        <p:nvGrpSpPr>
          <p:cNvPr id="1112" name="Google Shape;1112;p24"/>
          <p:cNvGrpSpPr/>
          <p:nvPr/>
        </p:nvGrpSpPr>
        <p:grpSpPr>
          <a:xfrm>
            <a:off x="457200" y="2048362"/>
            <a:ext cx="3891191" cy="646689"/>
            <a:chOff x="0" y="-38100"/>
            <a:chExt cx="5364480" cy="891540"/>
          </a:xfrm>
        </p:grpSpPr>
        <p:sp>
          <p:nvSpPr>
            <p:cNvPr id="1113" name="Google Shape;1113;p24"/>
            <p:cNvSpPr/>
            <p:nvPr/>
          </p:nvSpPr>
          <p:spPr>
            <a:xfrm>
              <a:off x="0" y="0"/>
              <a:ext cx="5364480" cy="853440"/>
            </a:xfrm>
            <a:custGeom>
              <a:rect b="b" l="l" r="r" t="t"/>
              <a:pathLst>
                <a:path extrusionOk="0" h="853440" w="5364480">
                  <a:moveTo>
                    <a:pt x="0" y="0"/>
                  </a:moveTo>
                  <a:lnTo>
                    <a:pt x="5364480" y="0"/>
                  </a:lnTo>
                  <a:lnTo>
                    <a:pt x="5364480" y="853440"/>
                  </a:lnTo>
                  <a:lnTo>
                    <a:pt x="0" y="853440"/>
                  </a:lnTo>
                  <a:close/>
                </a:path>
              </a:pathLst>
            </a:custGeom>
            <a:blipFill rotWithShape="1">
              <a:blip r:embed="rId3">
                <a:alphaModFix amt="0"/>
              </a:blip>
              <a:stretch>
                <a:fillRect b="-72477" l="0" r="0" t="-72477"/>
              </a:stretch>
            </a:blipFill>
            <a:ln>
              <a:noFill/>
            </a:ln>
          </p:spPr>
        </p:sp>
        <p:sp>
          <p:nvSpPr>
            <p:cNvPr id="1114" name="Google Shape;1114;p24"/>
            <p:cNvSpPr txBox="1"/>
            <p:nvPr/>
          </p:nvSpPr>
          <p:spPr>
            <a:xfrm>
              <a:off x="0" y="-38100"/>
              <a:ext cx="536448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900" u="none" cap="none" strike="noStrike">
                  <a:solidFill>
                    <a:srgbClr val="333333"/>
                  </a:solidFill>
                  <a:latin typeface="Calibri"/>
                  <a:ea typeface="Calibri"/>
                  <a:cs typeface="Calibri"/>
                  <a:sym typeface="Calibri"/>
                </a:rPr>
                <a:t>popularity</a:t>
              </a:r>
              <a:endParaRPr/>
            </a:p>
          </p:txBody>
        </p:sp>
      </p:grpSp>
      <p:grpSp>
        <p:nvGrpSpPr>
          <p:cNvPr id="1115" name="Google Shape;1115;p24"/>
          <p:cNvGrpSpPr/>
          <p:nvPr/>
        </p:nvGrpSpPr>
        <p:grpSpPr>
          <a:xfrm>
            <a:off x="4424548" y="2152154"/>
            <a:ext cx="7453142" cy="466687"/>
            <a:chOff x="0" y="0"/>
            <a:chExt cx="10275062" cy="643384"/>
          </a:xfrm>
        </p:grpSpPr>
        <p:sp>
          <p:nvSpPr>
            <p:cNvPr id="1116" name="Google Shape;1116;p24"/>
            <p:cNvSpPr/>
            <p:nvPr/>
          </p:nvSpPr>
          <p:spPr>
            <a:xfrm>
              <a:off x="16891" y="16891"/>
              <a:ext cx="10241281" cy="609600"/>
            </a:xfrm>
            <a:custGeom>
              <a:rect b="b" l="l" r="r" t="t"/>
              <a:pathLst>
                <a:path extrusionOk="0" h="609600" w="10241281">
                  <a:moveTo>
                    <a:pt x="0" y="0"/>
                  </a:moveTo>
                  <a:lnTo>
                    <a:pt x="10241281" y="0"/>
                  </a:lnTo>
                  <a:lnTo>
                    <a:pt x="10241281" y="609600"/>
                  </a:lnTo>
                  <a:lnTo>
                    <a:pt x="0" y="609600"/>
                  </a:lnTo>
                  <a:close/>
                </a:path>
              </a:pathLst>
            </a:custGeom>
            <a:solidFill>
              <a:srgbClr val="E8E8E8"/>
            </a:solidFill>
            <a:ln>
              <a:noFill/>
            </a:ln>
          </p:spPr>
        </p:sp>
        <p:sp>
          <p:nvSpPr>
            <p:cNvPr id="1117" name="Google Shape;1117;p24"/>
            <p:cNvSpPr/>
            <p:nvPr/>
          </p:nvSpPr>
          <p:spPr>
            <a:xfrm>
              <a:off x="0" y="0"/>
              <a:ext cx="10275062" cy="643384"/>
            </a:xfrm>
            <a:custGeom>
              <a:rect b="b" l="l" r="r" t="t"/>
              <a:pathLst>
                <a:path extrusionOk="0" h="643384" w="10275062">
                  <a:moveTo>
                    <a:pt x="16891" y="0"/>
                  </a:moveTo>
                  <a:lnTo>
                    <a:pt x="10258172" y="0"/>
                  </a:lnTo>
                  <a:cubicBezTo>
                    <a:pt x="10267569" y="0"/>
                    <a:pt x="10275062" y="7620"/>
                    <a:pt x="10275062" y="16891"/>
                  </a:cubicBezTo>
                  <a:lnTo>
                    <a:pt x="10275062" y="626491"/>
                  </a:lnTo>
                  <a:cubicBezTo>
                    <a:pt x="10275062" y="635889"/>
                    <a:pt x="10267442" y="643382"/>
                    <a:pt x="10258172"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10258172" y="609600"/>
                  </a:lnTo>
                  <a:lnTo>
                    <a:pt x="10258172" y="626491"/>
                  </a:lnTo>
                  <a:lnTo>
                    <a:pt x="10241280" y="626491"/>
                  </a:lnTo>
                  <a:lnTo>
                    <a:pt x="10241280" y="16891"/>
                  </a:lnTo>
                  <a:lnTo>
                    <a:pt x="10258172" y="16891"/>
                  </a:lnTo>
                  <a:lnTo>
                    <a:pt x="10258172" y="33909"/>
                  </a:lnTo>
                  <a:lnTo>
                    <a:pt x="16891" y="33909"/>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8" name="Google Shape;1118;p24"/>
          <p:cNvGrpSpPr/>
          <p:nvPr/>
        </p:nvGrpSpPr>
        <p:grpSpPr>
          <a:xfrm>
            <a:off x="4424548" y="2152154"/>
            <a:ext cx="6589589" cy="466687"/>
            <a:chOff x="0" y="0"/>
            <a:chExt cx="9084550" cy="643384"/>
          </a:xfrm>
        </p:grpSpPr>
        <p:sp>
          <p:nvSpPr>
            <p:cNvPr id="1119" name="Google Shape;1119;p24"/>
            <p:cNvSpPr/>
            <p:nvPr/>
          </p:nvSpPr>
          <p:spPr>
            <a:xfrm>
              <a:off x="17559" y="16891"/>
              <a:ext cx="9049432" cy="609600"/>
            </a:xfrm>
            <a:custGeom>
              <a:rect b="b" l="l" r="r" t="t"/>
              <a:pathLst>
                <a:path extrusionOk="0" h="609600" w="9049432">
                  <a:moveTo>
                    <a:pt x="0" y="0"/>
                  </a:moveTo>
                  <a:lnTo>
                    <a:pt x="9049432" y="0"/>
                  </a:lnTo>
                  <a:lnTo>
                    <a:pt x="9049432" y="609600"/>
                  </a:lnTo>
                  <a:lnTo>
                    <a:pt x="0" y="609600"/>
                  </a:lnTo>
                  <a:close/>
                </a:path>
              </a:pathLst>
            </a:custGeom>
            <a:solidFill>
              <a:srgbClr val="1DB954"/>
            </a:solidFill>
            <a:ln>
              <a:noFill/>
            </a:ln>
          </p:spPr>
        </p:sp>
        <p:sp>
          <p:nvSpPr>
            <p:cNvPr id="1120" name="Google Shape;1120;p24"/>
            <p:cNvSpPr/>
            <p:nvPr/>
          </p:nvSpPr>
          <p:spPr>
            <a:xfrm>
              <a:off x="0" y="0"/>
              <a:ext cx="9084550" cy="643384"/>
            </a:xfrm>
            <a:custGeom>
              <a:rect b="b" l="l" r="r" t="t"/>
              <a:pathLst>
                <a:path extrusionOk="0" h="643384" w="9084550">
                  <a:moveTo>
                    <a:pt x="17559" y="0"/>
                  </a:moveTo>
                  <a:lnTo>
                    <a:pt x="9066991" y="0"/>
                  </a:lnTo>
                  <a:cubicBezTo>
                    <a:pt x="9076760" y="0"/>
                    <a:pt x="9084550" y="7620"/>
                    <a:pt x="9084550" y="16891"/>
                  </a:cubicBezTo>
                  <a:lnTo>
                    <a:pt x="9084550" y="626491"/>
                  </a:lnTo>
                  <a:cubicBezTo>
                    <a:pt x="9084550" y="635889"/>
                    <a:pt x="9076628" y="643382"/>
                    <a:pt x="9066991" y="643382"/>
                  </a:cubicBezTo>
                  <a:lnTo>
                    <a:pt x="17559" y="643382"/>
                  </a:lnTo>
                  <a:cubicBezTo>
                    <a:pt x="7921" y="643509"/>
                    <a:pt x="0" y="635889"/>
                    <a:pt x="0" y="626491"/>
                  </a:cubicBezTo>
                  <a:lnTo>
                    <a:pt x="0" y="16891"/>
                  </a:lnTo>
                  <a:cubicBezTo>
                    <a:pt x="0" y="7620"/>
                    <a:pt x="7921" y="0"/>
                    <a:pt x="17559" y="0"/>
                  </a:cubicBezTo>
                  <a:moveTo>
                    <a:pt x="17559" y="33909"/>
                  </a:moveTo>
                  <a:lnTo>
                    <a:pt x="17559" y="16891"/>
                  </a:lnTo>
                  <a:lnTo>
                    <a:pt x="35250" y="16891"/>
                  </a:lnTo>
                  <a:lnTo>
                    <a:pt x="35250" y="626491"/>
                  </a:lnTo>
                  <a:lnTo>
                    <a:pt x="17559" y="626491"/>
                  </a:lnTo>
                  <a:lnTo>
                    <a:pt x="17559" y="609600"/>
                  </a:lnTo>
                  <a:lnTo>
                    <a:pt x="9066991" y="609600"/>
                  </a:lnTo>
                  <a:lnTo>
                    <a:pt x="9066991" y="626491"/>
                  </a:lnTo>
                  <a:lnTo>
                    <a:pt x="9049431" y="626491"/>
                  </a:lnTo>
                  <a:lnTo>
                    <a:pt x="9049431" y="16891"/>
                  </a:lnTo>
                  <a:lnTo>
                    <a:pt x="9066991" y="16891"/>
                  </a:lnTo>
                  <a:lnTo>
                    <a:pt x="9066991" y="33909"/>
                  </a:lnTo>
                  <a:lnTo>
                    <a:pt x="17559"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1" name="Google Shape;1121;p24"/>
          <p:cNvGrpSpPr/>
          <p:nvPr/>
        </p:nvGrpSpPr>
        <p:grpSpPr>
          <a:xfrm>
            <a:off x="12042338" y="2048362"/>
            <a:ext cx="1061234" cy="646689"/>
            <a:chOff x="0" y="-38100"/>
            <a:chExt cx="1463040" cy="891540"/>
          </a:xfrm>
        </p:grpSpPr>
        <p:sp>
          <p:nvSpPr>
            <p:cNvPr id="1122" name="Google Shape;1122;p24"/>
            <p:cNvSpPr/>
            <p:nvPr/>
          </p:nvSpPr>
          <p:spPr>
            <a:xfrm>
              <a:off x="0" y="0"/>
              <a:ext cx="1463040" cy="853440"/>
            </a:xfrm>
            <a:custGeom>
              <a:rect b="b" l="l" r="r" t="t"/>
              <a:pathLst>
                <a:path extrusionOk="0" h="853440" w="1463040">
                  <a:moveTo>
                    <a:pt x="0" y="0"/>
                  </a:moveTo>
                  <a:lnTo>
                    <a:pt x="1463040" y="0"/>
                  </a:lnTo>
                  <a:lnTo>
                    <a:pt x="1463040" y="853440"/>
                  </a:lnTo>
                  <a:lnTo>
                    <a:pt x="0" y="853440"/>
                  </a:lnTo>
                  <a:close/>
                </a:path>
              </a:pathLst>
            </a:custGeom>
            <a:blipFill rotWithShape="1">
              <a:blip r:embed="rId3">
                <a:alphaModFix amt="0"/>
              </a:blip>
              <a:stretch>
                <a:fillRect b="0" l="-24844" r="-24844" t="0"/>
              </a:stretch>
            </a:blipFill>
            <a:ln>
              <a:noFill/>
            </a:ln>
          </p:spPr>
        </p:sp>
        <p:sp>
          <p:nvSpPr>
            <p:cNvPr id="1123" name="Google Shape;1123;p24"/>
            <p:cNvSpPr txBox="1"/>
            <p:nvPr/>
          </p:nvSpPr>
          <p:spPr>
            <a:xfrm>
              <a:off x="0" y="-38100"/>
              <a:ext cx="1463040" cy="8915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00" u="none" cap="none" strike="noStrike">
                  <a:solidFill>
                    <a:srgbClr val="1DB954"/>
                  </a:solidFill>
                  <a:latin typeface="Calibri"/>
                  <a:ea typeface="Calibri"/>
                  <a:cs typeface="Calibri"/>
                  <a:sym typeface="Calibri"/>
                </a:rPr>
                <a:t>0.2417</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grpSp>
        <p:nvGrpSpPr>
          <p:cNvPr id="1132" name="Google Shape;1132;p25"/>
          <p:cNvGrpSpPr/>
          <p:nvPr/>
        </p:nvGrpSpPr>
        <p:grpSpPr>
          <a:xfrm>
            <a:off x="-12697" y="-12697"/>
            <a:ext cx="18313336" cy="1579816"/>
            <a:chOff x="0" y="0"/>
            <a:chExt cx="24417782" cy="2106422"/>
          </a:xfrm>
        </p:grpSpPr>
        <p:sp>
          <p:nvSpPr>
            <p:cNvPr id="1133" name="Google Shape;1133;p25"/>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134" name="Google Shape;1134;p25"/>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5" name="Google Shape;1135;p25"/>
          <p:cNvGrpSpPr/>
          <p:nvPr/>
        </p:nvGrpSpPr>
        <p:grpSpPr>
          <a:xfrm>
            <a:off x="-12697" y="-12697"/>
            <a:ext cx="244792" cy="1579816"/>
            <a:chOff x="0" y="0"/>
            <a:chExt cx="326390" cy="2106422"/>
          </a:xfrm>
        </p:grpSpPr>
        <p:sp>
          <p:nvSpPr>
            <p:cNvPr id="1136" name="Google Shape;1136;p25"/>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137" name="Google Shape;1137;p25"/>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8" name="Google Shape;1138;p25"/>
          <p:cNvGrpSpPr/>
          <p:nvPr/>
        </p:nvGrpSpPr>
        <p:grpSpPr>
          <a:xfrm>
            <a:off x="548640" y="89154"/>
            <a:ext cx="12801600" cy="880110"/>
            <a:chOff x="0" y="-76200"/>
            <a:chExt cx="17068800" cy="1173480"/>
          </a:xfrm>
        </p:grpSpPr>
        <p:sp>
          <p:nvSpPr>
            <p:cNvPr id="1139" name="Google Shape;1139;p25"/>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140" name="Google Shape;1140;p25"/>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Görselleştirilmiş Sonuçlar</a:t>
              </a:r>
              <a:endParaRPr/>
            </a:p>
          </p:txBody>
        </p:sp>
      </p:grpSp>
      <p:grpSp>
        <p:nvGrpSpPr>
          <p:cNvPr id="1141" name="Google Shape;1141;p25"/>
          <p:cNvGrpSpPr/>
          <p:nvPr/>
        </p:nvGrpSpPr>
        <p:grpSpPr>
          <a:xfrm>
            <a:off x="548640" y="915257"/>
            <a:ext cx="16459200" cy="547783"/>
            <a:chOff x="0" y="-47625"/>
            <a:chExt cx="21945600" cy="730377"/>
          </a:xfrm>
        </p:grpSpPr>
        <p:sp>
          <p:nvSpPr>
            <p:cNvPr id="1142" name="Google Shape;1142;p25"/>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143" name="Google Shape;1143;p25"/>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11 görsel — dashboard/ klasöründe PNG olarak kaydedildi</a:t>
              </a:r>
              <a:endParaRPr/>
            </a:p>
          </p:txBody>
        </p:sp>
      </p:grpSp>
      <p:grpSp>
        <p:nvGrpSpPr>
          <p:cNvPr id="1144" name="Google Shape;1144;p25"/>
          <p:cNvGrpSpPr/>
          <p:nvPr/>
        </p:nvGrpSpPr>
        <p:grpSpPr>
          <a:xfrm>
            <a:off x="-12697" y="1541783"/>
            <a:ext cx="18313336" cy="98490"/>
            <a:chOff x="0" y="0"/>
            <a:chExt cx="24417782" cy="131320"/>
          </a:xfrm>
        </p:grpSpPr>
        <p:sp>
          <p:nvSpPr>
            <p:cNvPr id="1145" name="Google Shape;1145;p25"/>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146" name="Google Shape;1146;p25"/>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7" name="Google Shape;1147;p25"/>
          <p:cNvGrpSpPr/>
          <p:nvPr/>
        </p:nvGrpSpPr>
        <p:grpSpPr>
          <a:xfrm>
            <a:off x="356235" y="1910715"/>
            <a:ext cx="8422005" cy="7347583"/>
            <a:chOff x="0" y="0"/>
            <a:chExt cx="4131346" cy="3604297"/>
          </a:xfrm>
        </p:grpSpPr>
        <p:sp>
          <p:nvSpPr>
            <p:cNvPr id="1148" name="Google Shape;1148;p25"/>
            <p:cNvSpPr/>
            <p:nvPr/>
          </p:nvSpPr>
          <p:spPr>
            <a:xfrm>
              <a:off x="9519" y="15770"/>
              <a:ext cx="4112307" cy="3572758"/>
            </a:xfrm>
            <a:custGeom>
              <a:rect b="b" l="l" r="r" t="t"/>
              <a:pathLst>
                <a:path extrusionOk="0" h="3572758" w="4112307">
                  <a:moveTo>
                    <a:pt x="0" y="0"/>
                  </a:moveTo>
                  <a:lnTo>
                    <a:pt x="4112307" y="0"/>
                  </a:lnTo>
                  <a:lnTo>
                    <a:pt x="4112307" y="3572758"/>
                  </a:lnTo>
                  <a:lnTo>
                    <a:pt x="0" y="3572758"/>
                  </a:lnTo>
                  <a:close/>
                </a:path>
              </a:pathLst>
            </a:custGeom>
            <a:solidFill>
              <a:srgbClr val="F4F4F4"/>
            </a:solidFill>
            <a:ln>
              <a:noFill/>
            </a:ln>
          </p:spPr>
        </p:sp>
        <p:sp>
          <p:nvSpPr>
            <p:cNvPr id="1149" name="Google Shape;1149;p25"/>
            <p:cNvSpPr/>
            <p:nvPr/>
          </p:nvSpPr>
          <p:spPr>
            <a:xfrm>
              <a:off x="0" y="0"/>
              <a:ext cx="4131346" cy="3604297"/>
            </a:xfrm>
            <a:custGeom>
              <a:rect b="b" l="l" r="r" t="t"/>
              <a:pathLst>
                <a:path extrusionOk="0" h="3604297" w="4131346">
                  <a:moveTo>
                    <a:pt x="9519" y="0"/>
                  </a:moveTo>
                  <a:lnTo>
                    <a:pt x="4121826" y="0"/>
                  </a:lnTo>
                  <a:cubicBezTo>
                    <a:pt x="4127062" y="0"/>
                    <a:pt x="4131346" y="7096"/>
                    <a:pt x="4131346" y="15770"/>
                  </a:cubicBezTo>
                  <a:lnTo>
                    <a:pt x="4131346" y="3588528"/>
                  </a:lnTo>
                  <a:cubicBezTo>
                    <a:pt x="4131346" y="3597201"/>
                    <a:pt x="4127062" y="3604297"/>
                    <a:pt x="4121826" y="3604297"/>
                  </a:cubicBezTo>
                  <a:lnTo>
                    <a:pt x="9519" y="3604297"/>
                  </a:lnTo>
                  <a:cubicBezTo>
                    <a:pt x="4284" y="3604297"/>
                    <a:pt x="0" y="3597201"/>
                    <a:pt x="0" y="3588528"/>
                  </a:cubicBezTo>
                  <a:lnTo>
                    <a:pt x="0" y="15770"/>
                  </a:lnTo>
                  <a:cubicBezTo>
                    <a:pt x="0" y="7096"/>
                    <a:pt x="4284" y="0"/>
                    <a:pt x="9519" y="0"/>
                  </a:cubicBezTo>
                  <a:moveTo>
                    <a:pt x="9519" y="31539"/>
                  </a:moveTo>
                  <a:lnTo>
                    <a:pt x="9519" y="15770"/>
                  </a:lnTo>
                  <a:lnTo>
                    <a:pt x="19038" y="15770"/>
                  </a:lnTo>
                  <a:lnTo>
                    <a:pt x="19038" y="3588528"/>
                  </a:lnTo>
                  <a:lnTo>
                    <a:pt x="9519" y="3588528"/>
                  </a:lnTo>
                  <a:lnTo>
                    <a:pt x="9519" y="3572758"/>
                  </a:lnTo>
                  <a:lnTo>
                    <a:pt x="4121826" y="3572758"/>
                  </a:lnTo>
                  <a:lnTo>
                    <a:pt x="4121826" y="3588528"/>
                  </a:lnTo>
                  <a:lnTo>
                    <a:pt x="4112307" y="3588528"/>
                  </a:lnTo>
                  <a:lnTo>
                    <a:pt x="4112307" y="15770"/>
                  </a:lnTo>
                  <a:lnTo>
                    <a:pt x="4121826" y="15770"/>
                  </a:lnTo>
                  <a:lnTo>
                    <a:pt x="4121826" y="31539"/>
                  </a:lnTo>
                  <a:lnTo>
                    <a:pt x="9519" y="31539"/>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0" name="Google Shape;1150;p25"/>
          <p:cNvGrpSpPr/>
          <p:nvPr/>
        </p:nvGrpSpPr>
        <p:grpSpPr>
          <a:xfrm>
            <a:off x="353063" y="1907543"/>
            <a:ext cx="8425041" cy="586280"/>
            <a:chOff x="0" y="0"/>
            <a:chExt cx="4138018" cy="287956"/>
          </a:xfrm>
        </p:grpSpPr>
        <p:sp>
          <p:nvSpPr>
            <p:cNvPr id="1151" name="Google Shape;1151;p25"/>
            <p:cNvSpPr/>
            <p:nvPr/>
          </p:nvSpPr>
          <p:spPr>
            <a:xfrm>
              <a:off x="12662" y="6355"/>
              <a:ext cx="4112695" cy="275244"/>
            </a:xfrm>
            <a:custGeom>
              <a:rect b="b" l="l" r="r" t="t"/>
              <a:pathLst>
                <a:path extrusionOk="0" h="275244" w="4112695">
                  <a:moveTo>
                    <a:pt x="0" y="0"/>
                  </a:moveTo>
                  <a:lnTo>
                    <a:pt x="4112694" y="0"/>
                  </a:lnTo>
                  <a:lnTo>
                    <a:pt x="4112694" y="275245"/>
                  </a:lnTo>
                  <a:lnTo>
                    <a:pt x="0" y="275245"/>
                  </a:lnTo>
                  <a:close/>
                </a:path>
              </a:pathLst>
            </a:custGeom>
            <a:solidFill>
              <a:srgbClr val="121212"/>
            </a:solidFill>
            <a:ln>
              <a:noFill/>
            </a:ln>
          </p:spPr>
        </p:sp>
        <p:sp>
          <p:nvSpPr>
            <p:cNvPr id="1152" name="Google Shape;1152;p25"/>
            <p:cNvSpPr/>
            <p:nvPr/>
          </p:nvSpPr>
          <p:spPr>
            <a:xfrm>
              <a:off x="0" y="0"/>
              <a:ext cx="4138018" cy="287956"/>
            </a:xfrm>
            <a:custGeom>
              <a:rect b="b" l="l" r="r" t="t"/>
              <a:pathLst>
                <a:path extrusionOk="0" h="287956" w="4138018">
                  <a:moveTo>
                    <a:pt x="12662" y="0"/>
                  </a:moveTo>
                  <a:lnTo>
                    <a:pt x="4125356" y="0"/>
                  </a:lnTo>
                  <a:cubicBezTo>
                    <a:pt x="4132402" y="0"/>
                    <a:pt x="4138018" y="2867"/>
                    <a:pt x="4138018" y="6355"/>
                  </a:cubicBezTo>
                  <a:lnTo>
                    <a:pt x="4138018" y="281600"/>
                  </a:lnTo>
                  <a:cubicBezTo>
                    <a:pt x="4138018" y="285136"/>
                    <a:pt x="4132306" y="287955"/>
                    <a:pt x="4125356" y="287955"/>
                  </a:cubicBezTo>
                  <a:lnTo>
                    <a:pt x="12662" y="287955"/>
                  </a:lnTo>
                  <a:cubicBezTo>
                    <a:pt x="5712" y="288027"/>
                    <a:pt x="0" y="285136"/>
                    <a:pt x="0" y="281600"/>
                  </a:cubicBezTo>
                  <a:lnTo>
                    <a:pt x="0" y="6355"/>
                  </a:lnTo>
                  <a:cubicBezTo>
                    <a:pt x="0" y="2867"/>
                    <a:pt x="5712" y="0"/>
                    <a:pt x="12662" y="0"/>
                  </a:cubicBezTo>
                  <a:moveTo>
                    <a:pt x="12662" y="12759"/>
                  </a:moveTo>
                  <a:lnTo>
                    <a:pt x="12662" y="6355"/>
                  </a:lnTo>
                  <a:lnTo>
                    <a:pt x="25419" y="6355"/>
                  </a:lnTo>
                  <a:lnTo>
                    <a:pt x="25419" y="281600"/>
                  </a:lnTo>
                  <a:lnTo>
                    <a:pt x="12662" y="281600"/>
                  </a:lnTo>
                  <a:lnTo>
                    <a:pt x="12662" y="275244"/>
                  </a:lnTo>
                  <a:lnTo>
                    <a:pt x="4125356" y="275244"/>
                  </a:lnTo>
                  <a:lnTo>
                    <a:pt x="4125356" y="281600"/>
                  </a:lnTo>
                  <a:lnTo>
                    <a:pt x="4112695" y="281600"/>
                  </a:lnTo>
                  <a:lnTo>
                    <a:pt x="4112695" y="6355"/>
                  </a:lnTo>
                  <a:lnTo>
                    <a:pt x="4125356" y="6355"/>
                  </a:lnTo>
                  <a:lnTo>
                    <a:pt x="4125356" y="12759"/>
                  </a:lnTo>
                  <a:lnTo>
                    <a:pt x="12662" y="1275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3" name="Google Shape;1153;p25"/>
          <p:cNvGrpSpPr/>
          <p:nvPr/>
        </p:nvGrpSpPr>
        <p:grpSpPr>
          <a:xfrm>
            <a:off x="365760" y="1964817"/>
            <a:ext cx="731520" cy="430911"/>
            <a:chOff x="0" y="-38100"/>
            <a:chExt cx="975360" cy="574548"/>
          </a:xfrm>
        </p:grpSpPr>
        <p:sp>
          <p:nvSpPr>
            <p:cNvPr id="1154" name="Google Shape;1154;p25"/>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155" name="Google Shape;1155;p25"/>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G1</a:t>
              </a:r>
              <a:endParaRPr/>
            </a:p>
          </p:txBody>
        </p:sp>
      </p:grpSp>
      <p:grpSp>
        <p:nvGrpSpPr>
          <p:cNvPr id="1156" name="Google Shape;1156;p25"/>
          <p:cNvGrpSpPr/>
          <p:nvPr/>
        </p:nvGrpSpPr>
        <p:grpSpPr>
          <a:xfrm>
            <a:off x="1060704" y="1964817"/>
            <a:ext cx="3328416" cy="430911"/>
            <a:chOff x="0" y="-38100"/>
            <a:chExt cx="4437888" cy="574548"/>
          </a:xfrm>
        </p:grpSpPr>
        <p:sp>
          <p:nvSpPr>
            <p:cNvPr id="1157" name="Google Shape;1157;p25"/>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158" name="Google Shape;1158;p25"/>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Model Performans Karşılaştırması</a:t>
              </a:r>
              <a:endParaRPr/>
            </a:p>
          </p:txBody>
        </p:sp>
      </p:grpSp>
      <p:grpSp>
        <p:nvGrpSpPr>
          <p:cNvPr id="1159" name="Google Shape;1159;p25"/>
          <p:cNvGrpSpPr/>
          <p:nvPr/>
        </p:nvGrpSpPr>
        <p:grpSpPr>
          <a:xfrm>
            <a:off x="365760" y="3391281"/>
            <a:ext cx="4114800" cy="577215"/>
            <a:chOff x="0" y="-38100"/>
            <a:chExt cx="5486400" cy="769620"/>
          </a:xfrm>
        </p:grpSpPr>
        <p:sp>
          <p:nvSpPr>
            <p:cNvPr id="1160" name="Google Shape;1160;p25"/>
            <p:cNvSpPr/>
            <p:nvPr/>
          </p:nvSpPr>
          <p:spPr>
            <a:xfrm>
              <a:off x="0" y="0"/>
              <a:ext cx="5486400" cy="731520"/>
            </a:xfrm>
            <a:custGeom>
              <a:rect b="b" l="l" r="r" t="t"/>
              <a:pathLst>
                <a:path extrusionOk="0" h="731520" w="5486400">
                  <a:moveTo>
                    <a:pt x="0" y="0"/>
                  </a:moveTo>
                  <a:lnTo>
                    <a:pt x="5486400" y="0"/>
                  </a:lnTo>
                  <a:lnTo>
                    <a:pt x="5486400" y="731520"/>
                  </a:lnTo>
                  <a:lnTo>
                    <a:pt x="0" y="731520"/>
                  </a:lnTo>
                  <a:close/>
                </a:path>
              </a:pathLst>
            </a:custGeom>
            <a:blipFill rotWithShape="1">
              <a:blip r:embed="rId3">
                <a:alphaModFix amt="0"/>
              </a:blip>
              <a:stretch>
                <a:fillRect b="-96139" l="0" r="0" t="-96139"/>
              </a:stretch>
            </a:blipFill>
            <a:ln>
              <a:noFill/>
            </a:ln>
          </p:spPr>
        </p:sp>
        <p:sp>
          <p:nvSpPr>
            <p:cNvPr id="1161" name="Google Shape;1161;p25"/>
            <p:cNvSpPr txBox="1"/>
            <p:nvPr/>
          </p:nvSpPr>
          <p:spPr>
            <a:xfrm>
              <a:off x="0" y="-38100"/>
              <a:ext cx="5486400" cy="769620"/>
            </a:xfrm>
            <a:prstGeom prst="rect">
              <a:avLst/>
            </a:prstGeom>
            <a:noFill/>
            <a:ln>
              <a:noFill/>
            </a:ln>
          </p:spPr>
          <p:txBody>
            <a:bodyPr anchorCtr="0" anchor="ctr" bIns="0" lIns="0" spcFirstLastPara="1" rIns="0" wrap="square" tIns="0">
              <a:noAutofit/>
            </a:bodyPr>
            <a:lstStyle/>
            <a:p>
              <a:pPr indent="0" lvl="0" marL="0" marR="0" rtl="0" algn="ctr">
                <a:lnSpc>
                  <a:spcPct val="119941"/>
                </a:lnSpc>
                <a:spcBef>
                  <a:spcPts val="0"/>
                </a:spcBef>
                <a:spcAft>
                  <a:spcPts val="0"/>
                </a:spcAft>
                <a:buNone/>
              </a:pPr>
              <a:r>
                <a:rPr b="0" i="0" lang="en-US" sz="1700" u="none" cap="none" strike="noStrike">
                  <a:solidFill>
                    <a:srgbClr val="555555"/>
                  </a:solidFill>
                  <a:latin typeface="Calibri"/>
                  <a:ea typeface="Calibri"/>
                  <a:cs typeface="Calibri"/>
                  <a:sym typeface="Calibri"/>
                </a:rPr>
                <a:t>Grouped Bar Chart</a:t>
              </a:r>
              <a:endParaRPr/>
            </a:p>
          </p:txBody>
        </p:sp>
      </p:grpSp>
      <p:sp>
        <p:nvSpPr>
          <p:cNvPr id="1162" name="Google Shape;1162;p25"/>
          <p:cNvSpPr/>
          <p:nvPr/>
        </p:nvSpPr>
        <p:spPr>
          <a:xfrm>
            <a:off x="562112" y="3522590"/>
            <a:ext cx="8010171" cy="3631386"/>
          </a:xfrm>
          <a:custGeom>
            <a:rect b="b" l="l" r="r" t="t"/>
            <a:pathLst>
              <a:path extrusionOk="0" h="2329561" w="5138583">
                <a:moveTo>
                  <a:pt x="0" y="0"/>
                </a:moveTo>
                <a:lnTo>
                  <a:pt x="5138583" y="0"/>
                </a:lnTo>
                <a:lnTo>
                  <a:pt x="5138583" y="2329561"/>
                </a:lnTo>
                <a:lnTo>
                  <a:pt x="0" y="2329561"/>
                </a:lnTo>
                <a:lnTo>
                  <a:pt x="0" y="0"/>
                </a:lnTo>
                <a:close/>
              </a:path>
            </a:pathLst>
          </a:custGeom>
          <a:blipFill rotWithShape="1">
            <a:blip r:embed="rId4">
              <a:alphaModFix/>
            </a:blip>
            <a:stretch>
              <a:fillRect b="-903" l="0" r="0" t="-903"/>
            </a:stretch>
          </a:blipFill>
          <a:ln>
            <a:noFill/>
          </a:ln>
        </p:spPr>
      </p:sp>
      <p:grpSp>
        <p:nvGrpSpPr>
          <p:cNvPr id="1163" name="Google Shape;1163;p25"/>
          <p:cNvGrpSpPr/>
          <p:nvPr/>
        </p:nvGrpSpPr>
        <p:grpSpPr>
          <a:xfrm>
            <a:off x="9269427" y="1896742"/>
            <a:ext cx="8425186" cy="7361558"/>
            <a:chOff x="0" y="0"/>
            <a:chExt cx="11233582" cy="9815411"/>
          </a:xfrm>
        </p:grpSpPr>
        <p:sp>
          <p:nvSpPr>
            <p:cNvPr id="1164" name="Google Shape;1164;p25"/>
            <p:cNvSpPr/>
            <p:nvPr/>
          </p:nvSpPr>
          <p:spPr>
            <a:xfrm>
              <a:off x="25884" y="42945"/>
              <a:ext cx="11181814" cy="9729522"/>
            </a:xfrm>
            <a:custGeom>
              <a:rect b="b" l="l" r="r" t="t"/>
              <a:pathLst>
                <a:path extrusionOk="0" h="9729522" w="11181814">
                  <a:moveTo>
                    <a:pt x="0" y="0"/>
                  </a:moveTo>
                  <a:lnTo>
                    <a:pt x="11181814" y="0"/>
                  </a:lnTo>
                  <a:lnTo>
                    <a:pt x="11181814" y="9729521"/>
                  </a:lnTo>
                  <a:lnTo>
                    <a:pt x="0" y="9729521"/>
                  </a:lnTo>
                  <a:close/>
                </a:path>
              </a:pathLst>
            </a:custGeom>
            <a:solidFill>
              <a:srgbClr val="F4F4F4"/>
            </a:solidFill>
            <a:ln>
              <a:noFill/>
            </a:ln>
          </p:spPr>
        </p:sp>
        <p:sp>
          <p:nvSpPr>
            <p:cNvPr id="1165" name="Google Shape;1165;p25"/>
            <p:cNvSpPr/>
            <p:nvPr/>
          </p:nvSpPr>
          <p:spPr>
            <a:xfrm>
              <a:off x="0" y="0"/>
              <a:ext cx="11233582" cy="9815411"/>
            </a:xfrm>
            <a:custGeom>
              <a:rect b="b" l="l" r="r" t="t"/>
              <a:pathLst>
                <a:path extrusionOk="0" h="9815411" w="11233582">
                  <a:moveTo>
                    <a:pt x="25884" y="0"/>
                  </a:moveTo>
                  <a:lnTo>
                    <a:pt x="11207698" y="0"/>
                  </a:lnTo>
                  <a:cubicBezTo>
                    <a:pt x="11221934" y="0"/>
                    <a:pt x="11233582" y="19325"/>
                    <a:pt x="11233582" y="42945"/>
                  </a:cubicBezTo>
                  <a:lnTo>
                    <a:pt x="11233582" y="9772466"/>
                  </a:lnTo>
                  <a:cubicBezTo>
                    <a:pt x="11233582" y="9796086"/>
                    <a:pt x="11221934" y="9815411"/>
                    <a:pt x="11207698" y="9815411"/>
                  </a:cubicBezTo>
                  <a:lnTo>
                    <a:pt x="25884" y="9815411"/>
                  </a:lnTo>
                  <a:cubicBezTo>
                    <a:pt x="11648" y="9815411"/>
                    <a:pt x="0" y="9796086"/>
                    <a:pt x="0" y="9772466"/>
                  </a:cubicBezTo>
                  <a:lnTo>
                    <a:pt x="0" y="42945"/>
                  </a:lnTo>
                  <a:cubicBezTo>
                    <a:pt x="0" y="19325"/>
                    <a:pt x="11648" y="0"/>
                    <a:pt x="25884" y="0"/>
                  </a:cubicBezTo>
                  <a:moveTo>
                    <a:pt x="25884" y="85889"/>
                  </a:moveTo>
                  <a:lnTo>
                    <a:pt x="25884" y="42945"/>
                  </a:lnTo>
                  <a:lnTo>
                    <a:pt x="51768" y="42945"/>
                  </a:lnTo>
                  <a:lnTo>
                    <a:pt x="51768" y="9772466"/>
                  </a:lnTo>
                  <a:lnTo>
                    <a:pt x="25884" y="9772466"/>
                  </a:lnTo>
                  <a:lnTo>
                    <a:pt x="25884" y="9729522"/>
                  </a:lnTo>
                  <a:lnTo>
                    <a:pt x="11207698" y="9729522"/>
                  </a:lnTo>
                  <a:lnTo>
                    <a:pt x="11207698" y="9772466"/>
                  </a:lnTo>
                  <a:lnTo>
                    <a:pt x="11181814" y="9772466"/>
                  </a:lnTo>
                  <a:lnTo>
                    <a:pt x="11181814" y="42945"/>
                  </a:lnTo>
                  <a:lnTo>
                    <a:pt x="11207698" y="42945"/>
                  </a:lnTo>
                  <a:lnTo>
                    <a:pt x="11207698" y="85889"/>
                  </a:lnTo>
                  <a:lnTo>
                    <a:pt x="25884" y="85889"/>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6" name="Google Shape;1166;p25"/>
          <p:cNvSpPr/>
          <p:nvPr/>
        </p:nvSpPr>
        <p:spPr>
          <a:xfrm>
            <a:off x="9925342" y="2964019"/>
            <a:ext cx="6849796" cy="4358961"/>
          </a:xfrm>
          <a:custGeom>
            <a:rect b="b" l="l" r="r" t="t"/>
            <a:pathLst>
              <a:path extrusionOk="0" h="4358961" w="6849796">
                <a:moveTo>
                  <a:pt x="0" y="0"/>
                </a:moveTo>
                <a:lnTo>
                  <a:pt x="6849796" y="0"/>
                </a:lnTo>
                <a:lnTo>
                  <a:pt x="6849796" y="4358962"/>
                </a:lnTo>
                <a:lnTo>
                  <a:pt x="0" y="4358962"/>
                </a:lnTo>
                <a:lnTo>
                  <a:pt x="0" y="0"/>
                </a:lnTo>
                <a:close/>
              </a:path>
            </a:pathLst>
          </a:custGeom>
          <a:blipFill rotWithShape="1">
            <a:blip r:embed="rId5">
              <a:alphaModFix/>
            </a:blip>
            <a:stretch>
              <a:fillRect b="0" l="0" r="0" t="0"/>
            </a:stretch>
          </a:blipFill>
          <a:ln>
            <a:noFill/>
          </a:ln>
        </p:spPr>
      </p:sp>
      <p:grpSp>
        <p:nvGrpSpPr>
          <p:cNvPr id="1167" name="Google Shape;1167;p25"/>
          <p:cNvGrpSpPr/>
          <p:nvPr/>
        </p:nvGrpSpPr>
        <p:grpSpPr>
          <a:xfrm>
            <a:off x="9269427" y="1896742"/>
            <a:ext cx="8425052" cy="488130"/>
            <a:chOff x="0" y="0"/>
            <a:chExt cx="4274951" cy="247682"/>
          </a:xfrm>
        </p:grpSpPr>
        <p:sp>
          <p:nvSpPr>
            <p:cNvPr id="1168" name="Google Shape;1168;p25"/>
            <p:cNvSpPr/>
            <p:nvPr/>
          </p:nvSpPr>
          <p:spPr>
            <a:xfrm>
              <a:off x="13081" y="5467"/>
              <a:ext cx="4248789" cy="236748"/>
            </a:xfrm>
            <a:custGeom>
              <a:rect b="b" l="l" r="r" t="t"/>
              <a:pathLst>
                <a:path extrusionOk="0" h="236748" w="4248789">
                  <a:moveTo>
                    <a:pt x="0" y="0"/>
                  </a:moveTo>
                  <a:lnTo>
                    <a:pt x="4248789" y="0"/>
                  </a:lnTo>
                  <a:lnTo>
                    <a:pt x="4248789" y="236747"/>
                  </a:lnTo>
                  <a:lnTo>
                    <a:pt x="0" y="236747"/>
                  </a:lnTo>
                  <a:close/>
                </a:path>
              </a:pathLst>
            </a:custGeom>
            <a:solidFill>
              <a:srgbClr val="121212"/>
            </a:solidFill>
            <a:ln>
              <a:noFill/>
            </a:ln>
          </p:spPr>
        </p:sp>
        <p:sp>
          <p:nvSpPr>
            <p:cNvPr id="1169" name="Google Shape;1169;p25"/>
            <p:cNvSpPr/>
            <p:nvPr/>
          </p:nvSpPr>
          <p:spPr>
            <a:xfrm>
              <a:off x="0" y="0"/>
              <a:ext cx="4274951" cy="247682"/>
            </a:xfrm>
            <a:custGeom>
              <a:rect b="b" l="l" r="r" t="t"/>
              <a:pathLst>
                <a:path extrusionOk="0" h="247682" w="4274951">
                  <a:moveTo>
                    <a:pt x="13081" y="0"/>
                  </a:moveTo>
                  <a:lnTo>
                    <a:pt x="4261870" y="0"/>
                  </a:lnTo>
                  <a:cubicBezTo>
                    <a:pt x="4269148" y="0"/>
                    <a:pt x="4274951" y="2466"/>
                    <a:pt x="4274951" y="5467"/>
                  </a:cubicBezTo>
                  <a:lnTo>
                    <a:pt x="4274951" y="242214"/>
                  </a:lnTo>
                  <a:cubicBezTo>
                    <a:pt x="4274951" y="245256"/>
                    <a:pt x="4269049" y="247681"/>
                    <a:pt x="4261870" y="247681"/>
                  </a:cubicBezTo>
                  <a:lnTo>
                    <a:pt x="13081" y="247681"/>
                  </a:lnTo>
                  <a:cubicBezTo>
                    <a:pt x="5901" y="247748"/>
                    <a:pt x="0" y="245256"/>
                    <a:pt x="0" y="242214"/>
                  </a:cubicBezTo>
                  <a:lnTo>
                    <a:pt x="0" y="5467"/>
                  </a:lnTo>
                  <a:cubicBezTo>
                    <a:pt x="0" y="2466"/>
                    <a:pt x="5901" y="0"/>
                    <a:pt x="13081" y="0"/>
                  </a:cubicBezTo>
                  <a:moveTo>
                    <a:pt x="13081" y="10974"/>
                  </a:moveTo>
                  <a:lnTo>
                    <a:pt x="13081" y="5467"/>
                  </a:lnTo>
                  <a:lnTo>
                    <a:pt x="26260" y="5467"/>
                  </a:lnTo>
                  <a:lnTo>
                    <a:pt x="26260" y="242214"/>
                  </a:lnTo>
                  <a:lnTo>
                    <a:pt x="13081" y="242214"/>
                  </a:lnTo>
                  <a:lnTo>
                    <a:pt x="13081" y="236748"/>
                  </a:lnTo>
                  <a:lnTo>
                    <a:pt x="4261870" y="236748"/>
                  </a:lnTo>
                  <a:lnTo>
                    <a:pt x="4261870" y="242214"/>
                  </a:lnTo>
                  <a:lnTo>
                    <a:pt x="4248789" y="242214"/>
                  </a:lnTo>
                  <a:lnTo>
                    <a:pt x="4248789" y="5467"/>
                  </a:lnTo>
                  <a:lnTo>
                    <a:pt x="4261870" y="5467"/>
                  </a:lnTo>
                  <a:lnTo>
                    <a:pt x="4261870" y="10974"/>
                  </a:lnTo>
                  <a:lnTo>
                    <a:pt x="13081" y="10974"/>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25"/>
          <p:cNvGrpSpPr/>
          <p:nvPr/>
        </p:nvGrpSpPr>
        <p:grpSpPr>
          <a:xfrm>
            <a:off x="9278859" y="1954016"/>
            <a:ext cx="543400" cy="430911"/>
            <a:chOff x="0" y="-38100"/>
            <a:chExt cx="724533" cy="574548"/>
          </a:xfrm>
        </p:grpSpPr>
        <p:sp>
          <p:nvSpPr>
            <p:cNvPr id="1171" name="Google Shape;1171;p25"/>
            <p:cNvSpPr/>
            <p:nvPr/>
          </p:nvSpPr>
          <p:spPr>
            <a:xfrm>
              <a:off x="0" y="0"/>
              <a:ext cx="724533" cy="536448"/>
            </a:xfrm>
            <a:custGeom>
              <a:rect b="b" l="l" r="r" t="t"/>
              <a:pathLst>
                <a:path extrusionOk="0" h="536448" w="724533">
                  <a:moveTo>
                    <a:pt x="0" y="0"/>
                  </a:moveTo>
                  <a:lnTo>
                    <a:pt x="724533" y="0"/>
                  </a:lnTo>
                  <a:lnTo>
                    <a:pt x="724533" y="536448"/>
                  </a:lnTo>
                  <a:lnTo>
                    <a:pt x="0" y="536448"/>
                  </a:lnTo>
                  <a:close/>
                </a:path>
              </a:pathLst>
            </a:custGeom>
            <a:blipFill rotWithShape="1">
              <a:blip r:embed="rId3">
                <a:alphaModFix amt="0"/>
              </a:blip>
              <a:stretch>
                <a:fillRect b="0" l="-27688" r="-62307" t="0"/>
              </a:stretch>
            </a:blipFill>
            <a:ln>
              <a:noFill/>
            </a:ln>
          </p:spPr>
        </p:sp>
        <p:sp>
          <p:nvSpPr>
            <p:cNvPr id="1172" name="Google Shape;1172;p25"/>
            <p:cNvSpPr txBox="1"/>
            <p:nvPr/>
          </p:nvSpPr>
          <p:spPr>
            <a:xfrm>
              <a:off x="0" y="-38100"/>
              <a:ext cx="724533"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G2</a:t>
              </a:r>
              <a:endParaRPr/>
            </a:p>
          </p:txBody>
        </p:sp>
      </p:grpSp>
      <p:grpSp>
        <p:nvGrpSpPr>
          <p:cNvPr id="1173" name="Google Shape;1173;p25"/>
          <p:cNvGrpSpPr/>
          <p:nvPr/>
        </p:nvGrpSpPr>
        <p:grpSpPr>
          <a:xfrm>
            <a:off x="9795089" y="1954016"/>
            <a:ext cx="2472470" cy="430911"/>
            <a:chOff x="0" y="-38100"/>
            <a:chExt cx="3296626" cy="574548"/>
          </a:xfrm>
        </p:grpSpPr>
        <p:sp>
          <p:nvSpPr>
            <p:cNvPr id="1174" name="Google Shape;1174;p25"/>
            <p:cNvSpPr/>
            <p:nvPr/>
          </p:nvSpPr>
          <p:spPr>
            <a:xfrm>
              <a:off x="0" y="0"/>
              <a:ext cx="3296626" cy="536448"/>
            </a:xfrm>
            <a:custGeom>
              <a:rect b="b" l="l" r="r" t="t"/>
              <a:pathLst>
                <a:path extrusionOk="0" h="536448" w="3296626">
                  <a:moveTo>
                    <a:pt x="0" y="0"/>
                  </a:moveTo>
                  <a:lnTo>
                    <a:pt x="3296626" y="0"/>
                  </a:lnTo>
                  <a:lnTo>
                    <a:pt x="3296626" y="536448"/>
                  </a:lnTo>
                  <a:lnTo>
                    <a:pt x="0" y="536448"/>
                  </a:lnTo>
                  <a:close/>
                </a:path>
              </a:pathLst>
            </a:custGeom>
            <a:blipFill rotWithShape="1">
              <a:blip r:embed="rId3">
                <a:alphaModFix amt="0"/>
              </a:blip>
              <a:stretch>
                <a:fillRect b="-111197" l="0" r="-34618" t="-111197"/>
              </a:stretch>
            </a:blipFill>
            <a:ln>
              <a:noFill/>
            </a:ln>
          </p:spPr>
        </p:sp>
        <p:sp>
          <p:nvSpPr>
            <p:cNvPr id="1175" name="Google Shape;1175;p25"/>
            <p:cNvSpPr txBox="1"/>
            <p:nvPr/>
          </p:nvSpPr>
          <p:spPr>
            <a:xfrm>
              <a:off x="0" y="-38100"/>
              <a:ext cx="3296625"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Özellik Önem Sıralaması</a:t>
              </a:r>
              <a:endParaRPr/>
            </a:p>
          </p:txBody>
        </p:sp>
      </p:grpSp>
      <p:grpSp>
        <p:nvGrpSpPr>
          <p:cNvPr id="1176" name="Google Shape;1176;p25"/>
          <p:cNvGrpSpPr/>
          <p:nvPr/>
        </p:nvGrpSpPr>
        <p:grpSpPr>
          <a:xfrm>
            <a:off x="452438" y="7620781"/>
            <a:ext cx="8229600" cy="693744"/>
            <a:chOff x="0" y="-38100"/>
            <a:chExt cx="10972800" cy="924992"/>
          </a:xfrm>
        </p:grpSpPr>
        <p:sp>
          <p:nvSpPr>
            <p:cNvPr id="1177" name="Google Shape;1177;p25"/>
            <p:cNvSpPr/>
            <p:nvPr/>
          </p:nvSpPr>
          <p:spPr>
            <a:xfrm>
              <a:off x="0" y="0"/>
              <a:ext cx="10972800" cy="886892"/>
            </a:xfrm>
            <a:custGeom>
              <a:rect b="b" l="l" r="r" t="t"/>
              <a:pathLst>
                <a:path extrusionOk="0" h="886892" w="10972800">
                  <a:moveTo>
                    <a:pt x="0" y="0"/>
                  </a:moveTo>
                  <a:lnTo>
                    <a:pt x="10972800" y="0"/>
                  </a:lnTo>
                  <a:lnTo>
                    <a:pt x="10972800" y="886892"/>
                  </a:lnTo>
                  <a:lnTo>
                    <a:pt x="0" y="886892"/>
                  </a:lnTo>
                  <a:close/>
                </a:path>
              </a:pathLst>
            </a:custGeom>
            <a:blipFill rotWithShape="1">
              <a:blip r:embed="rId3">
                <a:alphaModFix amt="0"/>
              </a:blip>
              <a:stretch>
                <a:fillRect b="-175435" l="0" r="0" t="-206702"/>
              </a:stretch>
            </a:blipFill>
            <a:ln>
              <a:noFill/>
            </a:ln>
          </p:spPr>
        </p:sp>
        <p:sp>
          <p:nvSpPr>
            <p:cNvPr id="1178" name="Google Shape;1178;p25"/>
            <p:cNvSpPr txBox="1"/>
            <p:nvPr/>
          </p:nvSpPr>
          <p:spPr>
            <a:xfrm>
              <a:off x="0" y="-38100"/>
              <a:ext cx="10972800" cy="924992"/>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Random Forest tüm metriklerde lider; Naive Bayes ise veri setindeki karmaşık ilişkileri yakalamada en zayıf performansı gösterdi.</a:t>
              </a:r>
              <a:endParaRPr/>
            </a:p>
          </p:txBody>
        </p:sp>
      </p:grpSp>
      <p:grpSp>
        <p:nvGrpSpPr>
          <p:cNvPr id="1179" name="Google Shape;1179;p25"/>
          <p:cNvGrpSpPr/>
          <p:nvPr/>
        </p:nvGrpSpPr>
        <p:grpSpPr>
          <a:xfrm>
            <a:off x="9367220" y="7637306"/>
            <a:ext cx="8229600" cy="1265244"/>
            <a:chOff x="0" y="-38100"/>
            <a:chExt cx="10972800" cy="1686991"/>
          </a:xfrm>
        </p:grpSpPr>
        <p:sp>
          <p:nvSpPr>
            <p:cNvPr id="1180" name="Google Shape;1180;p25"/>
            <p:cNvSpPr/>
            <p:nvPr/>
          </p:nvSpPr>
          <p:spPr>
            <a:xfrm>
              <a:off x="0" y="0"/>
              <a:ext cx="10972800" cy="1648891"/>
            </a:xfrm>
            <a:custGeom>
              <a:rect b="b" l="l" r="r" t="t"/>
              <a:pathLst>
                <a:path extrusionOk="0" h="1648891" w="10972800">
                  <a:moveTo>
                    <a:pt x="0" y="0"/>
                  </a:moveTo>
                  <a:lnTo>
                    <a:pt x="10972800" y="0"/>
                  </a:lnTo>
                  <a:lnTo>
                    <a:pt x="10972800" y="1648891"/>
                  </a:lnTo>
                  <a:lnTo>
                    <a:pt x="0" y="1648891"/>
                  </a:lnTo>
                  <a:close/>
                </a:path>
              </a:pathLst>
            </a:custGeom>
            <a:blipFill rotWithShape="1">
              <a:blip r:embed="rId3">
                <a:alphaModFix amt="0"/>
              </a:blip>
              <a:stretch>
                <a:fillRect b="-48150" l="0" r="0" t="-111180"/>
              </a:stretch>
            </a:blipFill>
            <a:ln>
              <a:noFill/>
            </a:ln>
          </p:spPr>
        </p:sp>
        <p:sp>
          <p:nvSpPr>
            <p:cNvPr id="1181" name="Google Shape;1181;p25"/>
            <p:cNvSpPr txBox="1"/>
            <p:nvPr/>
          </p:nvSpPr>
          <p:spPr>
            <a:xfrm>
              <a:off x="0" y="-38100"/>
              <a:ext cx="10972800" cy="1686991"/>
            </a:xfrm>
            <a:prstGeom prst="rect">
              <a:avLst/>
            </a:prstGeom>
            <a:noFill/>
            <a:ln>
              <a:noFill/>
            </a:ln>
          </p:spPr>
          <p:txBody>
            <a:bodyPr anchorCtr="0" anchor="ctr" bIns="0" lIns="0" spcFirstLastPara="1" rIns="0" wrap="square" tIns="0">
              <a:noAutofit/>
            </a:bodyPr>
            <a:lstStyle/>
            <a:p>
              <a:pPr indent="0" lvl="0" marL="0" marR="0" rtl="0" algn="just">
                <a:lnSpc>
                  <a:spcPct val="120010"/>
                </a:lnSpc>
                <a:spcBef>
                  <a:spcPts val="0"/>
                </a:spcBef>
                <a:spcAft>
                  <a:spcPts val="0"/>
                </a:spcAft>
                <a:buNone/>
              </a:pPr>
              <a:r>
                <a:rPr b="0" i="0" lang="en-US" sz="1899" u="none" cap="none" strike="noStrike">
                  <a:solidFill>
                    <a:srgbClr val="444444"/>
                  </a:solidFill>
                  <a:latin typeface="Calibri"/>
                  <a:ea typeface="Calibri"/>
                  <a:cs typeface="Calibri"/>
                  <a:sym typeface="Calibri"/>
                </a:rPr>
                <a:t>• Popülerlik en güçlü sinyal olurken; Feature Engineering ile bizim ürettiğimiz dancefloor_score ve energy_acoustic_contrast özellikleri, Spotify'ın orijinal özelliklerini geride bırakarak modelin karar mekanizmasındaki en önemli ilk 7 özellik arasına girmeyi başarmıştır.</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grpSp>
        <p:nvGrpSpPr>
          <p:cNvPr id="1190" name="Google Shape;1190;p26"/>
          <p:cNvGrpSpPr/>
          <p:nvPr/>
        </p:nvGrpSpPr>
        <p:grpSpPr>
          <a:xfrm>
            <a:off x="-12697" y="-12697"/>
            <a:ext cx="18313336" cy="1579816"/>
            <a:chOff x="0" y="0"/>
            <a:chExt cx="24417782" cy="2106422"/>
          </a:xfrm>
        </p:grpSpPr>
        <p:sp>
          <p:nvSpPr>
            <p:cNvPr id="1191" name="Google Shape;1191;p26"/>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192" name="Google Shape;1192;p26"/>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3" name="Google Shape;1193;p26"/>
          <p:cNvGrpSpPr/>
          <p:nvPr/>
        </p:nvGrpSpPr>
        <p:grpSpPr>
          <a:xfrm>
            <a:off x="-12697" y="-12697"/>
            <a:ext cx="244792" cy="1579816"/>
            <a:chOff x="0" y="0"/>
            <a:chExt cx="326390" cy="2106422"/>
          </a:xfrm>
        </p:grpSpPr>
        <p:sp>
          <p:nvSpPr>
            <p:cNvPr id="1194" name="Google Shape;1194;p26"/>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195" name="Google Shape;1195;p26"/>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6" name="Google Shape;1196;p26"/>
          <p:cNvGrpSpPr/>
          <p:nvPr/>
        </p:nvGrpSpPr>
        <p:grpSpPr>
          <a:xfrm>
            <a:off x="548640" y="89154"/>
            <a:ext cx="12801600" cy="880110"/>
            <a:chOff x="0" y="-76200"/>
            <a:chExt cx="17068800" cy="1173480"/>
          </a:xfrm>
        </p:grpSpPr>
        <p:sp>
          <p:nvSpPr>
            <p:cNvPr id="1197" name="Google Shape;1197;p26"/>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198" name="Google Shape;1198;p26"/>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Görselleştirilmiş Sonuçlar</a:t>
              </a:r>
              <a:endParaRPr/>
            </a:p>
          </p:txBody>
        </p:sp>
      </p:grpSp>
      <p:grpSp>
        <p:nvGrpSpPr>
          <p:cNvPr id="1199" name="Google Shape;1199;p26"/>
          <p:cNvGrpSpPr/>
          <p:nvPr/>
        </p:nvGrpSpPr>
        <p:grpSpPr>
          <a:xfrm>
            <a:off x="548640" y="915257"/>
            <a:ext cx="16459200" cy="547783"/>
            <a:chOff x="0" y="-47625"/>
            <a:chExt cx="21945600" cy="730377"/>
          </a:xfrm>
        </p:grpSpPr>
        <p:sp>
          <p:nvSpPr>
            <p:cNvPr id="1200" name="Google Shape;1200;p26"/>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201" name="Google Shape;1201;p26"/>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11 görsel — dashboard/ klasöründe PNG olarak kaydedildi</a:t>
              </a:r>
              <a:endParaRPr/>
            </a:p>
          </p:txBody>
        </p:sp>
      </p:grpSp>
      <p:grpSp>
        <p:nvGrpSpPr>
          <p:cNvPr id="1202" name="Google Shape;1202;p26"/>
          <p:cNvGrpSpPr/>
          <p:nvPr/>
        </p:nvGrpSpPr>
        <p:grpSpPr>
          <a:xfrm>
            <a:off x="-12697" y="1541783"/>
            <a:ext cx="18313336" cy="98490"/>
            <a:chOff x="0" y="0"/>
            <a:chExt cx="24417782" cy="131320"/>
          </a:xfrm>
        </p:grpSpPr>
        <p:sp>
          <p:nvSpPr>
            <p:cNvPr id="1203" name="Google Shape;1203;p26"/>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204" name="Google Shape;1204;p26"/>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5" name="Google Shape;1205;p26"/>
          <p:cNvGrpSpPr/>
          <p:nvPr/>
        </p:nvGrpSpPr>
        <p:grpSpPr>
          <a:xfrm>
            <a:off x="235334" y="1910715"/>
            <a:ext cx="9959502" cy="8113800"/>
            <a:chOff x="0" y="0"/>
            <a:chExt cx="5511800" cy="4490349"/>
          </a:xfrm>
        </p:grpSpPr>
        <p:sp>
          <p:nvSpPr>
            <p:cNvPr id="1206" name="Google Shape;1206;p26"/>
            <p:cNvSpPr/>
            <p:nvPr/>
          </p:nvSpPr>
          <p:spPr>
            <a:xfrm>
              <a:off x="12700" y="19646"/>
              <a:ext cx="5486400" cy="4451056"/>
            </a:xfrm>
            <a:custGeom>
              <a:rect b="b" l="l" r="r" t="t"/>
              <a:pathLst>
                <a:path extrusionOk="0" h="4451056" w="5486400">
                  <a:moveTo>
                    <a:pt x="0" y="0"/>
                  </a:moveTo>
                  <a:lnTo>
                    <a:pt x="5486400" y="0"/>
                  </a:lnTo>
                  <a:lnTo>
                    <a:pt x="5486400" y="4451057"/>
                  </a:lnTo>
                  <a:lnTo>
                    <a:pt x="0" y="4451057"/>
                  </a:lnTo>
                  <a:close/>
                </a:path>
              </a:pathLst>
            </a:custGeom>
            <a:solidFill>
              <a:srgbClr val="F4F4F4"/>
            </a:solidFill>
            <a:ln>
              <a:noFill/>
            </a:ln>
          </p:spPr>
        </p:sp>
        <p:sp>
          <p:nvSpPr>
            <p:cNvPr id="1207" name="Google Shape;1207;p26"/>
            <p:cNvSpPr/>
            <p:nvPr/>
          </p:nvSpPr>
          <p:spPr>
            <a:xfrm>
              <a:off x="0" y="0"/>
              <a:ext cx="5511800" cy="4490349"/>
            </a:xfrm>
            <a:custGeom>
              <a:rect b="b" l="l" r="r" t="t"/>
              <a:pathLst>
                <a:path extrusionOk="0" h="4490349" w="5511800">
                  <a:moveTo>
                    <a:pt x="12700" y="0"/>
                  </a:moveTo>
                  <a:lnTo>
                    <a:pt x="5499100" y="0"/>
                  </a:lnTo>
                  <a:cubicBezTo>
                    <a:pt x="5506085" y="0"/>
                    <a:pt x="5511800" y="8841"/>
                    <a:pt x="5511800" y="19646"/>
                  </a:cubicBezTo>
                  <a:lnTo>
                    <a:pt x="5511800" y="4470703"/>
                  </a:lnTo>
                  <a:cubicBezTo>
                    <a:pt x="5511800" y="4481508"/>
                    <a:pt x="5506085" y="4490349"/>
                    <a:pt x="5499100" y="4490349"/>
                  </a:cubicBezTo>
                  <a:lnTo>
                    <a:pt x="12700" y="4490349"/>
                  </a:lnTo>
                  <a:cubicBezTo>
                    <a:pt x="5715" y="4490349"/>
                    <a:pt x="0" y="4481508"/>
                    <a:pt x="0" y="4470703"/>
                  </a:cubicBezTo>
                  <a:lnTo>
                    <a:pt x="0" y="19646"/>
                  </a:lnTo>
                  <a:cubicBezTo>
                    <a:pt x="0" y="8841"/>
                    <a:pt x="5715" y="0"/>
                    <a:pt x="12700" y="0"/>
                  </a:cubicBezTo>
                  <a:moveTo>
                    <a:pt x="12700" y="39293"/>
                  </a:moveTo>
                  <a:lnTo>
                    <a:pt x="12700" y="19646"/>
                  </a:lnTo>
                  <a:lnTo>
                    <a:pt x="25400" y="19646"/>
                  </a:lnTo>
                  <a:lnTo>
                    <a:pt x="25400" y="4470703"/>
                  </a:lnTo>
                  <a:lnTo>
                    <a:pt x="12700" y="4470703"/>
                  </a:lnTo>
                  <a:lnTo>
                    <a:pt x="12700" y="4451056"/>
                  </a:lnTo>
                  <a:lnTo>
                    <a:pt x="5499100" y="4451056"/>
                  </a:lnTo>
                  <a:lnTo>
                    <a:pt x="5499100" y="4470703"/>
                  </a:lnTo>
                  <a:lnTo>
                    <a:pt x="5486400" y="4470703"/>
                  </a:lnTo>
                  <a:lnTo>
                    <a:pt x="5486400" y="19646"/>
                  </a:lnTo>
                  <a:lnTo>
                    <a:pt x="5499100" y="19646"/>
                  </a:lnTo>
                  <a:lnTo>
                    <a:pt x="5499100" y="39293"/>
                  </a:lnTo>
                  <a:lnTo>
                    <a:pt x="12700" y="39293"/>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8" name="Google Shape;1208;p26"/>
          <p:cNvGrpSpPr/>
          <p:nvPr/>
        </p:nvGrpSpPr>
        <p:grpSpPr>
          <a:xfrm>
            <a:off x="232162" y="1907543"/>
            <a:ext cx="9962513" cy="573978"/>
            <a:chOff x="0" y="0"/>
            <a:chExt cx="5520182" cy="318039"/>
          </a:xfrm>
        </p:grpSpPr>
        <p:sp>
          <p:nvSpPr>
            <p:cNvPr id="1209" name="Google Shape;1209;p26"/>
            <p:cNvSpPr/>
            <p:nvPr/>
          </p:nvSpPr>
          <p:spPr>
            <a:xfrm>
              <a:off x="16891" y="7019"/>
              <a:ext cx="5486400" cy="303999"/>
            </a:xfrm>
            <a:custGeom>
              <a:rect b="b" l="l" r="r" t="t"/>
              <a:pathLst>
                <a:path extrusionOk="0" h="303999" w="5486400">
                  <a:moveTo>
                    <a:pt x="0" y="0"/>
                  </a:moveTo>
                  <a:lnTo>
                    <a:pt x="5486400" y="0"/>
                  </a:lnTo>
                  <a:lnTo>
                    <a:pt x="5486400" y="303999"/>
                  </a:lnTo>
                  <a:lnTo>
                    <a:pt x="0" y="303999"/>
                  </a:lnTo>
                  <a:close/>
                </a:path>
              </a:pathLst>
            </a:custGeom>
            <a:solidFill>
              <a:srgbClr val="121212"/>
            </a:solidFill>
            <a:ln>
              <a:noFill/>
            </a:ln>
          </p:spPr>
        </p:sp>
        <p:sp>
          <p:nvSpPr>
            <p:cNvPr id="1210" name="Google Shape;1210;p26"/>
            <p:cNvSpPr/>
            <p:nvPr/>
          </p:nvSpPr>
          <p:spPr>
            <a:xfrm>
              <a:off x="0" y="0"/>
              <a:ext cx="5520182" cy="318039"/>
            </a:xfrm>
            <a:custGeom>
              <a:rect b="b" l="l" r="r" t="t"/>
              <a:pathLst>
                <a:path extrusionOk="0" h="318039" w="5520182">
                  <a:moveTo>
                    <a:pt x="16891" y="0"/>
                  </a:moveTo>
                  <a:lnTo>
                    <a:pt x="5503291" y="0"/>
                  </a:lnTo>
                  <a:cubicBezTo>
                    <a:pt x="5512689" y="0"/>
                    <a:pt x="5520182" y="3167"/>
                    <a:pt x="5520182" y="7019"/>
                  </a:cubicBezTo>
                  <a:lnTo>
                    <a:pt x="5520182" y="311018"/>
                  </a:lnTo>
                  <a:cubicBezTo>
                    <a:pt x="5520182" y="314924"/>
                    <a:pt x="5512562" y="318038"/>
                    <a:pt x="5503291" y="318038"/>
                  </a:cubicBezTo>
                  <a:lnTo>
                    <a:pt x="16891" y="318038"/>
                  </a:lnTo>
                  <a:cubicBezTo>
                    <a:pt x="7620" y="318113"/>
                    <a:pt x="0" y="314924"/>
                    <a:pt x="0" y="311018"/>
                  </a:cubicBezTo>
                  <a:lnTo>
                    <a:pt x="0" y="7019"/>
                  </a:lnTo>
                  <a:cubicBezTo>
                    <a:pt x="0" y="3167"/>
                    <a:pt x="7620" y="0"/>
                    <a:pt x="16891" y="0"/>
                  </a:cubicBezTo>
                  <a:moveTo>
                    <a:pt x="16891" y="14092"/>
                  </a:moveTo>
                  <a:lnTo>
                    <a:pt x="16891" y="7019"/>
                  </a:lnTo>
                  <a:lnTo>
                    <a:pt x="33909" y="7019"/>
                  </a:lnTo>
                  <a:lnTo>
                    <a:pt x="33909" y="311018"/>
                  </a:lnTo>
                  <a:lnTo>
                    <a:pt x="16891" y="311018"/>
                  </a:lnTo>
                  <a:lnTo>
                    <a:pt x="16891" y="303999"/>
                  </a:lnTo>
                  <a:lnTo>
                    <a:pt x="5503291" y="303999"/>
                  </a:lnTo>
                  <a:lnTo>
                    <a:pt x="5503291" y="311018"/>
                  </a:lnTo>
                  <a:lnTo>
                    <a:pt x="5486400" y="311018"/>
                  </a:lnTo>
                  <a:lnTo>
                    <a:pt x="5486400" y="7019"/>
                  </a:lnTo>
                  <a:lnTo>
                    <a:pt x="5503291" y="7019"/>
                  </a:lnTo>
                  <a:lnTo>
                    <a:pt x="5503291" y="14092"/>
                  </a:lnTo>
                  <a:lnTo>
                    <a:pt x="16891" y="14092"/>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1" name="Google Shape;1211;p26"/>
          <p:cNvGrpSpPr/>
          <p:nvPr/>
        </p:nvGrpSpPr>
        <p:grpSpPr>
          <a:xfrm>
            <a:off x="244859" y="1964817"/>
            <a:ext cx="731520" cy="430911"/>
            <a:chOff x="0" y="-38100"/>
            <a:chExt cx="975360" cy="574548"/>
          </a:xfrm>
        </p:grpSpPr>
        <p:sp>
          <p:nvSpPr>
            <p:cNvPr id="1212" name="Google Shape;1212;p26"/>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213" name="Google Shape;1213;p26"/>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G3</a:t>
              </a:r>
              <a:endParaRPr/>
            </a:p>
          </p:txBody>
        </p:sp>
      </p:grpSp>
      <p:grpSp>
        <p:nvGrpSpPr>
          <p:cNvPr id="1214" name="Google Shape;1214;p26"/>
          <p:cNvGrpSpPr/>
          <p:nvPr/>
        </p:nvGrpSpPr>
        <p:grpSpPr>
          <a:xfrm>
            <a:off x="939803" y="1964817"/>
            <a:ext cx="3328416" cy="430911"/>
            <a:chOff x="0" y="-38100"/>
            <a:chExt cx="4437888" cy="574548"/>
          </a:xfrm>
        </p:grpSpPr>
        <p:sp>
          <p:nvSpPr>
            <p:cNvPr id="1215" name="Google Shape;1215;p26"/>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216" name="Google Shape;1216;p26"/>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Confusion Matrix</a:t>
              </a:r>
              <a:endParaRPr/>
            </a:p>
          </p:txBody>
        </p:sp>
      </p:grpSp>
      <p:grpSp>
        <p:nvGrpSpPr>
          <p:cNvPr id="1217" name="Google Shape;1217;p26"/>
          <p:cNvGrpSpPr/>
          <p:nvPr/>
        </p:nvGrpSpPr>
        <p:grpSpPr>
          <a:xfrm>
            <a:off x="1799339" y="2565178"/>
            <a:ext cx="1005840" cy="690086"/>
            <a:chOff x="0" y="-66675"/>
            <a:chExt cx="1341120" cy="920115"/>
          </a:xfrm>
        </p:grpSpPr>
        <p:sp>
          <p:nvSpPr>
            <p:cNvPr id="1218" name="Google Shape;1218;p26"/>
            <p:cNvSpPr/>
            <p:nvPr/>
          </p:nvSpPr>
          <p:spPr>
            <a:xfrm>
              <a:off x="0" y="0"/>
              <a:ext cx="1341120" cy="853440"/>
            </a:xfrm>
            <a:custGeom>
              <a:rect b="b" l="l" r="r" t="t"/>
              <a:pathLst>
                <a:path extrusionOk="0" h="853440" w="1341120">
                  <a:moveTo>
                    <a:pt x="0" y="0"/>
                  </a:moveTo>
                  <a:lnTo>
                    <a:pt x="1341120" y="0"/>
                  </a:lnTo>
                  <a:lnTo>
                    <a:pt x="1341120" y="853440"/>
                  </a:lnTo>
                  <a:lnTo>
                    <a:pt x="0" y="853440"/>
                  </a:lnTo>
                  <a:close/>
                </a:path>
              </a:pathLst>
            </a:custGeom>
            <a:blipFill rotWithShape="1">
              <a:blip r:embed="rId3">
                <a:alphaModFix amt="0"/>
              </a:blip>
              <a:stretch>
                <a:fillRect b="0" l="-31646" r="-31646" t="0"/>
              </a:stretch>
            </a:blipFill>
            <a:ln>
              <a:noFill/>
            </a:ln>
          </p:spPr>
        </p:sp>
        <p:sp>
          <p:nvSpPr>
            <p:cNvPr id="1219" name="Google Shape;1219;p26"/>
            <p:cNvSpPr txBox="1"/>
            <p:nvPr/>
          </p:nvSpPr>
          <p:spPr>
            <a:xfrm>
              <a:off x="0" y="-66675"/>
              <a:ext cx="1341120" cy="92011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3600" u="none" cap="none" strike="noStrike">
                  <a:solidFill>
                    <a:srgbClr val="000000"/>
                  </a:solidFill>
                  <a:latin typeface="Calibri"/>
                  <a:ea typeface="Calibri"/>
                  <a:cs typeface="Calibri"/>
                  <a:sym typeface="Calibri"/>
                </a:rPr>
                <a:t>📸</a:t>
              </a:r>
              <a:endParaRPr/>
            </a:p>
          </p:txBody>
        </p:sp>
      </p:grpSp>
      <p:grpSp>
        <p:nvGrpSpPr>
          <p:cNvPr id="1220" name="Google Shape;1220;p26"/>
          <p:cNvGrpSpPr/>
          <p:nvPr/>
        </p:nvGrpSpPr>
        <p:grpSpPr>
          <a:xfrm>
            <a:off x="244859" y="3391281"/>
            <a:ext cx="4114800" cy="577215"/>
            <a:chOff x="0" y="-38100"/>
            <a:chExt cx="5486400" cy="769620"/>
          </a:xfrm>
        </p:grpSpPr>
        <p:sp>
          <p:nvSpPr>
            <p:cNvPr id="1221" name="Google Shape;1221;p26"/>
            <p:cNvSpPr/>
            <p:nvPr/>
          </p:nvSpPr>
          <p:spPr>
            <a:xfrm>
              <a:off x="0" y="0"/>
              <a:ext cx="5486400" cy="731520"/>
            </a:xfrm>
            <a:custGeom>
              <a:rect b="b" l="l" r="r" t="t"/>
              <a:pathLst>
                <a:path extrusionOk="0" h="731520" w="5486400">
                  <a:moveTo>
                    <a:pt x="0" y="0"/>
                  </a:moveTo>
                  <a:lnTo>
                    <a:pt x="5486400" y="0"/>
                  </a:lnTo>
                  <a:lnTo>
                    <a:pt x="5486400" y="731520"/>
                  </a:lnTo>
                  <a:lnTo>
                    <a:pt x="0" y="731520"/>
                  </a:lnTo>
                  <a:close/>
                </a:path>
              </a:pathLst>
            </a:custGeom>
            <a:blipFill rotWithShape="1">
              <a:blip r:embed="rId3">
                <a:alphaModFix amt="0"/>
              </a:blip>
              <a:stretch>
                <a:fillRect b="-96139" l="0" r="0" t="-96139"/>
              </a:stretch>
            </a:blipFill>
            <a:ln>
              <a:noFill/>
            </a:ln>
          </p:spPr>
        </p:sp>
        <p:sp>
          <p:nvSpPr>
            <p:cNvPr id="1222" name="Google Shape;1222;p26"/>
            <p:cNvSpPr txBox="1"/>
            <p:nvPr/>
          </p:nvSpPr>
          <p:spPr>
            <a:xfrm>
              <a:off x="0" y="-38100"/>
              <a:ext cx="5486400" cy="769620"/>
            </a:xfrm>
            <a:prstGeom prst="rect">
              <a:avLst/>
            </a:prstGeom>
            <a:noFill/>
            <a:ln>
              <a:noFill/>
            </a:ln>
          </p:spPr>
          <p:txBody>
            <a:bodyPr anchorCtr="0" anchor="ctr" bIns="0" lIns="0" spcFirstLastPara="1" rIns="0" wrap="square" tIns="0">
              <a:noAutofit/>
            </a:bodyPr>
            <a:lstStyle/>
            <a:p>
              <a:pPr indent="0" lvl="0" marL="0" marR="0" rtl="0" algn="ctr">
                <a:lnSpc>
                  <a:spcPct val="119941"/>
                </a:lnSpc>
                <a:spcBef>
                  <a:spcPts val="0"/>
                </a:spcBef>
                <a:spcAft>
                  <a:spcPts val="0"/>
                </a:spcAft>
                <a:buNone/>
              </a:pPr>
              <a:r>
                <a:rPr b="0" i="0" lang="en-US" sz="1700" u="none" cap="none" strike="noStrike">
                  <a:solidFill>
                    <a:srgbClr val="555555"/>
                  </a:solidFill>
                  <a:latin typeface="Calibri"/>
                  <a:ea typeface="Calibri"/>
                  <a:cs typeface="Calibri"/>
                  <a:sym typeface="Calibri"/>
                </a:rPr>
                <a:t>Seaborn Heatmap</a:t>
              </a:r>
              <a:endParaRPr/>
            </a:p>
          </p:txBody>
        </p:sp>
      </p:grpSp>
      <p:sp>
        <p:nvSpPr>
          <p:cNvPr id="1223" name="Google Shape;1223;p26"/>
          <p:cNvSpPr/>
          <p:nvPr/>
        </p:nvSpPr>
        <p:spPr>
          <a:xfrm>
            <a:off x="1591509" y="2471928"/>
            <a:ext cx="7244021" cy="7244021"/>
          </a:xfrm>
          <a:custGeom>
            <a:rect b="b" l="l" r="r" t="t"/>
            <a:pathLst>
              <a:path extrusionOk="0" h="2329688" w="2329688">
                <a:moveTo>
                  <a:pt x="0" y="0"/>
                </a:moveTo>
                <a:lnTo>
                  <a:pt x="2329688" y="0"/>
                </a:lnTo>
                <a:lnTo>
                  <a:pt x="2329688" y="2329688"/>
                </a:lnTo>
                <a:lnTo>
                  <a:pt x="0" y="2329688"/>
                </a:lnTo>
                <a:lnTo>
                  <a:pt x="0" y="0"/>
                </a:lnTo>
                <a:close/>
              </a:path>
            </a:pathLst>
          </a:custGeom>
          <a:blipFill rotWithShape="1">
            <a:blip r:embed="rId4">
              <a:alphaModFix/>
            </a:blip>
            <a:stretch>
              <a:fillRect b="0" l="0" r="0" t="0"/>
            </a:stretch>
          </a:blipFill>
          <a:ln>
            <a:noFill/>
          </a:ln>
        </p:spPr>
      </p:sp>
      <p:grpSp>
        <p:nvGrpSpPr>
          <p:cNvPr id="1224" name="Google Shape;1224;p26"/>
          <p:cNvGrpSpPr/>
          <p:nvPr/>
        </p:nvGrpSpPr>
        <p:grpSpPr>
          <a:xfrm>
            <a:off x="10731417" y="2703516"/>
            <a:ext cx="7393010" cy="1024509"/>
            <a:chOff x="0" y="0"/>
            <a:chExt cx="10998200" cy="1524109"/>
          </a:xfrm>
        </p:grpSpPr>
        <p:sp>
          <p:nvSpPr>
            <p:cNvPr id="1225" name="Google Shape;1225;p26"/>
            <p:cNvSpPr/>
            <p:nvPr/>
          </p:nvSpPr>
          <p:spPr>
            <a:xfrm>
              <a:off x="12700" y="7230"/>
              <a:ext cx="10972800" cy="1509649"/>
            </a:xfrm>
            <a:custGeom>
              <a:rect b="b" l="l" r="r" t="t"/>
              <a:pathLst>
                <a:path extrusionOk="0" h="1509649" w="10972800">
                  <a:moveTo>
                    <a:pt x="0" y="0"/>
                  </a:moveTo>
                  <a:lnTo>
                    <a:pt x="10972800" y="0"/>
                  </a:lnTo>
                  <a:lnTo>
                    <a:pt x="10972800" y="1509649"/>
                  </a:lnTo>
                  <a:lnTo>
                    <a:pt x="0" y="1509649"/>
                  </a:lnTo>
                  <a:close/>
                </a:path>
              </a:pathLst>
            </a:custGeom>
            <a:solidFill>
              <a:srgbClr val="1DB954">
                <a:alpha val="784"/>
              </a:srgbClr>
            </a:solidFill>
            <a:ln>
              <a:noFill/>
            </a:ln>
          </p:spPr>
        </p:sp>
        <p:sp>
          <p:nvSpPr>
            <p:cNvPr id="1226" name="Google Shape;1226;p26"/>
            <p:cNvSpPr/>
            <p:nvPr/>
          </p:nvSpPr>
          <p:spPr>
            <a:xfrm>
              <a:off x="0" y="0"/>
              <a:ext cx="10998200" cy="1524109"/>
            </a:xfrm>
            <a:custGeom>
              <a:rect b="b" l="l" r="r" t="t"/>
              <a:pathLst>
                <a:path extrusionOk="0" h="1524109" w="10998200">
                  <a:moveTo>
                    <a:pt x="12700" y="0"/>
                  </a:moveTo>
                  <a:lnTo>
                    <a:pt x="10985500" y="0"/>
                  </a:lnTo>
                  <a:cubicBezTo>
                    <a:pt x="10992485" y="0"/>
                    <a:pt x="10998200" y="3254"/>
                    <a:pt x="10998200" y="7230"/>
                  </a:cubicBezTo>
                  <a:lnTo>
                    <a:pt x="10998200" y="1516879"/>
                  </a:lnTo>
                  <a:cubicBezTo>
                    <a:pt x="10998200" y="1520856"/>
                    <a:pt x="10992485" y="1524109"/>
                    <a:pt x="10985500" y="1524109"/>
                  </a:cubicBezTo>
                  <a:lnTo>
                    <a:pt x="12700" y="1524109"/>
                  </a:lnTo>
                  <a:cubicBezTo>
                    <a:pt x="5715" y="1524109"/>
                    <a:pt x="0" y="1520856"/>
                    <a:pt x="0" y="1516879"/>
                  </a:cubicBezTo>
                  <a:lnTo>
                    <a:pt x="0" y="7230"/>
                  </a:lnTo>
                  <a:cubicBezTo>
                    <a:pt x="0" y="3254"/>
                    <a:pt x="5715" y="0"/>
                    <a:pt x="12700" y="0"/>
                  </a:cubicBezTo>
                  <a:moveTo>
                    <a:pt x="12700" y="14460"/>
                  </a:moveTo>
                  <a:lnTo>
                    <a:pt x="12700" y="7230"/>
                  </a:lnTo>
                  <a:lnTo>
                    <a:pt x="25400" y="7230"/>
                  </a:lnTo>
                  <a:lnTo>
                    <a:pt x="25400" y="1516879"/>
                  </a:lnTo>
                  <a:lnTo>
                    <a:pt x="12700" y="1516879"/>
                  </a:lnTo>
                  <a:lnTo>
                    <a:pt x="12700" y="1509649"/>
                  </a:lnTo>
                  <a:lnTo>
                    <a:pt x="10985500" y="1509649"/>
                  </a:lnTo>
                  <a:lnTo>
                    <a:pt x="10985500" y="1516879"/>
                  </a:lnTo>
                  <a:lnTo>
                    <a:pt x="10972800" y="1516879"/>
                  </a:lnTo>
                  <a:lnTo>
                    <a:pt x="10972800" y="7230"/>
                  </a:lnTo>
                  <a:lnTo>
                    <a:pt x="10985500" y="7230"/>
                  </a:lnTo>
                  <a:lnTo>
                    <a:pt x="10985500" y="14460"/>
                  </a:lnTo>
                  <a:lnTo>
                    <a:pt x="12700" y="14460"/>
                  </a:lnTo>
                  <a:close/>
                </a:path>
              </a:pathLst>
            </a:custGeom>
            <a:solidFill>
              <a:srgbClr val="1DB954">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7" name="Google Shape;1227;p26"/>
          <p:cNvGrpSpPr/>
          <p:nvPr/>
        </p:nvGrpSpPr>
        <p:grpSpPr>
          <a:xfrm>
            <a:off x="10731417" y="2703516"/>
            <a:ext cx="140006" cy="1024509"/>
            <a:chOff x="0" y="0"/>
            <a:chExt cx="208280" cy="1524109"/>
          </a:xfrm>
        </p:grpSpPr>
        <p:sp>
          <p:nvSpPr>
            <p:cNvPr id="1228" name="Google Shape;1228;p26"/>
            <p:cNvSpPr/>
            <p:nvPr/>
          </p:nvSpPr>
          <p:spPr>
            <a:xfrm>
              <a:off x="12700" y="7230"/>
              <a:ext cx="182880" cy="1509649"/>
            </a:xfrm>
            <a:custGeom>
              <a:rect b="b" l="l" r="r" t="t"/>
              <a:pathLst>
                <a:path extrusionOk="0" h="1509649" w="182880">
                  <a:moveTo>
                    <a:pt x="0" y="0"/>
                  </a:moveTo>
                  <a:lnTo>
                    <a:pt x="182880" y="0"/>
                  </a:lnTo>
                  <a:lnTo>
                    <a:pt x="182880" y="1509649"/>
                  </a:lnTo>
                  <a:lnTo>
                    <a:pt x="0" y="1509649"/>
                  </a:lnTo>
                  <a:close/>
                </a:path>
              </a:pathLst>
            </a:custGeom>
            <a:solidFill>
              <a:srgbClr val="1DB954"/>
            </a:solidFill>
            <a:ln>
              <a:noFill/>
            </a:ln>
          </p:spPr>
        </p:sp>
        <p:sp>
          <p:nvSpPr>
            <p:cNvPr id="1229" name="Google Shape;1229;p26"/>
            <p:cNvSpPr/>
            <p:nvPr/>
          </p:nvSpPr>
          <p:spPr>
            <a:xfrm>
              <a:off x="0" y="0"/>
              <a:ext cx="208280" cy="1524109"/>
            </a:xfrm>
            <a:custGeom>
              <a:rect b="b" l="l" r="r" t="t"/>
              <a:pathLst>
                <a:path extrusionOk="0" h="1524109" w="208280">
                  <a:moveTo>
                    <a:pt x="12700" y="0"/>
                  </a:moveTo>
                  <a:lnTo>
                    <a:pt x="195580" y="0"/>
                  </a:lnTo>
                  <a:cubicBezTo>
                    <a:pt x="202565" y="0"/>
                    <a:pt x="208280" y="3254"/>
                    <a:pt x="208280" y="7230"/>
                  </a:cubicBezTo>
                  <a:lnTo>
                    <a:pt x="208280" y="1516879"/>
                  </a:lnTo>
                  <a:cubicBezTo>
                    <a:pt x="208280" y="1520856"/>
                    <a:pt x="202565" y="1524109"/>
                    <a:pt x="195580" y="1524109"/>
                  </a:cubicBezTo>
                  <a:lnTo>
                    <a:pt x="12700" y="1524109"/>
                  </a:lnTo>
                  <a:cubicBezTo>
                    <a:pt x="5715" y="1524109"/>
                    <a:pt x="0" y="1520856"/>
                    <a:pt x="0" y="1516879"/>
                  </a:cubicBezTo>
                  <a:lnTo>
                    <a:pt x="0" y="7230"/>
                  </a:lnTo>
                  <a:cubicBezTo>
                    <a:pt x="0" y="3254"/>
                    <a:pt x="5715" y="0"/>
                    <a:pt x="12700" y="0"/>
                  </a:cubicBezTo>
                  <a:moveTo>
                    <a:pt x="12700" y="14460"/>
                  </a:moveTo>
                  <a:lnTo>
                    <a:pt x="12700" y="7230"/>
                  </a:lnTo>
                  <a:lnTo>
                    <a:pt x="25400" y="7230"/>
                  </a:lnTo>
                  <a:lnTo>
                    <a:pt x="25400" y="1516879"/>
                  </a:lnTo>
                  <a:lnTo>
                    <a:pt x="12700" y="1516879"/>
                  </a:lnTo>
                  <a:lnTo>
                    <a:pt x="12700" y="1509649"/>
                  </a:lnTo>
                  <a:lnTo>
                    <a:pt x="195580" y="1509649"/>
                  </a:lnTo>
                  <a:lnTo>
                    <a:pt x="195580" y="1516879"/>
                  </a:lnTo>
                  <a:lnTo>
                    <a:pt x="182880" y="1516879"/>
                  </a:lnTo>
                  <a:lnTo>
                    <a:pt x="182880" y="7230"/>
                  </a:lnTo>
                  <a:lnTo>
                    <a:pt x="195580" y="7230"/>
                  </a:lnTo>
                  <a:lnTo>
                    <a:pt x="195580" y="14460"/>
                  </a:lnTo>
                  <a:lnTo>
                    <a:pt x="12700" y="14460"/>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0" name="Google Shape;1230;p26"/>
          <p:cNvGrpSpPr/>
          <p:nvPr/>
        </p:nvGrpSpPr>
        <p:grpSpPr>
          <a:xfrm>
            <a:off x="10985818" y="2778385"/>
            <a:ext cx="7007139" cy="523743"/>
            <a:chOff x="0" y="-47625"/>
            <a:chExt cx="10424160" cy="779145"/>
          </a:xfrm>
        </p:grpSpPr>
        <p:sp>
          <p:nvSpPr>
            <p:cNvPr id="1231" name="Google Shape;1231;p26"/>
            <p:cNvSpPr/>
            <p:nvPr/>
          </p:nvSpPr>
          <p:spPr>
            <a:xfrm>
              <a:off x="0" y="0"/>
              <a:ext cx="10424160" cy="731520"/>
            </a:xfrm>
            <a:custGeom>
              <a:rect b="b" l="l" r="r" t="t"/>
              <a:pathLst>
                <a:path extrusionOk="0" h="731520" w="10424160">
                  <a:moveTo>
                    <a:pt x="0" y="0"/>
                  </a:moveTo>
                  <a:lnTo>
                    <a:pt x="10424160" y="0"/>
                  </a:lnTo>
                  <a:lnTo>
                    <a:pt x="10424160" y="731520"/>
                  </a:lnTo>
                  <a:lnTo>
                    <a:pt x="0" y="731520"/>
                  </a:lnTo>
                  <a:close/>
                </a:path>
              </a:pathLst>
            </a:custGeom>
            <a:blipFill rotWithShape="1">
              <a:blip r:embed="rId3">
                <a:alphaModFix amt="0"/>
              </a:blip>
              <a:stretch>
                <a:fillRect b="-227654" l="0" r="0" t="-227654"/>
              </a:stretch>
            </a:blipFill>
            <a:ln>
              <a:noFill/>
            </a:ln>
          </p:spPr>
        </p:sp>
        <p:sp>
          <p:nvSpPr>
            <p:cNvPr id="1232" name="Google Shape;1232;p26"/>
            <p:cNvSpPr txBox="1"/>
            <p:nvPr/>
          </p:nvSpPr>
          <p:spPr>
            <a:xfrm>
              <a:off x="0" y="-47625"/>
              <a:ext cx="1042416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1DB954"/>
                  </a:solidFill>
                  <a:latin typeface="Calibri"/>
                  <a:ea typeface="Calibri"/>
                  <a:cs typeface="Calibri"/>
                  <a:sym typeface="Calibri"/>
                </a:rPr>
                <a:t>Köşegen</a:t>
              </a:r>
              <a:endParaRPr/>
            </a:p>
          </p:txBody>
        </p:sp>
      </p:grpSp>
      <p:grpSp>
        <p:nvGrpSpPr>
          <p:cNvPr id="1233" name="Google Shape;1233;p26"/>
          <p:cNvGrpSpPr/>
          <p:nvPr/>
        </p:nvGrpSpPr>
        <p:grpSpPr>
          <a:xfrm>
            <a:off x="11016551" y="2985432"/>
            <a:ext cx="7007139" cy="941200"/>
            <a:chOff x="0" y="-28575"/>
            <a:chExt cx="10424160" cy="1400175"/>
          </a:xfrm>
        </p:grpSpPr>
        <p:sp>
          <p:nvSpPr>
            <p:cNvPr id="1234" name="Google Shape;1234;p26"/>
            <p:cNvSpPr/>
            <p:nvPr/>
          </p:nvSpPr>
          <p:spPr>
            <a:xfrm>
              <a:off x="0" y="0"/>
              <a:ext cx="10424160" cy="1371600"/>
            </a:xfrm>
            <a:custGeom>
              <a:rect b="b" l="l" r="r" t="t"/>
              <a:pathLst>
                <a:path extrusionOk="0" h="1371600" w="10424160">
                  <a:moveTo>
                    <a:pt x="0" y="0"/>
                  </a:moveTo>
                  <a:lnTo>
                    <a:pt x="10424160" y="0"/>
                  </a:lnTo>
                  <a:lnTo>
                    <a:pt x="10424160" y="1371600"/>
                  </a:lnTo>
                  <a:lnTo>
                    <a:pt x="0" y="1371600"/>
                  </a:lnTo>
                  <a:close/>
                </a:path>
              </a:pathLst>
            </a:custGeom>
            <a:blipFill rotWithShape="1">
              <a:blip r:embed="rId3">
                <a:alphaModFix amt="0"/>
              </a:blip>
              <a:stretch>
                <a:fillRect b="-98087" l="0" r="0" t="-98087"/>
              </a:stretch>
            </a:blipFill>
            <a:ln>
              <a:noFill/>
            </a:ln>
          </p:spPr>
        </p:sp>
        <p:sp>
          <p:nvSpPr>
            <p:cNvPr id="1235" name="Google Shape;1235;p26"/>
            <p:cNvSpPr txBox="1"/>
            <p:nvPr/>
          </p:nvSpPr>
          <p:spPr>
            <a:xfrm>
              <a:off x="0" y="-28575"/>
              <a:ext cx="10424160" cy="14001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650" u="none" cap="none" strike="noStrike">
                  <a:solidFill>
                    <a:srgbClr val="212529"/>
                  </a:solidFill>
                  <a:latin typeface="Calibri"/>
                  <a:ea typeface="Calibri"/>
                  <a:cs typeface="Calibri"/>
                  <a:sym typeface="Calibri"/>
                </a:rPr>
                <a:t>Doğru tahminler — köşegenin yoğunluğu modelin gücünü gösterir</a:t>
              </a:r>
              <a:endParaRPr/>
            </a:p>
          </p:txBody>
        </p:sp>
      </p:grpSp>
      <p:grpSp>
        <p:nvGrpSpPr>
          <p:cNvPr id="1236" name="Google Shape;1236;p26"/>
          <p:cNvGrpSpPr/>
          <p:nvPr/>
        </p:nvGrpSpPr>
        <p:grpSpPr>
          <a:xfrm>
            <a:off x="10731417" y="3890022"/>
            <a:ext cx="7393010" cy="1084194"/>
            <a:chOff x="0" y="0"/>
            <a:chExt cx="10998200" cy="1612900"/>
          </a:xfrm>
        </p:grpSpPr>
        <p:sp>
          <p:nvSpPr>
            <p:cNvPr id="1237" name="Google Shape;1237;p26"/>
            <p:cNvSpPr/>
            <p:nvPr/>
          </p:nvSpPr>
          <p:spPr>
            <a:xfrm>
              <a:off x="12700" y="7651"/>
              <a:ext cx="10972800" cy="1597597"/>
            </a:xfrm>
            <a:custGeom>
              <a:rect b="b" l="l" r="r" t="t"/>
              <a:pathLst>
                <a:path extrusionOk="0" h="1597597" w="10972800">
                  <a:moveTo>
                    <a:pt x="0" y="0"/>
                  </a:moveTo>
                  <a:lnTo>
                    <a:pt x="10972800" y="0"/>
                  </a:lnTo>
                  <a:lnTo>
                    <a:pt x="10972800" y="1597598"/>
                  </a:lnTo>
                  <a:lnTo>
                    <a:pt x="0" y="1597598"/>
                  </a:lnTo>
                  <a:close/>
                </a:path>
              </a:pathLst>
            </a:custGeom>
            <a:solidFill>
              <a:srgbClr val="E67E22">
                <a:alpha val="784"/>
              </a:srgbClr>
            </a:solidFill>
            <a:ln>
              <a:noFill/>
            </a:ln>
          </p:spPr>
        </p:sp>
        <p:sp>
          <p:nvSpPr>
            <p:cNvPr id="1238" name="Google Shape;1238;p26"/>
            <p:cNvSpPr/>
            <p:nvPr/>
          </p:nvSpPr>
          <p:spPr>
            <a:xfrm>
              <a:off x="0" y="0"/>
              <a:ext cx="10998200" cy="1612900"/>
            </a:xfrm>
            <a:custGeom>
              <a:rect b="b" l="l" r="r" t="t"/>
              <a:pathLst>
                <a:path extrusionOk="0" h="1612900" w="10998200">
                  <a:moveTo>
                    <a:pt x="12700" y="0"/>
                  </a:moveTo>
                  <a:lnTo>
                    <a:pt x="10985500" y="0"/>
                  </a:lnTo>
                  <a:cubicBezTo>
                    <a:pt x="10992485" y="0"/>
                    <a:pt x="10998200" y="3443"/>
                    <a:pt x="10998200" y="7651"/>
                  </a:cubicBezTo>
                  <a:lnTo>
                    <a:pt x="10998200" y="1605249"/>
                  </a:lnTo>
                  <a:cubicBezTo>
                    <a:pt x="10998200" y="1609457"/>
                    <a:pt x="10992485" y="1612900"/>
                    <a:pt x="10985500" y="1612900"/>
                  </a:cubicBezTo>
                  <a:lnTo>
                    <a:pt x="12700" y="1612900"/>
                  </a:lnTo>
                  <a:cubicBezTo>
                    <a:pt x="5715" y="1612900"/>
                    <a:pt x="0" y="1609457"/>
                    <a:pt x="0" y="1605249"/>
                  </a:cubicBezTo>
                  <a:lnTo>
                    <a:pt x="0" y="7651"/>
                  </a:lnTo>
                  <a:cubicBezTo>
                    <a:pt x="0" y="3443"/>
                    <a:pt x="5715" y="0"/>
                    <a:pt x="12700" y="0"/>
                  </a:cubicBezTo>
                  <a:moveTo>
                    <a:pt x="12700" y="15303"/>
                  </a:moveTo>
                  <a:lnTo>
                    <a:pt x="12700" y="7651"/>
                  </a:lnTo>
                  <a:lnTo>
                    <a:pt x="25400" y="7651"/>
                  </a:lnTo>
                  <a:lnTo>
                    <a:pt x="25400" y="1605249"/>
                  </a:lnTo>
                  <a:lnTo>
                    <a:pt x="12700" y="1605249"/>
                  </a:lnTo>
                  <a:lnTo>
                    <a:pt x="12700" y="1597597"/>
                  </a:lnTo>
                  <a:lnTo>
                    <a:pt x="10985500" y="1597597"/>
                  </a:lnTo>
                  <a:lnTo>
                    <a:pt x="10985500" y="1605249"/>
                  </a:lnTo>
                  <a:lnTo>
                    <a:pt x="10972800" y="1605249"/>
                  </a:lnTo>
                  <a:lnTo>
                    <a:pt x="10972800" y="7651"/>
                  </a:lnTo>
                  <a:lnTo>
                    <a:pt x="10985500" y="7651"/>
                  </a:lnTo>
                  <a:lnTo>
                    <a:pt x="10985500" y="15303"/>
                  </a:lnTo>
                  <a:lnTo>
                    <a:pt x="12700" y="15303"/>
                  </a:lnTo>
                  <a:close/>
                </a:path>
              </a:pathLst>
            </a:custGeom>
            <a:solidFill>
              <a:srgbClr val="E67E22">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9" name="Google Shape;1239;p26"/>
          <p:cNvGrpSpPr/>
          <p:nvPr/>
        </p:nvGrpSpPr>
        <p:grpSpPr>
          <a:xfrm>
            <a:off x="10731417" y="3890022"/>
            <a:ext cx="140006" cy="1084194"/>
            <a:chOff x="0" y="0"/>
            <a:chExt cx="208280" cy="1612900"/>
          </a:xfrm>
        </p:grpSpPr>
        <p:sp>
          <p:nvSpPr>
            <p:cNvPr id="1240" name="Google Shape;1240;p26"/>
            <p:cNvSpPr/>
            <p:nvPr/>
          </p:nvSpPr>
          <p:spPr>
            <a:xfrm>
              <a:off x="12700" y="7651"/>
              <a:ext cx="182880" cy="1597597"/>
            </a:xfrm>
            <a:custGeom>
              <a:rect b="b" l="l" r="r" t="t"/>
              <a:pathLst>
                <a:path extrusionOk="0" h="1597597" w="182880">
                  <a:moveTo>
                    <a:pt x="0" y="0"/>
                  </a:moveTo>
                  <a:lnTo>
                    <a:pt x="182880" y="0"/>
                  </a:lnTo>
                  <a:lnTo>
                    <a:pt x="182880" y="1597598"/>
                  </a:lnTo>
                  <a:lnTo>
                    <a:pt x="0" y="1597598"/>
                  </a:lnTo>
                  <a:close/>
                </a:path>
              </a:pathLst>
            </a:custGeom>
            <a:solidFill>
              <a:srgbClr val="E67E22"/>
            </a:solidFill>
            <a:ln>
              <a:noFill/>
            </a:ln>
          </p:spPr>
        </p:sp>
        <p:sp>
          <p:nvSpPr>
            <p:cNvPr id="1241" name="Google Shape;1241;p26"/>
            <p:cNvSpPr/>
            <p:nvPr/>
          </p:nvSpPr>
          <p:spPr>
            <a:xfrm>
              <a:off x="0" y="0"/>
              <a:ext cx="208280" cy="1612900"/>
            </a:xfrm>
            <a:custGeom>
              <a:rect b="b" l="l" r="r" t="t"/>
              <a:pathLst>
                <a:path extrusionOk="0" h="1612900" w="208280">
                  <a:moveTo>
                    <a:pt x="12700" y="0"/>
                  </a:moveTo>
                  <a:lnTo>
                    <a:pt x="195580" y="0"/>
                  </a:lnTo>
                  <a:cubicBezTo>
                    <a:pt x="202565" y="0"/>
                    <a:pt x="208280" y="3443"/>
                    <a:pt x="208280" y="7651"/>
                  </a:cubicBezTo>
                  <a:lnTo>
                    <a:pt x="208280" y="1605249"/>
                  </a:lnTo>
                  <a:cubicBezTo>
                    <a:pt x="208280" y="1609457"/>
                    <a:pt x="202565" y="1612900"/>
                    <a:pt x="195580" y="1612900"/>
                  </a:cubicBezTo>
                  <a:lnTo>
                    <a:pt x="12700" y="1612900"/>
                  </a:lnTo>
                  <a:cubicBezTo>
                    <a:pt x="5715" y="1612900"/>
                    <a:pt x="0" y="1609457"/>
                    <a:pt x="0" y="1605249"/>
                  </a:cubicBezTo>
                  <a:lnTo>
                    <a:pt x="0" y="7651"/>
                  </a:lnTo>
                  <a:cubicBezTo>
                    <a:pt x="0" y="3443"/>
                    <a:pt x="5715" y="0"/>
                    <a:pt x="12700" y="0"/>
                  </a:cubicBezTo>
                  <a:moveTo>
                    <a:pt x="12700" y="15303"/>
                  </a:moveTo>
                  <a:lnTo>
                    <a:pt x="12700" y="7651"/>
                  </a:lnTo>
                  <a:lnTo>
                    <a:pt x="25400" y="7651"/>
                  </a:lnTo>
                  <a:lnTo>
                    <a:pt x="25400" y="1605249"/>
                  </a:lnTo>
                  <a:lnTo>
                    <a:pt x="12700" y="1605249"/>
                  </a:lnTo>
                  <a:lnTo>
                    <a:pt x="12700" y="1597597"/>
                  </a:lnTo>
                  <a:lnTo>
                    <a:pt x="195580" y="1597597"/>
                  </a:lnTo>
                  <a:lnTo>
                    <a:pt x="195580" y="1605249"/>
                  </a:lnTo>
                  <a:lnTo>
                    <a:pt x="182880" y="1605249"/>
                  </a:lnTo>
                  <a:lnTo>
                    <a:pt x="182880" y="7651"/>
                  </a:lnTo>
                  <a:lnTo>
                    <a:pt x="195580" y="7651"/>
                  </a:lnTo>
                  <a:lnTo>
                    <a:pt x="195580" y="15303"/>
                  </a:lnTo>
                  <a:lnTo>
                    <a:pt x="12700" y="15303"/>
                  </a:lnTo>
                  <a:close/>
                </a:path>
              </a:pathLst>
            </a:custGeom>
            <a:solidFill>
              <a:srgbClr val="E67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2" name="Google Shape;1242;p26"/>
          <p:cNvGrpSpPr/>
          <p:nvPr/>
        </p:nvGrpSpPr>
        <p:grpSpPr>
          <a:xfrm>
            <a:off x="10985818" y="3964891"/>
            <a:ext cx="7007139" cy="523743"/>
            <a:chOff x="0" y="-47625"/>
            <a:chExt cx="10424160" cy="779145"/>
          </a:xfrm>
        </p:grpSpPr>
        <p:sp>
          <p:nvSpPr>
            <p:cNvPr id="1243" name="Google Shape;1243;p26"/>
            <p:cNvSpPr/>
            <p:nvPr/>
          </p:nvSpPr>
          <p:spPr>
            <a:xfrm>
              <a:off x="0" y="0"/>
              <a:ext cx="10424160" cy="731520"/>
            </a:xfrm>
            <a:custGeom>
              <a:rect b="b" l="l" r="r" t="t"/>
              <a:pathLst>
                <a:path extrusionOk="0" h="731520" w="10424160">
                  <a:moveTo>
                    <a:pt x="0" y="0"/>
                  </a:moveTo>
                  <a:lnTo>
                    <a:pt x="10424160" y="0"/>
                  </a:lnTo>
                  <a:lnTo>
                    <a:pt x="10424160" y="731520"/>
                  </a:lnTo>
                  <a:lnTo>
                    <a:pt x="0" y="731520"/>
                  </a:lnTo>
                  <a:close/>
                </a:path>
              </a:pathLst>
            </a:custGeom>
            <a:blipFill rotWithShape="1">
              <a:blip r:embed="rId3">
                <a:alphaModFix amt="0"/>
              </a:blip>
              <a:stretch>
                <a:fillRect b="-227654" l="0" r="0" t="-227654"/>
              </a:stretch>
            </a:blipFill>
            <a:ln>
              <a:noFill/>
            </a:ln>
          </p:spPr>
        </p:sp>
        <p:sp>
          <p:nvSpPr>
            <p:cNvPr id="1244" name="Google Shape;1244;p26"/>
            <p:cNvSpPr txBox="1"/>
            <p:nvPr/>
          </p:nvSpPr>
          <p:spPr>
            <a:xfrm>
              <a:off x="0" y="-47625"/>
              <a:ext cx="1042416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E67E22"/>
                  </a:solidFill>
                  <a:latin typeface="Calibri"/>
                  <a:ea typeface="Calibri"/>
                  <a:cs typeface="Calibri"/>
                  <a:sym typeface="Calibri"/>
                </a:rPr>
                <a:t>Karışan Türler</a:t>
              </a:r>
              <a:endParaRPr/>
            </a:p>
          </p:txBody>
        </p:sp>
      </p:grpSp>
      <p:grpSp>
        <p:nvGrpSpPr>
          <p:cNvPr id="1245" name="Google Shape;1245;p26"/>
          <p:cNvGrpSpPr/>
          <p:nvPr/>
        </p:nvGrpSpPr>
        <p:grpSpPr>
          <a:xfrm>
            <a:off x="10985818" y="4070839"/>
            <a:ext cx="7007139" cy="941200"/>
            <a:chOff x="0" y="-28575"/>
            <a:chExt cx="10424160" cy="1400175"/>
          </a:xfrm>
        </p:grpSpPr>
        <p:sp>
          <p:nvSpPr>
            <p:cNvPr id="1246" name="Google Shape;1246;p26"/>
            <p:cNvSpPr/>
            <p:nvPr/>
          </p:nvSpPr>
          <p:spPr>
            <a:xfrm>
              <a:off x="0" y="0"/>
              <a:ext cx="10424160" cy="1371600"/>
            </a:xfrm>
            <a:custGeom>
              <a:rect b="b" l="l" r="r" t="t"/>
              <a:pathLst>
                <a:path extrusionOk="0" h="1371600" w="10424160">
                  <a:moveTo>
                    <a:pt x="0" y="0"/>
                  </a:moveTo>
                  <a:lnTo>
                    <a:pt x="10424160" y="0"/>
                  </a:lnTo>
                  <a:lnTo>
                    <a:pt x="10424160" y="1371600"/>
                  </a:lnTo>
                  <a:lnTo>
                    <a:pt x="0" y="1371600"/>
                  </a:lnTo>
                  <a:close/>
                </a:path>
              </a:pathLst>
            </a:custGeom>
            <a:blipFill rotWithShape="1">
              <a:blip r:embed="rId3">
                <a:alphaModFix amt="0"/>
              </a:blip>
              <a:stretch>
                <a:fillRect b="-98087" l="0" r="0" t="-98087"/>
              </a:stretch>
            </a:blipFill>
            <a:ln>
              <a:noFill/>
            </a:ln>
          </p:spPr>
        </p:sp>
        <p:sp>
          <p:nvSpPr>
            <p:cNvPr id="1247" name="Google Shape;1247;p26"/>
            <p:cNvSpPr txBox="1"/>
            <p:nvPr/>
          </p:nvSpPr>
          <p:spPr>
            <a:xfrm>
              <a:off x="0" y="-28575"/>
              <a:ext cx="10424160" cy="14001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650" u="none" cap="none" strike="noStrike">
                  <a:solidFill>
                    <a:srgbClr val="212529"/>
                  </a:solidFill>
                  <a:latin typeface="Calibri"/>
                  <a:ea typeface="Calibri"/>
                  <a:cs typeface="Calibri"/>
                  <a:sym typeface="Calibri"/>
                </a:rPr>
                <a:t>alt-rock ↔ anime · ambient ↔ acoustic · sleep ↔ study sık karışıyor</a:t>
              </a:r>
              <a:endParaRPr/>
            </a:p>
          </p:txBody>
        </p:sp>
      </p:grpSp>
      <p:grpSp>
        <p:nvGrpSpPr>
          <p:cNvPr id="1248" name="Google Shape;1248;p26"/>
          <p:cNvGrpSpPr/>
          <p:nvPr/>
        </p:nvGrpSpPr>
        <p:grpSpPr>
          <a:xfrm>
            <a:off x="10731417" y="5173964"/>
            <a:ext cx="7393010" cy="1122017"/>
            <a:chOff x="0" y="0"/>
            <a:chExt cx="10998200" cy="1669167"/>
          </a:xfrm>
        </p:grpSpPr>
        <p:sp>
          <p:nvSpPr>
            <p:cNvPr id="1249" name="Google Shape;1249;p26"/>
            <p:cNvSpPr/>
            <p:nvPr/>
          </p:nvSpPr>
          <p:spPr>
            <a:xfrm>
              <a:off x="12700" y="7918"/>
              <a:ext cx="10972800" cy="1653330"/>
            </a:xfrm>
            <a:custGeom>
              <a:rect b="b" l="l" r="r" t="t"/>
              <a:pathLst>
                <a:path extrusionOk="0" h="1653330" w="10972800">
                  <a:moveTo>
                    <a:pt x="0" y="0"/>
                  </a:moveTo>
                  <a:lnTo>
                    <a:pt x="10972800" y="0"/>
                  </a:lnTo>
                  <a:lnTo>
                    <a:pt x="10972800" y="1653331"/>
                  </a:lnTo>
                  <a:lnTo>
                    <a:pt x="0" y="1653331"/>
                  </a:lnTo>
                  <a:close/>
                </a:path>
              </a:pathLst>
            </a:custGeom>
            <a:solidFill>
              <a:srgbClr val="17A589">
                <a:alpha val="784"/>
              </a:srgbClr>
            </a:solidFill>
            <a:ln>
              <a:noFill/>
            </a:ln>
          </p:spPr>
        </p:sp>
        <p:sp>
          <p:nvSpPr>
            <p:cNvPr id="1250" name="Google Shape;1250;p26"/>
            <p:cNvSpPr/>
            <p:nvPr/>
          </p:nvSpPr>
          <p:spPr>
            <a:xfrm>
              <a:off x="0" y="0"/>
              <a:ext cx="10998200" cy="1669167"/>
            </a:xfrm>
            <a:custGeom>
              <a:rect b="b" l="l" r="r" t="t"/>
              <a:pathLst>
                <a:path extrusionOk="0" h="1669167" w="10998200">
                  <a:moveTo>
                    <a:pt x="12700" y="0"/>
                  </a:moveTo>
                  <a:lnTo>
                    <a:pt x="10985500" y="0"/>
                  </a:lnTo>
                  <a:cubicBezTo>
                    <a:pt x="10992485" y="0"/>
                    <a:pt x="10998200" y="3563"/>
                    <a:pt x="10998200" y="7918"/>
                  </a:cubicBezTo>
                  <a:lnTo>
                    <a:pt x="10998200" y="1661249"/>
                  </a:lnTo>
                  <a:cubicBezTo>
                    <a:pt x="10998200" y="1665604"/>
                    <a:pt x="10992485" y="1669167"/>
                    <a:pt x="10985500" y="1669167"/>
                  </a:cubicBezTo>
                  <a:lnTo>
                    <a:pt x="12700" y="1669167"/>
                  </a:lnTo>
                  <a:cubicBezTo>
                    <a:pt x="5715" y="1669167"/>
                    <a:pt x="0" y="1665604"/>
                    <a:pt x="0" y="1661249"/>
                  </a:cubicBezTo>
                  <a:lnTo>
                    <a:pt x="0" y="7918"/>
                  </a:lnTo>
                  <a:cubicBezTo>
                    <a:pt x="0" y="3563"/>
                    <a:pt x="5715" y="0"/>
                    <a:pt x="12700" y="0"/>
                  </a:cubicBezTo>
                  <a:moveTo>
                    <a:pt x="12700" y="15836"/>
                  </a:moveTo>
                  <a:lnTo>
                    <a:pt x="12700" y="7918"/>
                  </a:lnTo>
                  <a:lnTo>
                    <a:pt x="25400" y="7918"/>
                  </a:lnTo>
                  <a:lnTo>
                    <a:pt x="25400" y="1661249"/>
                  </a:lnTo>
                  <a:lnTo>
                    <a:pt x="12700" y="1661249"/>
                  </a:lnTo>
                  <a:lnTo>
                    <a:pt x="12700" y="1653330"/>
                  </a:lnTo>
                  <a:lnTo>
                    <a:pt x="10985500" y="1653330"/>
                  </a:lnTo>
                  <a:lnTo>
                    <a:pt x="10985500" y="1661249"/>
                  </a:lnTo>
                  <a:lnTo>
                    <a:pt x="10972800" y="1661249"/>
                  </a:lnTo>
                  <a:lnTo>
                    <a:pt x="10972800" y="7918"/>
                  </a:lnTo>
                  <a:lnTo>
                    <a:pt x="10985500" y="7918"/>
                  </a:lnTo>
                  <a:lnTo>
                    <a:pt x="10985500" y="15836"/>
                  </a:lnTo>
                  <a:lnTo>
                    <a:pt x="12700" y="15836"/>
                  </a:lnTo>
                  <a:close/>
                </a:path>
              </a:pathLst>
            </a:custGeom>
            <a:solidFill>
              <a:srgbClr val="17A589">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1" name="Google Shape;1251;p26"/>
          <p:cNvGrpSpPr/>
          <p:nvPr/>
        </p:nvGrpSpPr>
        <p:grpSpPr>
          <a:xfrm>
            <a:off x="10731417" y="5173964"/>
            <a:ext cx="140006" cy="1122017"/>
            <a:chOff x="0" y="0"/>
            <a:chExt cx="208280" cy="1669167"/>
          </a:xfrm>
        </p:grpSpPr>
        <p:sp>
          <p:nvSpPr>
            <p:cNvPr id="1252" name="Google Shape;1252;p26"/>
            <p:cNvSpPr/>
            <p:nvPr/>
          </p:nvSpPr>
          <p:spPr>
            <a:xfrm>
              <a:off x="12700" y="7918"/>
              <a:ext cx="182880" cy="1653330"/>
            </a:xfrm>
            <a:custGeom>
              <a:rect b="b" l="l" r="r" t="t"/>
              <a:pathLst>
                <a:path extrusionOk="0" h="1653330" w="182880">
                  <a:moveTo>
                    <a:pt x="0" y="0"/>
                  </a:moveTo>
                  <a:lnTo>
                    <a:pt x="182880" y="0"/>
                  </a:lnTo>
                  <a:lnTo>
                    <a:pt x="182880" y="1653331"/>
                  </a:lnTo>
                  <a:lnTo>
                    <a:pt x="0" y="1653331"/>
                  </a:lnTo>
                  <a:close/>
                </a:path>
              </a:pathLst>
            </a:custGeom>
            <a:solidFill>
              <a:srgbClr val="17A589"/>
            </a:solidFill>
            <a:ln>
              <a:noFill/>
            </a:ln>
          </p:spPr>
        </p:sp>
        <p:sp>
          <p:nvSpPr>
            <p:cNvPr id="1253" name="Google Shape;1253;p26"/>
            <p:cNvSpPr/>
            <p:nvPr/>
          </p:nvSpPr>
          <p:spPr>
            <a:xfrm>
              <a:off x="0" y="0"/>
              <a:ext cx="208280" cy="1669167"/>
            </a:xfrm>
            <a:custGeom>
              <a:rect b="b" l="l" r="r" t="t"/>
              <a:pathLst>
                <a:path extrusionOk="0" h="1669167" w="208280">
                  <a:moveTo>
                    <a:pt x="12700" y="0"/>
                  </a:moveTo>
                  <a:lnTo>
                    <a:pt x="195580" y="0"/>
                  </a:lnTo>
                  <a:cubicBezTo>
                    <a:pt x="202565" y="0"/>
                    <a:pt x="208280" y="3563"/>
                    <a:pt x="208280" y="7918"/>
                  </a:cubicBezTo>
                  <a:lnTo>
                    <a:pt x="208280" y="1661249"/>
                  </a:lnTo>
                  <a:cubicBezTo>
                    <a:pt x="208280" y="1665604"/>
                    <a:pt x="202565" y="1669167"/>
                    <a:pt x="195580" y="1669167"/>
                  </a:cubicBezTo>
                  <a:lnTo>
                    <a:pt x="12700" y="1669167"/>
                  </a:lnTo>
                  <a:cubicBezTo>
                    <a:pt x="5715" y="1669167"/>
                    <a:pt x="0" y="1665604"/>
                    <a:pt x="0" y="1661249"/>
                  </a:cubicBezTo>
                  <a:lnTo>
                    <a:pt x="0" y="7918"/>
                  </a:lnTo>
                  <a:cubicBezTo>
                    <a:pt x="0" y="3563"/>
                    <a:pt x="5715" y="0"/>
                    <a:pt x="12700" y="0"/>
                  </a:cubicBezTo>
                  <a:moveTo>
                    <a:pt x="12700" y="15836"/>
                  </a:moveTo>
                  <a:lnTo>
                    <a:pt x="12700" y="7918"/>
                  </a:lnTo>
                  <a:lnTo>
                    <a:pt x="25400" y="7918"/>
                  </a:lnTo>
                  <a:lnTo>
                    <a:pt x="25400" y="1661249"/>
                  </a:lnTo>
                  <a:lnTo>
                    <a:pt x="12700" y="1661249"/>
                  </a:lnTo>
                  <a:lnTo>
                    <a:pt x="12700" y="1653330"/>
                  </a:lnTo>
                  <a:lnTo>
                    <a:pt x="195580" y="1653330"/>
                  </a:lnTo>
                  <a:lnTo>
                    <a:pt x="195580" y="1661249"/>
                  </a:lnTo>
                  <a:lnTo>
                    <a:pt x="182880" y="1661249"/>
                  </a:lnTo>
                  <a:lnTo>
                    <a:pt x="182880" y="7918"/>
                  </a:lnTo>
                  <a:lnTo>
                    <a:pt x="195580" y="7918"/>
                  </a:lnTo>
                  <a:lnTo>
                    <a:pt x="195580" y="15836"/>
                  </a:lnTo>
                  <a:lnTo>
                    <a:pt x="12700" y="15836"/>
                  </a:lnTo>
                  <a:close/>
                </a:path>
              </a:pathLst>
            </a:custGeom>
            <a:solidFill>
              <a:srgbClr val="17A5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4" name="Google Shape;1254;p26"/>
          <p:cNvGrpSpPr/>
          <p:nvPr/>
        </p:nvGrpSpPr>
        <p:grpSpPr>
          <a:xfrm>
            <a:off x="10985818" y="5248833"/>
            <a:ext cx="7007139" cy="523743"/>
            <a:chOff x="0" y="-47625"/>
            <a:chExt cx="10424160" cy="779145"/>
          </a:xfrm>
        </p:grpSpPr>
        <p:sp>
          <p:nvSpPr>
            <p:cNvPr id="1255" name="Google Shape;1255;p26"/>
            <p:cNvSpPr/>
            <p:nvPr/>
          </p:nvSpPr>
          <p:spPr>
            <a:xfrm>
              <a:off x="0" y="0"/>
              <a:ext cx="10424160" cy="731520"/>
            </a:xfrm>
            <a:custGeom>
              <a:rect b="b" l="l" r="r" t="t"/>
              <a:pathLst>
                <a:path extrusionOk="0" h="731520" w="10424160">
                  <a:moveTo>
                    <a:pt x="0" y="0"/>
                  </a:moveTo>
                  <a:lnTo>
                    <a:pt x="10424160" y="0"/>
                  </a:lnTo>
                  <a:lnTo>
                    <a:pt x="10424160" y="731520"/>
                  </a:lnTo>
                  <a:lnTo>
                    <a:pt x="0" y="731520"/>
                  </a:lnTo>
                  <a:close/>
                </a:path>
              </a:pathLst>
            </a:custGeom>
            <a:blipFill rotWithShape="1">
              <a:blip r:embed="rId3">
                <a:alphaModFix amt="0"/>
              </a:blip>
              <a:stretch>
                <a:fillRect b="-227654" l="0" r="0" t="-227654"/>
              </a:stretch>
            </a:blipFill>
            <a:ln>
              <a:noFill/>
            </a:ln>
          </p:spPr>
        </p:sp>
        <p:sp>
          <p:nvSpPr>
            <p:cNvPr id="1256" name="Google Shape;1256;p26"/>
            <p:cNvSpPr txBox="1"/>
            <p:nvPr/>
          </p:nvSpPr>
          <p:spPr>
            <a:xfrm>
              <a:off x="0" y="-47625"/>
              <a:ext cx="1042416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17A589"/>
                  </a:solidFill>
                  <a:latin typeface="Calibri"/>
                  <a:ea typeface="Calibri"/>
                  <a:cs typeface="Calibri"/>
                  <a:sym typeface="Calibri"/>
                </a:rPr>
                <a:t>Güçlü Türler</a:t>
              </a:r>
              <a:endParaRPr/>
            </a:p>
          </p:txBody>
        </p:sp>
      </p:grpSp>
      <p:grpSp>
        <p:nvGrpSpPr>
          <p:cNvPr id="1257" name="Google Shape;1257;p26"/>
          <p:cNvGrpSpPr/>
          <p:nvPr/>
        </p:nvGrpSpPr>
        <p:grpSpPr>
          <a:xfrm>
            <a:off x="11016551" y="5457833"/>
            <a:ext cx="7007139" cy="941200"/>
            <a:chOff x="0" y="-28575"/>
            <a:chExt cx="10424160" cy="1400175"/>
          </a:xfrm>
        </p:grpSpPr>
        <p:sp>
          <p:nvSpPr>
            <p:cNvPr id="1258" name="Google Shape;1258;p26"/>
            <p:cNvSpPr/>
            <p:nvPr/>
          </p:nvSpPr>
          <p:spPr>
            <a:xfrm>
              <a:off x="0" y="0"/>
              <a:ext cx="10424160" cy="1371600"/>
            </a:xfrm>
            <a:custGeom>
              <a:rect b="b" l="l" r="r" t="t"/>
              <a:pathLst>
                <a:path extrusionOk="0" h="1371600" w="10424160">
                  <a:moveTo>
                    <a:pt x="0" y="0"/>
                  </a:moveTo>
                  <a:lnTo>
                    <a:pt x="10424160" y="0"/>
                  </a:lnTo>
                  <a:lnTo>
                    <a:pt x="10424160" y="1371600"/>
                  </a:lnTo>
                  <a:lnTo>
                    <a:pt x="0" y="1371600"/>
                  </a:lnTo>
                  <a:close/>
                </a:path>
              </a:pathLst>
            </a:custGeom>
            <a:blipFill rotWithShape="1">
              <a:blip r:embed="rId3">
                <a:alphaModFix amt="0"/>
              </a:blip>
              <a:stretch>
                <a:fillRect b="-98087" l="0" r="0" t="-98087"/>
              </a:stretch>
            </a:blipFill>
            <a:ln>
              <a:noFill/>
            </a:ln>
          </p:spPr>
        </p:sp>
        <p:sp>
          <p:nvSpPr>
            <p:cNvPr id="1259" name="Google Shape;1259;p26"/>
            <p:cNvSpPr txBox="1"/>
            <p:nvPr/>
          </p:nvSpPr>
          <p:spPr>
            <a:xfrm>
              <a:off x="0" y="-28575"/>
              <a:ext cx="10424160" cy="14001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650" u="none" cap="none" strike="noStrike">
                  <a:solidFill>
                    <a:srgbClr val="212529"/>
                  </a:solidFill>
                  <a:latin typeface="Calibri"/>
                  <a:ea typeface="Calibri"/>
                  <a:cs typeface="Calibri"/>
                  <a:sym typeface="Calibri"/>
                </a:rPr>
                <a:t>afrobeat, bluegrass, black-metal düzgün ayrıştırıldı</a:t>
              </a:r>
              <a:endParaRPr/>
            </a:p>
          </p:txBody>
        </p:sp>
      </p:grpSp>
      <p:grpSp>
        <p:nvGrpSpPr>
          <p:cNvPr id="1260" name="Google Shape;1260;p26"/>
          <p:cNvGrpSpPr/>
          <p:nvPr/>
        </p:nvGrpSpPr>
        <p:grpSpPr>
          <a:xfrm>
            <a:off x="10731417" y="6560958"/>
            <a:ext cx="7393010" cy="1072665"/>
            <a:chOff x="0" y="0"/>
            <a:chExt cx="10998200" cy="1595748"/>
          </a:xfrm>
        </p:grpSpPr>
        <p:sp>
          <p:nvSpPr>
            <p:cNvPr id="1261" name="Google Shape;1261;p26"/>
            <p:cNvSpPr/>
            <p:nvPr/>
          </p:nvSpPr>
          <p:spPr>
            <a:xfrm>
              <a:off x="12700" y="7570"/>
              <a:ext cx="10972800" cy="1580608"/>
            </a:xfrm>
            <a:custGeom>
              <a:rect b="b" l="l" r="r" t="t"/>
              <a:pathLst>
                <a:path extrusionOk="0" h="1580608" w="10972800">
                  <a:moveTo>
                    <a:pt x="0" y="0"/>
                  </a:moveTo>
                  <a:lnTo>
                    <a:pt x="10972800" y="0"/>
                  </a:lnTo>
                  <a:lnTo>
                    <a:pt x="10972800" y="1580608"/>
                  </a:lnTo>
                  <a:lnTo>
                    <a:pt x="0" y="1580608"/>
                  </a:lnTo>
                  <a:close/>
                </a:path>
              </a:pathLst>
            </a:custGeom>
            <a:solidFill>
              <a:srgbClr val="C0392B">
                <a:alpha val="784"/>
              </a:srgbClr>
            </a:solidFill>
            <a:ln>
              <a:noFill/>
            </a:ln>
          </p:spPr>
        </p:sp>
        <p:sp>
          <p:nvSpPr>
            <p:cNvPr id="1262" name="Google Shape;1262;p26"/>
            <p:cNvSpPr/>
            <p:nvPr/>
          </p:nvSpPr>
          <p:spPr>
            <a:xfrm>
              <a:off x="0" y="0"/>
              <a:ext cx="10998200" cy="1595748"/>
            </a:xfrm>
            <a:custGeom>
              <a:rect b="b" l="l" r="r" t="t"/>
              <a:pathLst>
                <a:path extrusionOk="0" h="1595748" w="10998200">
                  <a:moveTo>
                    <a:pt x="12700" y="0"/>
                  </a:moveTo>
                  <a:lnTo>
                    <a:pt x="10985500" y="0"/>
                  </a:lnTo>
                  <a:cubicBezTo>
                    <a:pt x="10992485" y="0"/>
                    <a:pt x="10998200" y="3406"/>
                    <a:pt x="10998200" y="7570"/>
                  </a:cubicBezTo>
                  <a:lnTo>
                    <a:pt x="10998200" y="1588178"/>
                  </a:lnTo>
                  <a:cubicBezTo>
                    <a:pt x="10998200" y="1592342"/>
                    <a:pt x="10992485" y="1595748"/>
                    <a:pt x="10985500" y="1595748"/>
                  </a:cubicBezTo>
                  <a:lnTo>
                    <a:pt x="12700" y="1595748"/>
                  </a:lnTo>
                  <a:cubicBezTo>
                    <a:pt x="5715" y="1595748"/>
                    <a:pt x="0" y="1592342"/>
                    <a:pt x="0" y="1588178"/>
                  </a:cubicBezTo>
                  <a:lnTo>
                    <a:pt x="0" y="7570"/>
                  </a:lnTo>
                  <a:cubicBezTo>
                    <a:pt x="0" y="3406"/>
                    <a:pt x="5715" y="0"/>
                    <a:pt x="12700" y="0"/>
                  </a:cubicBezTo>
                  <a:moveTo>
                    <a:pt x="12700" y="15140"/>
                  </a:moveTo>
                  <a:lnTo>
                    <a:pt x="12700" y="7570"/>
                  </a:lnTo>
                  <a:lnTo>
                    <a:pt x="25400" y="7570"/>
                  </a:lnTo>
                  <a:lnTo>
                    <a:pt x="25400" y="1588178"/>
                  </a:lnTo>
                  <a:lnTo>
                    <a:pt x="12700" y="1588178"/>
                  </a:lnTo>
                  <a:lnTo>
                    <a:pt x="12700" y="1580608"/>
                  </a:lnTo>
                  <a:lnTo>
                    <a:pt x="10985500" y="1580608"/>
                  </a:lnTo>
                  <a:lnTo>
                    <a:pt x="10985500" y="1588178"/>
                  </a:lnTo>
                  <a:lnTo>
                    <a:pt x="10972800" y="1588178"/>
                  </a:lnTo>
                  <a:lnTo>
                    <a:pt x="10972800" y="7570"/>
                  </a:lnTo>
                  <a:lnTo>
                    <a:pt x="10985500" y="7570"/>
                  </a:lnTo>
                  <a:lnTo>
                    <a:pt x="10985500" y="15140"/>
                  </a:lnTo>
                  <a:lnTo>
                    <a:pt x="12700" y="15140"/>
                  </a:lnTo>
                  <a:close/>
                </a:path>
              </a:pathLst>
            </a:custGeom>
            <a:solidFill>
              <a:srgbClr val="C0392B">
                <a:alpha val="2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3" name="Google Shape;1263;p26"/>
          <p:cNvGrpSpPr/>
          <p:nvPr/>
        </p:nvGrpSpPr>
        <p:grpSpPr>
          <a:xfrm>
            <a:off x="10731417" y="6560958"/>
            <a:ext cx="140006" cy="1072665"/>
            <a:chOff x="0" y="0"/>
            <a:chExt cx="208280" cy="1595748"/>
          </a:xfrm>
        </p:grpSpPr>
        <p:sp>
          <p:nvSpPr>
            <p:cNvPr id="1264" name="Google Shape;1264;p26"/>
            <p:cNvSpPr/>
            <p:nvPr/>
          </p:nvSpPr>
          <p:spPr>
            <a:xfrm>
              <a:off x="12700" y="7570"/>
              <a:ext cx="182880" cy="1580608"/>
            </a:xfrm>
            <a:custGeom>
              <a:rect b="b" l="l" r="r" t="t"/>
              <a:pathLst>
                <a:path extrusionOk="0" h="1580608" w="182880">
                  <a:moveTo>
                    <a:pt x="0" y="0"/>
                  </a:moveTo>
                  <a:lnTo>
                    <a:pt x="182880" y="0"/>
                  </a:lnTo>
                  <a:lnTo>
                    <a:pt x="182880" y="1580608"/>
                  </a:lnTo>
                  <a:lnTo>
                    <a:pt x="0" y="1580608"/>
                  </a:lnTo>
                  <a:close/>
                </a:path>
              </a:pathLst>
            </a:custGeom>
            <a:solidFill>
              <a:srgbClr val="C0392B"/>
            </a:solidFill>
            <a:ln>
              <a:noFill/>
            </a:ln>
          </p:spPr>
        </p:sp>
        <p:sp>
          <p:nvSpPr>
            <p:cNvPr id="1265" name="Google Shape;1265;p26"/>
            <p:cNvSpPr/>
            <p:nvPr/>
          </p:nvSpPr>
          <p:spPr>
            <a:xfrm>
              <a:off x="0" y="0"/>
              <a:ext cx="208280" cy="1595748"/>
            </a:xfrm>
            <a:custGeom>
              <a:rect b="b" l="l" r="r" t="t"/>
              <a:pathLst>
                <a:path extrusionOk="0" h="1595748" w="208280">
                  <a:moveTo>
                    <a:pt x="12700" y="0"/>
                  </a:moveTo>
                  <a:lnTo>
                    <a:pt x="195580" y="0"/>
                  </a:lnTo>
                  <a:cubicBezTo>
                    <a:pt x="202565" y="0"/>
                    <a:pt x="208280" y="3406"/>
                    <a:pt x="208280" y="7570"/>
                  </a:cubicBezTo>
                  <a:lnTo>
                    <a:pt x="208280" y="1588178"/>
                  </a:lnTo>
                  <a:cubicBezTo>
                    <a:pt x="208280" y="1592342"/>
                    <a:pt x="202565" y="1595748"/>
                    <a:pt x="195580" y="1595748"/>
                  </a:cubicBezTo>
                  <a:lnTo>
                    <a:pt x="12700" y="1595748"/>
                  </a:lnTo>
                  <a:cubicBezTo>
                    <a:pt x="5715" y="1595748"/>
                    <a:pt x="0" y="1592342"/>
                    <a:pt x="0" y="1588178"/>
                  </a:cubicBezTo>
                  <a:lnTo>
                    <a:pt x="0" y="7570"/>
                  </a:lnTo>
                  <a:cubicBezTo>
                    <a:pt x="0" y="3406"/>
                    <a:pt x="5715" y="0"/>
                    <a:pt x="12700" y="0"/>
                  </a:cubicBezTo>
                  <a:moveTo>
                    <a:pt x="12700" y="15140"/>
                  </a:moveTo>
                  <a:lnTo>
                    <a:pt x="12700" y="7570"/>
                  </a:lnTo>
                  <a:lnTo>
                    <a:pt x="25400" y="7570"/>
                  </a:lnTo>
                  <a:lnTo>
                    <a:pt x="25400" y="1588178"/>
                  </a:lnTo>
                  <a:lnTo>
                    <a:pt x="12700" y="1588178"/>
                  </a:lnTo>
                  <a:lnTo>
                    <a:pt x="12700" y="1580608"/>
                  </a:lnTo>
                  <a:lnTo>
                    <a:pt x="195580" y="1580608"/>
                  </a:lnTo>
                  <a:lnTo>
                    <a:pt x="195580" y="1588178"/>
                  </a:lnTo>
                  <a:lnTo>
                    <a:pt x="182880" y="1588178"/>
                  </a:lnTo>
                  <a:lnTo>
                    <a:pt x="182880" y="7570"/>
                  </a:lnTo>
                  <a:lnTo>
                    <a:pt x="195580" y="7570"/>
                  </a:lnTo>
                  <a:lnTo>
                    <a:pt x="195580" y="15140"/>
                  </a:lnTo>
                  <a:lnTo>
                    <a:pt x="12700" y="15140"/>
                  </a:lnTo>
                  <a:close/>
                </a:path>
              </a:pathLst>
            </a:cu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6" name="Google Shape;1266;p26"/>
          <p:cNvGrpSpPr/>
          <p:nvPr/>
        </p:nvGrpSpPr>
        <p:grpSpPr>
          <a:xfrm>
            <a:off x="10985818" y="6635827"/>
            <a:ext cx="7007139" cy="523743"/>
            <a:chOff x="0" y="-47625"/>
            <a:chExt cx="10424160" cy="779145"/>
          </a:xfrm>
        </p:grpSpPr>
        <p:sp>
          <p:nvSpPr>
            <p:cNvPr id="1267" name="Google Shape;1267;p26"/>
            <p:cNvSpPr/>
            <p:nvPr/>
          </p:nvSpPr>
          <p:spPr>
            <a:xfrm>
              <a:off x="0" y="0"/>
              <a:ext cx="10424160" cy="731520"/>
            </a:xfrm>
            <a:custGeom>
              <a:rect b="b" l="l" r="r" t="t"/>
              <a:pathLst>
                <a:path extrusionOk="0" h="731520" w="10424160">
                  <a:moveTo>
                    <a:pt x="0" y="0"/>
                  </a:moveTo>
                  <a:lnTo>
                    <a:pt x="10424160" y="0"/>
                  </a:lnTo>
                  <a:lnTo>
                    <a:pt x="10424160" y="731520"/>
                  </a:lnTo>
                  <a:lnTo>
                    <a:pt x="0" y="731520"/>
                  </a:lnTo>
                  <a:close/>
                </a:path>
              </a:pathLst>
            </a:custGeom>
            <a:blipFill rotWithShape="1">
              <a:blip r:embed="rId3">
                <a:alphaModFix amt="0"/>
              </a:blip>
              <a:stretch>
                <a:fillRect b="-227654" l="0" r="0" t="-227654"/>
              </a:stretch>
            </a:blipFill>
            <a:ln>
              <a:noFill/>
            </a:ln>
          </p:spPr>
        </p:sp>
        <p:sp>
          <p:nvSpPr>
            <p:cNvPr id="1268" name="Google Shape;1268;p26"/>
            <p:cNvSpPr txBox="1"/>
            <p:nvPr/>
          </p:nvSpPr>
          <p:spPr>
            <a:xfrm>
              <a:off x="0" y="-47625"/>
              <a:ext cx="1042416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1950" u="none" cap="none" strike="noStrike">
                  <a:solidFill>
                    <a:srgbClr val="C0392B"/>
                  </a:solidFill>
                  <a:latin typeface="Calibri"/>
                  <a:ea typeface="Calibri"/>
                  <a:cs typeface="Calibri"/>
                  <a:sym typeface="Calibri"/>
                </a:rPr>
                <a:t>Zayıf Türler</a:t>
              </a:r>
              <a:endParaRPr/>
            </a:p>
          </p:txBody>
        </p:sp>
      </p:grpSp>
      <p:grpSp>
        <p:nvGrpSpPr>
          <p:cNvPr id="1269" name="Google Shape;1269;p26"/>
          <p:cNvGrpSpPr/>
          <p:nvPr/>
        </p:nvGrpSpPr>
        <p:grpSpPr>
          <a:xfrm>
            <a:off x="10985818" y="6941800"/>
            <a:ext cx="7007139" cy="941200"/>
            <a:chOff x="0" y="-28575"/>
            <a:chExt cx="10424160" cy="1400175"/>
          </a:xfrm>
        </p:grpSpPr>
        <p:sp>
          <p:nvSpPr>
            <p:cNvPr id="1270" name="Google Shape;1270;p26"/>
            <p:cNvSpPr/>
            <p:nvPr/>
          </p:nvSpPr>
          <p:spPr>
            <a:xfrm>
              <a:off x="0" y="0"/>
              <a:ext cx="10424160" cy="1371600"/>
            </a:xfrm>
            <a:custGeom>
              <a:rect b="b" l="l" r="r" t="t"/>
              <a:pathLst>
                <a:path extrusionOk="0" h="1371600" w="10424160">
                  <a:moveTo>
                    <a:pt x="0" y="0"/>
                  </a:moveTo>
                  <a:lnTo>
                    <a:pt x="10424160" y="0"/>
                  </a:lnTo>
                  <a:lnTo>
                    <a:pt x="10424160" y="1371600"/>
                  </a:lnTo>
                  <a:lnTo>
                    <a:pt x="0" y="1371600"/>
                  </a:lnTo>
                  <a:close/>
                </a:path>
              </a:pathLst>
            </a:custGeom>
            <a:blipFill rotWithShape="1">
              <a:blip r:embed="rId3">
                <a:alphaModFix amt="0"/>
              </a:blip>
              <a:stretch>
                <a:fillRect b="-98087" l="0" r="0" t="-98087"/>
              </a:stretch>
            </a:blipFill>
            <a:ln>
              <a:noFill/>
            </a:ln>
          </p:spPr>
        </p:sp>
        <p:sp>
          <p:nvSpPr>
            <p:cNvPr id="1271" name="Google Shape;1271;p26"/>
            <p:cNvSpPr txBox="1"/>
            <p:nvPr/>
          </p:nvSpPr>
          <p:spPr>
            <a:xfrm>
              <a:off x="0" y="-28575"/>
              <a:ext cx="10424160" cy="14001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1650" u="none" cap="none" strike="noStrike">
                  <a:solidFill>
                    <a:srgbClr val="212529"/>
                  </a:solidFill>
                  <a:latin typeface="Calibri"/>
                  <a:ea typeface="Calibri"/>
                  <a:cs typeface="Calibri"/>
                  <a:sym typeface="Calibri"/>
                </a:rPr>
                <a:t>Ses özelliği benzer türler (örn. electronic alt kategoriler) güç ayrılıyor</a:t>
              </a:r>
              <a:endParaRPr/>
            </a:p>
          </p:txBody>
        </p:sp>
      </p:grpSp>
      <p:grpSp>
        <p:nvGrpSpPr>
          <p:cNvPr id="1272" name="Google Shape;1272;p26"/>
          <p:cNvGrpSpPr/>
          <p:nvPr/>
        </p:nvGrpSpPr>
        <p:grpSpPr>
          <a:xfrm>
            <a:off x="10731417" y="8102075"/>
            <a:ext cx="7393010" cy="877600"/>
            <a:chOff x="0" y="0"/>
            <a:chExt cx="10998200" cy="1305560"/>
          </a:xfrm>
        </p:grpSpPr>
        <p:sp>
          <p:nvSpPr>
            <p:cNvPr id="1273" name="Google Shape;1273;p26"/>
            <p:cNvSpPr/>
            <p:nvPr/>
          </p:nvSpPr>
          <p:spPr>
            <a:xfrm>
              <a:off x="12700" y="12700"/>
              <a:ext cx="10972800" cy="1280160"/>
            </a:xfrm>
            <a:custGeom>
              <a:rect b="b" l="l" r="r" t="t"/>
              <a:pathLst>
                <a:path extrusionOk="0" h="1280160" w="10972800">
                  <a:moveTo>
                    <a:pt x="0" y="0"/>
                  </a:moveTo>
                  <a:lnTo>
                    <a:pt x="10972800" y="0"/>
                  </a:lnTo>
                  <a:lnTo>
                    <a:pt x="10972800" y="1280160"/>
                  </a:lnTo>
                  <a:lnTo>
                    <a:pt x="0" y="1280160"/>
                  </a:lnTo>
                  <a:close/>
                </a:path>
              </a:pathLst>
            </a:custGeom>
            <a:solidFill>
              <a:srgbClr val="191414"/>
            </a:solidFill>
            <a:ln>
              <a:noFill/>
            </a:ln>
          </p:spPr>
        </p:sp>
        <p:sp>
          <p:nvSpPr>
            <p:cNvPr id="1274" name="Google Shape;1274;p26"/>
            <p:cNvSpPr/>
            <p:nvPr/>
          </p:nvSpPr>
          <p:spPr>
            <a:xfrm>
              <a:off x="0" y="0"/>
              <a:ext cx="10998200" cy="1305560"/>
            </a:xfrm>
            <a:custGeom>
              <a:rect b="b" l="l" r="r" t="t"/>
              <a:pathLst>
                <a:path extrusionOk="0" h="1305560" w="10998200">
                  <a:moveTo>
                    <a:pt x="12700" y="0"/>
                  </a:moveTo>
                  <a:lnTo>
                    <a:pt x="10985500" y="0"/>
                  </a:lnTo>
                  <a:cubicBezTo>
                    <a:pt x="10992485" y="0"/>
                    <a:pt x="10998200" y="5715"/>
                    <a:pt x="10998200" y="12700"/>
                  </a:cubicBezTo>
                  <a:lnTo>
                    <a:pt x="10998200" y="1292860"/>
                  </a:lnTo>
                  <a:cubicBezTo>
                    <a:pt x="10998200" y="1299845"/>
                    <a:pt x="10992485" y="1305560"/>
                    <a:pt x="10985500" y="1305560"/>
                  </a:cubicBezTo>
                  <a:lnTo>
                    <a:pt x="12700" y="1305560"/>
                  </a:lnTo>
                  <a:cubicBezTo>
                    <a:pt x="5715" y="1305560"/>
                    <a:pt x="0" y="1299845"/>
                    <a:pt x="0" y="1292860"/>
                  </a:cubicBezTo>
                  <a:lnTo>
                    <a:pt x="0" y="12700"/>
                  </a:lnTo>
                  <a:cubicBezTo>
                    <a:pt x="0" y="5715"/>
                    <a:pt x="5715" y="0"/>
                    <a:pt x="12700" y="0"/>
                  </a:cubicBezTo>
                  <a:moveTo>
                    <a:pt x="12700" y="25400"/>
                  </a:moveTo>
                  <a:lnTo>
                    <a:pt x="12700" y="12700"/>
                  </a:lnTo>
                  <a:lnTo>
                    <a:pt x="25400" y="12700"/>
                  </a:lnTo>
                  <a:lnTo>
                    <a:pt x="25400" y="1292860"/>
                  </a:lnTo>
                  <a:lnTo>
                    <a:pt x="12700" y="1292860"/>
                  </a:lnTo>
                  <a:lnTo>
                    <a:pt x="12700" y="1280160"/>
                  </a:lnTo>
                  <a:lnTo>
                    <a:pt x="10985500" y="1280160"/>
                  </a:lnTo>
                  <a:lnTo>
                    <a:pt x="10985500" y="1292860"/>
                  </a:lnTo>
                  <a:lnTo>
                    <a:pt x="10972800" y="1292860"/>
                  </a:lnTo>
                  <a:lnTo>
                    <a:pt x="10972800" y="12700"/>
                  </a:lnTo>
                  <a:lnTo>
                    <a:pt x="10985500" y="12700"/>
                  </a:lnTo>
                  <a:lnTo>
                    <a:pt x="10985500" y="25400"/>
                  </a:lnTo>
                  <a:lnTo>
                    <a:pt x="12700" y="25400"/>
                  </a:lnTo>
                  <a:close/>
                </a:path>
              </a:pathLst>
            </a:custGeom>
            <a:solidFill>
              <a:srgbClr val="19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26"/>
          <p:cNvGrpSpPr/>
          <p:nvPr/>
        </p:nvGrpSpPr>
        <p:grpSpPr>
          <a:xfrm>
            <a:off x="10871423" y="8076464"/>
            <a:ext cx="7191538" cy="886137"/>
            <a:chOff x="0" y="-38100"/>
            <a:chExt cx="10698480" cy="1318260"/>
          </a:xfrm>
        </p:grpSpPr>
        <p:sp>
          <p:nvSpPr>
            <p:cNvPr id="1276" name="Google Shape;1276;p26"/>
            <p:cNvSpPr/>
            <p:nvPr/>
          </p:nvSpPr>
          <p:spPr>
            <a:xfrm>
              <a:off x="0" y="0"/>
              <a:ext cx="10698480" cy="1280160"/>
            </a:xfrm>
            <a:custGeom>
              <a:rect b="b" l="l" r="r" t="t"/>
              <a:pathLst>
                <a:path extrusionOk="0" h="1280160" w="10698480">
                  <a:moveTo>
                    <a:pt x="0" y="0"/>
                  </a:moveTo>
                  <a:lnTo>
                    <a:pt x="10698480" y="0"/>
                  </a:lnTo>
                  <a:lnTo>
                    <a:pt x="10698480" y="1280160"/>
                  </a:lnTo>
                  <a:lnTo>
                    <a:pt x="0" y="1280160"/>
                  </a:lnTo>
                  <a:close/>
                </a:path>
              </a:pathLst>
            </a:custGeom>
            <a:blipFill rotWithShape="1">
              <a:blip r:embed="rId3">
                <a:alphaModFix amt="0"/>
              </a:blip>
              <a:stretch>
                <a:fillRect b="-112835" l="0" r="0" t="-112835"/>
              </a:stretch>
            </a:blipFill>
            <a:ln>
              <a:noFill/>
            </a:ln>
          </p:spPr>
        </p:sp>
        <p:sp>
          <p:nvSpPr>
            <p:cNvPr id="1277" name="Google Shape;1277;p26"/>
            <p:cNvSpPr txBox="1"/>
            <p:nvPr/>
          </p:nvSpPr>
          <p:spPr>
            <a:xfrm>
              <a:off x="0" y="-38100"/>
              <a:ext cx="10698480" cy="1318260"/>
            </a:xfrm>
            <a:prstGeom prst="rect">
              <a:avLst/>
            </a:prstGeom>
            <a:noFill/>
            <a:ln>
              <a:noFill/>
            </a:ln>
          </p:spPr>
          <p:txBody>
            <a:bodyPr anchorCtr="0" anchor="ctr" bIns="0" lIns="0" spcFirstLastPara="1" rIns="0" wrap="square" tIns="0">
              <a:noAutofit/>
            </a:bodyPr>
            <a:lstStyle/>
            <a:p>
              <a:pPr indent="0" lvl="0" marL="0" marR="0" rtl="0" algn="l">
                <a:lnSpc>
                  <a:spcPct val="120009"/>
                </a:lnSpc>
                <a:spcBef>
                  <a:spcPts val="0"/>
                </a:spcBef>
                <a:spcAft>
                  <a:spcPts val="0"/>
                </a:spcAft>
                <a:buNone/>
              </a:pPr>
              <a:r>
                <a:rPr b="0" i="0" lang="en-US" sz="2149" u="none" cap="none" strike="noStrike">
                  <a:solidFill>
                    <a:srgbClr val="1DB954"/>
                  </a:solidFill>
                  <a:latin typeface="Calibri"/>
                  <a:ea typeface="Calibri"/>
                  <a:cs typeface="Calibri"/>
                  <a:sym typeface="Calibri"/>
                </a:rPr>
                <a:t>2,447 test örneği · 25 tür </a:t>
              </a:r>
              <a:endParaRPr/>
            </a:p>
            <a:p>
              <a:pPr indent="0" lvl="0" marL="0" marR="0" rtl="0" algn="l">
                <a:lnSpc>
                  <a:spcPct val="120009"/>
                </a:lnSpc>
                <a:spcBef>
                  <a:spcPts val="0"/>
                </a:spcBef>
                <a:spcAft>
                  <a:spcPts val="0"/>
                </a:spcAft>
                <a:buNone/>
              </a:pPr>
              <a:r>
                <a:rPr b="0" i="0" lang="en-US" sz="2149" u="none" cap="none" strike="noStrike">
                  <a:solidFill>
                    <a:srgbClr val="1DB954"/>
                  </a:solidFill>
                  <a:latin typeface="Calibri"/>
                  <a:ea typeface="Calibri"/>
                  <a:cs typeface="Calibri"/>
                  <a:sym typeface="Calibri"/>
                </a:rPr>
                <a:t>Doğru: 1,370 · Yanlış: 1,077 — %55.99 accuracy</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grpSp>
        <p:nvGrpSpPr>
          <p:cNvPr id="1286" name="Google Shape;1286;p27"/>
          <p:cNvGrpSpPr/>
          <p:nvPr/>
        </p:nvGrpSpPr>
        <p:grpSpPr>
          <a:xfrm>
            <a:off x="-12697" y="-12697"/>
            <a:ext cx="18313336" cy="1579816"/>
            <a:chOff x="0" y="0"/>
            <a:chExt cx="24417782" cy="2106422"/>
          </a:xfrm>
        </p:grpSpPr>
        <p:sp>
          <p:nvSpPr>
            <p:cNvPr id="1287" name="Google Shape;1287;p27"/>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288" name="Google Shape;1288;p27"/>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9" name="Google Shape;1289;p27"/>
          <p:cNvGrpSpPr/>
          <p:nvPr/>
        </p:nvGrpSpPr>
        <p:grpSpPr>
          <a:xfrm>
            <a:off x="-12697" y="-12697"/>
            <a:ext cx="244792" cy="1579816"/>
            <a:chOff x="0" y="0"/>
            <a:chExt cx="326390" cy="2106422"/>
          </a:xfrm>
        </p:grpSpPr>
        <p:sp>
          <p:nvSpPr>
            <p:cNvPr id="1290" name="Google Shape;1290;p27"/>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291" name="Google Shape;1291;p27"/>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2" name="Google Shape;1292;p27"/>
          <p:cNvGrpSpPr/>
          <p:nvPr/>
        </p:nvGrpSpPr>
        <p:grpSpPr>
          <a:xfrm>
            <a:off x="548640" y="89154"/>
            <a:ext cx="12801600" cy="880110"/>
            <a:chOff x="0" y="-76200"/>
            <a:chExt cx="17068800" cy="1173480"/>
          </a:xfrm>
        </p:grpSpPr>
        <p:sp>
          <p:nvSpPr>
            <p:cNvPr id="1293" name="Google Shape;1293;p27"/>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294" name="Google Shape;1294;p27"/>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Görselleştirilmiş Sonuçlar</a:t>
              </a:r>
              <a:endParaRPr/>
            </a:p>
          </p:txBody>
        </p:sp>
      </p:grpSp>
      <p:grpSp>
        <p:nvGrpSpPr>
          <p:cNvPr id="1295" name="Google Shape;1295;p27"/>
          <p:cNvGrpSpPr/>
          <p:nvPr/>
        </p:nvGrpSpPr>
        <p:grpSpPr>
          <a:xfrm>
            <a:off x="548640" y="915257"/>
            <a:ext cx="16459200" cy="547783"/>
            <a:chOff x="0" y="-47625"/>
            <a:chExt cx="21945600" cy="730377"/>
          </a:xfrm>
        </p:grpSpPr>
        <p:sp>
          <p:nvSpPr>
            <p:cNvPr id="1296" name="Google Shape;1296;p27"/>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297" name="Google Shape;1297;p27"/>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11 görsel — dashboard/ klasöründe PNG olarak kaydedildi</a:t>
              </a:r>
              <a:endParaRPr/>
            </a:p>
          </p:txBody>
        </p:sp>
      </p:grpSp>
      <p:grpSp>
        <p:nvGrpSpPr>
          <p:cNvPr id="1298" name="Google Shape;1298;p27"/>
          <p:cNvGrpSpPr/>
          <p:nvPr/>
        </p:nvGrpSpPr>
        <p:grpSpPr>
          <a:xfrm>
            <a:off x="-12697" y="1541783"/>
            <a:ext cx="18313336" cy="98490"/>
            <a:chOff x="0" y="0"/>
            <a:chExt cx="24417782" cy="131320"/>
          </a:xfrm>
        </p:grpSpPr>
        <p:sp>
          <p:nvSpPr>
            <p:cNvPr id="1299" name="Google Shape;1299;p27"/>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300" name="Google Shape;1300;p27"/>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1" name="Google Shape;1301;p27"/>
          <p:cNvGrpSpPr/>
          <p:nvPr/>
        </p:nvGrpSpPr>
        <p:grpSpPr>
          <a:xfrm>
            <a:off x="353054" y="1899914"/>
            <a:ext cx="8425186" cy="7909089"/>
            <a:chOff x="0" y="0"/>
            <a:chExt cx="11233582" cy="10545452"/>
          </a:xfrm>
        </p:grpSpPr>
        <p:sp>
          <p:nvSpPr>
            <p:cNvPr id="1302" name="Google Shape;1302;p27"/>
            <p:cNvSpPr/>
            <p:nvPr/>
          </p:nvSpPr>
          <p:spPr>
            <a:xfrm>
              <a:off x="25884" y="46139"/>
              <a:ext cx="11181814" cy="10453174"/>
            </a:xfrm>
            <a:custGeom>
              <a:rect b="b" l="l" r="r" t="t"/>
              <a:pathLst>
                <a:path extrusionOk="0" h="10453174" w="11181814">
                  <a:moveTo>
                    <a:pt x="0" y="0"/>
                  </a:moveTo>
                  <a:lnTo>
                    <a:pt x="11181814" y="0"/>
                  </a:lnTo>
                  <a:lnTo>
                    <a:pt x="11181814" y="10453174"/>
                  </a:lnTo>
                  <a:lnTo>
                    <a:pt x="0" y="10453174"/>
                  </a:lnTo>
                  <a:close/>
                </a:path>
              </a:pathLst>
            </a:custGeom>
            <a:solidFill>
              <a:srgbClr val="F4F4F4"/>
            </a:solidFill>
            <a:ln>
              <a:noFill/>
            </a:ln>
          </p:spPr>
        </p:sp>
        <p:sp>
          <p:nvSpPr>
            <p:cNvPr id="1303" name="Google Shape;1303;p27"/>
            <p:cNvSpPr/>
            <p:nvPr/>
          </p:nvSpPr>
          <p:spPr>
            <a:xfrm>
              <a:off x="0" y="0"/>
              <a:ext cx="11233582" cy="10545452"/>
            </a:xfrm>
            <a:custGeom>
              <a:rect b="b" l="l" r="r" t="t"/>
              <a:pathLst>
                <a:path extrusionOk="0" h="10545452" w="11233582">
                  <a:moveTo>
                    <a:pt x="25884" y="0"/>
                  </a:moveTo>
                  <a:lnTo>
                    <a:pt x="11207698" y="0"/>
                  </a:lnTo>
                  <a:cubicBezTo>
                    <a:pt x="11221934" y="0"/>
                    <a:pt x="11233582" y="20762"/>
                    <a:pt x="11233582" y="46139"/>
                  </a:cubicBezTo>
                  <a:lnTo>
                    <a:pt x="11233582" y="10499313"/>
                  </a:lnTo>
                  <a:cubicBezTo>
                    <a:pt x="11233582" y="10524689"/>
                    <a:pt x="11221934" y="10545452"/>
                    <a:pt x="11207698" y="10545452"/>
                  </a:cubicBezTo>
                  <a:lnTo>
                    <a:pt x="25884" y="10545452"/>
                  </a:lnTo>
                  <a:cubicBezTo>
                    <a:pt x="11648" y="10545452"/>
                    <a:pt x="0" y="10524689"/>
                    <a:pt x="0" y="10499313"/>
                  </a:cubicBezTo>
                  <a:lnTo>
                    <a:pt x="0" y="46139"/>
                  </a:lnTo>
                  <a:cubicBezTo>
                    <a:pt x="0" y="20762"/>
                    <a:pt x="11648" y="0"/>
                    <a:pt x="25884" y="0"/>
                  </a:cubicBezTo>
                  <a:moveTo>
                    <a:pt x="25884" y="92277"/>
                  </a:moveTo>
                  <a:lnTo>
                    <a:pt x="25884" y="46139"/>
                  </a:lnTo>
                  <a:lnTo>
                    <a:pt x="51768" y="46139"/>
                  </a:lnTo>
                  <a:lnTo>
                    <a:pt x="51768" y="10499313"/>
                  </a:lnTo>
                  <a:lnTo>
                    <a:pt x="25884" y="10499313"/>
                  </a:lnTo>
                  <a:lnTo>
                    <a:pt x="25884" y="10453174"/>
                  </a:lnTo>
                  <a:lnTo>
                    <a:pt x="11207698" y="10453174"/>
                  </a:lnTo>
                  <a:lnTo>
                    <a:pt x="11207698" y="10499313"/>
                  </a:lnTo>
                  <a:lnTo>
                    <a:pt x="11181814" y="10499313"/>
                  </a:lnTo>
                  <a:lnTo>
                    <a:pt x="11181814" y="46139"/>
                  </a:lnTo>
                  <a:lnTo>
                    <a:pt x="11207698" y="46139"/>
                  </a:lnTo>
                  <a:lnTo>
                    <a:pt x="11207698" y="92277"/>
                  </a:lnTo>
                  <a:lnTo>
                    <a:pt x="25884" y="92277"/>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4" name="Google Shape;1304;p27"/>
          <p:cNvGrpSpPr/>
          <p:nvPr/>
        </p:nvGrpSpPr>
        <p:grpSpPr>
          <a:xfrm>
            <a:off x="349882" y="1896742"/>
            <a:ext cx="8428222" cy="573978"/>
            <a:chOff x="0" y="0"/>
            <a:chExt cx="11237630" cy="765304"/>
          </a:xfrm>
        </p:grpSpPr>
        <p:sp>
          <p:nvSpPr>
            <p:cNvPr id="1305" name="Google Shape;1305;p27"/>
            <p:cNvSpPr/>
            <p:nvPr/>
          </p:nvSpPr>
          <p:spPr>
            <a:xfrm>
              <a:off x="34386" y="16891"/>
              <a:ext cx="11168858" cy="731520"/>
            </a:xfrm>
            <a:custGeom>
              <a:rect b="b" l="l" r="r" t="t"/>
              <a:pathLst>
                <a:path extrusionOk="0" h="731520" w="11168858">
                  <a:moveTo>
                    <a:pt x="0" y="0"/>
                  </a:moveTo>
                  <a:lnTo>
                    <a:pt x="11168858" y="0"/>
                  </a:lnTo>
                  <a:lnTo>
                    <a:pt x="11168858" y="731520"/>
                  </a:lnTo>
                  <a:lnTo>
                    <a:pt x="0" y="731520"/>
                  </a:lnTo>
                  <a:close/>
                </a:path>
              </a:pathLst>
            </a:custGeom>
            <a:solidFill>
              <a:srgbClr val="121212"/>
            </a:solidFill>
            <a:ln>
              <a:noFill/>
            </a:ln>
          </p:spPr>
        </p:sp>
        <p:sp>
          <p:nvSpPr>
            <p:cNvPr id="1306" name="Google Shape;1306;p27"/>
            <p:cNvSpPr/>
            <p:nvPr/>
          </p:nvSpPr>
          <p:spPr>
            <a:xfrm>
              <a:off x="0" y="0"/>
              <a:ext cx="11237630" cy="765304"/>
            </a:xfrm>
            <a:custGeom>
              <a:rect b="b" l="l" r="r" t="t"/>
              <a:pathLst>
                <a:path extrusionOk="0" h="765304" w="11237630">
                  <a:moveTo>
                    <a:pt x="34386" y="0"/>
                  </a:moveTo>
                  <a:lnTo>
                    <a:pt x="11203244" y="0"/>
                  </a:lnTo>
                  <a:cubicBezTo>
                    <a:pt x="11222376" y="0"/>
                    <a:pt x="11237630" y="7620"/>
                    <a:pt x="11237630" y="16891"/>
                  </a:cubicBezTo>
                  <a:lnTo>
                    <a:pt x="11237630" y="748411"/>
                  </a:lnTo>
                  <a:cubicBezTo>
                    <a:pt x="11237630" y="757809"/>
                    <a:pt x="11222117" y="765302"/>
                    <a:pt x="11203244" y="765302"/>
                  </a:cubicBezTo>
                  <a:lnTo>
                    <a:pt x="34386" y="765302"/>
                  </a:lnTo>
                  <a:cubicBezTo>
                    <a:pt x="15512" y="765429"/>
                    <a:pt x="0" y="757809"/>
                    <a:pt x="0" y="748411"/>
                  </a:cubicBezTo>
                  <a:lnTo>
                    <a:pt x="0" y="16891"/>
                  </a:lnTo>
                  <a:cubicBezTo>
                    <a:pt x="0" y="7620"/>
                    <a:pt x="15512" y="0"/>
                    <a:pt x="34386" y="0"/>
                  </a:cubicBezTo>
                  <a:moveTo>
                    <a:pt x="34386" y="33909"/>
                  </a:moveTo>
                  <a:lnTo>
                    <a:pt x="34386" y="16891"/>
                  </a:lnTo>
                  <a:lnTo>
                    <a:pt x="69030" y="16891"/>
                  </a:lnTo>
                  <a:lnTo>
                    <a:pt x="69030" y="748411"/>
                  </a:lnTo>
                  <a:lnTo>
                    <a:pt x="34386" y="748411"/>
                  </a:lnTo>
                  <a:lnTo>
                    <a:pt x="34386" y="731520"/>
                  </a:lnTo>
                  <a:lnTo>
                    <a:pt x="11203244" y="731520"/>
                  </a:lnTo>
                  <a:lnTo>
                    <a:pt x="11203244" y="748411"/>
                  </a:lnTo>
                  <a:lnTo>
                    <a:pt x="11168859" y="748411"/>
                  </a:lnTo>
                  <a:lnTo>
                    <a:pt x="11168859" y="16891"/>
                  </a:lnTo>
                  <a:lnTo>
                    <a:pt x="11203244" y="16891"/>
                  </a:lnTo>
                  <a:lnTo>
                    <a:pt x="11203244" y="33909"/>
                  </a:lnTo>
                  <a:lnTo>
                    <a:pt x="34386"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7" name="Google Shape;1307;p27"/>
          <p:cNvGrpSpPr/>
          <p:nvPr/>
        </p:nvGrpSpPr>
        <p:grpSpPr>
          <a:xfrm>
            <a:off x="362579" y="1954016"/>
            <a:ext cx="731520" cy="430911"/>
            <a:chOff x="0" y="-38100"/>
            <a:chExt cx="975360" cy="574548"/>
          </a:xfrm>
        </p:grpSpPr>
        <p:sp>
          <p:nvSpPr>
            <p:cNvPr id="1308" name="Google Shape;1308;p27"/>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309" name="Google Shape;1309;p27"/>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G4</a:t>
              </a:r>
              <a:endParaRPr/>
            </a:p>
          </p:txBody>
        </p:sp>
      </p:grpSp>
      <p:grpSp>
        <p:nvGrpSpPr>
          <p:cNvPr id="1310" name="Google Shape;1310;p27"/>
          <p:cNvGrpSpPr/>
          <p:nvPr/>
        </p:nvGrpSpPr>
        <p:grpSpPr>
          <a:xfrm>
            <a:off x="1057523" y="1954016"/>
            <a:ext cx="3328416" cy="430911"/>
            <a:chOff x="0" y="-38100"/>
            <a:chExt cx="4437888" cy="574548"/>
          </a:xfrm>
        </p:grpSpPr>
        <p:sp>
          <p:nvSpPr>
            <p:cNvPr id="1311" name="Google Shape;1311;p27"/>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312" name="Google Shape;1312;p27"/>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ROC Eğrisi Karşılaştırması</a:t>
              </a:r>
              <a:endParaRPr/>
            </a:p>
          </p:txBody>
        </p:sp>
      </p:grpSp>
      <p:grpSp>
        <p:nvGrpSpPr>
          <p:cNvPr id="1313" name="Google Shape;1313;p27"/>
          <p:cNvGrpSpPr/>
          <p:nvPr/>
        </p:nvGrpSpPr>
        <p:grpSpPr>
          <a:xfrm>
            <a:off x="9269427" y="1896742"/>
            <a:ext cx="8425186" cy="7912261"/>
            <a:chOff x="0" y="0"/>
            <a:chExt cx="11233582" cy="10549681"/>
          </a:xfrm>
        </p:grpSpPr>
        <p:sp>
          <p:nvSpPr>
            <p:cNvPr id="1314" name="Google Shape;1314;p27"/>
            <p:cNvSpPr/>
            <p:nvPr/>
          </p:nvSpPr>
          <p:spPr>
            <a:xfrm>
              <a:off x="25884" y="46157"/>
              <a:ext cx="11181814" cy="10457366"/>
            </a:xfrm>
            <a:custGeom>
              <a:rect b="b" l="l" r="r" t="t"/>
              <a:pathLst>
                <a:path extrusionOk="0" h="10457366" w="11181814">
                  <a:moveTo>
                    <a:pt x="0" y="0"/>
                  </a:moveTo>
                  <a:lnTo>
                    <a:pt x="11181814" y="0"/>
                  </a:lnTo>
                  <a:lnTo>
                    <a:pt x="11181814" y="10457366"/>
                  </a:lnTo>
                  <a:lnTo>
                    <a:pt x="0" y="10457366"/>
                  </a:lnTo>
                  <a:close/>
                </a:path>
              </a:pathLst>
            </a:custGeom>
            <a:solidFill>
              <a:srgbClr val="F4F4F4"/>
            </a:solidFill>
            <a:ln>
              <a:noFill/>
            </a:ln>
          </p:spPr>
        </p:sp>
        <p:sp>
          <p:nvSpPr>
            <p:cNvPr id="1315" name="Google Shape;1315;p27"/>
            <p:cNvSpPr/>
            <p:nvPr/>
          </p:nvSpPr>
          <p:spPr>
            <a:xfrm>
              <a:off x="0" y="0"/>
              <a:ext cx="11233582" cy="10549681"/>
            </a:xfrm>
            <a:custGeom>
              <a:rect b="b" l="l" r="r" t="t"/>
              <a:pathLst>
                <a:path extrusionOk="0" h="10549681" w="11233582">
                  <a:moveTo>
                    <a:pt x="25884" y="0"/>
                  </a:moveTo>
                  <a:lnTo>
                    <a:pt x="11207698" y="0"/>
                  </a:lnTo>
                  <a:cubicBezTo>
                    <a:pt x="11221934" y="0"/>
                    <a:pt x="11233582" y="20771"/>
                    <a:pt x="11233582" y="46157"/>
                  </a:cubicBezTo>
                  <a:lnTo>
                    <a:pt x="11233582" y="10503523"/>
                  </a:lnTo>
                  <a:cubicBezTo>
                    <a:pt x="11233582" y="10528910"/>
                    <a:pt x="11221934" y="10549681"/>
                    <a:pt x="11207698" y="10549681"/>
                  </a:cubicBezTo>
                  <a:lnTo>
                    <a:pt x="25884" y="10549681"/>
                  </a:lnTo>
                  <a:cubicBezTo>
                    <a:pt x="11648" y="10549681"/>
                    <a:pt x="0" y="10528910"/>
                    <a:pt x="0" y="10503523"/>
                  </a:cubicBezTo>
                  <a:lnTo>
                    <a:pt x="0" y="46157"/>
                  </a:lnTo>
                  <a:cubicBezTo>
                    <a:pt x="0" y="20771"/>
                    <a:pt x="11648" y="0"/>
                    <a:pt x="25884" y="0"/>
                  </a:cubicBezTo>
                  <a:moveTo>
                    <a:pt x="25884" y="92314"/>
                  </a:moveTo>
                  <a:lnTo>
                    <a:pt x="25884" y="46157"/>
                  </a:lnTo>
                  <a:lnTo>
                    <a:pt x="51768" y="46157"/>
                  </a:lnTo>
                  <a:lnTo>
                    <a:pt x="51768" y="10503523"/>
                  </a:lnTo>
                  <a:lnTo>
                    <a:pt x="25884" y="10503523"/>
                  </a:lnTo>
                  <a:lnTo>
                    <a:pt x="25884" y="10457366"/>
                  </a:lnTo>
                  <a:lnTo>
                    <a:pt x="11207698" y="10457366"/>
                  </a:lnTo>
                  <a:lnTo>
                    <a:pt x="11207698" y="10503523"/>
                  </a:lnTo>
                  <a:lnTo>
                    <a:pt x="11181814" y="10503523"/>
                  </a:lnTo>
                  <a:lnTo>
                    <a:pt x="11181814" y="46157"/>
                  </a:lnTo>
                  <a:lnTo>
                    <a:pt x="11207698" y="46157"/>
                  </a:lnTo>
                  <a:lnTo>
                    <a:pt x="11207698" y="92314"/>
                  </a:lnTo>
                  <a:lnTo>
                    <a:pt x="25884" y="92314"/>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6" name="Google Shape;1316;p27"/>
          <p:cNvGrpSpPr/>
          <p:nvPr/>
        </p:nvGrpSpPr>
        <p:grpSpPr>
          <a:xfrm>
            <a:off x="9256730" y="1899914"/>
            <a:ext cx="8437747" cy="573978"/>
            <a:chOff x="0" y="0"/>
            <a:chExt cx="11250330" cy="765304"/>
          </a:xfrm>
        </p:grpSpPr>
        <p:sp>
          <p:nvSpPr>
            <p:cNvPr id="1317" name="Google Shape;1317;p27"/>
            <p:cNvSpPr/>
            <p:nvPr/>
          </p:nvSpPr>
          <p:spPr>
            <a:xfrm>
              <a:off x="34424" y="16891"/>
              <a:ext cx="11181480" cy="731520"/>
            </a:xfrm>
            <a:custGeom>
              <a:rect b="b" l="l" r="r" t="t"/>
              <a:pathLst>
                <a:path extrusionOk="0" h="731520" w="11181480">
                  <a:moveTo>
                    <a:pt x="0" y="0"/>
                  </a:moveTo>
                  <a:lnTo>
                    <a:pt x="11181481" y="0"/>
                  </a:lnTo>
                  <a:lnTo>
                    <a:pt x="11181481" y="731520"/>
                  </a:lnTo>
                  <a:lnTo>
                    <a:pt x="0" y="731520"/>
                  </a:lnTo>
                  <a:close/>
                </a:path>
              </a:pathLst>
            </a:custGeom>
            <a:solidFill>
              <a:srgbClr val="121212"/>
            </a:solidFill>
            <a:ln>
              <a:noFill/>
            </a:ln>
          </p:spPr>
        </p:sp>
        <p:sp>
          <p:nvSpPr>
            <p:cNvPr id="1318" name="Google Shape;1318;p27"/>
            <p:cNvSpPr/>
            <p:nvPr/>
          </p:nvSpPr>
          <p:spPr>
            <a:xfrm>
              <a:off x="0" y="0"/>
              <a:ext cx="11250330" cy="765304"/>
            </a:xfrm>
            <a:custGeom>
              <a:rect b="b" l="l" r="r" t="t"/>
              <a:pathLst>
                <a:path extrusionOk="0" h="765304" w="11250330">
                  <a:moveTo>
                    <a:pt x="34424" y="0"/>
                  </a:moveTo>
                  <a:lnTo>
                    <a:pt x="11215905" y="0"/>
                  </a:lnTo>
                  <a:cubicBezTo>
                    <a:pt x="11235059" y="0"/>
                    <a:pt x="11250330" y="7620"/>
                    <a:pt x="11250330" y="16891"/>
                  </a:cubicBezTo>
                  <a:lnTo>
                    <a:pt x="11250330" y="748411"/>
                  </a:lnTo>
                  <a:cubicBezTo>
                    <a:pt x="11250330" y="757809"/>
                    <a:pt x="11234800" y="765302"/>
                    <a:pt x="11215905" y="765302"/>
                  </a:cubicBezTo>
                  <a:lnTo>
                    <a:pt x="34424" y="765302"/>
                  </a:lnTo>
                  <a:cubicBezTo>
                    <a:pt x="15530" y="765429"/>
                    <a:pt x="0" y="757809"/>
                    <a:pt x="0" y="748411"/>
                  </a:cubicBezTo>
                  <a:lnTo>
                    <a:pt x="0" y="16891"/>
                  </a:lnTo>
                  <a:cubicBezTo>
                    <a:pt x="0" y="7620"/>
                    <a:pt x="15530" y="0"/>
                    <a:pt x="34424" y="0"/>
                  </a:cubicBezTo>
                  <a:moveTo>
                    <a:pt x="34424" y="33909"/>
                  </a:moveTo>
                  <a:lnTo>
                    <a:pt x="34424" y="16891"/>
                  </a:lnTo>
                  <a:lnTo>
                    <a:pt x="69108" y="16891"/>
                  </a:lnTo>
                  <a:lnTo>
                    <a:pt x="69108" y="748411"/>
                  </a:lnTo>
                  <a:lnTo>
                    <a:pt x="34424" y="748411"/>
                  </a:lnTo>
                  <a:lnTo>
                    <a:pt x="34424" y="731520"/>
                  </a:lnTo>
                  <a:lnTo>
                    <a:pt x="11215905" y="731520"/>
                  </a:lnTo>
                  <a:lnTo>
                    <a:pt x="11215905" y="748411"/>
                  </a:lnTo>
                  <a:lnTo>
                    <a:pt x="11181481" y="748411"/>
                  </a:lnTo>
                  <a:lnTo>
                    <a:pt x="11181481" y="16891"/>
                  </a:lnTo>
                  <a:lnTo>
                    <a:pt x="11215905" y="16891"/>
                  </a:lnTo>
                  <a:lnTo>
                    <a:pt x="11215905" y="33909"/>
                  </a:lnTo>
                  <a:lnTo>
                    <a:pt x="34424"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9" name="Google Shape;1319;p27"/>
          <p:cNvGrpSpPr/>
          <p:nvPr/>
        </p:nvGrpSpPr>
        <p:grpSpPr>
          <a:xfrm>
            <a:off x="9269427" y="1957187"/>
            <a:ext cx="731520" cy="430911"/>
            <a:chOff x="0" y="-38100"/>
            <a:chExt cx="975360" cy="574548"/>
          </a:xfrm>
        </p:grpSpPr>
        <p:sp>
          <p:nvSpPr>
            <p:cNvPr id="1320" name="Google Shape;1320;p27"/>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321" name="Google Shape;1321;p27"/>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G5</a:t>
              </a:r>
              <a:endParaRPr/>
            </a:p>
          </p:txBody>
        </p:sp>
      </p:grpSp>
      <p:grpSp>
        <p:nvGrpSpPr>
          <p:cNvPr id="1322" name="Google Shape;1322;p27"/>
          <p:cNvGrpSpPr/>
          <p:nvPr/>
        </p:nvGrpSpPr>
        <p:grpSpPr>
          <a:xfrm>
            <a:off x="9964371" y="1957187"/>
            <a:ext cx="3328416" cy="430911"/>
            <a:chOff x="0" y="-38100"/>
            <a:chExt cx="4437888" cy="574548"/>
          </a:xfrm>
        </p:grpSpPr>
        <p:sp>
          <p:nvSpPr>
            <p:cNvPr id="1323" name="Google Shape;1323;p27"/>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324" name="Google Shape;1324;p27"/>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Kafka Streaming Zaman Serisi</a:t>
              </a:r>
              <a:endParaRPr/>
            </a:p>
          </p:txBody>
        </p:sp>
      </p:grpSp>
      <p:sp>
        <p:nvSpPr>
          <p:cNvPr id="1325" name="Google Shape;1325;p27"/>
          <p:cNvSpPr/>
          <p:nvPr/>
        </p:nvSpPr>
        <p:spPr>
          <a:xfrm>
            <a:off x="9717977" y="3493132"/>
            <a:ext cx="7528011" cy="3136671"/>
          </a:xfrm>
          <a:custGeom>
            <a:rect b="b" l="l" r="r" t="t"/>
            <a:pathLst>
              <a:path extrusionOk="0" h="2103120" w="5047488">
                <a:moveTo>
                  <a:pt x="0" y="0"/>
                </a:moveTo>
                <a:lnTo>
                  <a:pt x="5047488" y="0"/>
                </a:lnTo>
                <a:lnTo>
                  <a:pt x="5047488" y="2103120"/>
                </a:lnTo>
                <a:lnTo>
                  <a:pt x="0" y="2103120"/>
                </a:lnTo>
                <a:lnTo>
                  <a:pt x="0" y="0"/>
                </a:lnTo>
                <a:close/>
              </a:path>
            </a:pathLst>
          </a:custGeom>
          <a:blipFill rotWithShape="1">
            <a:blip r:embed="rId4">
              <a:alphaModFix/>
            </a:blip>
            <a:stretch>
              <a:fillRect b="0" l="0" r="0" t="0"/>
            </a:stretch>
          </a:blipFill>
          <a:ln>
            <a:noFill/>
          </a:ln>
        </p:spPr>
      </p:sp>
      <p:sp>
        <p:nvSpPr>
          <p:cNvPr id="1326" name="Google Shape;1326;p27"/>
          <p:cNvSpPr/>
          <p:nvPr/>
        </p:nvSpPr>
        <p:spPr>
          <a:xfrm>
            <a:off x="1224069" y="2473957"/>
            <a:ext cx="6683156" cy="5198011"/>
          </a:xfrm>
          <a:custGeom>
            <a:rect b="b" l="l" r="r" t="t"/>
            <a:pathLst>
              <a:path extrusionOk="0" h="5198011" w="6683156">
                <a:moveTo>
                  <a:pt x="0" y="0"/>
                </a:moveTo>
                <a:lnTo>
                  <a:pt x="6683156" y="0"/>
                </a:lnTo>
                <a:lnTo>
                  <a:pt x="6683156" y="5198010"/>
                </a:lnTo>
                <a:lnTo>
                  <a:pt x="0" y="5198010"/>
                </a:lnTo>
                <a:lnTo>
                  <a:pt x="0" y="0"/>
                </a:lnTo>
                <a:close/>
              </a:path>
            </a:pathLst>
          </a:custGeom>
          <a:blipFill rotWithShape="1">
            <a:blip r:embed="rId5">
              <a:alphaModFix/>
            </a:blip>
            <a:stretch>
              <a:fillRect b="0" l="0" r="0" t="0"/>
            </a:stretch>
          </a:blipFill>
          <a:ln>
            <a:noFill/>
          </a:ln>
        </p:spPr>
      </p:sp>
      <p:grpSp>
        <p:nvGrpSpPr>
          <p:cNvPr id="1327" name="Google Shape;1327;p27"/>
          <p:cNvGrpSpPr/>
          <p:nvPr/>
        </p:nvGrpSpPr>
        <p:grpSpPr>
          <a:xfrm>
            <a:off x="449261" y="7900567"/>
            <a:ext cx="8229600" cy="2122494"/>
            <a:chOff x="0" y="-38100"/>
            <a:chExt cx="10972800" cy="2829991"/>
          </a:xfrm>
        </p:grpSpPr>
        <p:sp>
          <p:nvSpPr>
            <p:cNvPr id="1328" name="Google Shape;1328;p27"/>
            <p:cNvSpPr/>
            <p:nvPr/>
          </p:nvSpPr>
          <p:spPr>
            <a:xfrm>
              <a:off x="0" y="0"/>
              <a:ext cx="10972800" cy="2791891"/>
            </a:xfrm>
            <a:custGeom>
              <a:rect b="b" l="l" r="r" t="t"/>
              <a:pathLst>
                <a:path extrusionOk="0" h="2791891" w="10972800">
                  <a:moveTo>
                    <a:pt x="0" y="0"/>
                  </a:moveTo>
                  <a:lnTo>
                    <a:pt x="10972800" y="0"/>
                  </a:lnTo>
                  <a:lnTo>
                    <a:pt x="10972800" y="2791891"/>
                  </a:lnTo>
                  <a:lnTo>
                    <a:pt x="0" y="2791891"/>
                  </a:lnTo>
                  <a:close/>
                </a:path>
              </a:pathLst>
            </a:custGeom>
            <a:blipFill rotWithShape="1">
              <a:blip r:embed="rId3">
                <a:alphaModFix amt="0"/>
              </a:blip>
              <a:stretch>
                <a:fillRect b="12501" l="0" r="0" t="-65664"/>
              </a:stretch>
            </a:blipFill>
            <a:ln>
              <a:noFill/>
            </a:ln>
          </p:spPr>
        </p:sp>
        <p:sp>
          <p:nvSpPr>
            <p:cNvPr id="1329" name="Google Shape;1329;p27"/>
            <p:cNvSpPr txBox="1"/>
            <p:nvPr/>
          </p:nvSpPr>
          <p:spPr>
            <a:xfrm>
              <a:off x="0" y="-38100"/>
              <a:ext cx="10972800" cy="2829991"/>
            </a:xfrm>
            <a:prstGeom prst="rect">
              <a:avLst/>
            </a:prstGeom>
            <a:noFill/>
            <a:ln>
              <a:noFill/>
            </a:ln>
          </p:spPr>
          <p:txBody>
            <a:bodyPr anchorCtr="0" anchor="ctr" bIns="0" lIns="0" spcFirstLastPara="1" rIns="0" wrap="square" tIns="0">
              <a:noAutofit/>
            </a:bodyPr>
            <a:lstStyle/>
            <a:p>
              <a:pPr indent="-205105" lvl="1" marL="410209" marR="0" rtl="0" algn="just">
                <a:lnSpc>
                  <a:spcPct val="120010"/>
                </a:lnSpc>
                <a:spcBef>
                  <a:spcPts val="0"/>
                </a:spcBef>
                <a:spcAft>
                  <a:spcPts val="0"/>
                </a:spcAft>
                <a:buClr>
                  <a:srgbClr val="444444"/>
                </a:buClr>
                <a:buSzPts val="1899"/>
                <a:buFont typeface="Arial"/>
                <a:buChar char="•"/>
              </a:pPr>
              <a:r>
                <a:rPr b="0" i="0" lang="en-US" sz="1899" u="none" cap="none" strike="noStrike">
                  <a:solidFill>
                    <a:srgbClr val="444444"/>
                  </a:solidFill>
                  <a:latin typeface="Calibri"/>
                  <a:ea typeface="Calibri"/>
                  <a:cs typeface="Calibri"/>
                  <a:sym typeface="Calibri"/>
                </a:rPr>
                <a:t>Çok Sınıflı (Multi-class) Başarısı: 25 farklı müzik türünü birbirinden ayırma gibi zorlu bir problemde ulaşılan 0.944 AUC skoru, modelimizin yüksek ayırt edicilik kapasitesini gösterir.</a:t>
              </a:r>
              <a:endParaRPr/>
            </a:p>
            <a:p>
              <a:pPr indent="-205105" lvl="1" marL="410210" marR="0" rtl="0" algn="just">
                <a:lnSpc>
                  <a:spcPct val="120000"/>
                </a:lnSpc>
                <a:spcBef>
                  <a:spcPts val="0"/>
                </a:spcBef>
                <a:spcAft>
                  <a:spcPts val="0"/>
                </a:spcAft>
                <a:buClr>
                  <a:srgbClr val="444444"/>
                </a:buClr>
                <a:buSzPts val="1900"/>
                <a:buFont typeface="Arial"/>
                <a:buChar char="•"/>
              </a:pPr>
              <a:r>
                <a:rPr b="0" i="0" lang="en-US" sz="1900" u="none" cap="none" strike="noStrike">
                  <a:solidFill>
                    <a:srgbClr val="444444"/>
                  </a:solidFill>
                  <a:latin typeface="Calibri"/>
                  <a:ea typeface="Calibri"/>
                  <a:cs typeface="Calibri"/>
                  <a:sym typeface="Calibri"/>
                </a:rPr>
                <a:t>Düşük Yanlış Alarm Oranı: Eğrinin sol üst köşeye yakınlığı, modelin türleri birbirine karıştırma (False Positive) ihtimalinin minimum düzeyde olduğunu kanıtlamaktadır.</a:t>
              </a:r>
              <a:endParaRPr/>
            </a:p>
            <a:p>
              <a:pPr indent="0" lvl="0" marL="0" marR="0" rtl="0" algn="just">
                <a:lnSpc>
                  <a:spcPct val="119947"/>
                </a:lnSpc>
                <a:spcBef>
                  <a:spcPts val="0"/>
                </a:spcBef>
                <a:spcAft>
                  <a:spcPts val="0"/>
                </a:spcAft>
                <a:buNone/>
              </a:pPr>
              <a:r>
                <a:t/>
              </a:r>
              <a:endParaRPr b="0" i="0" sz="1900" u="none" cap="none" strike="noStrike">
                <a:solidFill>
                  <a:srgbClr val="444444"/>
                </a:solidFill>
                <a:latin typeface="Calibri"/>
                <a:ea typeface="Calibri"/>
                <a:cs typeface="Calibri"/>
                <a:sym typeface="Calibri"/>
              </a:endParaRPr>
            </a:p>
          </p:txBody>
        </p:sp>
      </p:grpSp>
      <p:grpSp>
        <p:nvGrpSpPr>
          <p:cNvPr id="1330" name="Google Shape;1330;p27"/>
          <p:cNvGrpSpPr/>
          <p:nvPr/>
        </p:nvGrpSpPr>
        <p:grpSpPr>
          <a:xfrm>
            <a:off x="9367220" y="7514097"/>
            <a:ext cx="8229605" cy="1651725"/>
            <a:chOff x="0" y="-553394"/>
            <a:chExt cx="10972807" cy="2202300"/>
          </a:xfrm>
        </p:grpSpPr>
        <p:sp>
          <p:nvSpPr>
            <p:cNvPr id="1331" name="Google Shape;1331;p27"/>
            <p:cNvSpPr/>
            <p:nvPr/>
          </p:nvSpPr>
          <p:spPr>
            <a:xfrm>
              <a:off x="0" y="0"/>
              <a:ext cx="10972800" cy="1648892"/>
            </a:xfrm>
            <a:custGeom>
              <a:rect b="b" l="l" r="r" t="t"/>
              <a:pathLst>
                <a:path extrusionOk="0" h="1648892" w="10972800">
                  <a:moveTo>
                    <a:pt x="0" y="0"/>
                  </a:moveTo>
                  <a:lnTo>
                    <a:pt x="10972800" y="0"/>
                  </a:lnTo>
                  <a:lnTo>
                    <a:pt x="10972800" y="1648892"/>
                  </a:lnTo>
                  <a:lnTo>
                    <a:pt x="0" y="1648892"/>
                  </a:lnTo>
                  <a:close/>
                </a:path>
              </a:pathLst>
            </a:custGeom>
            <a:blipFill rotWithShape="1">
              <a:blip r:embed="rId3">
                <a:alphaModFix amt="0"/>
              </a:blip>
              <a:stretch>
                <a:fillRect b="-48150" l="0" r="0" t="-111180"/>
              </a:stretch>
            </a:blipFill>
            <a:ln>
              <a:noFill/>
            </a:ln>
          </p:spPr>
        </p:sp>
        <p:sp>
          <p:nvSpPr>
            <p:cNvPr id="1332" name="Google Shape;1332;p27"/>
            <p:cNvSpPr txBox="1"/>
            <p:nvPr/>
          </p:nvSpPr>
          <p:spPr>
            <a:xfrm>
              <a:off x="7" y="-553394"/>
              <a:ext cx="10972800" cy="220230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a:t>
              </a:r>
              <a:r>
                <a:rPr b="0" i="0" lang="en-US" sz="1900" u="none" cap="none" strike="noStrike">
                  <a:solidFill>
                    <a:srgbClr val="444444"/>
                  </a:solidFill>
                  <a:latin typeface="Calibri"/>
                  <a:ea typeface="Calibri"/>
                  <a:cs typeface="Calibri"/>
                  <a:sym typeface="Calibri"/>
                </a:rPr>
                <a:t>Statik CSV veri seti tek oturumda aktarıldığı için grafikte tek zaman noktası görünmektedir. </a:t>
              </a:r>
              <a:endParaRPr b="0" i="0" sz="1900" u="none" cap="none" strike="noStrike">
                <a:solidFill>
                  <a:srgbClr val="444444"/>
                </a:solidFill>
                <a:latin typeface="Calibri"/>
                <a:ea typeface="Calibri"/>
                <a:cs typeface="Calibri"/>
                <a:sym typeface="Calibri"/>
              </a:endParaRPr>
            </a:p>
            <a:p>
              <a:pPr indent="0" lvl="0" marL="0" marR="0" rtl="0" algn="just">
                <a:lnSpc>
                  <a:spcPct val="120000"/>
                </a:lnSpc>
                <a:spcBef>
                  <a:spcPts val="0"/>
                </a:spcBef>
                <a:spcAft>
                  <a:spcPts val="0"/>
                </a:spcAft>
                <a:buNone/>
              </a:pPr>
              <a:r>
                <a:rPr lang="en-US" sz="1900">
                  <a:solidFill>
                    <a:srgbClr val="444444"/>
                  </a:solidFill>
                  <a:latin typeface="Calibri"/>
                  <a:ea typeface="Calibri"/>
                  <a:cs typeface="Calibri"/>
                  <a:sym typeface="Calibri"/>
                </a:rPr>
                <a:t>• </a:t>
              </a:r>
              <a:r>
                <a:rPr b="0" i="0" lang="en-US" sz="1900" u="none" cap="none" strike="noStrike">
                  <a:solidFill>
                    <a:srgbClr val="444444"/>
                  </a:solidFill>
                  <a:latin typeface="Calibri"/>
                  <a:ea typeface="Calibri"/>
                  <a:cs typeface="Calibri"/>
                  <a:sym typeface="Calibri"/>
                </a:rPr>
                <a:t>Grafikteki bu tek yoğun nokta aslında sistemimiz için harika bir stres testi oldu. 114 bin satır veriyi saniyeler içinde Kafka'ya tek bir yığın halinde yüklememize rağmen, Spark Structured Streaming micro-batch mimarisi sayesinde sistemimiz hiç çökmeden (crash olmadan) veriyi güvenle Delta Lake'e kaydetmeyi başardı.</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grpSp>
        <p:nvGrpSpPr>
          <p:cNvPr id="1341" name="Google Shape;1341;p28"/>
          <p:cNvGrpSpPr/>
          <p:nvPr/>
        </p:nvGrpSpPr>
        <p:grpSpPr>
          <a:xfrm>
            <a:off x="-12697" y="-12697"/>
            <a:ext cx="18313336" cy="1579816"/>
            <a:chOff x="0" y="0"/>
            <a:chExt cx="24417782" cy="2106422"/>
          </a:xfrm>
        </p:grpSpPr>
        <p:sp>
          <p:nvSpPr>
            <p:cNvPr id="1342" name="Google Shape;1342;p28"/>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343" name="Google Shape;1343;p28"/>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4" name="Google Shape;1344;p28"/>
          <p:cNvGrpSpPr/>
          <p:nvPr/>
        </p:nvGrpSpPr>
        <p:grpSpPr>
          <a:xfrm>
            <a:off x="-12697" y="-12697"/>
            <a:ext cx="244792" cy="1579816"/>
            <a:chOff x="0" y="0"/>
            <a:chExt cx="326390" cy="2106422"/>
          </a:xfrm>
        </p:grpSpPr>
        <p:sp>
          <p:nvSpPr>
            <p:cNvPr id="1345" name="Google Shape;1345;p28"/>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346" name="Google Shape;1346;p28"/>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7" name="Google Shape;1347;p28"/>
          <p:cNvGrpSpPr/>
          <p:nvPr/>
        </p:nvGrpSpPr>
        <p:grpSpPr>
          <a:xfrm>
            <a:off x="548640" y="89154"/>
            <a:ext cx="12801600" cy="880110"/>
            <a:chOff x="0" y="-76200"/>
            <a:chExt cx="17068800" cy="1173480"/>
          </a:xfrm>
        </p:grpSpPr>
        <p:sp>
          <p:nvSpPr>
            <p:cNvPr id="1348" name="Google Shape;1348;p28"/>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349" name="Google Shape;1349;p28"/>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Görselleştirilmiş Sonuçlar</a:t>
              </a:r>
              <a:endParaRPr/>
            </a:p>
          </p:txBody>
        </p:sp>
      </p:grpSp>
      <p:grpSp>
        <p:nvGrpSpPr>
          <p:cNvPr id="1350" name="Google Shape;1350;p28"/>
          <p:cNvGrpSpPr/>
          <p:nvPr/>
        </p:nvGrpSpPr>
        <p:grpSpPr>
          <a:xfrm>
            <a:off x="548640" y="915257"/>
            <a:ext cx="16459200" cy="547783"/>
            <a:chOff x="0" y="-47625"/>
            <a:chExt cx="21945600" cy="730377"/>
          </a:xfrm>
        </p:grpSpPr>
        <p:sp>
          <p:nvSpPr>
            <p:cNvPr id="1351" name="Google Shape;1351;p28"/>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352" name="Google Shape;1352;p28"/>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11 görsel — dashboard/ klasöründe PNG olarak kaydedildi</a:t>
              </a:r>
              <a:endParaRPr/>
            </a:p>
          </p:txBody>
        </p:sp>
      </p:grpSp>
      <p:grpSp>
        <p:nvGrpSpPr>
          <p:cNvPr id="1353" name="Google Shape;1353;p28"/>
          <p:cNvGrpSpPr/>
          <p:nvPr/>
        </p:nvGrpSpPr>
        <p:grpSpPr>
          <a:xfrm>
            <a:off x="-12697" y="1541783"/>
            <a:ext cx="18313336" cy="98490"/>
            <a:chOff x="0" y="0"/>
            <a:chExt cx="24417782" cy="131320"/>
          </a:xfrm>
        </p:grpSpPr>
        <p:sp>
          <p:nvSpPr>
            <p:cNvPr id="1354" name="Google Shape;1354;p28"/>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355" name="Google Shape;1355;p28"/>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6" name="Google Shape;1356;p28"/>
          <p:cNvGrpSpPr/>
          <p:nvPr/>
        </p:nvGrpSpPr>
        <p:grpSpPr>
          <a:xfrm>
            <a:off x="244859" y="1899914"/>
            <a:ext cx="8425186" cy="7358386"/>
            <a:chOff x="0" y="0"/>
            <a:chExt cx="11233582" cy="9811182"/>
          </a:xfrm>
        </p:grpSpPr>
        <p:sp>
          <p:nvSpPr>
            <p:cNvPr id="1357" name="Google Shape;1357;p28"/>
            <p:cNvSpPr/>
            <p:nvPr/>
          </p:nvSpPr>
          <p:spPr>
            <a:xfrm>
              <a:off x="25884" y="42926"/>
              <a:ext cx="11181814" cy="9725330"/>
            </a:xfrm>
            <a:custGeom>
              <a:rect b="b" l="l" r="r" t="t"/>
              <a:pathLst>
                <a:path extrusionOk="0" h="9725330" w="11181814">
                  <a:moveTo>
                    <a:pt x="0" y="0"/>
                  </a:moveTo>
                  <a:lnTo>
                    <a:pt x="11181814" y="0"/>
                  </a:lnTo>
                  <a:lnTo>
                    <a:pt x="11181814" y="9725330"/>
                  </a:lnTo>
                  <a:lnTo>
                    <a:pt x="0" y="9725330"/>
                  </a:lnTo>
                  <a:close/>
                </a:path>
              </a:pathLst>
            </a:custGeom>
            <a:solidFill>
              <a:srgbClr val="F4F4F4"/>
            </a:solidFill>
            <a:ln>
              <a:noFill/>
            </a:ln>
          </p:spPr>
        </p:sp>
        <p:sp>
          <p:nvSpPr>
            <p:cNvPr id="1358" name="Google Shape;1358;p28"/>
            <p:cNvSpPr/>
            <p:nvPr/>
          </p:nvSpPr>
          <p:spPr>
            <a:xfrm>
              <a:off x="0" y="0"/>
              <a:ext cx="11233582" cy="9811182"/>
            </a:xfrm>
            <a:custGeom>
              <a:rect b="b" l="l" r="r" t="t"/>
              <a:pathLst>
                <a:path extrusionOk="0" h="9811182" w="11233582">
                  <a:moveTo>
                    <a:pt x="25884" y="0"/>
                  </a:moveTo>
                  <a:lnTo>
                    <a:pt x="11207698" y="0"/>
                  </a:lnTo>
                  <a:cubicBezTo>
                    <a:pt x="11221934" y="0"/>
                    <a:pt x="11233582" y="19317"/>
                    <a:pt x="11233582" y="42926"/>
                  </a:cubicBezTo>
                  <a:lnTo>
                    <a:pt x="11233582" y="9768256"/>
                  </a:lnTo>
                  <a:cubicBezTo>
                    <a:pt x="11233582" y="9791865"/>
                    <a:pt x="11221934" y="9811182"/>
                    <a:pt x="11207698" y="9811182"/>
                  </a:cubicBezTo>
                  <a:lnTo>
                    <a:pt x="25884" y="9811182"/>
                  </a:lnTo>
                  <a:cubicBezTo>
                    <a:pt x="11648" y="9811182"/>
                    <a:pt x="0" y="9791865"/>
                    <a:pt x="0" y="9768256"/>
                  </a:cubicBezTo>
                  <a:lnTo>
                    <a:pt x="0" y="42926"/>
                  </a:lnTo>
                  <a:cubicBezTo>
                    <a:pt x="0" y="19317"/>
                    <a:pt x="11648" y="0"/>
                    <a:pt x="25884" y="0"/>
                  </a:cubicBezTo>
                  <a:moveTo>
                    <a:pt x="25884" y="85852"/>
                  </a:moveTo>
                  <a:lnTo>
                    <a:pt x="25884" y="42926"/>
                  </a:lnTo>
                  <a:lnTo>
                    <a:pt x="51768" y="42926"/>
                  </a:lnTo>
                  <a:lnTo>
                    <a:pt x="51768" y="9768256"/>
                  </a:lnTo>
                  <a:lnTo>
                    <a:pt x="25884" y="9768256"/>
                  </a:lnTo>
                  <a:lnTo>
                    <a:pt x="25884" y="9725330"/>
                  </a:lnTo>
                  <a:lnTo>
                    <a:pt x="11207698" y="9725330"/>
                  </a:lnTo>
                  <a:lnTo>
                    <a:pt x="11207698" y="9768256"/>
                  </a:lnTo>
                  <a:lnTo>
                    <a:pt x="11181814" y="9768256"/>
                  </a:lnTo>
                  <a:lnTo>
                    <a:pt x="11181814" y="42926"/>
                  </a:lnTo>
                  <a:lnTo>
                    <a:pt x="11207698" y="42926"/>
                  </a:lnTo>
                  <a:lnTo>
                    <a:pt x="11207698" y="85852"/>
                  </a:lnTo>
                  <a:lnTo>
                    <a:pt x="25884" y="85852"/>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9" name="Google Shape;1359;p28"/>
          <p:cNvGrpSpPr/>
          <p:nvPr/>
        </p:nvGrpSpPr>
        <p:grpSpPr>
          <a:xfrm>
            <a:off x="232162" y="1891401"/>
            <a:ext cx="8437747" cy="573978"/>
            <a:chOff x="0" y="0"/>
            <a:chExt cx="11250330" cy="765304"/>
          </a:xfrm>
        </p:grpSpPr>
        <p:sp>
          <p:nvSpPr>
            <p:cNvPr id="1360" name="Google Shape;1360;p28"/>
            <p:cNvSpPr/>
            <p:nvPr/>
          </p:nvSpPr>
          <p:spPr>
            <a:xfrm>
              <a:off x="34424" y="16891"/>
              <a:ext cx="11181480" cy="731520"/>
            </a:xfrm>
            <a:custGeom>
              <a:rect b="b" l="l" r="r" t="t"/>
              <a:pathLst>
                <a:path extrusionOk="0" h="731520" w="11181480">
                  <a:moveTo>
                    <a:pt x="0" y="0"/>
                  </a:moveTo>
                  <a:lnTo>
                    <a:pt x="11181481" y="0"/>
                  </a:lnTo>
                  <a:lnTo>
                    <a:pt x="11181481" y="731520"/>
                  </a:lnTo>
                  <a:lnTo>
                    <a:pt x="0" y="731520"/>
                  </a:lnTo>
                  <a:close/>
                </a:path>
              </a:pathLst>
            </a:custGeom>
            <a:solidFill>
              <a:srgbClr val="121212"/>
            </a:solidFill>
            <a:ln>
              <a:noFill/>
            </a:ln>
          </p:spPr>
        </p:sp>
        <p:sp>
          <p:nvSpPr>
            <p:cNvPr id="1361" name="Google Shape;1361;p28"/>
            <p:cNvSpPr/>
            <p:nvPr/>
          </p:nvSpPr>
          <p:spPr>
            <a:xfrm>
              <a:off x="0" y="0"/>
              <a:ext cx="11250330" cy="765304"/>
            </a:xfrm>
            <a:custGeom>
              <a:rect b="b" l="l" r="r" t="t"/>
              <a:pathLst>
                <a:path extrusionOk="0" h="765304" w="11250330">
                  <a:moveTo>
                    <a:pt x="34424" y="0"/>
                  </a:moveTo>
                  <a:lnTo>
                    <a:pt x="11215905" y="0"/>
                  </a:lnTo>
                  <a:cubicBezTo>
                    <a:pt x="11235059" y="0"/>
                    <a:pt x="11250330" y="7620"/>
                    <a:pt x="11250330" y="16891"/>
                  </a:cubicBezTo>
                  <a:lnTo>
                    <a:pt x="11250330" y="748411"/>
                  </a:lnTo>
                  <a:cubicBezTo>
                    <a:pt x="11250330" y="757809"/>
                    <a:pt x="11234800" y="765302"/>
                    <a:pt x="11215905" y="765302"/>
                  </a:cubicBezTo>
                  <a:lnTo>
                    <a:pt x="34424" y="765302"/>
                  </a:lnTo>
                  <a:cubicBezTo>
                    <a:pt x="15530" y="765429"/>
                    <a:pt x="0" y="757809"/>
                    <a:pt x="0" y="748411"/>
                  </a:cubicBezTo>
                  <a:lnTo>
                    <a:pt x="0" y="16891"/>
                  </a:lnTo>
                  <a:cubicBezTo>
                    <a:pt x="0" y="7620"/>
                    <a:pt x="15530" y="0"/>
                    <a:pt x="34424" y="0"/>
                  </a:cubicBezTo>
                  <a:moveTo>
                    <a:pt x="34424" y="33909"/>
                  </a:moveTo>
                  <a:lnTo>
                    <a:pt x="34424" y="16891"/>
                  </a:lnTo>
                  <a:lnTo>
                    <a:pt x="69108" y="16891"/>
                  </a:lnTo>
                  <a:lnTo>
                    <a:pt x="69108" y="748411"/>
                  </a:lnTo>
                  <a:lnTo>
                    <a:pt x="34424" y="748411"/>
                  </a:lnTo>
                  <a:lnTo>
                    <a:pt x="34424" y="731520"/>
                  </a:lnTo>
                  <a:lnTo>
                    <a:pt x="11215905" y="731520"/>
                  </a:lnTo>
                  <a:lnTo>
                    <a:pt x="11215905" y="748411"/>
                  </a:lnTo>
                  <a:lnTo>
                    <a:pt x="11181481" y="748411"/>
                  </a:lnTo>
                  <a:lnTo>
                    <a:pt x="11181481" y="16891"/>
                  </a:lnTo>
                  <a:lnTo>
                    <a:pt x="11215905" y="16891"/>
                  </a:lnTo>
                  <a:lnTo>
                    <a:pt x="11215905" y="33909"/>
                  </a:lnTo>
                  <a:lnTo>
                    <a:pt x="34424"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2" name="Google Shape;1362;p28"/>
          <p:cNvGrpSpPr/>
          <p:nvPr/>
        </p:nvGrpSpPr>
        <p:grpSpPr>
          <a:xfrm>
            <a:off x="244859" y="1948675"/>
            <a:ext cx="731520" cy="430911"/>
            <a:chOff x="0" y="-38100"/>
            <a:chExt cx="975360" cy="574548"/>
          </a:xfrm>
        </p:grpSpPr>
        <p:sp>
          <p:nvSpPr>
            <p:cNvPr id="1363" name="Google Shape;1363;p28"/>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364" name="Google Shape;1364;p28"/>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G6</a:t>
              </a:r>
              <a:endParaRPr/>
            </a:p>
          </p:txBody>
        </p:sp>
      </p:grpSp>
      <p:grpSp>
        <p:nvGrpSpPr>
          <p:cNvPr id="1365" name="Google Shape;1365;p28"/>
          <p:cNvGrpSpPr/>
          <p:nvPr/>
        </p:nvGrpSpPr>
        <p:grpSpPr>
          <a:xfrm>
            <a:off x="939803" y="1948675"/>
            <a:ext cx="3328416" cy="430911"/>
            <a:chOff x="0" y="-38100"/>
            <a:chExt cx="4437888" cy="574548"/>
          </a:xfrm>
        </p:grpSpPr>
        <p:sp>
          <p:nvSpPr>
            <p:cNvPr id="1366" name="Google Shape;1366;p28"/>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367" name="Google Shape;1367;p28"/>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Popularity Dağılımı</a:t>
              </a:r>
              <a:endParaRPr/>
            </a:p>
          </p:txBody>
        </p:sp>
      </p:grpSp>
      <p:grpSp>
        <p:nvGrpSpPr>
          <p:cNvPr id="1368" name="Google Shape;1368;p28"/>
          <p:cNvGrpSpPr/>
          <p:nvPr/>
        </p:nvGrpSpPr>
        <p:grpSpPr>
          <a:xfrm>
            <a:off x="9216390" y="1891401"/>
            <a:ext cx="8549393" cy="7366899"/>
            <a:chOff x="0" y="0"/>
            <a:chExt cx="5598347" cy="4824022"/>
          </a:xfrm>
        </p:grpSpPr>
        <p:sp>
          <p:nvSpPr>
            <p:cNvPr id="1369" name="Google Shape;1369;p28"/>
            <p:cNvSpPr/>
            <p:nvPr/>
          </p:nvSpPr>
          <p:spPr>
            <a:xfrm>
              <a:off x="12899" y="21106"/>
              <a:ext cx="5572548" cy="4781810"/>
            </a:xfrm>
            <a:custGeom>
              <a:rect b="b" l="l" r="r" t="t"/>
              <a:pathLst>
                <a:path extrusionOk="0" h="4781810" w="5572548">
                  <a:moveTo>
                    <a:pt x="0" y="0"/>
                  </a:moveTo>
                  <a:lnTo>
                    <a:pt x="5572549" y="0"/>
                  </a:lnTo>
                  <a:lnTo>
                    <a:pt x="5572549" y="4781810"/>
                  </a:lnTo>
                  <a:lnTo>
                    <a:pt x="0" y="4781810"/>
                  </a:lnTo>
                  <a:close/>
                </a:path>
              </a:pathLst>
            </a:custGeom>
            <a:solidFill>
              <a:srgbClr val="F4F4F4"/>
            </a:solidFill>
            <a:ln>
              <a:noFill/>
            </a:ln>
          </p:spPr>
        </p:sp>
        <p:sp>
          <p:nvSpPr>
            <p:cNvPr id="1370" name="Google Shape;1370;p28"/>
            <p:cNvSpPr/>
            <p:nvPr/>
          </p:nvSpPr>
          <p:spPr>
            <a:xfrm>
              <a:off x="0" y="0"/>
              <a:ext cx="5598347" cy="4824022"/>
            </a:xfrm>
            <a:custGeom>
              <a:rect b="b" l="l" r="r" t="t"/>
              <a:pathLst>
                <a:path extrusionOk="0" h="4824022" w="5598347">
                  <a:moveTo>
                    <a:pt x="12899" y="0"/>
                  </a:moveTo>
                  <a:lnTo>
                    <a:pt x="5585448" y="0"/>
                  </a:lnTo>
                  <a:cubicBezTo>
                    <a:pt x="5592542" y="0"/>
                    <a:pt x="5598347" y="9498"/>
                    <a:pt x="5598347" y="21106"/>
                  </a:cubicBezTo>
                  <a:lnTo>
                    <a:pt x="5598347" y="4802916"/>
                  </a:lnTo>
                  <a:cubicBezTo>
                    <a:pt x="5598347" y="4814524"/>
                    <a:pt x="5592542" y="4824022"/>
                    <a:pt x="5585448" y="4824022"/>
                  </a:cubicBezTo>
                  <a:lnTo>
                    <a:pt x="12899" y="4824022"/>
                  </a:lnTo>
                  <a:cubicBezTo>
                    <a:pt x="5805" y="4824022"/>
                    <a:pt x="0" y="4814524"/>
                    <a:pt x="0" y="4802916"/>
                  </a:cubicBezTo>
                  <a:lnTo>
                    <a:pt x="0" y="21106"/>
                  </a:lnTo>
                  <a:cubicBezTo>
                    <a:pt x="0" y="9498"/>
                    <a:pt x="5805" y="0"/>
                    <a:pt x="12899" y="0"/>
                  </a:cubicBezTo>
                  <a:moveTo>
                    <a:pt x="12899" y="42212"/>
                  </a:moveTo>
                  <a:lnTo>
                    <a:pt x="12899" y="21106"/>
                  </a:lnTo>
                  <a:lnTo>
                    <a:pt x="25799" y="21106"/>
                  </a:lnTo>
                  <a:lnTo>
                    <a:pt x="25799" y="4802916"/>
                  </a:lnTo>
                  <a:lnTo>
                    <a:pt x="12899" y="4802916"/>
                  </a:lnTo>
                  <a:lnTo>
                    <a:pt x="12899" y="4781810"/>
                  </a:lnTo>
                  <a:lnTo>
                    <a:pt x="5585448" y="4781810"/>
                  </a:lnTo>
                  <a:lnTo>
                    <a:pt x="5585448" y="4802916"/>
                  </a:lnTo>
                  <a:lnTo>
                    <a:pt x="5572548" y="4802916"/>
                  </a:lnTo>
                  <a:lnTo>
                    <a:pt x="5572548" y="21106"/>
                  </a:lnTo>
                  <a:lnTo>
                    <a:pt x="5585448" y="21106"/>
                  </a:lnTo>
                  <a:lnTo>
                    <a:pt x="5585448" y="42212"/>
                  </a:lnTo>
                  <a:lnTo>
                    <a:pt x="12899" y="42212"/>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1" name="Google Shape;1371;p28"/>
          <p:cNvGrpSpPr/>
          <p:nvPr/>
        </p:nvGrpSpPr>
        <p:grpSpPr>
          <a:xfrm>
            <a:off x="9216390" y="1902326"/>
            <a:ext cx="8549256" cy="573978"/>
            <a:chOff x="0" y="0"/>
            <a:chExt cx="11399007" cy="765304"/>
          </a:xfrm>
        </p:grpSpPr>
        <p:sp>
          <p:nvSpPr>
            <p:cNvPr id="1372" name="Google Shape;1372;p28"/>
            <p:cNvSpPr/>
            <p:nvPr/>
          </p:nvSpPr>
          <p:spPr>
            <a:xfrm>
              <a:off x="34879" y="16891"/>
              <a:ext cx="11329248" cy="731520"/>
            </a:xfrm>
            <a:custGeom>
              <a:rect b="b" l="l" r="r" t="t"/>
              <a:pathLst>
                <a:path extrusionOk="0" h="731520" w="11329248">
                  <a:moveTo>
                    <a:pt x="0" y="0"/>
                  </a:moveTo>
                  <a:lnTo>
                    <a:pt x="11329248" y="0"/>
                  </a:lnTo>
                  <a:lnTo>
                    <a:pt x="11329248" y="731520"/>
                  </a:lnTo>
                  <a:lnTo>
                    <a:pt x="0" y="731520"/>
                  </a:lnTo>
                  <a:close/>
                </a:path>
              </a:pathLst>
            </a:custGeom>
            <a:solidFill>
              <a:srgbClr val="121212"/>
            </a:solidFill>
            <a:ln>
              <a:noFill/>
            </a:ln>
          </p:spPr>
        </p:sp>
        <p:sp>
          <p:nvSpPr>
            <p:cNvPr id="1373" name="Google Shape;1373;p28"/>
            <p:cNvSpPr/>
            <p:nvPr/>
          </p:nvSpPr>
          <p:spPr>
            <a:xfrm>
              <a:off x="0" y="0"/>
              <a:ext cx="11399007" cy="765304"/>
            </a:xfrm>
            <a:custGeom>
              <a:rect b="b" l="l" r="r" t="t"/>
              <a:pathLst>
                <a:path extrusionOk="0" h="765304" w="11399007">
                  <a:moveTo>
                    <a:pt x="34879" y="0"/>
                  </a:moveTo>
                  <a:lnTo>
                    <a:pt x="11364127" y="0"/>
                  </a:lnTo>
                  <a:cubicBezTo>
                    <a:pt x="11383534" y="0"/>
                    <a:pt x="11399007" y="7620"/>
                    <a:pt x="11399007" y="16891"/>
                  </a:cubicBezTo>
                  <a:lnTo>
                    <a:pt x="11399007" y="748411"/>
                  </a:lnTo>
                  <a:cubicBezTo>
                    <a:pt x="11399007" y="757809"/>
                    <a:pt x="11383272" y="765302"/>
                    <a:pt x="11364127" y="765302"/>
                  </a:cubicBezTo>
                  <a:lnTo>
                    <a:pt x="34879" y="765302"/>
                  </a:lnTo>
                  <a:cubicBezTo>
                    <a:pt x="15735" y="765429"/>
                    <a:pt x="0" y="757809"/>
                    <a:pt x="0" y="748411"/>
                  </a:cubicBezTo>
                  <a:lnTo>
                    <a:pt x="0" y="16891"/>
                  </a:lnTo>
                  <a:cubicBezTo>
                    <a:pt x="0" y="7620"/>
                    <a:pt x="15735" y="0"/>
                    <a:pt x="34879" y="0"/>
                  </a:cubicBezTo>
                  <a:moveTo>
                    <a:pt x="34879" y="33909"/>
                  </a:moveTo>
                  <a:lnTo>
                    <a:pt x="34879" y="16891"/>
                  </a:lnTo>
                  <a:lnTo>
                    <a:pt x="70021" y="16891"/>
                  </a:lnTo>
                  <a:lnTo>
                    <a:pt x="70021" y="748411"/>
                  </a:lnTo>
                  <a:lnTo>
                    <a:pt x="34879" y="748411"/>
                  </a:lnTo>
                  <a:lnTo>
                    <a:pt x="34879" y="731520"/>
                  </a:lnTo>
                  <a:lnTo>
                    <a:pt x="11364127" y="731520"/>
                  </a:lnTo>
                  <a:lnTo>
                    <a:pt x="11364127" y="748411"/>
                  </a:lnTo>
                  <a:lnTo>
                    <a:pt x="11329248" y="748411"/>
                  </a:lnTo>
                  <a:lnTo>
                    <a:pt x="11329248" y="16891"/>
                  </a:lnTo>
                  <a:lnTo>
                    <a:pt x="11364127" y="16891"/>
                  </a:lnTo>
                  <a:lnTo>
                    <a:pt x="11364127" y="33909"/>
                  </a:lnTo>
                  <a:lnTo>
                    <a:pt x="34879"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4" name="Google Shape;1374;p28"/>
          <p:cNvGrpSpPr/>
          <p:nvPr/>
        </p:nvGrpSpPr>
        <p:grpSpPr>
          <a:xfrm>
            <a:off x="9229087" y="1959600"/>
            <a:ext cx="731520" cy="430911"/>
            <a:chOff x="0" y="-38100"/>
            <a:chExt cx="975360" cy="574548"/>
          </a:xfrm>
        </p:grpSpPr>
        <p:sp>
          <p:nvSpPr>
            <p:cNvPr id="1375" name="Google Shape;1375;p28"/>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376" name="Google Shape;1376;p28"/>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G7</a:t>
              </a:r>
              <a:endParaRPr/>
            </a:p>
          </p:txBody>
        </p:sp>
      </p:grpSp>
      <p:grpSp>
        <p:nvGrpSpPr>
          <p:cNvPr id="1377" name="Google Shape;1377;p28"/>
          <p:cNvGrpSpPr/>
          <p:nvPr/>
        </p:nvGrpSpPr>
        <p:grpSpPr>
          <a:xfrm>
            <a:off x="9924031" y="1959600"/>
            <a:ext cx="3328416" cy="430911"/>
            <a:chOff x="0" y="-38100"/>
            <a:chExt cx="4437888" cy="574548"/>
          </a:xfrm>
        </p:grpSpPr>
        <p:sp>
          <p:nvSpPr>
            <p:cNvPr id="1378" name="Google Shape;1378;p28"/>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379" name="Google Shape;1379;p28"/>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En Popüler 10 Tür</a:t>
              </a:r>
              <a:endParaRPr/>
            </a:p>
          </p:txBody>
        </p:sp>
      </p:grpSp>
      <p:sp>
        <p:nvSpPr>
          <p:cNvPr id="1380" name="Google Shape;1380;p28"/>
          <p:cNvSpPr/>
          <p:nvPr/>
        </p:nvSpPr>
        <p:spPr>
          <a:xfrm>
            <a:off x="610619" y="3175020"/>
            <a:ext cx="7873918" cy="3936959"/>
          </a:xfrm>
          <a:custGeom>
            <a:rect b="b" l="l" r="r" t="t"/>
            <a:pathLst>
              <a:path extrusionOk="0" h="3936959" w="7873918">
                <a:moveTo>
                  <a:pt x="0" y="0"/>
                </a:moveTo>
                <a:lnTo>
                  <a:pt x="7873918" y="0"/>
                </a:lnTo>
                <a:lnTo>
                  <a:pt x="7873918" y="3936960"/>
                </a:lnTo>
                <a:lnTo>
                  <a:pt x="0" y="3936960"/>
                </a:lnTo>
                <a:lnTo>
                  <a:pt x="0" y="0"/>
                </a:lnTo>
                <a:close/>
              </a:path>
            </a:pathLst>
          </a:custGeom>
          <a:blipFill rotWithShape="1">
            <a:blip r:embed="rId4">
              <a:alphaModFix/>
            </a:blip>
            <a:stretch>
              <a:fillRect b="0" l="0" r="0" t="0"/>
            </a:stretch>
          </a:blipFill>
          <a:ln>
            <a:noFill/>
          </a:ln>
        </p:spPr>
      </p:sp>
      <p:sp>
        <p:nvSpPr>
          <p:cNvPr id="1381" name="Google Shape;1381;p28"/>
          <p:cNvSpPr/>
          <p:nvPr/>
        </p:nvSpPr>
        <p:spPr>
          <a:xfrm>
            <a:off x="10977982" y="2465444"/>
            <a:ext cx="5026208" cy="5026208"/>
          </a:xfrm>
          <a:custGeom>
            <a:rect b="b" l="l" r="r" t="t"/>
            <a:pathLst>
              <a:path extrusionOk="0" h="5026208" w="5026208">
                <a:moveTo>
                  <a:pt x="0" y="0"/>
                </a:moveTo>
                <a:lnTo>
                  <a:pt x="5026208" y="0"/>
                </a:lnTo>
                <a:lnTo>
                  <a:pt x="5026208" y="5026208"/>
                </a:lnTo>
                <a:lnTo>
                  <a:pt x="0" y="5026208"/>
                </a:lnTo>
                <a:lnTo>
                  <a:pt x="0" y="0"/>
                </a:lnTo>
                <a:close/>
              </a:path>
            </a:pathLst>
          </a:custGeom>
          <a:blipFill rotWithShape="1">
            <a:blip r:embed="rId5">
              <a:alphaModFix/>
            </a:blip>
            <a:stretch>
              <a:fillRect b="0" l="0" r="0" t="0"/>
            </a:stretch>
          </a:blipFill>
          <a:ln>
            <a:noFill/>
          </a:ln>
        </p:spPr>
      </p:sp>
      <p:grpSp>
        <p:nvGrpSpPr>
          <p:cNvPr id="1382" name="Google Shape;1382;p28"/>
          <p:cNvGrpSpPr/>
          <p:nvPr/>
        </p:nvGrpSpPr>
        <p:grpSpPr>
          <a:xfrm>
            <a:off x="336304" y="7331055"/>
            <a:ext cx="8229600" cy="693744"/>
            <a:chOff x="0" y="-38100"/>
            <a:chExt cx="10972800" cy="924992"/>
          </a:xfrm>
        </p:grpSpPr>
        <p:sp>
          <p:nvSpPr>
            <p:cNvPr id="1383" name="Google Shape;1383;p28"/>
            <p:cNvSpPr/>
            <p:nvPr/>
          </p:nvSpPr>
          <p:spPr>
            <a:xfrm>
              <a:off x="0" y="0"/>
              <a:ext cx="10972800" cy="886892"/>
            </a:xfrm>
            <a:custGeom>
              <a:rect b="b" l="l" r="r" t="t"/>
              <a:pathLst>
                <a:path extrusionOk="0" h="886892" w="10972800">
                  <a:moveTo>
                    <a:pt x="0" y="0"/>
                  </a:moveTo>
                  <a:lnTo>
                    <a:pt x="10972800" y="0"/>
                  </a:lnTo>
                  <a:lnTo>
                    <a:pt x="10972800" y="886892"/>
                  </a:lnTo>
                  <a:lnTo>
                    <a:pt x="0" y="886892"/>
                  </a:lnTo>
                  <a:close/>
                </a:path>
              </a:pathLst>
            </a:custGeom>
            <a:blipFill rotWithShape="1">
              <a:blip r:embed="rId3">
                <a:alphaModFix amt="0"/>
              </a:blip>
              <a:stretch>
                <a:fillRect b="-175435" l="0" r="0" t="-206702"/>
              </a:stretch>
            </a:blipFill>
            <a:ln>
              <a:noFill/>
            </a:ln>
          </p:spPr>
        </p:sp>
        <p:sp>
          <p:nvSpPr>
            <p:cNvPr id="1384" name="Google Shape;1384;p28"/>
            <p:cNvSpPr txBox="1"/>
            <p:nvPr/>
          </p:nvSpPr>
          <p:spPr>
            <a:xfrm>
              <a:off x="0" y="-38100"/>
              <a:ext cx="10972800" cy="924992"/>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Şarkıların büyük çoğunluğu 20-29 popülerlik bandında toplanmıştır; bu da veri setinin homojen bir hit dağılımına sahip olmadığını gösterir.</a:t>
              </a:r>
              <a:endParaRPr/>
            </a:p>
          </p:txBody>
        </p:sp>
      </p:grpSp>
      <p:grpSp>
        <p:nvGrpSpPr>
          <p:cNvPr id="1385" name="Google Shape;1385;p28"/>
          <p:cNvGrpSpPr/>
          <p:nvPr/>
        </p:nvGrpSpPr>
        <p:grpSpPr>
          <a:xfrm>
            <a:off x="9376286" y="7663639"/>
            <a:ext cx="8229600" cy="1265244"/>
            <a:chOff x="0" y="-38100"/>
            <a:chExt cx="10972800" cy="1686992"/>
          </a:xfrm>
        </p:grpSpPr>
        <p:sp>
          <p:nvSpPr>
            <p:cNvPr id="1386" name="Google Shape;1386;p28"/>
            <p:cNvSpPr/>
            <p:nvPr/>
          </p:nvSpPr>
          <p:spPr>
            <a:xfrm>
              <a:off x="0" y="0"/>
              <a:ext cx="10972800" cy="1648892"/>
            </a:xfrm>
            <a:custGeom>
              <a:rect b="b" l="l" r="r" t="t"/>
              <a:pathLst>
                <a:path extrusionOk="0" h="1648892" w="10972800">
                  <a:moveTo>
                    <a:pt x="0" y="0"/>
                  </a:moveTo>
                  <a:lnTo>
                    <a:pt x="10972800" y="0"/>
                  </a:lnTo>
                  <a:lnTo>
                    <a:pt x="10972800" y="1648892"/>
                  </a:lnTo>
                  <a:lnTo>
                    <a:pt x="0" y="1648892"/>
                  </a:lnTo>
                  <a:close/>
                </a:path>
              </a:pathLst>
            </a:custGeom>
            <a:blipFill rotWithShape="1">
              <a:blip r:embed="rId3">
                <a:alphaModFix amt="0"/>
              </a:blip>
              <a:stretch>
                <a:fillRect b="-48150" l="0" r="0" t="-111180"/>
              </a:stretch>
            </a:blipFill>
            <a:ln>
              <a:noFill/>
            </a:ln>
          </p:spPr>
        </p:sp>
        <p:sp>
          <p:nvSpPr>
            <p:cNvPr id="1387" name="Google Shape;1387;p28"/>
            <p:cNvSpPr txBox="1"/>
            <p:nvPr/>
          </p:nvSpPr>
          <p:spPr>
            <a:xfrm>
              <a:off x="0" y="-38100"/>
              <a:ext cx="10972800" cy="1686992"/>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Pasta grafiğinde görüldüğü üzere, en popüler türler arasında büyük bir denge (eşit dağılıma yakınlık) bulunmaktadır. Veri setindeki çoğunluk türlerin bu dengeli yapısı, yapay zeka modelimizin yaygın türlere karşı taraf tutmasını (bias) büyük ölçüde engellemiştir.</a:t>
              </a:r>
              <a:endParaRPr/>
            </a:p>
          </p:txBody>
        </p:sp>
      </p:grpSp>
      <p:grpSp>
        <p:nvGrpSpPr>
          <p:cNvPr id="1388" name="Google Shape;1388;p28"/>
          <p:cNvGrpSpPr/>
          <p:nvPr/>
        </p:nvGrpSpPr>
        <p:grpSpPr>
          <a:xfrm>
            <a:off x="342652" y="8016855"/>
            <a:ext cx="8229600" cy="1265244"/>
            <a:chOff x="0" y="-38100"/>
            <a:chExt cx="10972800" cy="1686992"/>
          </a:xfrm>
        </p:grpSpPr>
        <p:sp>
          <p:nvSpPr>
            <p:cNvPr id="1389" name="Google Shape;1389;p28"/>
            <p:cNvSpPr/>
            <p:nvPr/>
          </p:nvSpPr>
          <p:spPr>
            <a:xfrm>
              <a:off x="0" y="0"/>
              <a:ext cx="10972800" cy="1648892"/>
            </a:xfrm>
            <a:custGeom>
              <a:rect b="b" l="l" r="r" t="t"/>
              <a:pathLst>
                <a:path extrusionOk="0" h="1648892" w="10972800">
                  <a:moveTo>
                    <a:pt x="0" y="0"/>
                  </a:moveTo>
                  <a:lnTo>
                    <a:pt x="10972800" y="0"/>
                  </a:lnTo>
                  <a:lnTo>
                    <a:pt x="10972800" y="1648892"/>
                  </a:lnTo>
                  <a:lnTo>
                    <a:pt x="0" y="1648892"/>
                  </a:lnTo>
                  <a:close/>
                </a:path>
              </a:pathLst>
            </a:custGeom>
            <a:blipFill rotWithShape="1">
              <a:blip r:embed="rId3">
                <a:alphaModFix amt="0"/>
              </a:blip>
              <a:stretch>
                <a:fillRect b="-48150" l="0" r="0" t="-111180"/>
              </a:stretch>
            </a:blipFill>
            <a:ln>
              <a:noFill/>
            </a:ln>
          </p:spPr>
        </p:sp>
        <p:sp>
          <p:nvSpPr>
            <p:cNvPr id="1390" name="Google Shape;1390;p28"/>
            <p:cNvSpPr txBox="1"/>
            <p:nvPr/>
          </p:nvSpPr>
          <p:spPr>
            <a:xfrm>
              <a:off x="0" y="-38100"/>
              <a:ext cx="10972800" cy="1686992"/>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Şarkıların büyük çoğunluğunun çok düşük popülerlik bandında toplanması (sağa çarpık/dengesiz dağılım); bizim neden Popülerlik tahmini yerine Tür tahmini yapmayı seçtiğimizi kanıtlayan temel bulgudur.</a:t>
              </a:r>
              <a:endParaRPr/>
            </a:p>
            <a:p>
              <a:pPr indent="0" lvl="0" marL="0" marR="0" rtl="0" algn="just">
                <a:lnSpc>
                  <a:spcPct val="119947"/>
                </a:lnSpc>
                <a:spcBef>
                  <a:spcPts val="0"/>
                </a:spcBef>
                <a:spcAft>
                  <a:spcPts val="0"/>
                </a:spcAft>
                <a:buNone/>
              </a:pPr>
              <a:r>
                <a:t/>
              </a:r>
              <a:endParaRPr b="0" i="0" sz="1900" u="none" cap="none" strike="noStrike">
                <a:solidFill>
                  <a:srgbClr val="444444"/>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grpSp>
        <p:nvGrpSpPr>
          <p:cNvPr id="1399" name="Google Shape;1399;p29"/>
          <p:cNvGrpSpPr/>
          <p:nvPr/>
        </p:nvGrpSpPr>
        <p:grpSpPr>
          <a:xfrm>
            <a:off x="-12697" y="-12697"/>
            <a:ext cx="18313336" cy="1579816"/>
            <a:chOff x="0" y="0"/>
            <a:chExt cx="24417782" cy="2106422"/>
          </a:xfrm>
        </p:grpSpPr>
        <p:sp>
          <p:nvSpPr>
            <p:cNvPr id="1400" name="Google Shape;1400;p29"/>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401" name="Google Shape;1401;p29"/>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2" name="Google Shape;1402;p29"/>
          <p:cNvGrpSpPr/>
          <p:nvPr/>
        </p:nvGrpSpPr>
        <p:grpSpPr>
          <a:xfrm>
            <a:off x="-12697" y="-12697"/>
            <a:ext cx="244792" cy="1579816"/>
            <a:chOff x="0" y="0"/>
            <a:chExt cx="326390" cy="2106422"/>
          </a:xfrm>
        </p:grpSpPr>
        <p:sp>
          <p:nvSpPr>
            <p:cNvPr id="1403" name="Google Shape;1403;p29"/>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404" name="Google Shape;1404;p29"/>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5" name="Google Shape;1405;p29"/>
          <p:cNvGrpSpPr/>
          <p:nvPr/>
        </p:nvGrpSpPr>
        <p:grpSpPr>
          <a:xfrm>
            <a:off x="548640" y="89154"/>
            <a:ext cx="12801600" cy="880110"/>
            <a:chOff x="0" y="-76200"/>
            <a:chExt cx="17068800" cy="1173480"/>
          </a:xfrm>
        </p:grpSpPr>
        <p:sp>
          <p:nvSpPr>
            <p:cNvPr id="1406" name="Google Shape;1406;p29"/>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407" name="Google Shape;1407;p29"/>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Görselleştirilmiş Sonuçlar</a:t>
              </a:r>
              <a:endParaRPr/>
            </a:p>
          </p:txBody>
        </p:sp>
      </p:grpSp>
      <p:grpSp>
        <p:nvGrpSpPr>
          <p:cNvPr id="1408" name="Google Shape;1408;p29"/>
          <p:cNvGrpSpPr/>
          <p:nvPr/>
        </p:nvGrpSpPr>
        <p:grpSpPr>
          <a:xfrm>
            <a:off x="548640" y="915257"/>
            <a:ext cx="16459200" cy="547783"/>
            <a:chOff x="0" y="-47625"/>
            <a:chExt cx="21945600" cy="730377"/>
          </a:xfrm>
        </p:grpSpPr>
        <p:sp>
          <p:nvSpPr>
            <p:cNvPr id="1409" name="Google Shape;1409;p29"/>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410" name="Google Shape;1410;p29"/>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11 görsel — dashboard/ klasöründe PNG olarak kaydedildi</a:t>
              </a:r>
              <a:endParaRPr/>
            </a:p>
          </p:txBody>
        </p:sp>
      </p:grpSp>
      <p:grpSp>
        <p:nvGrpSpPr>
          <p:cNvPr id="1411" name="Google Shape;1411;p29"/>
          <p:cNvGrpSpPr/>
          <p:nvPr/>
        </p:nvGrpSpPr>
        <p:grpSpPr>
          <a:xfrm>
            <a:off x="-12697" y="1541783"/>
            <a:ext cx="18313336" cy="98490"/>
            <a:chOff x="0" y="0"/>
            <a:chExt cx="24417782" cy="131320"/>
          </a:xfrm>
        </p:grpSpPr>
        <p:sp>
          <p:nvSpPr>
            <p:cNvPr id="1412" name="Google Shape;1412;p29"/>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413" name="Google Shape;1413;p29"/>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4" name="Google Shape;1414;p29"/>
          <p:cNvGrpSpPr/>
          <p:nvPr/>
        </p:nvGrpSpPr>
        <p:grpSpPr>
          <a:xfrm>
            <a:off x="244859" y="1899914"/>
            <a:ext cx="8425186" cy="7358386"/>
            <a:chOff x="0" y="0"/>
            <a:chExt cx="11233582" cy="9811182"/>
          </a:xfrm>
        </p:grpSpPr>
        <p:sp>
          <p:nvSpPr>
            <p:cNvPr id="1415" name="Google Shape;1415;p29"/>
            <p:cNvSpPr/>
            <p:nvPr/>
          </p:nvSpPr>
          <p:spPr>
            <a:xfrm>
              <a:off x="25884" y="42926"/>
              <a:ext cx="11181814" cy="9725330"/>
            </a:xfrm>
            <a:custGeom>
              <a:rect b="b" l="l" r="r" t="t"/>
              <a:pathLst>
                <a:path extrusionOk="0" h="9725330" w="11181814">
                  <a:moveTo>
                    <a:pt x="0" y="0"/>
                  </a:moveTo>
                  <a:lnTo>
                    <a:pt x="11181814" y="0"/>
                  </a:lnTo>
                  <a:lnTo>
                    <a:pt x="11181814" y="9725330"/>
                  </a:lnTo>
                  <a:lnTo>
                    <a:pt x="0" y="9725330"/>
                  </a:lnTo>
                  <a:close/>
                </a:path>
              </a:pathLst>
            </a:custGeom>
            <a:solidFill>
              <a:srgbClr val="F4F4F4"/>
            </a:solidFill>
            <a:ln>
              <a:noFill/>
            </a:ln>
          </p:spPr>
        </p:sp>
        <p:sp>
          <p:nvSpPr>
            <p:cNvPr id="1416" name="Google Shape;1416;p29"/>
            <p:cNvSpPr/>
            <p:nvPr/>
          </p:nvSpPr>
          <p:spPr>
            <a:xfrm>
              <a:off x="0" y="0"/>
              <a:ext cx="11233582" cy="9811182"/>
            </a:xfrm>
            <a:custGeom>
              <a:rect b="b" l="l" r="r" t="t"/>
              <a:pathLst>
                <a:path extrusionOk="0" h="9811182" w="11233582">
                  <a:moveTo>
                    <a:pt x="25884" y="0"/>
                  </a:moveTo>
                  <a:lnTo>
                    <a:pt x="11207698" y="0"/>
                  </a:lnTo>
                  <a:cubicBezTo>
                    <a:pt x="11221934" y="0"/>
                    <a:pt x="11233582" y="19317"/>
                    <a:pt x="11233582" y="42926"/>
                  </a:cubicBezTo>
                  <a:lnTo>
                    <a:pt x="11233582" y="9768256"/>
                  </a:lnTo>
                  <a:cubicBezTo>
                    <a:pt x="11233582" y="9791865"/>
                    <a:pt x="11221934" y="9811182"/>
                    <a:pt x="11207698" y="9811182"/>
                  </a:cubicBezTo>
                  <a:lnTo>
                    <a:pt x="25884" y="9811182"/>
                  </a:lnTo>
                  <a:cubicBezTo>
                    <a:pt x="11648" y="9811182"/>
                    <a:pt x="0" y="9791865"/>
                    <a:pt x="0" y="9768256"/>
                  </a:cubicBezTo>
                  <a:lnTo>
                    <a:pt x="0" y="42926"/>
                  </a:lnTo>
                  <a:cubicBezTo>
                    <a:pt x="0" y="19317"/>
                    <a:pt x="11648" y="0"/>
                    <a:pt x="25884" y="0"/>
                  </a:cubicBezTo>
                  <a:moveTo>
                    <a:pt x="25884" y="85852"/>
                  </a:moveTo>
                  <a:lnTo>
                    <a:pt x="25884" y="42926"/>
                  </a:lnTo>
                  <a:lnTo>
                    <a:pt x="51768" y="42926"/>
                  </a:lnTo>
                  <a:lnTo>
                    <a:pt x="51768" y="9768256"/>
                  </a:lnTo>
                  <a:lnTo>
                    <a:pt x="25884" y="9768256"/>
                  </a:lnTo>
                  <a:lnTo>
                    <a:pt x="25884" y="9725330"/>
                  </a:lnTo>
                  <a:lnTo>
                    <a:pt x="11207698" y="9725330"/>
                  </a:lnTo>
                  <a:lnTo>
                    <a:pt x="11207698" y="9768256"/>
                  </a:lnTo>
                  <a:lnTo>
                    <a:pt x="11181814" y="9768256"/>
                  </a:lnTo>
                  <a:lnTo>
                    <a:pt x="11181814" y="42926"/>
                  </a:lnTo>
                  <a:lnTo>
                    <a:pt x="11207698" y="42926"/>
                  </a:lnTo>
                  <a:lnTo>
                    <a:pt x="11207698" y="85852"/>
                  </a:lnTo>
                  <a:lnTo>
                    <a:pt x="25884" y="85852"/>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7" name="Google Shape;1417;p29"/>
          <p:cNvGrpSpPr/>
          <p:nvPr/>
        </p:nvGrpSpPr>
        <p:grpSpPr>
          <a:xfrm>
            <a:off x="232162" y="1891401"/>
            <a:ext cx="8437747" cy="573978"/>
            <a:chOff x="0" y="0"/>
            <a:chExt cx="11250330" cy="765304"/>
          </a:xfrm>
        </p:grpSpPr>
        <p:sp>
          <p:nvSpPr>
            <p:cNvPr id="1418" name="Google Shape;1418;p29"/>
            <p:cNvSpPr/>
            <p:nvPr/>
          </p:nvSpPr>
          <p:spPr>
            <a:xfrm>
              <a:off x="34424" y="16891"/>
              <a:ext cx="11181480" cy="731520"/>
            </a:xfrm>
            <a:custGeom>
              <a:rect b="b" l="l" r="r" t="t"/>
              <a:pathLst>
                <a:path extrusionOk="0" h="731520" w="11181480">
                  <a:moveTo>
                    <a:pt x="0" y="0"/>
                  </a:moveTo>
                  <a:lnTo>
                    <a:pt x="11181481" y="0"/>
                  </a:lnTo>
                  <a:lnTo>
                    <a:pt x="11181481" y="731520"/>
                  </a:lnTo>
                  <a:lnTo>
                    <a:pt x="0" y="731520"/>
                  </a:lnTo>
                  <a:close/>
                </a:path>
              </a:pathLst>
            </a:custGeom>
            <a:solidFill>
              <a:srgbClr val="121212"/>
            </a:solidFill>
            <a:ln>
              <a:noFill/>
            </a:ln>
          </p:spPr>
        </p:sp>
        <p:sp>
          <p:nvSpPr>
            <p:cNvPr id="1419" name="Google Shape;1419;p29"/>
            <p:cNvSpPr/>
            <p:nvPr/>
          </p:nvSpPr>
          <p:spPr>
            <a:xfrm>
              <a:off x="0" y="0"/>
              <a:ext cx="11250330" cy="765304"/>
            </a:xfrm>
            <a:custGeom>
              <a:rect b="b" l="l" r="r" t="t"/>
              <a:pathLst>
                <a:path extrusionOk="0" h="765304" w="11250330">
                  <a:moveTo>
                    <a:pt x="34424" y="0"/>
                  </a:moveTo>
                  <a:lnTo>
                    <a:pt x="11215905" y="0"/>
                  </a:lnTo>
                  <a:cubicBezTo>
                    <a:pt x="11235059" y="0"/>
                    <a:pt x="11250330" y="7620"/>
                    <a:pt x="11250330" y="16891"/>
                  </a:cubicBezTo>
                  <a:lnTo>
                    <a:pt x="11250330" y="748411"/>
                  </a:lnTo>
                  <a:cubicBezTo>
                    <a:pt x="11250330" y="757809"/>
                    <a:pt x="11234800" y="765302"/>
                    <a:pt x="11215905" y="765302"/>
                  </a:cubicBezTo>
                  <a:lnTo>
                    <a:pt x="34424" y="765302"/>
                  </a:lnTo>
                  <a:cubicBezTo>
                    <a:pt x="15530" y="765429"/>
                    <a:pt x="0" y="757809"/>
                    <a:pt x="0" y="748411"/>
                  </a:cubicBezTo>
                  <a:lnTo>
                    <a:pt x="0" y="16891"/>
                  </a:lnTo>
                  <a:cubicBezTo>
                    <a:pt x="0" y="7620"/>
                    <a:pt x="15530" y="0"/>
                    <a:pt x="34424" y="0"/>
                  </a:cubicBezTo>
                  <a:moveTo>
                    <a:pt x="34424" y="33909"/>
                  </a:moveTo>
                  <a:lnTo>
                    <a:pt x="34424" y="16891"/>
                  </a:lnTo>
                  <a:lnTo>
                    <a:pt x="69108" y="16891"/>
                  </a:lnTo>
                  <a:lnTo>
                    <a:pt x="69108" y="748411"/>
                  </a:lnTo>
                  <a:lnTo>
                    <a:pt x="34424" y="748411"/>
                  </a:lnTo>
                  <a:lnTo>
                    <a:pt x="34424" y="731520"/>
                  </a:lnTo>
                  <a:lnTo>
                    <a:pt x="11215905" y="731520"/>
                  </a:lnTo>
                  <a:lnTo>
                    <a:pt x="11215905" y="748411"/>
                  </a:lnTo>
                  <a:lnTo>
                    <a:pt x="11181481" y="748411"/>
                  </a:lnTo>
                  <a:lnTo>
                    <a:pt x="11181481" y="16891"/>
                  </a:lnTo>
                  <a:lnTo>
                    <a:pt x="11215905" y="16891"/>
                  </a:lnTo>
                  <a:lnTo>
                    <a:pt x="11215905" y="33909"/>
                  </a:lnTo>
                  <a:lnTo>
                    <a:pt x="34424"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0" name="Google Shape;1420;p29"/>
          <p:cNvGrpSpPr/>
          <p:nvPr/>
        </p:nvGrpSpPr>
        <p:grpSpPr>
          <a:xfrm>
            <a:off x="9216390" y="1891401"/>
            <a:ext cx="8549393" cy="7366899"/>
            <a:chOff x="0" y="0"/>
            <a:chExt cx="5598347" cy="4824022"/>
          </a:xfrm>
        </p:grpSpPr>
        <p:sp>
          <p:nvSpPr>
            <p:cNvPr id="1421" name="Google Shape;1421;p29"/>
            <p:cNvSpPr/>
            <p:nvPr/>
          </p:nvSpPr>
          <p:spPr>
            <a:xfrm>
              <a:off x="12899" y="21106"/>
              <a:ext cx="5572548" cy="4781810"/>
            </a:xfrm>
            <a:custGeom>
              <a:rect b="b" l="l" r="r" t="t"/>
              <a:pathLst>
                <a:path extrusionOk="0" h="4781810" w="5572548">
                  <a:moveTo>
                    <a:pt x="0" y="0"/>
                  </a:moveTo>
                  <a:lnTo>
                    <a:pt x="5572549" y="0"/>
                  </a:lnTo>
                  <a:lnTo>
                    <a:pt x="5572549" y="4781810"/>
                  </a:lnTo>
                  <a:lnTo>
                    <a:pt x="0" y="4781810"/>
                  </a:lnTo>
                  <a:close/>
                </a:path>
              </a:pathLst>
            </a:custGeom>
            <a:solidFill>
              <a:srgbClr val="F4F4F4"/>
            </a:solidFill>
            <a:ln>
              <a:noFill/>
            </a:ln>
          </p:spPr>
        </p:sp>
        <p:sp>
          <p:nvSpPr>
            <p:cNvPr id="1422" name="Google Shape;1422;p29"/>
            <p:cNvSpPr/>
            <p:nvPr/>
          </p:nvSpPr>
          <p:spPr>
            <a:xfrm>
              <a:off x="0" y="0"/>
              <a:ext cx="5598347" cy="4824022"/>
            </a:xfrm>
            <a:custGeom>
              <a:rect b="b" l="l" r="r" t="t"/>
              <a:pathLst>
                <a:path extrusionOk="0" h="4824022" w="5598347">
                  <a:moveTo>
                    <a:pt x="12899" y="0"/>
                  </a:moveTo>
                  <a:lnTo>
                    <a:pt x="5585448" y="0"/>
                  </a:lnTo>
                  <a:cubicBezTo>
                    <a:pt x="5592542" y="0"/>
                    <a:pt x="5598347" y="9498"/>
                    <a:pt x="5598347" y="21106"/>
                  </a:cubicBezTo>
                  <a:lnTo>
                    <a:pt x="5598347" y="4802916"/>
                  </a:lnTo>
                  <a:cubicBezTo>
                    <a:pt x="5598347" y="4814524"/>
                    <a:pt x="5592542" y="4824022"/>
                    <a:pt x="5585448" y="4824022"/>
                  </a:cubicBezTo>
                  <a:lnTo>
                    <a:pt x="12899" y="4824022"/>
                  </a:lnTo>
                  <a:cubicBezTo>
                    <a:pt x="5805" y="4824022"/>
                    <a:pt x="0" y="4814524"/>
                    <a:pt x="0" y="4802916"/>
                  </a:cubicBezTo>
                  <a:lnTo>
                    <a:pt x="0" y="21106"/>
                  </a:lnTo>
                  <a:cubicBezTo>
                    <a:pt x="0" y="9498"/>
                    <a:pt x="5805" y="0"/>
                    <a:pt x="12899" y="0"/>
                  </a:cubicBezTo>
                  <a:moveTo>
                    <a:pt x="12899" y="42212"/>
                  </a:moveTo>
                  <a:lnTo>
                    <a:pt x="12899" y="21106"/>
                  </a:lnTo>
                  <a:lnTo>
                    <a:pt x="25799" y="21106"/>
                  </a:lnTo>
                  <a:lnTo>
                    <a:pt x="25799" y="4802916"/>
                  </a:lnTo>
                  <a:lnTo>
                    <a:pt x="12899" y="4802916"/>
                  </a:lnTo>
                  <a:lnTo>
                    <a:pt x="12899" y="4781810"/>
                  </a:lnTo>
                  <a:lnTo>
                    <a:pt x="5585448" y="4781810"/>
                  </a:lnTo>
                  <a:lnTo>
                    <a:pt x="5585448" y="4802916"/>
                  </a:lnTo>
                  <a:lnTo>
                    <a:pt x="5572548" y="4802916"/>
                  </a:lnTo>
                  <a:lnTo>
                    <a:pt x="5572548" y="21106"/>
                  </a:lnTo>
                  <a:lnTo>
                    <a:pt x="5585448" y="21106"/>
                  </a:lnTo>
                  <a:lnTo>
                    <a:pt x="5585448" y="42212"/>
                  </a:lnTo>
                  <a:lnTo>
                    <a:pt x="12899" y="42212"/>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3" name="Google Shape;1423;p29"/>
          <p:cNvGrpSpPr/>
          <p:nvPr/>
        </p:nvGrpSpPr>
        <p:grpSpPr>
          <a:xfrm>
            <a:off x="9216390" y="1902326"/>
            <a:ext cx="8549256" cy="573978"/>
            <a:chOff x="0" y="0"/>
            <a:chExt cx="11399007" cy="765304"/>
          </a:xfrm>
        </p:grpSpPr>
        <p:sp>
          <p:nvSpPr>
            <p:cNvPr id="1424" name="Google Shape;1424;p29"/>
            <p:cNvSpPr/>
            <p:nvPr/>
          </p:nvSpPr>
          <p:spPr>
            <a:xfrm>
              <a:off x="34879" y="16891"/>
              <a:ext cx="11329248" cy="731520"/>
            </a:xfrm>
            <a:custGeom>
              <a:rect b="b" l="l" r="r" t="t"/>
              <a:pathLst>
                <a:path extrusionOk="0" h="731520" w="11329248">
                  <a:moveTo>
                    <a:pt x="0" y="0"/>
                  </a:moveTo>
                  <a:lnTo>
                    <a:pt x="11329248" y="0"/>
                  </a:lnTo>
                  <a:lnTo>
                    <a:pt x="11329248" y="731520"/>
                  </a:lnTo>
                  <a:lnTo>
                    <a:pt x="0" y="731520"/>
                  </a:lnTo>
                  <a:close/>
                </a:path>
              </a:pathLst>
            </a:custGeom>
            <a:solidFill>
              <a:srgbClr val="121212"/>
            </a:solidFill>
            <a:ln>
              <a:noFill/>
            </a:ln>
          </p:spPr>
        </p:sp>
        <p:sp>
          <p:nvSpPr>
            <p:cNvPr id="1425" name="Google Shape;1425;p29"/>
            <p:cNvSpPr/>
            <p:nvPr/>
          </p:nvSpPr>
          <p:spPr>
            <a:xfrm>
              <a:off x="0" y="0"/>
              <a:ext cx="11399007" cy="765304"/>
            </a:xfrm>
            <a:custGeom>
              <a:rect b="b" l="l" r="r" t="t"/>
              <a:pathLst>
                <a:path extrusionOk="0" h="765304" w="11399007">
                  <a:moveTo>
                    <a:pt x="34879" y="0"/>
                  </a:moveTo>
                  <a:lnTo>
                    <a:pt x="11364127" y="0"/>
                  </a:lnTo>
                  <a:cubicBezTo>
                    <a:pt x="11383534" y="0"/>
                    <a:pt x="11399007" y="7620"/>
                    <a:pt x="11399007" y="16891"/>
                  </a:cubicBezTo>
                  <a:lnTo>
                    <a:pt x="11399007" y="748411"/>
                  </a:lnTo>
                  <a:cubicBezTo>
                    <a:pt x="11399007" y="757809"/>
                    <a:pt x="11383272" y="765302"/>
                    <a:pt x="11364127" y="765302"/>
                  </a:cubicBezTo>
                  <a:lnTo>
                    <a:pt x="34879" y="765302"/>
                  </a:lnTo>
                  <a:cubicBezTo>
                    <a:pt x="15735" y="765429"/>
                    <a:pt x="0" y="757809"/>
                    <a:pt x="0" y="748411"/>
                  </a:cubicBezTo>
                  <a:lnTo>
                    <a:pt x="0" y="16891"/>
                  </a:lnTo>
                  <a:cubicBezTo>
                    <a:pt x="0" y="7620"/>
                    <a:pt x="15735" y="0"/>
                    <a:pt x="34879" y="0"/>
                  </a:cubicBezTo>
                  <a:moveTo>
                    <a:pt x="34879" y="33909"/>
                  </a:moveTo>
                  <a:lnTo>
                    <a:pt x="34879" y="16891"/>
                  </a:lnTo>
                  <a:lnTo>
                    <a:pt x="70021" y="16891"/>
                  </a:lnTo>
                  <a:lnTo>
                    <a:pt x="70021" y="748411"/>
                  </a:lnTo>
                  <a:lnTo>
                    <a:pt x="34879" y="748411"/>
                  </a:lnTo>
                  <a:lnTo>
                    <a:pt x="34879" y="731520"/>
                  </a:lnTo>
                  <a:lnTo>
                    <a:pt x="11364127" y="731520"/>
                  </a:lnTo>
                  <a:lnTo>
                    <a:pt x="11364127" y="748411"/>
                  </a:lnTo>
                  <a:lnTo>
                    <a:pt x="11329248" y="748411"/>
                  </a:lnTo>
                  <a:lnTo>
                    <a:pt x="11329248" y="16891"/>
                  </a:lnTo>
                  <a:lnTo>
                    <a:pt x="11364127" y="16891"/>
                  </a:lnTo>
                  <a:lnTo>
                    <a:pt x="11364127" y="33909"/>
                  </a:lnTo>
                  <a:lnTo>
                    <a:pt x="34879"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6" name="Google Shape;1426;p29"/>
          <p:cNvGrpSpPr/>
          <p:nvPr/>
        </p:nvGrpSpPr>
        <p:grpSpPr>
          <a:xfrm>
            <a:off x="244859" y="1959605"/>
            <a:ext cx="731520" cy="430911"/>
            <a:chOff x="0" y="-38100"/>
            <a:chExt cx="975360" cy="574548"/>
          </a:xfrm>
        </p:grpSpPr>
        <p:sp>
          <p:nvSpPr>
            <p:cNvPr id="1427" name="Google Shape;1427;p29"/>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428" name="Google Shape;1428;p29"/>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G8</a:t>
              </a:r>
              <a:endParaRPr/>
            </a:p>
          </p:txBody>
        </p:sp>
      </p:grpSp>
      <p:grpSp>
        <p:nvGrpSpPr>
          <p:cNvPr id="1429" name="Google Shape;1429;p29"/>
          <p:cNvGrpSpPr/>
          <p:nvPr/>
        </p:nvGrpSpPr>
        <p:grpSpPr>
          <a:xfrm>
            <a:off x="939803" y="1959605"/>
            <a:ext cx="3328416" cy="430911"/>
            <a:chOff x="0" y="-38100"/>
            <a:chExt cx="4437888" cy="574548"/>
          </a:xfrm>
        </p:grpSpPr>
        <p:sp>
          <p:nvSpPr>
            <p:cNvPr id="1430" name="Google Shape;1430;p29"/>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431" name="Google Shape;1431;p29"/>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Gerçek vs Tahmin Edilen Türler</a:t>
              </a:r>
              <a:endParaRPr/>
            </a:p>
          </p:txBody>
        </p:sp>
      </p:grpSp>
      <p:grpSp>
        <p:nvGrpSpPr>
          <p:cNvPr id="1432" name="Google Shape;1432;p29"/>
          <p:cNvGrpSpPr/>
          <p:nvPr/>
        </p:nvGrpSpPr>
        <p:grpSpPr>
          <a:xfrm>
            <a:off x="9216390" y="1959605"/>
            <a:ext cx="731520" cy="430911"/>
            <a:chOff x="0" y="-38100"/>
            <a:chExt cx="975360" cy="574548"/>
          </a:xfrm>
        </p:grpSpPr>
        <p:sp>
          <p:nvSpPr>
            <p:cNvPr id="1433" name="Google Shape;1433;p29"/>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434" name="Google Shape;1434;p29"/>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G9</a:t>
              </a:r>
              <a:endParaRPr/>
            </a:p>
          </p:txBody>
        </p:sp>
      </p:grpSp>
      <p:grpSp>
        <p:nvGrpSpPr>
          <p:cNvPr id="1435" name="Google Shape;1435;p29"/>
          <p:cNvGrpSpPr/>
          <p:nvPr/>
        </p:nvGrpSpPr>
        <p:grpSpPr>
          <a:xfrm>
            <a:off x="9911334" y="1959605"/>
            <a:ext cx="3328416" cy="430911"/>
            <a:chOff x="0" y="-38100"/>
            <a:chExt cx="4437888" cy="574548"/>
          </a:xfrm>
        </p:grpSpPr>
        <p:sp>
          <p:nvSpPr>
            <p:cNvPr id="1436" name="Google Shape;1436;p29"/>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437" name="Google Shape;1437;p29"/>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Popülerlik ve Danceability İlişkisi</a:t>
              </a:r>
              <a:endParaRPr/>
            </a:p>
          </p:txBody>
        </p:sp>
      </p:grpSp>
      <p:sp>
        <p:nvSpPr>
          <p:cNvPr id="1438" name="Google Shape;1438;p29"/>
          <p:cNvSpPr/>
          <p:nvPr/>
        </p:nvSpPr>
        <p:spPr>
          <a:xfrm>
            <a:off x="342652" y="3163879"/>
            <a:ext cx="7918483" cy="3959242"/>
          </a:xfrm>
          <a:custGeom>
            <a:rect b="b" l="l" r="r" t="t"/>
            <a:pathLst>
              <a:path extrusionOk="0" h="3959242" w="7918483">
                <a:moveTo>
                  <a:pt x="0" y="0"/>
                </a:moveTo>
                <a:lnTo>
                  <a:pt x="7918484" y="0"/>
                </a:lnTo>
                <a:lnTo>
                  <a:pt x="7918484" y="3959242"/>
                </a:lnTo>
                <a:lnTo>
                  <a:pt x="0" y="3959242"/>
                </a:lnTo>
                <a:lnTo>
                  <a:pt x="0" y="0"/>
                </a:lnTo>
                <a:close/>
              </a:path>
            </a:pathLst>
          </a:custGeom>
          <a:blipFill rotWithShape="1">
            <a:blip r:embed="rId4">
              <a:alphaModFix/>
            </a:blip>
            <a:stretch>
              <a:fillRect b="0" l="0" r="0" t="0"/>
            </a:stretch>
          </a:blipFill>
          <a:ln>
            <a:noFill/>
          </a:ln>
        </p:spPr>
      </p:sp>
      <p:sp>
        <p:nvSpPr>
          <p:cNvPr id="1439" name="Google Shape;1439;p29"/>
          <p:cNvSpPr/>
          <p:nvPr/>
        </p:nvSpPr>
        <p:spPr>
          <a:xfrm>
            <a:off x="10182614" y="3047869"/>
            <a:ext cx="6616945" cy="3970167"/>
          </a:xfrm>
          <a:custGeom>
            <a:rect b="b" l="l" r="r" t="t"/>
            <a:pathLst>
              <a:path extrusionOk="0" h="3970167" w="6616945">
                <a:moveTo>
                  <a:pt x="0" y="0"/>
                </a:moveTo>
                <a:lnTo>
                  <a:pt x="6616945" y="0"/>
                </a:lnTo>
                <a:lnTo>
                  <a:pt x="6616945" y="3970167"/>
                </a:lnTo>
                <a:lnTo>
                  <a:pt x="0" y="3970167"/>
                </a:lnTo>
                <a:lnTo>
                  <a:pt x="0" y="0"/>
                </a:lnTo>
                <a:close/>
              </a:path>
            </a:pathLst>
          </a:custGeom>
          <a:blipFill rotWithShape="1">
            <a:blip r:embed="rId5">
              <a:alphaModFix/>
            </a:blip>
            <a:stretch>
              <a:fillRect b="0" l="0" r="0" t="0"/>
            </a:stretch>
          </a:blipFill>
          <a:ln>
            <a:noFill/>
          </a:ln>
        </p:spPr>
      </p:sp>
      <p:grpSp>
        <p:nvGrpSpPr>
          <p:cNvPr id="1440" name="Google Shape;1440;p29"/>
          <p:cNvGrpSpPr/>
          <p:nvPr/>
        </p:nvGrpSpPr>
        <p:grpSpPr>
          <a:xfrm>
            <a:off x="336304" y="7666046"/>
            <a:ext cx="8229600" cy="1265244"/>
            <a:chOff x="0" y="-38100"/>
            <a:chExt cx="10972800" cy="1686992"/>
          </a:xfrm>
        </p:grpSpPr>
        <p:sp>
          <p:nvSpPr>
            <p:cNvPr id="1441" name="Google Shape;1441;p29"/>
            <p:cNvSpPr/>
            <p:nvPr/>
          </p:nvSpPr>
          <p:spPr>
            <a:xfrm>
              <a:off x="0" y="0"/>
              <a:ext cx="10972800" cy="1648892"/>
            </a:xfrm>
            <a:custGeom>
              <a:rect b="b" l="l" r="r" t="t"/>
              <a:pathLst>
                <a:path extrusionOk="0" h="1648892" w="10972800">
                  <a:moveTo>
                    <a:pt x="0" y="0"/>
                  </a:moveTo>
                  <a:lnTo>
                    <a:pt x="10972800" y="0"/>
                  </a:lnTo>
                  <a:lnTo>
                    <a:pt x="10972800" y="1648892"/>
                  </a:lnTo>
                  <a:lnTo>
                    <a:pt x="0" y="1648892"/>
                  </a:lnTo>
                  <a:close/>
                </a:path>
              </a:pathLst>
            </a:custGeom>
            <a:blipFill rotWithShape="1">
              <a:blip r:embed="rId3">
                <a:alphaModFix amt="0"/>
              </a:blip>
              <a:stretch>
                <a:fillRect b="-48150" l="0" r="0" t="-111180"/>
              </a:stretch>
            </a:blipFill>
            <a:ln>
              <a:noFill/>
            </a:ln>
          </p:spPr>
        </p:sp>
        <p:sp>
          <p:nvSpPr>
            <p:cNvPr id="1442" name="Google Shape;1442;p29"/>
            <p:cNvSpPr txBox="1"/>
            <p:nvPr/>
          </p:nvSpPr>
          <p:spPr>
            <a:xfrm>
              <a:off x="0" y="-38100"/>
              <a:ext cx="10972800" cy="1686992"/>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Modelin tahminlerinin gerçek veri dağılımıyla ne kadar örtüştüğünü göstermektedir. Özellikle 'black-metal' ve 'bluegrass' gibi karakteristik (ses sınırları net olan) türlerde gerçek ve tahmin çubuklarının neredeyse birebir eşleşmesi, modelimizin akustik parmak izlerini başarıyla öğrendiğini kanıtlar.</a:t>
              </a:r>
              <a:endParaRPr/>
            </a:p>
          </p:txBody>
        </p:sp>
      </p:grpSp>
      <p:grpSp>
        <p:nvGrpSpPr>
          <p:cNvPr id="1443" name="Google Shape;1443;p29"/>
          <p:cNvGrpSpPr/>
          <p:nvPr/>
        </p:nvGrpSpPr>
        <p:grpSpPr>
          <a:xfrm>
            <a:off x="9376286" y="7911986"/>
            <a:ext cx="8229600" cy="693744"/>
            <a:chOff x="0" y="-38100"/>
            <a:chExt cx="10972800" cy="924992"/>
          </a:xfrm>
        </p:grpSpPr>
        <p:sp>
          <p:nvSpPr>
            <p:cNvPr id="1444" name="Google Shape;1444;p29"/>
            <p:cNvSpPr/>
            <p:nvPr/>
          </p:nvSpPr>
          <p:spPr>
            <a:xfrm>
              <a:off x="0" y="0"/>
              <a:ext cx="10972800" cy="886892"/>
            </a:xfrm>
            <a:custGeom>
              <a:rect b="b" l="l" r="r" t="t"/>
              <a:pathLst>
                <a:path extrusionOk="0" h="886892" w="10972800">
                  <a:moveTo>
                    <a:pt x="0" y="0"/>
                  </a:moveTo>
                  <a:lnTo>
                    <a:pt x="10972800" y="0"/>
                  </a:lnTo>
                  <a:lnTo>
                    <a:pt x="10972800" y="886892"/>
                  </a:lnTo>
                  <a:lnTo>
                    <a:pt x="0" y="886892"/>
                  </a:lnTo>
                  <a:close/>
                </a:path>
              </a:pathLst>
            </a:custGeom>
            <a:blipFill rotWithShape="1">
              <a:blip r:embed="rId3">
                <a:alphaModFix amt="0"/>
              </a:blip>
              <a:stretch>
                <a:fillRect b="-175435" l="0" r="0" t="-206702"/>
              </a:stretch>
            </a:blipFill>
            <a:ln>
              <a:noFill/>
            </a:ln>
          </p:spPr>
        </p:sp>
        <p:sp>
          <p:nvSpPr>
            <p:cNvPr id="1445" name="Google Shape;1445;p29"/>
            <p:cNvSpPr txBox="1"/>
            <p:nvPr/>
          </p:nvSpPr>
          <p:spPr>
            <a:xfrm>
              <a:off x="0" y="-38100"/>
              <a:ext cx="10972800" cy="924992"/>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Popülerlik ile dans edilebilirliğin arasında doğrusal bir ilişki olmadığı, hit olmanın tek bir özelliğe bağlı olmadığını göstermektedir.</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grpSp>
        <p:nvGrpSpPr>
          <p:cNvPr id="1454" name="Google Shape;1454;p30"/>
          <p:cNvGrpSpPr/>
          <p:nvPr/>
        </p:nvGrpSpPr>
        <p:grpSpPr>
          <a:xfrm>
            <a:off x="-12697" y="-12697"/>
            <a:ext cx="18313336" cy="1579816"/>
            <a:chOff x="0" y="0"/>
            <a:chExt cx="24417782" cy="2106422"/>
          </a:xfrm>
        </p:grpSpPr>
        <p:sp>
          <p:nvSpPr>
            <p:cNvPr id="1455" name="Google Shape;1455;p30"/>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456" name="Google Shape;1456;p30"/>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7" name="Google Shape;1457;p30"/>
          <p:cNvGrpSpPr/>
          <p:nvPr/>
        </p:nvGrpSpPr>
        <p:grpSpPr>
          <a:xfrm>
            <a:off x="-12697" y="-12697"/>
            <a:ext cx="244792" cy="1579816"/>
            <a:chOff x="0" y="0"/>
            <a:chExt cx="326390" cy="2106422"/>
          </a:xfrm>
        </p:grpSpPr>
        <p:sp>
          <p:nvSpPr>
            <p:cNvPr id="1458" name="Google Shape;1458;p30"/>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459" name="Google Shape;1459;p30"/>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0" name="Google Shape;1460;p30"/>
          <p:cNvGrpSpPr/>
          <p:nvPr/>
        </p:nvGrpSpPr>
        <p:grpSpPr>
          <a:xfrm>
            <a:off x="548640" y="89154"/>
            <a:ext cx="12801600" cy="880110"/>
            <a:chOff x="0" y="-76200"/>
            <a:chExt cx="17068800" cy="1173480"/>
          </a:xfrm>
        </p:grpSpPr>
        <p:sp>
          <p:nvSpPr>
            <p:cNvPr id="1461" name="Google Shape;1461;p30"/>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462" name="Google Shape;1462;p30"/>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Görselleştirilmiş Sonuçlar</a:t>
              </a:r>
              <a:endParaRPr/>
            </a:p>
          </p:txBody>
        </p:sp>
      </p:grpSp>
      <p:grpSp>
        <p:nvGrpSpPr>
          <p:cNvPr id="1463" name="Google Shape;1463;p30"/>
          <p:cNvGrpSpPr/>
          <p:nvPr/>
        </p:nvGrpSpPr>
        <p:grpSpPr>
          <a:xfrm>
            <a:off x="548640" y="915257"/>
            <a:ext cx="16459200" cy="547783"/>
            <a:chOff x="0" y="-47625"/>
            <a:chExt cx="21945600" cy="730377"/>
          </a:xfrm>
        </p:grpSpPr>
        <p:sp>
          <p:nvSpPr>
            <p:cNvPr id="1464" name="Google Shape;1464;p30"/>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465" name="Google Shape;1465;p30"/>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11 görsel — dashboard/ klasöründe PNG olarak kaydedildi</a:t>
              </a:r>
              <a:endParaRPr/>
            </a:p>
          </p:txBody>
        </p:sp>
      </p:grpSp>
      <p:grpSp>
        <p:nvGrpSpPr>
          <p:cNvPr id="1466" name="Google Shape;1466;p30"/>
          <p:cNvGrpSpPr/>
          <p:nvPr/>
        </p:nvGrpSpPr>
        <p:grpSpPr>
          <a:xfrm>
            <a:off x="-12697" y="1541783"/>
            <a:ext cx="18313336" cy="98490"/>
            <a:chOff x="0" y="0"/>
            <a:chExt cx="24417782" cy="131320"/>
          </a:xfrm>
        </p:grpSpPr>
        <p:sp>
          <p:nvSpPr>
            <p:cNvPr id="1467" name="Google Shape;1467;p30"/>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468" name="Google Shape;1468;p30"/>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9" name="Google Shape;1469;p30"/>
          <p:cNvGrpSpPr/>
          <p:nvPr/>
        </p:nvGrpSpPr>
        <p:grpSpPr>
          <a:xfrm>
            <a:off x="244859" y="1899914"/>
            <a:ext cx="8425186" cy="7044220"/>
            <a:chOff x="0" y="0"/>
            <a:chExt cx="11233582" cy="9392294"/>
          </a:xfrm>
        </p:grpSpPr>
        <p:sp>
          <p:nvSpPr>
            <p:cNvPr id="1470" name="Google Shape;1470;p30"/>
            <p:cNvSpPr/>
            <p:nvPr/>
          </p:nvSpPr>
          <p:spPr>
            <a:xfrm>
              <a:off x="25884" y="41093"/>
              <a:ext cx="11181814" cy="9310107"/>
            </a:xfrm>
            <a:custGeom>
              <a:rect b="b" l="l" r="r" t="t"/>
              <a:pathLst>
                <a:path extrusionOk="0" h="9310107" w="11181814">
                  <a:moveTo>
                    <a:pt x="0" y="0"/>
                  </a:moveTo>
                  <a:lnTo>
                    <a:pt x="11181814" y="0"/>
                  </a:lnTo>
                  <a:lnTo>
                    <a:pt x="11181814" y="9310108"/>
                  </a:lnTo>
                  <a:lnTo>
                    <a:pt x="0" y="9310108"/>
                  </a:lnTo>
                  <a:close/>
                </a:path>
              </a:pathLst>
            </a:custGeom>
            <a:solidFill>
              <a:srgbClr val="F4F4F4"/>
            </a:solidFill>
            <a:ln>
              <a:noFill/>
            </a:ln>
          </p:spPr>
        </p:sp>
        <p:sp>
          <p:nvSpPr>
            <p:cNvPr id="1471" name="Google Shape;1471;p30"/>
            <p:cNvSpPr/>
            <p:nvPr/>
          </p:nvSpPr>
          <p:spPr>
            <a:xfrm>
              <a:off x="0" y="0"/>
              <a:ext cx="11233582" cy="9392294"/>
            </a:xfrm>
            <a:custGeom>
              <a:rect b="b" l="l" r="r" t="t"/>
              <a:pathLst>
                <a:path extrusionOk="0" h="9392294" w="11233582">
                  <a:moveTo>
                    <a:pt x="25884" y="0"/>
                  </a:moveTo>
                  <a:lnTo>
                    <a:pt x="11207698" y="0"/>
                  </a:lnTo>
                  <a:cubicBezTo>
                    <a:pt x="11221934" y="0"/>
                    <a:pt x="11233582" y="18492"/>
                    <a:pt x="11233582" y="41093"/>
                  </a:cubicBezTo>
                  <a:lnTo>
                    <a:pt x="11233582" y="9351201"/>
                  </a:lnTo>
                  <a:cubicBezTo>
                    <a:pt x="11233582" y="9373802"/>
                    <a:pt x="11221934" y="9392294"/>
                    <a:pt x="11207698" y="9392294"/>
                  </a:cubicBezTo>
                  <a:lnTo>
                    <a:pt x="25884" y="9392294"/>
                  </a:lnTo>
                  <a:cubicBezTo>
                    <a:pt x="11648" y="9392294"/>
                    <a:pt x="0" y="9373802"/>
                    <a:pt x="0" y="9351201"/>
                  </a:cubicBezTo>
                  <a:lnTo>
                    <a:pt x="0" y="41093"/>
                  </a:lnTo>
                  <a:cubicBezTo>
                    <a:pt x="0" y="18492"/>
                    <a:pt x="11648" y="0"/>
                    <a:pt x="25884" y="0"/>
                  </a:cubicBezTo>
                  <a:moveTo>
                    <a:pt x="25884" y="82187"/>
                  </a:moveTo>
                  <a:lnTo>
                    <a:pt x="25884" y="41093"/>
                  </a:lnTo>
                  <a:lnTo>
                    <a:pt x="51768" y="41093"/>
                  </a:lnTo>
                  <a:lnTo>
                    <a:pt x="51768" y="9351201"/>
                  </a:lnTo>
                  <a:lnTo>
                    <a:pt x="25884" y="9351201"/>
                  </a:lnTo>
                  <a:lnTo>
                    <a:pt x="25884" y="9310107"/>
                  </a:lnTo>
                  <a:lnTo>
                    <a:pt x="11207698" y="9310107"/>
                  </a:lnTo>
                  <a:lnTo>
                    <a:pt x="11207698" y="9351201"/>
                  </a:lnTo>
                  <a:lnTo>
                    <a:pt x="11181814" y="9351201"/>
                  </a:lnTo>
                  <a:lnTo>
                    <a:pt x="11181814" y="41093"/>
                  </a:lnTo>
                  <a:lnTo>
                    <a:pt x="11207698" y="41093"/>
                  </a:lnTo>
                  <a:lnTo>
                    <a:pt x="11207698" y="82187"/>
                  </a:lnTo>
                  <a:lnTo>
                    <a:pt x="25884" y="82187"/>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2" name="Google Shape;1472;p30"/>
          <p:cNvGrpSpPr/>
          <p:nvPr/>
        </p:nvGrpSpPr>
        <p:grpSpPr>
          <a:xfrm>
            <a:off x="232162" y="1891401"/>
            <a:ext cx="8437747" cy="573978"/>
            <a:chOff x="0" y="0"/>
            <a:chExt cx="11250330" cy="765304"/>
          </a:xfrm>
        </p:grpSpPr>
        <p:sp>
          <p:nvSpPr>
            <p:cNvPr id="1473" name="Google Shape;1473;p30"/>
            <p:cNvSpPr/>
            <p:nvPr/>
          </p:nvSpPr>
          <p:spPr>
            <a:xfrm>
              <a:off x="34424" y="16891"/>
              <a:ext cx="11181480" cy="731520"/>
            </a:xfrm>
            <a:custGeom>
              <a:rect b="b" l="l" r="r" t="t"/>
              <a:pathLst>
                <a:path extrusionOk="0" h="731520" w="11181480">
                  <a:moveTo>
                    <a:pt x="0" y="0"/>
                  </a:moveTo>
                  <a:lnTo>
                    <a:pt x="11181481" y="0"/>
                  </a:lnTo>
                  <a:lnTo>
                    <a:pt x="11181481" y="731520"/>
                  </a:lnTo>
                  <a:lnTo>
                    <a:pt x="0" y="731520"/>
                  </a:lnTo>
                  <a:close/>
                </a:path>
              </a:pathLst>
            </a:custGeom>
            <a:solidFill>
              <a:srgbClr val="121212"/>
            </a:solidFill>
            <a:ln>
              <a:noFill/>
            </a:ln>
          </p:spPr>
        </p:sp>
        <p:sp>
          <p:nvSpPr>
            <p:cNvPr id="1474" name="Google Shape;1474;p30"/>
            <p:cNvSpPr/>
            <p:nvPr/>
          </p:nvSpPr>
          <p:spPr>
            <a:xfrm>
              <a:off x="0" y="0"/>
              <a:ext cx="11250330" cy="765304"/>
            </a:xfrm>
            <a:custGeom>
              <a:rect b="b" l="l" r="r" t="t"/>
              <a:pathLst>
                <a:path extrusionOk="0" h="765304" w="11250330">
                  <a:moveTo>
                    <a:pt x="34424" y="0"/>
                  </a:moveTo>
                  <a:lnTo>
                    <a:pt x="11215905" y="0"/>
                  </a:lnTo>
                  <a:cubicBezTo>
                    <a:pt x="11235059" y="0"/>
                    <a:pt x="11250330" y="7620"/>
                    <a:pt x="11250330" y="16891"/>
                  </a:cubicBezTo>
                  <a:lnTo>
                    <a:pt x="11250330" y="748411"/>
                  </a:lnTo>
                  <a:cubicBezTo>
                    <a:pt x="11250330" y="757809"/>
                    <a:pt x="11234800" y="765302"/>
                    <a:pt x="11215905" y="765302"/>
                  </a:cubicBezTo>
                  <a:lnTo>
                    <a:pt x="34424" y="765302"/>
                  </a:lnTo>
                  <a:cubicBezTo>
                    <a:pt x="15530" y="765429"/>
                    <a:pt x="0" y="757809"/>
                    <a:pt x="0" y="748411"/>
                  </a:cubicBezTo>
                  <a:lnTo>
                    <a:pt x="0" y="16891"/>
                  </a:lnTo>
                  <a:cubicBezTo>
                    <a:pt x="0" y="7620"/>
                    <a:pt x="15530" y="0"/>
                    <a:pt x="34424" y="0"/>
                  </a:cubicBezTo>
                  <a:moveTo>
                    <a:pt x="34424" y="33909"/>
                  </a:moveTo>
                  <a:lnTo>
                    <a:pt x="34424" y="16891"/>
                  </a:lnTo>
                  <a:lnTo>
                    <a:pt x="69108" y="16891"/>
                  </a:lnTo>
                  <a:lnTo>
                    <a:pt x="69108" y="748411"/>
                  </a:lnTo>
                  <a:lnTo>
                    <a:pt x="34424" y="748411"/>
                  </a:lnTo>
                  <a:lnTo>
                    <a:pt x="34424" y="731520"/>
                  </a:lnTo>
                  <a:lnTo>
                    <a:pt x="11215905" y="731520"/>
                  </a:lnTo>
                  <a:lnTo>
                    <a:pt x="11215905" y="748411"/>
                  </a:lnTo>
                  <a:lnTo>
                    <a:pt x="11181481" y="748411"/>
                  </a:lnTo>
                  <a:lnTo>
                    <a:pt x="11181481" y="16891"/>
                  </a:lnTo>
                  <a:lnTo>
                    <a:pt x="11215905" y="16891"/>
                  </a:lnTo>
                  <a:lnTo>
                    <a:pt x="11215905" y="33909"/>
                  </a:lnTo>
                  <a:lnTo>
                    <a:pt x="34424"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5" name="Google Shape;1475;p30"/>
          <p:cNvGrpSpPr/>
          <p:nvPr/>
        </p:nvGrpSpPr>
        <p:grpSpPr>
          <a:xfrm>
            <a:off x="9216390" y="1891401"/>
            <a:ext cx="8549393" cy="7052731"/>
            <a:chOff x="0" y="0"/>
            <a:chExt cx="5598347" cy="4618298"/>
          </a:xfrm>
        </p:grpSpPr>
        <p:sp>
          <p:nvSpPr>
            <p:cNvPr id="1476" name="Google Shape;1476;p30"/>
            <p:cNvSpPr/>
            <p:nvPr/>
          </p:nvSpPr>
          <p:spPr>
            <a:xfrm>
              <a:off x="12899" y="20206"/>
              <a:ext cx="5572548" cy="4577887"/>
            </a:xfrm>
            <a:custGeom>
              <a:rect b="b" l="l" r="r" t="t"/>
              <a:pathLst>
                <a:path extrusionOk="0" h="4577887" w="5572548">
                  <a:moveTo>
                    <a:pt x="0" y="0"/>
                  </a:moveTo>
                  <a:lnTo>
                    <a:pt x="5572549" y="0"/>
                  </a:lnTo>
                  <a:lnTo>
                    <a:pt x="5572549" y="4577887"/>
                  </a:lnTo>
                  <a:lnTo>
                    <a:pt x="0" y="4577887"/>
                  </a:lnTo>
                  <a:close/>
                </a:path>
              </a:pathLst>
            </a:custGeom>
            <a:solidFill>
              <a:srgbClr val="F4F4F4"/>
            </a:solidFill>
            <a:ln>
              <a:noFill/>
            </a:ln>
          </p:spPr>
        </p:sp>
        <p:sp>
          <p:nvSpPr>
            <p:cNvPr id="1477" name="Google Shape;1477;p30"/>
            <p:cNvSpPr/>
            <p:nvPr/>
          </p:nvSpPr>
          <p:spPr>
            <a:xfrm>
              <a:off x="0" y="0"/>
              <a:ext cx="5598347" cy="4618298"/>
            </a:xfrm>
            <a:custGeom>
              <a:rect b="b" l="l" r="r" t="t"/>
              <a:pathLst>
                <a:path extrusionOk="0" h="4618298" w="5598347">
                  <a:moveTo>
                    <a:pt x="12899" y="0"/>
                  </a:moveTo>
                  <a:lnTo>
                    <a:pt x="5585448" y="0"/>
                  </a:lnTo>
                  <a:cubicBezTo>
                    <a:pt x="5592542" y="0"/>
                    <a:pt x="5598347" y="9093"/>
                    <a:pt x="5598347" y="20206"/>
                  </a:cubicBezTo>
                  <a:lnTo>
                    <a:pt x="5598347" y="4598093"/>
                  </a:lnTo>
                  <a:cubicBezTo>
                    <a:pt x="5598347" y="4609206"/>
                    <a:pt x="5592542" y="4618298"/>
                    <a:pt x="5585448" y="4618298"/>
                  </a:cubicBezTo>
                  <a:lnTo>
                    <a:pt x="12899" y="4618298"/>
                  </a:lnTo>
                  <a:cubicBezTo>
                    <a:pt x="5805" y="4618298"/>
                    <a:pt x="0" y="4609206"/>
                    <a:pt x="0" y="4598093"/>
                  </a:cubicBezTo>
                  <a:lnTo>
                    <a:pt x="0" y="20206"/>
                  </a:lnTo>
                  <a:cubicBezTo>
                    <a:pt x="0" y="9093"/>
                    <a:pt x="5805" y="0"/>
                    <a:pt x="12899" y="0"/>
                  </a:cubicBezTo>
                  <a:moveTo>
                    <a:pt x="12899" y="40412"/>
                  </a:moveTo>
                  <a:lnTo>
                    <a:pt x="12899" y="20206"/>
                  </a:lnTo>
                  <a:lnTo>
                    <a:pt x="25799" y="20206"/>
                  </a:lnTo>
                  <a:lnTo>
                    <a:pt x="25799" y="4598093"/>
                  </a:lnTo>
                  <a:lnTo>
                    <a:pt x="12899" y="4598093"/>
                  </a:lnTo>
                  <a:lnTo>
                    <a:pt x="12899" y="4577886"/>
                  </a:lnTo>
                  <a:lnTo>
                    <a:pt x="5585448" y="4577886"/>
                  </a:lnTo>
                  <a:lnTo>
                    <a:pt x="5585448" y="4598093"/>
                  </a:lnTo>
                  <a:lnTo>
                    <a:pt x="5572548" y="4598093"/>
                  </a:lnTo>
                  <a:lnTo>
                    <a:pt x="5572548" y="20206"/>
                  </a:lnTo>
                  <a:lnTo>
                    <a:pt x="5585448" y="20206"/>
                  </a:lnTo>
                  <a:lnTo>
                    <a:pt x="5585448" y="40412"/>
                  </a:lnTo>
                  <a:lnTo>
                    <a:pt x="12899" y="40412"/>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8" name="Google Shape;1478;p30"/>
          <p:cNvGrpSpPr/>
          <p:nvPr/>
        </p:nvGrpSpPr>
        <p:grpSpPr>
          <a:xfrm>
            <a:off x="9216390" y="1902326"/>
            <a:ext cx="8549256" cy="573978"/>
            <a:chOff x="0" y="0"/>
            <a:chExt cx="11399007" cy="765304"/>
          </a:xfrm>
        </p:grpSpPr>
        <p:sp>
          <p:nvSpPr>
            <p:cNvPr id="1479" name="Google Shape;1479;p30"/>
            <p:cNvSpPr/>
            <p:nvPr/>
          </p:nvSpPr>
          <p:spPr>
            <a:xfrm>
              <a:off x="34879" y="16891"/>
              <a:ext cx="11329248" cy="731520"/>
            </a:xfrm>
            <a:custGeom>
              <a:rect b="b" l="l" r="r" t="t"/>
              <a:pathLst>
                <a:path extrusionOk="0" h="731520" w="11329248">
                  <a:moveTo>
                    <a:pt x="0" y="0"/>
                  </a:moveTo>
                  <a:lnTo>
                    <a:pt x="11329248" y="0"/>
                  </a:lnTo>
                  <a:lnTo>
                    <a:pt x="11329248" y="731520"/>
                  </a:lnTo>
                  <a:lnTo>
                    <a:pt x="0" y="731520"/>
                  </a:lnTo>
                  <a:close/>
                </a:path>
              </a:pathLst>
            </a:custGeom>
            <a:solidFill>
              <a:srgbClr val="121212"/>
            </a:solidFill>
            <a:ln>
              <a:noFill/>
            </a:ln>
          </p:spPr>
        </p:sp>
        <p:sp>
          <p:nvSpPr>
            <p:cNvPr id="1480" name="Google Shape;1480;p30"/>
            <p:cNvSpPr/>
            <p:nvPr/>
          </p:nvSpPr>
          <p:spPr>
            <a:xfrm>
              <a:off x="0" y="0"/>
              <a:ext cx="11399007" cy="765304"/>
            </a:xfrm>
            <a:custGeom>
              <a:rect b="b" l="l" r="r" t="t"/>
              <a:pathLst>
                <a:path extrusionOk="0" h="765304" w="11399007">
                  <a:moveTo>
                    <a:pt x="34879" y="0"/>
                  </a:moveTo>
                  <a:lnTo>
                    <a:pt x="11364127" y="0"/>
                  </a:lnTo>
                  <a:cubicBezTo>
                    <a:pt x="11383534" y="0"/>
                    <a:pt x="11399007" y="7620"/>
                    <a:pt x="11399007" y="16891"/>
                  </a:cubicBezTo>
                  <a:lnTo>
                    <a:pt x="11399007" y="748411"/>
                  </a:lnTo>
                  <a:cubicBezTo>
                    <a:pt x="11399007" y="757809"/>
                    <a:pt x="11383272" y="765302"/>
                    <a:pt x="11364127" y="765302"/>
                  </a:cubicBezTo>
                  <a:lnTo>
                    <a:pt x="34879" y="765302"/>
                  </a:lnTo>
                  <a:cubicBezTo>
                    <a:pt x="15735" y="765429"/>
                    <a:pt x="0" y="757809"/>
                    <a:pt x="0" y="748411"/>
                  </a:cubicBezTo>
                  <a:lnTo>
                    <a:pt x="0" y="16891"/>
                  </a:lnTo>
                  <a:cubicBezTo>
                    <a:pt x="0" y="7620"/>
                    <a:pt x="15735" y="0"/>
                    <a:pt x="34879" y="0"/>
                  </a:cubicBezTo>
                  <a:moveTo>
                    <a:pt x="34879" y="33909"/>
                  </a:moveTo>
                  <a:lnTo>
                    <a:pt x="34879" y="16891"/>
                  </a:lnTo>
                  <a:lnTo>
                    <a:pt x="70021" y="16891"/>
                  </a:lnTo>
                  <a:lnTo>
                    <a:pt x="70021" y="748411"/>
                  </a:lnTo>
                  <a:lnTo>
                    <a:pt x="34879" y="748411"/>
                  </a:lnTo>
                  <a:lnTo>
                    <a:pt x="34879" y="731520"/>
                  </a:lnTo>
                  <a:lnTo>
                    <a:pt x="11364127" y="731520"/>
                  </a:lnTo>
                  <a:lnTo>
                    <a:pt x="11364127" y="748411"/>
                  </a:lnTo>
                  <a:lnTo>
                    <a:pt x="11329248" y="748411"/>
                  </a:lnTo>
                  <a:lnTo>
                    <a:pt x="11329248" y="16891"/>
                  </a:lnTo>
                  <a:lnTo>
                    <a:pt x="11364127" y="16891"/>
                  </a:lnTo>
                  <a:lnTo>
                    <a:pt x="11364127" y="33909"/>
                  </a:lnTo>
                  <a:lnTo>
                    <a:pt x="34879"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1" name="Google Shape;1481;p30"/>
          <p:cNvGrpSpPr/>
          <p:nvPr/>
        </p:nvGrpSpPr>
        <p:grpSpPr>
          <a:xfrm>
            <a:off x="427744" y="1959605"/>
            <a:ext cx="731520" cy="430911"/>
            <a:chOff x="0" y="-38100"/>
            <a:chExt cx="975360" cy="574548"/>
          </a:xfrm>
        </p:grpSpPr>
        <p:sp>
          <p:nvSpPr>
            <p:cNvPr id="1482" name="Google Shape;1482;p30"/>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483" name="Google Shape;1483;p30"/>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G10</a:t>
              </a:r>
              <a:endParaRPr/>
            </a:p>
          </p:txBody>
        </p:sp>
      </p:grpSp>
      <p:grpSp>
        <p:nvGrpSpPr>
          <p:cNvPr id="1484" name="Google Shape;1484;p30"/>
          <p:cNvGrpSpPr/>
          <p:nvPr/>
        </p:nvGrpSpPr>
        <p:grpSpPr>
          <a:xfrm>
            <a:off x="1122688" y="1959605"/>
            <a:ext cx="3328416" cy="430911"/>
            <a:chOff x="0" y="-38100"/>
            <a:chExt cx="4437888" cy="574548"/>
          </a:xfrm>
        </p:grpSpPr>
        <p:sp>
          <p:nvSpPr>
            <p:cNvPr id="1485" name="Google Shape;1485;p30"/>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486" name="Google Shape;1486;p30"/>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Türlere Göre Ortalama Energy</a:t>
              </a:r>
              <a:endParaRPr/>
            </a:p>
          </p:txBody>
        </p:sp>
      </p:grpSp>
      <p:grpSp>
        <p:nvGrpSpPr>
          <p:cNvPr id="1487" name="Google Shape;1487;p30"/>
          <p:cNvGrpSpPr/>
          <p:nvPr/>
        </p:nvGrpSpPr>
        <p:grpSpPr>
          <a:xfrm>
            <a:off x="9467726" y="1959605"/>
            <a:ext cx="731520" cy="430911"/>
            <a:chOff x="0" y="-38100"/>
            <a:chExt cx="975360" cy="574548"/>
          </a:xfrm>
        </p:grpSpPr>
        <p:sp>
          <p:nvSpPr>
            <p:cNvPr id="1488" name="Google Shape;1488;p30"/>
            <p:cNvSpPr/>
            <p:nvPr/>
          </p:nvSpPr>
          <p:spPr>
            <a:xfrm>
              <a:off x="0" y="0"/>
              <a:ext cx="975360" cy="536448"/>
            </a:xfrm>
            <a:custGeom>
              <a:rect b="b" l="l" r="r" t="t"/>
              <a:pathLst>
                <a:path extrusionOk="0" h="536448" w="975360">
                  <a:moveTo>
                    <a:pt x="0" y="0"/>
                  </a:moveTo>
                  <a:lnTo>
                    <a:pt x="975360" y="0"/>
                  </a:lnTo>
                  <a:lnTo>
                    <a:pt x="975360" y="536448"/>
                  </a:lnTo>
                  <a:lnTo>
                    <a:pt x="0" y="536448"/>
                  </a:lnTo>
                  <a:close/>
                </a:path>
              </a:pathLst>
            </a:custGeom>
            <a:blipFill rotWithShape="1">
              <a:blip r:embed="rId3">
                <a:alphaModFix amt="0"/>
              </a:blip>
              <a:stretch>
                <a:fillRect b="0" l="-20566" r="-20566" t="0"/>
              </a:stretch>
            </a:blipFill>
            <a:ln>
              <a:noFill/>
            </a:ln>
          </p:spPr>
        </p:sp>
        <p:sp>
          <p:nvSpPr>
            <p:cNvPr id="1489" name="Google Shape;1489;p30"/>
            <p:cNvSpPr txBox="1"/>
            <p:nvPr/>
          </p:nvSpPr>
          <p:spPr>
            <a:xfrm>
              <a:off x="0" y="-38100"/>
              <a:ext cx="975360" cy="5745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1800" u="none" cap="none" strike="noStrike">
                  <a:solidFill>
                    <a:srgbClr val="1DB954"/>
                  </a:solidFill>
                  <a:latin typeface="Calibri"/>
                  <a:ea typeface="Calibri"/>
                  <a:cs typeface="Calibri"/>
                  <a:sym typeface="Calibri"/>
                </a:rPr>
                <a:t>G11</a:t>
              </a:r>
              <a:endParaRPr/>
            </a:p>
          </p:txBody>
        </p:sp>
      </p:grpSp>
      <p:grpSp>
        <p:nvGrpSpPr>
          <p:cNvPr id="1490" name="Google Shape;1490;p30"/>
          <p:cNvGrpSpPr/>
          <p:nvPr/>
        </p:nvGrpSpPr>
        <p:grpSpPr>
          <a:xfrm>
            <a:off x="10162670" y="1959605"/>
            <a:ext cx="3328416" cy="430911"/>
            <a:chOff x="0" y="-38100"/>
            <a:chExt cx="4437888" cy="574548"/>
          </a:xfrm>
        </p:grpSpPr>
        <p:sp>
          <p:nvSpPr>
            <p:cNvPr id="1491" name="Google Shape;1491;p30"/>
            <p:cNvSpPr/>
            <p:nvPr/>
          </p:nvSpPr>
          <p:spPr>
            <a:xfrm>
              <a:off x="0" y="0"/>
              <a:ext cx="4437888" cy="536448"/>
            </a:xfrm>
            <a:custGeom>
              <a:rect b="b" l="l" r="r" t="t"/>
              <a:pathLst>
                <a:path extrusionOk="0" h="536448" w="4437888">
                  <a:moveTo>
                    <a:pt x="0" y="0"/>
                  </a:moveTo>
                  <a:lnTo>
                    <a:pt x="4437888" y="0"/>
                  </a:lnTo>
                  <a:lnTo>
                    <a:pt x="4437888" y="536448"/>
                  </a:lnTo>
                  <a:lnTo>
                    <a:pt x="0" y="536448"/>
                  </a:lnTo>
                  <a:close/>
                </a:path>
              </a:pathLst>
            </a:custGeom>
            <a:blipFill rotWithShape="1">
              <a:blip r:embed="rId3">
                <a:alphaModFix amt="0"/>
              </a:blip>
              <a:stretch>
                <a:fillRect b="-111197" l="0" r="0" t="-111197"/>
              </a:stretch>
            </a:blipFill>
            <a:ln>
              <a:noFill/>
            </a:ln>
          </p:spPr>
        </p:sp>
        <p:sp>
          <p:nvSpPr>
            <p:cNvPr id="1492" name="Google Shape;1492;p30"/>
            <p:cNvSpPr txBox="1"/>
            <p:nvPr/>
          </p:nvSpPr>
          <p:spPr>
            <a:xfrm>
              <a:off x="0" y="-38100"/>
              <a:ext cx="4437888" cy="574548"/>
            </a:xfrm>
            <a:prstGeom prst="rect">
              <a:avLst/>
            </a:prstGeom>
            <a:noFill/>
            <a:ln>
              <a:noFill/>
            </a:ln>
          </p:spPr>
          <p:txBody>
            <a:bodyPr anchorCtr="0" anchor="ctr" bIns="0" lIns="0" spcFirstLastPara="1" rIns="0" wrap="square" tIns="0">
              <a:noAutofit/>
            </a:bodyPr>
            <a:lstStyle/>
            <a:p>
              <a:pPr indent="0" lvl="0" marL="0" marR="0" rtl="0" algn="l">
                <a:lnSpc>
                  <a:spcPct val="119941"/>
                </a:lnSpc>
                <a:spcBef>
                  <a:spcPts val="0"/>
                </a:spcBef>
                <a:spcAft>
                  <a:spcPts val="0"/>
                </a:spcAft>
                <a:buNone/>
              </a:pPr>
              <a:r>
                <a:rPr b="0" i="0" lang="en-US" sz="1700" u="none" cap="none" strike="noStrike">
                  <a:solidFill>
                    <a:srgbClr val="FFFFFF"/>
                  </a:solidFill>
                  <a:latin typeface="Calibri"/>
                  <a:ea typeface="Calibri"/>
                  <a:cs typeface="Calibri"/>
                  <a:sym typeface="Calibri"/>
                </a:rPr>
                <a:t>Özellikler Arası Korelasyon</a:t>
              </a:r>
              <a:endParaRPr/>
            </a:p>
          </p:txBody>
        </p:sp>
      </p:grpSp>
      <p:sp>
        <p:nvSpPr>
          <p:cNvPr id="1493" name="Google Shape;1493;p30"/>
          <p:cNvSpPr/>
          <p:nvPr/>
        </p:nvSpPr>
        <p:spPr>
          <a:xfrm>
            <a:off x="548640" y="2476369"/>
            <a:ext cx="7751331" cy="6201065"/>
          </a:xfrm>
          <a:custGeom>
            <a:rect b="b" l="l" r="r" t="t"/>
            <a:pathLst>
              <a:path extrusionOk="0" h="6201065" w="7751331">
                <a:moveTo>
                  <a:pt x="0" y="0"/>
                </a:moveTo>
                <a:lnTo>
                  <a:pt x="7751331" y="0"/>
                </a:lnTo>
                <a:lnTo>
                  <a:pt x="7751331" y="6201065"/>
                </a:lnTo>
                <a:lnTo>
                  <a:pt x="0" y="6201065"/>
                </a:lnTo>
                <a:lnTo>
                  <a:pt x="0" y="0"/>
                </a:lnTo>
                <a:close/>
              </a:path>
            </a:pathLst>
          </a:custGeom>
          <a:blipFill rotWithShape="1">
            <a:blip r:embed="rId4">
              <a:alphaModFix/>
            </a:blip>
            <a:stretch>
              <a:fillRect b="0" l="0" r="0" t="0"/>
            </a:stretch>
          </a:blipFill>
          <a:ln>
            <a:noFill/>
          </a:ln>
        </p:spPr>
      </p:sp>
      <p:sp>
        <p:nvSpPr>
          <p:cNvPr id="1494" name="Google Shape;1494;p30"/>
          <p:cNvSpPr/>
          <p:nvPr/>
        </p:nvSpPr>
        <p:spPr>
          <a:xfrm>
            <a:off x="9783233" y="2476369"/>
            <a:ext cx="7328891" cy="6201065"/>
          </a:xfrm>
          <a:custGeom>
            <a:rect b="b" l="l" r="r" t="t"/>
            <a:pathLst>
              <a:path extrusionOk="0" h="6201065" w="7328891">
                <a:moveTo>
                  <a:pt x="0" y="0"/>
                </a:moveTo>
                <a:lnTo>
                  <a:pt x="7328890" y="0"/>
                </a:lnTo>
                <a:lnTo>
                  <a:pt x="7328890" y="6201065"/>
                </a:lnTo>
                <a:lnTo>
                  <a:pt x="0" y="6201065"/>
                </a:lnTo>
                <a:lnTo>
                  <a:pt x="0" y="0"/>
                </a:lnTo>
                <a:close/>
              </a:path>
            </a:pathLst>
          </a:custGeom>
          <a:blipFill rotWithShape="1">
            <a:blip r:embed="rId5">
              <a:alphaModFix/>
            </a:blip>
            <a:stretch>
              <a:fillRect b="0" l="0" r="0" t="0"/>
            </a:stretch>
          </a:blipFill>
          <a:ln>
            <a:noFill/>
          </a:ln>
        </p:spPr>
      </p:sp>
      <p:grpSp>
        <p:nvGrpSpPr>
          <p:cNvPr id="1495" name="Google Shape;1495;p30"/>
          <p:cNvGrpSpPr/>
          <p:nvPr/>
        </p:nvGrpSpPr>
        <p:grpSpPr>
          <a:xfrm>
            <a:off x="342652" y="9163209"/>
            <a:ext cx="8229600" cy="693744"/>
            <a:chOff x="0" y="-38100"/>
            <a:chExt cx="10972800" cy="924992"/>
          </a:xfrm>
        </p:grpSpPr>
        <p:sp>
          <p:nvSpPr>
            <p:cNvPr id="1496" name="Google Shape;1496;p30"/>
            <p:cNvSpPr/>
            <p:nvPr/>
          </p:nvSpPr>
          <p:spPr>
            <a:xfrm>
              <a:off x="0" y="0"/>
              <a:ext cx="10972800" cy="886892"/>
            </a:xfrm>
            <a:custGeom>
              <a:rect b="b" l="l" r="r" t="t"/>
              <a:pathLst>
                <a:path extrusionOk="0" h="886892" w="10972800">
                  <a:moveTo>
                    <a:pt x="0" y="0"/>
                  </a:moveTo>
                  <a:lnTo>
                    <a:pt x="10972800" y="0"/>
                  </a:lnTo>
                  <a:lnTo>
                    <a:pt x="10972800" y="886892"/>
                  </a:lnTo>
                  <a:lnTo>
                    <a:pt x="0" y="886892"/>
                  </a:lnTo>
                  <a:close/>
                </a:path>
              </a:pathLst>
            </a:custGeom>
            <a:blipFill rotWithShape="1">
              <a:blip r:embed="rId3">
                <a:alphaModFix amt="0"/>
              </a:blip>
              <a:stretch>
                <a:fillRect b="-175435" l="0" r="0" t="-206702"/>
              </a:stretch>
            </a:blipFill>
            <a:ln>
              <a:noFill/>
            </a:ln>
          </p:spPr>
        </p:sp>
        <p:sp>
          <p:nvSpPr>
            <p:cNvPr id="1497" name="Google Shape;1497;p30"/>
            <p:cNvSpPr txBox="1"/>
            <p:nvPr/>
          </p:nvSpPr>
          <p:spPr>
            <a:xfrm>
              <a:off x="0" y="-38100"/>
              <a:ext cx="10972800" cy="924992"/>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Death-metal ve grindcore beklendiği üzere en yüksek enerji ortalamasına sahip türlerdir.</a:t>
              </a:r>
              <a:endParaRPr/>
            </a:p>
          </p:txBody>
        </p:sp>
      </p:grpSp>
      <p:grpSp>
        <p:nvGrpSpPr>
          <p:cNvPr id="1498" name="Google Shape;1498;p30"/>
          <p:cNvGrpSpPr/>
          <p:nvPr/>
        </p:nvGrpSpPr>
        <p:grpSpPr>
          <a:xfrm>
            <a:off x="9235440" y="8915559"/>
            <a:ext cx="8229600" cy="1265244"/>
            <a:chOff x="0" y="-38100"/>
            <a:chExt cx="10972800" cy="1686992"/>
          </a:xfrm>
        </p:grpSpPr>
        <p:sp>
          <p:nvSpPr>
            <p:cNvPr id="1499" name="Google Shape;1499;p30"/>
            <p:cNvSpPr/>
            <p:nvPr/>
          </p:nvSpPr>
          <p:spPr>
            <a:xfrm>
              <a:off x="0" y="0"/>
              <a:ext cx="10972800" cy="1648892"/>
            </a:xfrm>
            <a:custGeom>
              <a:rect b="b" l="l" r="r" t="t"/>
              <a:pathLst>
                <a:path extrusionOk="0" h="1648892" w="10972800">
                  <a:moveTo>
                    <a:pt x="0" y="0"/>
                  </a:moveTo>
                  <a:lnTo>
                    <a:pt x="10972800" y="0"/>
                  </a:lnTo>
                  <a:lnTo>
                    <a:pt x="10972800" y="1648892"/>
                  </a:lnTo>
                  <a:lnTo>
                    <a:pt x="0" y="1648892"/>
                  </a:lnTo>
                  <a:close/>
                </a:path>
              </a:pathLst>
            </a:custGeom>
            <a:blipFill rotWithShape="1">
              <a:blip r:embed="rId3">
                <a:alphaModFix amt="0"/>
              </a:blip>
              <a:stretch>
                <a:fillRect b="-48150" l="0" r="0" t="-111180"/>
              </a:stretch>
            </a:blipFill>
            <a:ln>
              <a:noFill/>
            </a:ln>
          </p:spPr>
        </p:sp>
        <p:sp>
          <p:nvSpPr>
            <p:cNvPr id="1500" name="Google Shape;1500;p30"/>
            <p:cNvSpPr txBox="1"/>
            <p:nvPr/>
          </p:nvSpPr>
          <p:spPr>
            <a:xfrm>
              <a:off x="0" y="-38100"/>
              <a:ext cx="10972800" cy="1686992"/>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None/>
              </a:pPr>
              <a:r>
                <a:rPr b="0" i="0" lang="en-US" sz="1900" u="none" cap="none" strike="noStrike">
                  <a:solidFill>
                    <a:srgbClr val="444444"/>
                  </a:solidFill>
                  <a:latin typeface="Calibri"/>
                  <a:ea typeface="Calibri"/>
                  <a:cs typeface="Calibri"/>
                  <a:sym typeface="Calibri"/>
                </a:rPr>
                <a:t>• Genel korelasyon matrisi; Popülerlik (popularity) değişkeninin akustik özelliklerden tamamen bağımsız olduğunu (beyaz/sıfır bölgesi) ve Özellik Mühendisliği (FE) ile ürettiğimiz yeni kolonların doğruluğunu tek bir tabloda kanıtlamaktadır.</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grpSp>
        <p:nvGrpSpPr>
          <p:cNvPr id="1509" name="Google Shape;1509;p31"/>
          <p:cNvGrpSpPr/>
          <p:nvPr/>
        </p:nvGrpSpPr>
        <p:grpSpPr>
          <a:xfrm>
            <a:off x="-12697" y="-12697"/>
            <a:ext cx="18313336" cy="1579816"/>
            <a:chOff x="0" y="0"/>
            <a:chExt cx="24417782" cy="2106422"/>
          </a:xfrm>
        </p:grpSpPr>
        <p:sp>
          <p:nvSpPr>
            <p:cNvPr id="1510" name="Google Shape;1510;p31"/>
            <p:cNvSpPr/>
            <p:nvPr/>
          </p:nvSpPr>
          <p:spPr>
            <a:xfrm>
              <a:off x="16891" y="16891"/>
              <a:ext cx="24383999" cy="2072640"/>
            </a:xfrm>
            <a:custGeom>
              <a:rect b="b" l="l" r="r" t="t"/>
              <a:pathLst>
                <a:path extrusionOk="0" h="2072640" w="24383999">
                  <a:moveTo>
                    <a:pt x="0" y="0"/>
                  </a:moveTo>
                  <a:lnTo>
                    <a:pt x="24383999" y="0"/>
                  </a:lnTo>
                  <a:lnTo>
                    <a:pt x="24383999" y="2072640"/>
                  </a:lnTo>
                  <a:lnTo>
                    <a:pt x="0" y="2072640"/>
                  </a:lnTo>
                  <a:close/>
                </a:path>
              </a:pathLst>
            </a:custGeom>
            <a:solidFill>
              <a:srgbClr val="121212"/>
            </a:solidFill>
            <a:ln>
              <a:noFill/>
            </a:ln>
          </p:spPr>
        </p:sp>
        <p:sp>
          <p:nvSpPr>
            <p:cNvPr id="1511" name="Google Shape;1511;p31"/>
            <p:cNvSpPr/>
            <p:nvPr/>
          </p:nvSpPr>
          <p:spPr>
            <a:xfrm>
              <a:off x="0" y="0"/>
              <a:ext cx="24417782" cy="2106422"/>
            </a:xfrm>
            <a:custGeom>
              <a:rect b="b" l="l" r="r" t="t"/>
              <a:pathLst>
                <a:path extrusionOk="0" h="2106422" w="24417782">
                  <a:moveTo>
                    <a:pt x="16891" y="0"/>
                  </a:moveTo>
                  <a:lnTo>
                    <a:pt x="24400890" y="0"/>
                  </a:lnTo>
                  <a:cubicBezTo>
                    <a:pt x="24410290" y="0"/>
                    <a:pt x="24417782" y="7620"/>
                    <a:pt x="24417782" y="16891"/>
                  </a:cubicBezTo>
                  <a:lnTo>
                    <a:pt x="24417782" y="2089531"/>
                  </a:lnTo>
                  <a:cubicBezTo>
                    <a:pt x="24417782" y="2098929"/>
                    <a:pt x="24410163" y="2106422"/>
                    <a:pt x="24400890"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24400890" y="2072640"/>
                  </a:lnTo>
                  <a:lnTo>
                    <a:pt x="24400890" y="2089531"/>
                  </a:lnTo>
                  <a:lnTo>
                    <a:pt x="24384000" y="2089531"/>
                  </a:lnTo>
                  <a:lnTo>
                    <a:pt x="24384000" y="16891"/>
                  </a:lnTo>
                  <a:lnTo>
                    <a:pt x="24400890" y="16891"/>
                  </a:lnTo>
                  <a:lnTo>
                    <a:pt x="24400890" y="33909"/>
                  </a:lnTo>
                  <a:lnTo>
                    <a:pt x="16891" y="33909"/>
                  </a:lnTo>
                  <a:close/>
                </a:path>
              </a:pathLst>
            </a:custGeom>
            <a:solidFill>
              <a:srgbClr val="1212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2" name="Google Shape;1512;p31"/>
          <p:cNvGrpSpPr/>
          <p:nvPr/>
        </p:nvGrpSpPr>
        <p:grpSpPr>
          <a:xfrm>
            <a:off x="-12697" y="-12697"/>
            <a:ext cx="244792" cy="1579816"/>
            <a:chOff x="0" y="0"/>
            <a:chExt cx="326390" cy="2106422"/>
          </a:xfrm>
        </p:grpSpPr>
        <p:sp>
          <p:nvSpPr>
            <p:cNvPr id="1513" name="Google Shape;1513;p31"/>
            <p:cNvSpPr/>
            <p:nvPr/>
          </p:nvSpPr>
          <p:spPr>
            <a:xfrm>
              <a:off x="16891" y="16891"/>
              <a:ext cx="292608" cy="2072640"/>
            </a:xfrm>
            <a:custGeom>
              <a:rect b="b" l="l" r="r" t="t"/>
              <a:pathLst>
                <a:path extrusionOk="0" h="2072640" w="292608">
                  <a:moveTo>
                    <a:pt x="0" y="0"/>
                  </a:moveTo>
                  <a:lnTo>
                    <a:pt x="292608" y="0"/>
                  </a:lnTo>
                  <a:lnTo>
                    <a:pt x="292608" y="2072640"/>
                  </a:lnTo>
                  <a:lnTo>
                    <a:pt x="0" y="2072640"/>
                  </a:lnTo>
                  <a:close/>
                </a:path>
              </a:pathLst>
            </a:custGeom>
            <a:solidFill>
              <a:srgbClr val="1DB954"/>
            </a:solidFill>
            <a:ln>
              <a:noFill/>
            </a:ln>
          </p:spPr>
        </p:sp>
        <p:sp>
          <p:nvSpPr>
            <p:cNvPr id="1514" name="Google Shape;1514;p31"/>
            <p:cNvSpPr/>
            <p:nvPr/>
          </p:nvSpPr>
          <p:spPr>
            <a:xfrm>
              <a:off x="0" y="0"/>
              <a:ext cx="326390" cy="2106422"/>
            </a:xfrm>
            <a:custGeom>
              <a:rect b="b" l="l" r="r" t="t"/>
              <a:pathLst>
                <a:path extrusionOk="0" h="2106422" w="326390">
                  <a:moveTo>
                    <a:pt x="16891" y="0"/>
                  </a:moveTo>
                  <a:lnTo>
                    <a:pt x="309499" y="0"/>
                  </a:lnTo>
                  <a:cubicBezTo>
                    <a:pt x="318897" y="0"/>
                    <a:pt x="326390" y="7620"/>
                    <a:pt x="326390" y="16891"/>
                  </a:cubicBezTo>
                  <a:lnTo>
                    <a:pt x="326390" y="2089531"/>
                  </a:lnTo>
                  <a:cubicBezTo>
                    <a:pt x="326390" y="2098929"/>
                    <a:pt x="318770" y="2106422"/>
                    <a:pt x="309499"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309499" y="2072640"/>
                  </a:lnTo>
                  <a:lnTo>
                    <a:pt x="309499" y="2089531"/>
                  </a:lnTo>
                  <a:lnTo>
                    <a:pt x="292608" y="2089531"/>
                  </a:lnTo>
                  <a:lnTo>
                    <a:pt x="292608" y="16891"/>
                  </a:lnTo>
                  <a:lnTo>
                    <a:pt x="309499" y="16891"/>
                  </a:lnTo>
                  <a:lnTo>
                    <a:pt x="309499"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1"/>
          <p:cNvGrpSpPr/>
          <p:nvPr/>
        </p:nvGrpSpPr>
        <p:grpSpPr>
          <a:xfrm>
            <a:off x="548640" y="89154"/>
            <a:ext cx="12801600" cy="880110"/>
            <a:chOff x="0" y="-76200"/>
            <a:chExt cx="17068800" cy="1173480"/>
          </a:xfrm>
        </p:grpSpPr>
        <p:sp>
          <p:nvSpPr>
            <p:cNvPr id="1516" name="Google Shape;1516;p31"/>
            <p:cNvSpPr/>
            <p:nvPr/>
          </p:nvSpPr>
          <p:spPr>
            <a:xfrm>
              <a:off x="0" y="0"/>
              <a:ext cx="17068800" cy="1097280"/>
            </a:xfrm>
            <a:custGeom>
              <a:rect b="b" l="l" r="r" t="t"/>
              <a:pathLst>
                <a:path extrusionOk="0" h="1097280" w="17068800">
                  <a:moveTo>
                    <a:pt x="0" y="0"/>
                  </a:moveTo>
                  <a:lnTo>
                    <a:pt x="17068800" y="0"/>
                  </a:lnTo>
                  <a:lnTo>
                    <a:pt x="17068800" y="1097280"/>
                  </a:lnTo>
                  <a:lnTo>
                    <a:pt x="0" y="1097280"/>
                  </a:lnTo>
                  <a:close/>
                </a:path>
              </a:pathLst>
            </a:custGeom>
            <a:blipFill rotWithShape="1">
              <a:blip r:embed="rId3">
                <a:alphaModFix amt="0"/>
              </a:blip>
              <a:stretch>
                <a:fillRect b="-253104" l="0" r="0" t="-253104"/>
              </a:stretch>
            </a:blipFill>
            <a:ln>
              <a:noFill/>
            </a:ln>
          </p:spPr>
        </p:sp>
        <p:sp>
          <p:nvSpPr>
            <p:cNvPr id="1517" name="Google Shape;1517;p31"/>
            <p:cNvSpPr txBox="1"/>
            <p:nvPr/>
          </p:nvSpPr>
          <p:spPr>
            <a:xfrm>
              <a:off x="0" y="-76200"/>
              <a:ext cx="17068800" cy="1173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FFFFF"/>
                  </a:solidFill>
                  <a:latin typeface="Calibri"/>
                  <a:ea typeface="Calibri"/>
                  <a:cs typeface="Calibri"/>
                  <a:sym typeface="Calibri"/>
                </a:rPr>
                <a:t>Sonuçlar ve Değerlendirme</a:t>
              </a:r>
              <a:endParaRPr/>
            </a:p>
          </p:txBody>
        </p:sp>
      </p:grpSp>
      <p:grpSp>
        <p:nvGrpSpPr>
          <p:cNvPr id="1518" name="Google Shape;1518;p31"/>
          <p:cNvGrpSpPr/>
          <p:nvPr/>
        </p:nvGrpSpPr>
        <p:grpSpPr>
          <a:xfrm>
            <a:off x="548640" y="915257"/>
            <a:ext cx="16459200" cy="547783"/>
            <a:chOff x="0" y="-47625"/>
            <a:chExt cx="21945600" cy="730377"/>
          </a:xfrm>
        </p:grpSpPr>
        <p:sp>
          <p:nvSpPr>
            <p:cNvPr id="1519" name="Google Shape;1519;p31"/>
            <p:cNvSpPr/>
            <p:nvPr/>
          </p:nvSpPr>
          <p:spPr>
            <a:xfrm>
              <a:off x="0" y="0"/>
              <a:ext cx="21945600" cy="682752"/>
            </a:xfrm>
            <a:custGeom>
              <a:rect b="b" l="l" r="r" t="t"/>
              <a:pathLst>
                <a:path extrusionOk="0" h="682752" w="21945600">
                  <a:moveTo>
                    <a:pt x="0" y="0"/>
                  </a:moveTo>
                  <a:lnTo>
                    <a:pt x="21945600" y="0"/>
                  </a:lnTo>
                  <a:lnTo>
                    <a:pt x="21945600" y="682752"/>
                  </a:lnTo>
                  <a:lnTo>
                    <a:pt x="0" y="682752"/>
                  </a:lnTo>
                  <a:close/>
                </a:path>
              </a:pathLst>
            </a:custGeom>
            <a:blipFill rotWithShape="1">
              <a:blip r:embed="rId3">
                <a:alphaModFix amt="0"/>
              </a:blip>
              <a:stretch>
                <a:fillRect b="-576253" l="0" r="0" t="-576253"/>
              </a:stretch>
            </a:blipFill>
            <a:ln>
              <a:noFill/>
            </a:ln>
          </p:spPr>
        </p:sp>
        <p:sp>
          <p:nvSpPr>
            <p:cNvPr id="1520" name="Google Shape;1520;p31"/>
            <p:cNvSpPr txBox="1"/>
            <p:nvPr/>
          </p:nvSpPr>
          <p:spPr>
            <a:xfrm>
              <a:off x="0" y="-47625"/>
              <a:ext cx="21945600" cy="73037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200" u="none" cap="none" strike="noStrike">
                  <a:solidFill>
                    <a:srgbClr val="AAAAAA"/>
                  </a:solidFill>
                  <a:latin typeface="Calibri"/>
                  <a:ea typeface="Calibri"/>
                  <a:cs typeface="Calibri"/>
                  <a:sym typeface="Calibri"/>
                </a:rPr>
                <a:t>Projenin genel değerlendirmesi</a:t>
              </a:r>
              <a:endParaRPr/>
            </a:p>
          </p:txBody>
        </p:sp>
      </p:grpSp>
      <p:grpSp>
        <p:nvGrpSpPr>
          <p:cNvPr id="1521" name="Google Shape;1521;p31"/>
          <p:cNvGrpSpPr/>
          <p:nvPr/>
        </p:nvGrpSpPr>
        <p:grpSpPr>
          <a:xfrm>
            <a:off x="-12697" y="1541783"/>
            <a:ext cx="18313336" cy="98490"/>
            <a:chOff x="0" y="0"/>
            <a:chExt cx="24417782" cy="131320"/>
          </a:xfrm>
        </p:grpSpPr>
        <p:sp>
          <p:nvSpPr>
            <p:cNvPr id="1522" name="Google Shape;1522;p31"/>
            <p:cNvSpPr/>
            <p:nvPr/>
          </p:nvSpPr>
          <p:spPr>
            <a:xfrm>
              <a:off x="16891" y="16891"/>
              <a:ext cx="24383999" cy="97536"/>
            </a:xfrm>
            <a:custGeom>
              <a:rect b="b" l="l" r="r" t="t"/>
              <a:pathLst>
                <a:path extrusionOk="0" h="97536" w="24383999">
                  <a:moveTo>
                    <a:pt x="0" y="0"/>
                  </a:moveTo>
                  <a:lnTo>
                    <a:pt x="24383999" y="0"/>
                  </a:lnTo>
                  <a:lnTo>
                    <a:pt x="24383999" y="97536"/>
                  </a:lnTo>
                  <a:lnTo>
                    <a:pt x="0" y="97536"/>
                  </a:lnTo>
                  <a:close/>
                </a:path>
              </a:pathLst>
            </a:custGeom>
            <a:solidFill>
              <a:srgbClr val="1DB954"/>
            </a:solidFill>
            <a:ln>
              <a:noFill/>
            </a:ln>
          </p:spPr>
        </p:sp>
        <p:sp>
          <p:nvSpPr>
            <p:cNvPr id="1523" name="Google Shape;1523;p31"/>
            <p:cNvSpPr/>
            <p:nvPr/>
          </p:nvSpPr>
          <p:spPr>
            <a:xfrm>
              <a:off x="0" y="0"/>
              <a:ext cx="24417782" cy="131320"/>
            </a:xfrm>
            <a:custGeom>
              <a:rect b="b" l="l" r="r" t="t"/>
              <a:pathLst>
                <a:path extrusionOk="0" h="131320" w="24417782">
                  <a:moveTo>
                    <a:pt x="16891" y="0"/>
                  </a:moveTo>
                  <a:lnTo>
                    <a:pt x="24400890" y="0"/>
                  </a:lnTo>
                  <a:cubicBezTo>
                    <a:pt x="24410290" y="0"/>
                    <a:pt x="24417782" y="7620"/>
                    <a:pt x="24417782" y="16891"/>
                  </a:cubicBezTo>
                  <a:lnTo>
                    <a:pt x="24417782" y="114427"/>
                  </a:lnTo>
                  <a:cubicBezTo>
                    <a:pt x="24417782" y="123825"/>
                    <a:pt x="24410163" y="131318"/>
                    <a:pt x="24400890"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4400890" y="97536"/>
                  </a:lnTo>
                  <a:lnTo>
                    <a:pt x="24400890" y="114427"/>
                  </a:lnTo>
                  <a:lnTo>
                    <a:pt x="24384000" y="114427"/>
                  </a:lnTo>
                  <a:lnTo>
                    <a:pt x="24384000" y="16891"/>
                  </a:lnTo>
                  <a:lnTo>
                    <a:pt x="24400890" y="16891"/>
                  </a:lnTo>
                  <a:lnTo>
                    <a:pt x="24400890"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4" name="Google Shape;1524;p31"/>
          <p:cNvGrpSpPr/>
          <p:nvPr/>
        </p:nvGrpSpPr>
        <p:grpSpPr>
          <a:xfrm>
            <a:off x="523237" y="1894837"/>
            <a:ext cx="2702624" cy="1879664"/>
            <a:chOff x="0" y="0"/>
            <a:chExt cx="3603498" cy="2506218"/>
          </a:xfrm>
        </p:grpSpPr>
        <p:sp>
          <p:nvSpPr>
            <p:cNvPr id="1525" name="Google Shape;1525;p31"/>
            <p:cNvSpPr/>
            <p:nvPr/>
          </p:nvSpPr>
          <p:spPr>
            <a:xfrm>
              <a:off x="33909" y="33909"/>
              <a:ext cx="3535680" cy="2438400"/>
            </a:xfrm>
            <a:custGeom>
              <a:rect b="b" l="l" r="r" t="t"/>
              <a:pathLst>
                <a:path extrusionOk="0" h="2438400" w="3535680">
                  <a:moveTo>
                    <a:pt x="0" y="0"/>
                  </a:moveTo>
                  <a:lnTo>
                    <a:pt x="3535680" y="0"/>
                  </a:lnTo>
                  <a:lnTo>
                    <a:pt x="3535680" y="2438400"/>
                  </a:lnTo>
                  <a:lnTo>
                    <a:pt x="0" y="2438400"/>
                  </a:lnTo>
                  <a:close/>
                </a:path>
              </a:pathLst>
            </a:custGeom>
            <a:solidFill>
              <a:srgbClr val="121212"/>
            </a:solidFill>
            <a:ln>
              <a:noFill/>
            </a:ln>
          </p:spPr>
        </p:sp>
        <p:sp>
          <p:nvSpPr>
            <p:cNvPr id="1526" name="Google Shape;1526;p31"/>
            <p:cNvSpPr/>
            <p:nvPr/>
          </p:nvSpPr>
          <p:spPr>
            <a:xfrm>
              <a:off x="0" y="0"/>
              <a:ext cx="3603498" cy="2506218"/>
            </a:xfrm>
            <a:custGeom>
              <a:rect b="b" l="l" r="r" t="t"/>
              <a:pathLst>
                <a:path extrusionOk="0" h="2506218" w="3603498">
                  <a:moveTo>
                    <a:pt x="33909" y="0"/>
                  </a:moveTo>
                  <a:lnTo>
                    <a:pt x="3569589" y="0"/>
                  </a:lnTo>
                  <a:cubicBezTo>
                    <a:pt x="3588258" y="0"/>
                    <a:pt x="3603498" y="15113"/>
                    <a:pt x="3603498" y="33909"/>
                  </a:cubicBezTo>
                  <a:lnTo>
                    <a:pt x="3603498" y="2472309"/>
                  </a:lnTo>
                  <a:cubicBezTo>
                    <a:pt x="3603498" y="2490978"/>
                    <a:pt x="3588385" y="2506218"/>
                    <a:pt x="3569589" y="2506218"/>
                  </a:cubicBezTo>
                  <a:lnTo>
                    <a:pt x="33909" y="2506218"/>
                  </a:lnTo>
                  <a:cubicBezTo>
                    <a:pt x="15240" y="2506218"/>
                    <a:pt x="0" y="2491105"/>
                    <a:pt x="0" y="2472309"/>
                  </a:cubicBezTo>
                  <a:lnTo>
                    <a:pt x="0" y="33909"/>
                  </a:lnTo>
                  <a:cubicBezTo>
                    <a:pt x="0" y="15113"/>
                    <a:pt x="15113" y="0"/>
                    <a:pt x="33909" y="0"/>
                  </a:cubicBezTo>
                  <a:moveTo>
                    <a:pt x="33909" y="67691"/>
                  </a:moveTo>
                  <a:lnTo>
                    <a:pt x="33909" y="33909"/>
                  </a:lnTo>
                  <a:lnTo>
                    <a:pt x="67691" y="33909"/>
                  </a:lnTo>
                  <a:lnTo>
                    <a:pt x="67691" y="2472309"/>
                  </a:lnTo>
                  <a:lnTo>
                    <a:pt x="33909" y="2472309"/>
                  </a:lnTo>
                  <a:lnTo>
                    <a:pt x="33909" y="2438400"/>
                  </a:lnTo>
                  <a:lnTo>
                    <a:pt x="3569589" y="2438400"/>
                  </a:lnTo>
                  <a:lnTo>
                    <a:pt x="3569589" y="2472309"/>
                  </a:lnTo>
                  <a:lnTo>
                    <a:pt x="3535680" y="2472309"/>
                  </a:lnTo>
                  <a:lnTo>
                    <a:pt x="3535680" y="33909"/>
                  </a:lnTo>
                  <a:lnTo>
                    <a:pt x="3569589" y="33909"/>
                  </a:lnTo>
                  <a:lnTo>
                    <a:pt x="3569589" y="67691"/>
                  </a:lnTo>
                  <a:lnTo>
                    <a:pt x="33909" y="67691"/>
                  </a:lnTo>
                  <a:close/>
                </a:path>
              </a:pathLst>
            </a:custGeom>
            <a:solidFill>
              <a:srgbClr val="298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7" name="Google Shape;1527;p31"/>
          <p:cNvGrpSpPr/>
          <p:nvPr/>
        </p:nvGrpSpPr>
        <p:grpSpPr>
          <a:xfrm>
            <a:off x="548640" y="1954530"/>
            <a:ext cx="2651760" cy="1062990"/>
            <a:chOff x="0" y="-76200"/>
            <a:chExt cx="3535680" cy="1417320"/>
          </a:xfrm>
        </p:grpSpPr>
        <p:sp>
          <p:nvSpPr>
            <p:cNvPr id="1528" name="Google Shape;1528;p31"/>
            <p:cNvSpPr/>
            <p:nvPr/>
          </p:nvSpPr>
          <p:spPr>
            <a:xfrm>
              <a:off x="0" y="0"/>
              <a:ext cx="3535680" cy="1341120"/>
            </a:xfrm>
            <a:custGeom>
              <a:rect b="b" l="l" r="r" t="t"/>
              <a:pathLst>
                <a:path extrusionOk="0" h="1341120" w="3535680">
                  <a:moveTo>
                    <a:pt x="0" y="0"/>
                  </a:moveTo>
                  <a:lnTo>
                    <a:pt x="3535680" y="0"/>
                  </a:lnTo>
                  <a:lnTo>
                    <a:pt x="3535680" y="1341120"/>
                  </a:lnTo>
                  <a:lnTo>
                    <a:pt x="0" y="1341120"/>
                  </a:lnTo>
                  <a:close/>
                </a:path>
              </a:pathLst>
            </a:custGeom>
            <a:blipFill rotWithShape="1">
              <a:blip r:embed="rId3">
                <a:alphaModFix amt="0"/>
              </a:blip>
              <a:stretch>
                <a:fillRect b="-1370" l="0" r="0" t="-1370"/>
              </a:stretch>
            </a:blipFill>
            <a:ln>
              <a:noFill/>
            </a:ln>
          </p:spPr>
        </p:sp>
        <p:sp>
          <p:nvSpPr>
            <p:cNvPr id="1529" name="Google Shape;1529;p31"/>
            <p:cNvSpPr txBox="1"/>
            <p:nvPr/>
          </p:nvSpPr>
          <p:spPr>
            <a:xfrm>
              <a:off x="0" y="-76200"/>
              <a:ext cx="3535680" cy="1417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2980B9"/>
                  </a:solidFill>
                  <a:latin typeface="Calibri"/>
                  <a:ea typeface="Calibri"/>
                  <a:cs typeface="Calibri"/>
                  <a:sym typeface="Calibri"/>
                </a:rPr>
                <a:t>114K</a:t>
              </a:r>
              <a:endParaRPr/>
            </a:p>
          </p:txBody>
        </p:sp>
      </p:grpSp>
      <p:grpSp>
        <p:nvGrpSpPr>
          <p:cNvPr id="1530" name="Google Shape;1530;p31"/>
          <p:cNvGrpSpPr/>
          <p:nvPr/>
        </p:nvGrpSpPr>
        <p:grpSpPr>
          <a:xfrm>
            <a:off x="548640" y="2988945"/>
            <a:ext cx="2651760" cy="668655"/>
            <a:chOff x="0" y="-38100"/>
            <a:chExt cx="3535680" cy="891540"/>
          </a:xfrm>
        </p:grpSpPr>
        <p:sp>
          <p:nvSpPr>
            <p:cNvPr id="1531" name="Google Shape;1531;p31"/>
            <p:cNvSpPr/>
            <p:nvPr/>
          </p:nvSpPr>
          <p:spPr>
            <a:xfrm>
              <a:off x="0" y="0"/>
              <a:ext cx="3535680" cy="853440"/>
            </a:xfrm>
            <a:custGeom>
              <a:rect b="b" l="l" r="r" t="t"/>
              <a:pathLst>
                <a:path extrusionOk="0" h="853440" w="3535680">
                  <a:moveTo>
                    <a:pt x="0" y="0"/>
                  </a:moveTo>
                  <a:lnTo>
                    <a:pt x="3535680" y="0"/>
                  </a:lnTo>
                  <a:lnTo>
                    <a:pt x="3535680" y="853440"/>
                  </a:lnTo>
                  <a:lnTo>
                    <a:pt x="0" y="853440"/>
                  </a:lnTo>
                  <a:close/>
                </a:path>
              </a:pathLst>
            </a:custGeom>
            <a:blipFill rotWithShape="1">
              <a:blip r:embed="rId3">
                <a:alphaModFix amt="0"/>
              </a:blip>
              <a:stretch>
                <a:fillRect b="-30723" l="0" r="0" t="-30723"/>
              </a:stretch>
            </a:blipFill>
            <a:ln>
              <a:noFill/>
            </a:ln>
          </p:spPr>
        </p:sp>
        <p:sp>
          <p:nvSpPr>
            <p:cNvPr id="1532" name="Google Shape;1532;p31"/>
            <p:cNvSpPr txBox="1"/>
            <p:nvPr/>
          </p:nvSpPr>
          <p:spPr>
            <a:xfrm>
              <a:off x="0" y="-38100"/>
              <a:ext cx="3535680" cy="891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İşlenen</a:t>
              </a:r>
              <a:endParaRPr/>
            </a:p>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Şarkı</a:t>
              </a:r>
              <a:endParaRPr/>
            </a:p>
          </p:txBody>
        </p:sp>
      </p:grpSp>
      <p:grpSp>
        <p:nvGrpSpPr>
          <p:cNvPr id="1533" name="Google Shape;1533;p31"/>
          <p:cNvGrpSpPr/>
          <p:nvPr/>
        </p:nvGrpSpPr>
        <p:grpSpPr>
          <a:xfrm>
            <a:off x="3412741" y="1894837"/>
            <a:ext cx="2702624" cy="1879664"/>
            <a:chOff x="0" y="0"/>
            <a:chExt cx="3603498" cy="2506218"/>
          </a:xfrm>
        </p:grpSpPr>
        <p:sp>
          <p:nvSpPr>
            <p:cNvPr id="1534" name="Google Shape;1534;p31"/>
            <p:cNvSpPr/>
            <p:nvPr/>
          </p:nvSpPr>
          <p:spPr>
            <a:xfrm>
              <a:off x="33909" y="33909"/>
              <a:ext cx="3535680" cy="2438400"/>
            </a:xfrm>
            <a:custGeom>
              <a:rect b="b" l="l" r="r" t="t"/>
              <a:pathLst>
                <a:path extrusionOk="0" h="2438400" w="3535680">
                  <a:moveTo>
                    <a:pt x="0" y="0"/>
                  </a:moveTo>
                  <a:lnTo>
                    <a:pt x="3535680" y="0"/>
                  </a:lnTo>
                  <a:lnTo>
                    <a:pt x="3535680" y="2438400"/>
                  </a:lnTo>
                  <a:lnTo>
                    <a:pt x="0" y="2438400"/>
                  </a:lnTo>
                  <a:close/>
                </a:path>
              </a:pathLst>
            </a:custGeom>
            <a:solidFill>
              <a:srgbClr val="121212"/>
            </a:solidFill>
            <a:ln>
              <a:noFill/>
            </a:ln>
          </p:spPr>
        </p:sp>
        <p:sp>
          <p:nvSpPr>
            <p:cNvPr id="1535" name="Google Shape;1535;p31"/>
            <p:cNvSpPr/>
            <p:nvPr/>
          </p:nvSpPr>
          <p:spPr>
            <a:xfrm>
              <a:off x="0" y="0"/>
              <a:ext cx="3603498" cy="2506218"/>
            </a:xfrm>
            <a:custGeom>
              <a:rect b="b" l="l" r="r" t="t"/>
              <a:pathLst>
                <a:path extrusionOk="0" h="2506218" w="3603498">
                  <a:moveTo>
                    <a:pt x="33909" y="0"/>
                  </a:moveTo>
                  <a:lnTo>
                    <a:pt x="3569589" y="0"/>
                  </a:lnTo>
                  <a:cubicBezTo>
                    <a:pt x="3588258" y="0"/>
                    <a:pt x="3603498" y="15113"/>
                    <a:pt x="3603498" y="33909"/>
                  </a:cubicBezTo>
                  <a:lnTo>
                    <a:pt x="3603498" y="2472309"/>
                  </a:lnTo>
                  <a:cubicBezTo>
                    <a:pt x="3603498" y="2490978"/>
                    <a:pt x="3588385" y="2506218"/>
                    <a:pt x="3569589" y="2506218"/>
                  </a:cubicBezTo>
                  <a:lnTo>
                    <a:pt x="33909" y="2506218"/>
                  </a:lnTo>
                  <a:cubicBezTo>
                    <a:pt x="15240" y="2506218"/>
                    <a:pt x="0" y="2491105"/>
                    <a:pt x="0" y="2472309"/>
                  </a:cubicBezTo>
                  <a:lnTo>
                    <a:pt x="0" y="33909"/>
                  </a:lnTo>
                  <a:cubicBezTo>
                    <a:pt x="0" y="15113"/>
                    <a:pt x="15113" y="0"/>
                    <a:pt x="33909" y="0"/>
                  </a:cubicBezTo>
                  <a:moveTo>
                    <a:pt x="33909" y="67691"/>
                  </a:moveTo>
                  <a:lnTo>
                    <a:pt x="33909" y="33909"/>
                  </a:lnTo>
                  <a:lnTo>
                    <a:pt x="67691" y="33909"/>
                  </a:lnTo>
                  <a:lnTo>
                    <a:pt x="67691" y="2472309"/>
                  </a:lnTo>
                  <a:lnTo>
                    <a:pt x="33909" y="2472309"/>
                  </a:lnTo>
                  <a:lnTo>
                    <a:pt x="33909" y="2438400"/>
                  </a:lnTo>
                  <a:lnTo>
                    <a:pt x="3569589" y="2438400"/>
                  </a:lnTo>
                  <a:lnTo>
                    <a:pt x="3569589" y="2472309"/>
                  </a:lnTo>
                  <a:lnTo>
                    <a:pt x="3535680" y="2472309"/>
                  </a:lnTo>
                  <a:lnTo>
                    <a:pt x="3535680" y="33909"/>
                  </a:lnTo>
                  <a:lnTo>
                    <a:pt x="3569589" y="33909"/>
                  </a:lnTo>
                  <a:lnTo>
                    <a:pt x="3569589" y="67691"/>
                  </a:lnTo>
                  <a:lnTo>
                    <a:pt x="33909" y="67691"/>
                  </a:lnTo>
                  <a:close/>
                </a:path>
              </a:pathLst>
            </a:custGeom>
            <a:solidFill>
              <a:srgbClr val="27AE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6" name="Google Shape;1536;p31"/>
          <p:cNvGrpSpPr/>
          <p:nvPr/>
        </p:nvGrpSpPr>
        <p:grpSpPr>
          <a:xfrm>
            <a:off x="3438144" y="1954530"/>
            <a:ext cx="2651760" cy="1062990"/>
            <a:chOff x="0" y="-76200"/>
            <a:chExt cx="3535680" cy="1417320"/>
          </a:xfrm>
        </p:grpSpPr>
        <p:sp>
          <p:nvSpPr>
            <p:cNvPr id="1537" name="Google Shape;1537;p31"/>
            <p:cNvSpPr/>
            <p:nvPr/>
          </p:nvSpPr>
          <p:spPr>
            <a:xfrm>
              <a:off x="0" y="0"/>
              <a:ext cx="3535680" cy="1341120"/>
            </a:xfrm>
            <a:custGeom>
              <a:rect b="b" l="l" r="r" t="t"/>
              <a:pathLst>
                <a:path extrusionOk="0" h="1341120" w="3535680">
                  <a:moveTo>
                    <a:pt x="0" y="0"/>
                  </a:moveTo>
                  <a:lnTo>
                    <a:pt x="3535680" y="0"/>
                  </a:lnTo>
                  <a:lnTo>
                    <a:pt x="3535680" y="1341120"/>
                  </a:lnTo>
                  <a:lnTo>
                    <a:pt x="0" y="1341120"/>
                  </a:lnTo>
                  <a:close/>
                </a:path>
              </a:pathLst>
            </a:custGeom>
            <a:blipFill rotWithShape="1">
              <a:blip r:embed="rId3">
                <a:alphaModFix amt="0"/>
              </a:blip>
              <a:stretch>
                <a:fillRect b="-1370" l="0" r="0" t="-1370"/>
              </a:stretch>
            </a:blipFill>
            <a:ln>
              <a:noFill/>
            </a:ln>
          </p:spPr>
        </p:sp>
        <p:sp>
          <p:nvSpPr>
            <p:cNvPr id="1538" name="Google Shape;1538;p31"/>
            <p:cNvSpPr txBox="1"/>
            <p:nvPr/>
          </p:nvSpPr>
          <p:spPr>
            <a:xfrm>
              <a:off x="0" y="-76200"/>
              <a:ext cx="3535680" cy="1417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27AE60"/>
                  </a:solidFill>
                  <a:latin typeface="Calibri"/>
                  <a:ea typeface="Calibri"/>
                  <a:cs typeface="Calibri"/>
                  <a:sym typeface="Calibri"/>
                </a:rPr>
                <a:t>89.740</a:t>
              </a:r>
              <a:endParaRPr/>
            </a:p>
          </p:txBody>
        </p:sp>
      </p:grpSp>
      <p:grpSp>
        <p:nvGrpSpPr>
          <p:cNvPr id="1539" name="Google Shape;1539;p31"/>
          <p:cNvGrpSpPr/>
          <p:nvPr/>
        </p:nvGrpSpPr>
        <p:grpSpPr>
          <a:xfrm>
            <a:off x="3438144" y="2988945"/>
            <a:ext cx="2651760" cy="668655"/>
            <a:chOff x="0" y="-38100"/>
            <a:chExt cx="3535680" cy="891540"/>
          </a:xfrm>
        </p:grpSpPr>
        <p:sp>
          <p:nvSpPr>
            <p:cNvPr id="1540" name="Google Shape;1540;p31"/>
            <p:cNvSpPr/>
            <p:nvPr/>
          </p:nvSpPr>
          <p:spPr>
            <a:xfrm>
              <a:off x="0" y="0"/>
              <a:ext cx="3535680" cy="853440"/>
            </a:xfrm>
            <a:custGeom>
              <a:rect b="b" l="l" r="r" t="t"/>
              <a:pathLst>
                <a:path extrusionOk="0" h="853440" w="3535680">
                  <a:moveTo>
                    <a:pt x="0" y="0"/>
                  </a:moveTo>
                  <a:lnTo>
                    <a:pt x="3535680" y="0"/>
                  </a:lnTo>
                  <a:lnTo>
                    <a:pt x="3535680" y="853440"/>
                  </a:lnTo>
                  <a:lnTo>
                    <a:pt x="0" y="853440"/>
                  </a:lnTo>
                  <a:close/>
                </a:path>
              </a:pathLst>
            </a:custGeom>
            <a:blipFill rotWithShape="1">
              <a:blip r:embed="rId3">
                <a:alphaModFix amt="0"/>
              </a:blip>
              <a:stretch>
                <a:fillRect b="-30723" l="0" r="0" t="-30723"/>
              </a:stretch>
            </a:blipFill>
            <a:ln>
              <a:noFill/>
            </a:ln>
          </p:spPr>
        </p:sp>
        <p:sp>
          <p:nvSpPr>
            <p:cNvPr id="1541" name="Google Shape;1541;p31"/>
            <p:cNvSpPr txBox="1"/>
            <p:nvPr/>
          </p:nvSpPr>
          <p:spPr>
            <a:xfrm>
              <a:off x="0" y="-38100"/>
              <a:ext cx="3535680" cy="891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Temiz</a:t>
              </a:r>
              <a:endParaRPr/>
            </a:p>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Kayıt</a:t>
              </a:r>
              <a:endParaRPr/>
            </a:p>
          </p:txBody>
        </p:sp>
      </p:grpSp>
      <p:grpSp>
        <p:nvGrpSpPr>
          <p:cNvPr id="1542" name="Google Shape;1542;p31"/>
          <p:cNvGrpSpPr/>
          <p:nvPr/>
        </p:nvGrpSpPr>
        <p:grpSpPr>
          <a:xfrm>
            <a:off x="6302245" y="1894837"/>
            <a:ext cx="2702624" cy="1879664"/>
            <a:chOff x="0" y="0"/>
            <a:chExt cx="3603498" cy="2506218"/>
          </a:xfrm>
        </p:grpSpPr>
        <p:sp>
          <p:nvSpPr>
            <p:cNvPr id="1543" name="Google Shape;1543;p31"/>
            <p:cNvSpPr/>
            <p:nvPr/>
          </p:nvSpPr>
          <p:spPr>
            <a:xfrm>
              <a:off x="33909" y="33909"/>
              <a:ext cx="3535680" cy="2438400"/>
            </a:xfrm>
            <a:custGeom>
              <a:rect b="b" l="l" r="r" t="t"/>
              <a:pathLst>
                <a:path extrusionOk="0" h="2438400" w="3535680">
                  <a:moveTo>
                    <a:pt x="0" y="0"/>
                  </a:moveTo>
                  <a:lnTo>
                    <a:pt x="3535680" y="0"/>
                  </a:lnTo>
                  <a:lnTo>
                    <a:pt x="3535680" y="2438400"/>
                  </a:lnTo>
                  <a:lnTo>
                    <a:pt x="0" y="2438400"/>
                  </a:lnTo>
                  <a:close/>
                </a:path>
              </a:pathLst>
            </a:custGeom>
            <a:solidFill>
              <a:srgbClr val="121212"/>
            </a:solidFill>
            <a:ln>
              <a:noFill/>
            </a:ln>
          </p:spPr>
        </p:sp>
        <p:sp>
          <p:nvSpPr>
            <p:cNvPr id="1544" name="Google Shape;1544;p31"/>
            <p:cNvSpPr/>
            <p:nvPr/>
          </p:nvSpPr>
          <p:spPr>
            <a:xfrm>
              <a:off x="0" y="0"/>
              <a:ext cx="3603498" cy="2506218"/>
            </a:xfrm>
            <a:custGeom>
              <a:rect b="b" l="l" r="r" t="t"/>
              <a:pathLst>
                <a:path extrusionOk="0" h="2506218" w="3603498">
                  <a:moveTo>
                    <a:pt x="33909" y="0"/>
                  </a:moveTo>
                  <a:lnTo>
                    <a:pt x="3569589" y="0"/>
                  </a:lnTo>
                  <a:cubicBezTo>
                    <a:pt x="3588258" y="0"/>
                    <a:pt x="3603498" y="15113"/>
                    <a:pt x="3603498" y="33909"/>
                  </a:cubicBezTo>
                  <a:lnTo>
                    <a:pt x="3603498" y="2472309"/>
                  </a:lnTo>
                  <a:cubicBezTo>
                    <a:pt x="3603498" y="2490978"/>
                    <a:pt x="3588385" y="2506218"/>
                    <a:pt x="3569589" y="2506218"/>
                  </a:cubicBezTo>
                  <a:lnTo>
                    <a:pt x="33909" y="2506218"/>
                  </a:lnTo>
                  <a:cubicBezTo>
                    <a:pt x="15240" y="2506218"/>
                    <a:pt x="0" y="2491105"/>
                    <a:pt x="0" y="2472309"/>
                  </a:cubicBezTo>
                  <a:lnTo>
                    <a:pt x="0" y="33909"/>
                  </a:lnTo>
                  <a:cubicBezTo>
                    <a:pt x="0" y="15113"/>
                    <a:pt x="15113" y="0"/>
                    <a:pt x="33909" y="0"/>
                  </a:cubicBezTo>
                  <a:moveTo>
                    <a:pt x="33909" y="67691"/>
                  </a:moveTo>
                  <a:lnTo>
                    <a:pt x="33909" y="33909"/>
                  </a:lnTo>
                  <a:lnTo>
                    <a:pt x="67691" y="33909"/>
                  </a:lnTo>
                  <a:lnTo>
                    <a:pt x="67691" y="2472309"/>
                  </a:lnTo>
                  <a:lnTo>
                    <a:pt x="33909" y="2472309"/>
                  </a:lnTo>
                  <a:lnTo>
                    <a:pt x="33909" y="2438400"/>
                  </a:lnTo>
                  <a:lnTo>
                    <a:pt x="3569589" y="2438400"/>
                  </a:lnTo>
                  <a:lnTo>
                    <a:pt x="3569589" y="2472309"/>
                  </a:lnTo>
                  <a:lnTo>
                    <a:pt x="3535680" y="2472309"/>
                  </a:lnTo>
                  <a:lnTo>
                    <a:pt x="3535680" y="33909"/>
                  </a:lnTo>
                  <a:lnTo>
                    <a:pt x="3569589" y="33909"/>
                  </a:lnTo>
                  <a:lnTo>
                    <a:pt x="3569589" y="67691"/>
                  </a:lnTo>
                  <a:lnTo>
                    <a:pt x="33909" y="67691"/>
                  </a:lnTo>
                  <a:close/>
                </a:path>
              </a:pathLst>
            </a:custGeom>
            <a:solidFill>
              <a:srgbClr val="8E44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5" name="Google Shape;1545;p31"/>
          <p:cNvGrpSpPr/>
          <p:nvPr/>
        </p:nvGrpSpPr>
        <p:grpSpPr>
          <a:xfrm>
            <a:off x="6327648" y="1954530"/>
            <a:ext cx="2651760" cy="1062990"/>
            <a:chOff x="0" y="-76200"/>
            <a:chExt cx="3535680" cy="1417320"/>
          </a:xfrm>
        </p:grpSpPr>
        <p:sp>
          <p:nvSpPr>
            <p:cNvPr id="1546" name="Google Shape;1546;p31"/>
            <p:cNvSpPr/>
            <p:nvPr/>
          </p:nvSpPr>
          <p:spPr>
            <a:xfrm>
              <a:off x="0" y="0"/>
              <a:ext cx="3535680" cy="1341120"/>
            </a:xfrm>
            <a:custGeom>
              <a:rect b="b" l="l" r="r" t="t"/>
              <a:pathLst>
                <a:path extrusionOk="0" h="1341120" w="3535680">
                  <a:moveTo>
                    <a:pt x="0" y="0"/>
                  </a:moveTo>
                  <a:lnTo>
                    <a:pt x="3535680" y="0"/>
                  </a:lnTo>
                  <a:lnTo>
                    <a:pt x="3535680" y="1341120"/>
                  </a:lnTo>
                  <a:lnTo>
                    <a:pt x="0" y="1341120"/>
                  </a:lnTo>
                  <a:close/>
                </a:path>
              </a:pathLst>
            </a:custGeom>
            <a:blipFill rotWithShape="1">
              <a:blip r:embed="rId3">
                <a:alphaModFix amt="0"/>
              </a:blip>
              <a:stretch>
                <a:fillRect b="-1370" l="0" r="0" t="-1370"/>
              </a:stretch>
            </a:blipFill>
            <a:ln>
              <a:noFill/>
            </a:ln>
          </p:spPr>
        </p:sp>
        <p:sp>
          <p:nvSpPr>
            <p:cNvPr id="1547" name="Google Shape;1547;p31"/>
            <p:cNvSpPr txBox="1"/>
            <p:nvPr/>
          </p:nvSpPr>
          <p:spPr>
            <a:xfrm>
              <a:off x="0" y="-76200"/>
              <a:ext cx="3535680" cy="1417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8E44AD"/>
                  </a:solidFill>
                  <a:latin typeface="Calibri"/>
                  <a:ea typeface="Calibri"/>
                  <a:cs typeface="Calibri"/>
                  <a:sym typeface="Calibri"/>
                </a:rPr>
                <a:t>113</a:t>
              </a:r>
              <a:endParaRPr/>
            </a:p>
          </p:txBody>
        </p:sp>
      </p:grpSp>
      <p:grpSp>
        <p:nvGrpSpPr>
          <p:cNvPr id="1548" name="Google Shape;1548;p31"/>
          <p:cNvGrpSpPr/>
          <p:nvPr/>
        </p:nvGrpSpPr>
        <p:grpSpPr>
          <a:xfrm>
            <a:off x="6327648" y="2988945"/>
            <a:ext cx="2651760" cy="668655"/>
            <a:chOff x="0" y="-38100"/>
            <a:chExt cx="3535680" cy="891540"/>
          </a:xfrm>
        </p:grpSpPr>
        <p:sp>
          <p:nvSpPr>
            <p:cNvPr id="1549" name="Google Shape;1549;p31"/>
            <p:cNvSpPr/>
            <p:nvPr/>
          </p:nvSpPr>
          <p:spPr>
            <a:xfrm>
              <a:off x="0" y="0"/>
              <a:ext cx="3535680" cy="853440"/>
            </a:xfrm>
            <a:custGeom>
              <a:rect b="b" l="l" r="r" t="t"/>
              <a:pathLst>
                <a:path extrusionOk="0" h="853440" w="3535680">
                  <a:moveTo>
                    <a:pt x="0" y="0"/>
                  </a:moveTo>
                  <a:lnTo>
                    <a:pt x="3535680" y="0"/>
                  </a:lnTo>
                  <a:lnTo>
                    <a:pt x="3535680" y="853440"/>
                  </a:lnTo>
                  <a:lnTo>
                    <a:pt x="0" y="853440"/>
                  </a:lnTo>
                  <a:close/>
                </a:path>
              </a:pathLst>
            </a:custGeom>
            <a:blipFill rotWithShape="1">
              <a:blip r:embed="rId3">
                <a:alphaModFix amt="0"/>
              </a:blip>
              <a:stretch>
                <a:fillRect b="-30723" l="0" r="0" t="-30723"/>
              </a:stretch>
            </a:blipFill>
            <a:ln>
              <a:noFill/>
            </a:ln>
          </p:spPr>
        </p:sp>
        <p:sp>
          <p:nvSpPr>
            <p:cNvPr id="1550" name="Google Shape;1550;p31"/>
            <p:cNvSpPr txBox="1"/>
            <p:nvPr/>
          </p:nvSpPr>
          <p:spPr>
            <a:xfrm>
              <a:off x="0" y="-38100"/>
              <a:ext cx="3535680" cy="891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Müzik</a:t>
              </a:r>
              <a:endParaRPr/>
            </a:p>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Türü</a:t>
              </a:r>
              <a:endParaRPr/>
            </a:p>
          </p:txBody>
        </p:sp>
      </p:grpSp>
      <p:grpSp>
        <p:nvGrpSpPr>
          <p:cNvPr id="1551" name="Google Shape;1551;p31"/>
          <p:cNvGrpSpPr/>
          <p:nvPr/>
        </p:nvGrpSpPr>
        <p:grpSpPr>
          <a:xfrm>
            <a:off x="9191749" y="1894837"/>
            <a:ext cx="2702624" cy="1879664"/>
            <a:chOff x="0" y="0"/>
            <a:chExt cx="3603498" cy="2506218"/>
          </a:xfrm>
        </p:grpSpPr>
        <p:sp>
          <p:nvSpPr>
            <p:cNvPr id="1552" name="Google Shape;1552;p31"/>
            <p:cNvSpPr/>
            <p:nvPr/>
          </p:nvSpPr>
          <p:spPr>
            <a:xfrm>
              <a:off x="33909" y="33909"/>
              <a:ext cx="3535680" cy="2438400"/>
            </a:xfrm>
            <a:custGeom>
              <a:rect b="b" l="l" r="r" t="t"/>
              <a:pathLst>
                <a:path extrusionOk="0" h="2438400" w="3535680">
                  <a:moveTo>
                    <a:pt x="0" y="0"/>
                  </a:moveTo>
                  <a:lnTo>
                    <a:pt x="3535680" y="0"/>
                  </a:lnTo>
                  <a:lnTo>
                    <a:pt x="3535680" y="2438400"/>
                  </a:lnTo>
                  <a:lnTo>
                    <a:pt x="0" y="2438400"/>
                  </a:lnTo>
                  <a:close/>
                </a:path>
              </a:pathLst>
            </a:custGeom>
            <a:solidFill>
              <a:srgbClr val="121212"/>
            </a:solidFill>
            <a:ln>
              <a:noFill/>
            </a:ln>
          </p:spPr>
        </p:sp>
        <p:sp>
          <p:nvSpPr>
            <p:cNvPr id="1553" name="Google Shape;1553;p31"/>
            <p:cNvSpPr/>
            <p:nvPr/>
          </p:nvSpPr>
          <p:spPr>
            <a:xfrm>
              <a:off x="0" y="0"/>
              <a:ext cx="3603498" cy="2506218"/>
            </a:xfrm>
            <a:custGeom>
              <a:rect b="b" l="l" r="r" t="t"/>
              <a:pathLst>
                <a:path extrusionOk="0" h="2506218" w="3603498">
                  <a:moveTo>
                    <a:pt x="33909" y="0"/>
                  </a:moveTo>
                  <a:lnTo>
                    <a:pt x="3569589" y="0"/>
                  </a:lnTo>
                  <a:cubicBezTo>
                    <a:pt x="3588258" y="0"/>
                    <a:pt x="3603498" y="15113"/>
                    <a:pt x="3603498" y="33909"/>
                  </a:cubicBezTo>
                  <a:lnTo>
                    <a:pt x="3603498" y="2472309"/>
                  </a:lnTo>
                  <a:cubicBezTo>
                    <a:pt x="3603498" y="2490978"/>
                    <a:pt x="3588385" y="2506218"/>
                    <a:pt x="3569589" y="2506218"/>
                  </a:cubicBezTo>
                  <a:lnTo>
                    <a:pt x="33909" y="2506218"/>
                  </a:lnTo>
                  <a:cubicBezTo>
                    <a:pt x="15240" y="2506218"/>
                    <a:pt x="0" y="2491105"/>
                    <a:pt x="0" y="2472309"/>
                  </a:cubicBezTo>
                  <a:lnTo>
                    <a:pt x="0" y="33909"/>
                  </a:lnTo>
                  <a:cubicBezTo>
                    <a:pt x="0" y="15113"/>
                    <a:pt x="15113" y="0"/>
                    <a:pt x="33909" y="0"/>
                  </a:cubicBezTo>
                  <a:moveTo>
                    <a:pt x="33909" y="67691"/>
                  </a:moveTo>
                  <a:lnTo>
                    <a:pt x="33909" y="33909"/>
                  </a:lnTo>
                  <a:lnTo>
                    <a:pt x="67691" y="33909"/>
                  </a:lnTo>
                  <a:lnTo>
                    <a:pt x="67691" y="2472309"/>
                  </a:lnTo>
                  <a:lnTo>
                    <a:pt x="33909" y="2472309"/>
                  </a:lnTo>
                  <a:lnTo>
                    <a:pt x="33909" y="2438400"/>
                  </a:lnTo>
                  <a:lnTo>
                    <a:pt x="3569589" y="2438400"/>
                  </a:lnTo>
                  <a:lnTo>
                    <a:pt x="3569589" y="2472309"/>
                  </a:lnTo>
                  <a:lnTo>
                    <a:pt x="3535680" y="2472309"/>
                  </a:lnTo>
                  <a:lnTo>
                    <a:pt x="3535680" y="33909"/>
                  </a:lnTo>
                  <a:lnTo>
                    <a:pt x="3569589" y="33909"/>
                  </a:lnTo>
                  <a:lnTo>
                    <a:pt x="3569589" y="67691"/>
                  </a:lnTo>
                  <a:lnTo>
                    <a:pt x="33909" y="67691"/>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4" name="Google Shape;1554;p31"/>
          <p:cNvGrpSpPr/>
          <p:nvPr/>
        </p:nvGrpSpPr>
        <p:grpSpPr>
          <a:xfrm>
            <a:off x="9217152" y="1954530"/>
            <a:ext cx="2651760" cy="1062990"/>
            <a:chOff x="0" y="-76200"/>
            <a:chExt cx="3535680" cy="1417320"/>
          </a:xfrm>
        </p:grpSpPr>
        <p:sp>
          <p:nvSpPr>
            <p:cNvPr id="1555" name="Google Shape;1555;p31"/>
            <p:cNvSpPr/>
            <p:nvPr/>
          </p:nvSpPr>
          <p:spPr>
            <a:xfrm>
              <a:off x="0" y="0"/>
              <a:ext cx="3535680" cy="1341120"/>
            </a:xfrm>
            <a:custGeom>
              <a:rect b="b" l="l" r="r" t="t"/>
              <a:pathLst>
                <a:path extrusionOk="0" h="1341120" w="3535680">
                  <a:moveTo>
                    <a:pt x="0" y="0"/>
                  </a:moveTo>
                  <a:lnTo>
                    <a:pt x="3535680" y="0"/>
                  </a:lnTo>
                  <a:lnTo>
                    <a:pt x="3535680" y="1341120"/>
                  </a:lnTo>
                  <a:lnTo>
                    <a:pt x="0" y="1341120"/>
                  </a:lnTo>
                  <a:close/>
                </a:path>
              </a:pathLst>
            </a:custGeom>
            <a:blipFill rotWithShape="1">
              <a:blip r:embed="rId3">
                <a:alphaModFix amt="0"/>
              </a:blip>
              <a:stretch>
                <a:fillRect b="-1370" l="0" r="0" t="-1370"/>
              </a:stretch>
            </a:blipFill>
            <a:ln>
              <a:noFill/>
            </a:ln>
          </p:spPr>
        </p:sp>
        <p:sp>
          <p:nvSpPr>
            <p:cNvPr id="1556" name="Google Shape;1556;p31"/>
            <p:cNvSpPr txBox="1"/>
            <p:nvPr/>
          </p:nvSpPr>
          <p:spPr>
            <a:xfrm>
              <a:off x="0" y="-76200"/>
              <a:ext cx="3535680" cy="1417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1DB954"/>
                  </a:solidFill>
                  <a:latin typeface="Calibri"/>
                  <a:ea typeface="Calibri"/>
                  <a:cs typeface="Calibri"/>
                  <a:sym typeface="Calibri"/>
                </a:rPr>
                <a:t>0.944</a:t>
              </a:r>
              <a:endParaRPr/>
            </a:p>
          </p:txBody>
        </p:sp>
      </p:grpSp>
      <p:grpSp>
        <p:nvGrpSpPr>
          <p:cNvPr id="1557" name="Google Shape;1557;p31"/>
          <p:cNvGrpSpPr/>
          <p:nvPr/>
        </p:nvGrpSpPr>
        <p:grpSpPr>
          <a:xfrm>
            <a:off x="9217152" y="2988945"/>
            <a:ext cx="2651760" cy="668655"/>
            <a:chOff x="0" y="-38100"/>
            <a:chExt cx="3535680" cy="891540"/>
          </a:xfrm>
        </p:grpSpPr>
        <p:sp>
          <p:nvSpPr>
            <p:cNvPr id="1558" name="Google Shape;1558;p31"/>
            <p:cNvSpPr/>
            <p:nvPr/>
          </p:nvSpPr>
          <p:spPr>
            <a:xfrm>
              <a:off x="0" y="0"/>
              <a:ext cx="3535680" cy="853440"/>
            </a:xfrm>
            <a:custGeom>
              <a:rect b="b" l="l" r="r" t="t"/>
              <a:pathLst>
                <a:path extrusionOk="0" h="853440" w="3535680">
                  <a:moveTo>
                    <a:pt x="0" y="0"/>
                  </a:moveTo>
                  <a:lnTo>
                    <a:pt x="3535680" y="0"/>
                  </a:lnTo>
                  <a:lnTo>
                    <a:pt x="3535680" y="853440"/>
                  </a:lnTo>
                  <a:lnTo>
                    <a:pt x="0" y="853440"/>
                  </a:lnTo>
                  <a:close/>
                </a:path>
              </a:pathLst>
            </a:custGeom>
            <a:blipFill rotWithShape="1">
              <a:blip r:embed="rId3">
                <a:alphaModFix amt="0"/>
              </a:blip>
              <a:stretch>
                <a:fillRect b="-30723" l="0" r="0" t="-30723"/>
              </a:stretch>
            </a:blipFill>
            <a:ln>
              <a:noFill/>
            </a:ln>
          </p:spPr>
        </p:sp>
        <p:sp>
          <p:nvSpPr>
            <p:cNvPr id="1559" name="Google Shape;1559;p31"/>
            <p:cNvSpPr txBox="1"/>
            <p:nvPr/>
          </p:nvSpPr>
          <p:spPr>
            <a:xfrm>
              <a:off x="0" y="-38100"/>
              <a:ext cx="3535680" cy="891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En İyi</a:t>
              </a:r>
              <a:endParaRPr/>
            </a:p>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AUC-ROC</a:t>
              </a:r>
              <a:endParaRPr/>
            </a:p>
          </p:txBody>
        </p:sp>
      </p:grpSp>
      <p:grpSp>
        <p:nvGrpSpPr>
          <p:cNvPr id="1560" name="Google Shape;1560;p31"/>
          <p:cNvGrpSpPr/>
          <p:nvPr/>
        </p:nvGrpSpPr>
        <p:grpSpPr>
          <a:xfrm>
            <a:off x="12081253" y="1894837"/>
            <a:ext cx="2702624" cy="1879664"/>
            <a:chOff x="0" y="0"/>
            <a:chExt cx="3603498" cy="2506218"/>
          </a:xfrm>
        </p:grpSpPr>
        <p:sp>
          <p:nvSpPr>
            <p:cNvPr id="1561" name="Google Shape;1561;p31"/>
            <p:cNvSpPr/>
            <p:nvPr/>
          </p:nvSpPr>
          <p:spPr>
            <a:xfrm>
              <a:off x="33909" y="33909"/>
              <a:ext cx="3535680" cy="2438400"/>
            </a:xfrm>
            <a:custGeom>
              <a:rect b="b" l="l" r="r" t="t"/>
              <a:pathLst>
                <a:path extrusionOk="0" h="2438400" w="3535680">
                  <a:moveTo>
                    <a:pt x="0" y="0"/>
                  </a:moveTo>
                  <a:lnTo>
                    <a:pt x="3535680" y="0"/>
                  </a:lnTo>
                  <a:lnTo>
                    <a:pt x="3535680" y="2438400"/>
                  </a:lnTo>
                  <a:lnTo>
                    <a:pt x="0" y="2438400"/>
                  </a:lnTo>
                  <a:close/>
                </a:path>
              </a:pathLst>
            </a:custGeom>
            <a:solidFill>
              <a:srgbClr val="121212"/>
            </a:solidFill>
            <a:ln>
              <a:noFill/>
            </a:ln>
          </p:spPr>
        </p:sp>
        <p:sp>
          <p:nvSpPr>
            <p:cNvPr id="1562" name="Google Shape;1562;p31"/>
            <p:cNvSpPr/>
            <p:nvPr/>
          </p:nvSpPr>
          <p:spPr>
            <a:xfrm>
              <a:off x="0" y="0"/>
              <a:ext cx="3603498" cy="2506218"/>
            </a:xfrm>
            <a:custGeom>
              <a:rect b="b" l="l" r="r" t="t"/>
              <a:pathLst>
                <a:path extrusionOk="0" h="2506218" w="3603498">
                  <a:moveTo>
                    <a:pt x="33909" y="0"/>
                  </a:moveTo>
                  <a:lnTo>
                    <a:pt x="3569589" y="0"/>
                  </a:lnTo>
                  <a:cubicBezTo>
                    <a:pt x="3588258" y="0"/>
                    <a:pt x="3603498" y="15113"/>
                    <a:pt x="3603498" y="33909"/>
                  </a:cubicBezTo>
                  <a:lnTo>
                    <a:pt x="3603498" y="2472309"/>
                  </a:lnTo>
                  <a:cubicBezTo>
                    <a:pt x="3603498" y="2490978"/>
                    <a:pt x="3588385" y="2506218"/>
                    <a:pt x="3569589" y="2506218"/>
                  </a:cubicBezTo>
                  <a:lnTo>
                    <a:pt x="33909" y="2506218"/>
                  </a:lnTo>
                  <a:cubicBezTo>
                    <a:pt x="15240" y="2506218"/>
                    <a:pt x="0" y="2491105"/>
                    <a:pt x="0" y="2472309"/>
                  </a:cubicBezTo>
                  <a:lnTo>
                    <a:pt x="0" y="33909"/>
                  </a:lnTo>
                  <a:cubicBezTo>
                    <a:pt x="0" y="15113"/>
                    <a:pt x="15113" y="0"/>
                    <a:pt x="33909" y="0"/>
                  </a:cubicBezTo>
                  <a:moveTo>
                    <a:pt x="33909" y="67691"/>
                  </a:moveTo>
                  <a:lnTo>
                    <a:pt x="33909" y="33909"/>
                  </a:lnTo>
                  <a:lnTo>
                    <a:pt x="67691" y="33909"/>
                  </a:lnTo>
                  <a:lnTo>
                    <a:pt x="67691" y="2472309"/>
                  </a:lnTo>
                  <a:lnTo>
                    <a:pt x="33909" y="2472309"/>
                  </a:lnTo>
                  <a:lnTo>
                    <a:pt x="33909" y="2438400"/>
                  </a:lnTo>
                  <a:lnTo>
                    <a:pt x="3569589" y="2438400"/>
                  </a:lnTo>
                  <a:lnTo>
                    <a:pt x="3569589" y="2472309"/>
                  </a:lnTo>
                  <a:lnTo>
                    <a:pt x="3535680" y="2472309"/>
                  </a:lnTo>
                  <a:lnTo>
                    <a:pt x="3535680" y="33909"/>
                  </a:lnTo>
                  <a:lnTo>
                    <a:pt x="3569589" y="33909"/>
                  </a:lnTo>
                  <a:lnTo>
                    <a:pt x="3569589" y="67691"/>
                  </a:lnTo>
                  <a:lnTo>
                    <a:pt x="33909" y="67691"/>
                  </a:lnTo>
                  <a:close/>
                </a:path>
              </a:pathLst>
            </a:custGeom>
            <a:solidFill>
              <a:srgbClr val="E67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3" name="Google Shape;1563;p31"/>
          <p:cNvGrpSpPr/>
          <p:nvPr/>
        </p:nvGrpSpPr>
        <p:grpSpPr>
          <a:xfrm>
            <a:off x="12106656" y="1954530"/>
            <a:ext cx="2651760" cy="1062990"/>
            <a:chOff x="0" y="-76200"/>
            <a:chExt cx="3535680" cy="1417320"/>
          </a:xfrm>
        </p:grpSpPr>
        <p:sp>
          <p:nvSpPr>
            <p:cNvPr id="1564" name="Google Shape;1564;p31"/>
            <p:cNvSpPr/>
            <p:nvPr/>
          </p:nvSpPr>
          <p:spPr>
            <a:xfrm>
              <a:off x="0" y="0"/>
              <a:ext cx="3535680" cy="1341120"/>
            </a:xfrm>
            <a:custGeom>
              <a:rect b="b" l="l" r="r" t="t"/>
              <a:pathLst>
                <a:path extrusionOk="0" h="1341120" w="3535680">
                  <a:moveTo>
                    <a:pt x="0" y="0"/>
                  </a:moveTo>
                  <a:lnTo>
                    <a:pt x="3535680" y="0"/>
                  </a:lnTo>
                  <a:lnTo>
                    <a:pt x="3535680" y="1341120"/>
                  </a:lnTo>
                  <a:lnTo>
                    <a:pt x="0" y="1341120"/>
                  </a:lnTo>
                  <a:close/>
                </a:path>
              </a:pathLst>
            </a:custGeom>
            <a:blipFill rotWithShape="1">
              <a:blip r:embed="rId3">
                <a:alphaModFix amt="0"/>
              </a:blip>
              <a:stretch>
                <a:fillRect b="-1370" l="0" r="0" t="-1370"/>
              </a:stretch>
            </a:blipFill>
            <a:ln>
              <a:noFill/>
            </a:ln>
          </p:spPr>
        </p:sp>
        <p:sp>
          <p:nvSpPr>
            <p:cNvPr id="1565" name="Google Shape;1565;p31"/>
            <p:cNvSpPr txBox="1"/>
            <p:nvPr/>
          </p:nvSpPr>
          <p:spPr>
            <a:xfrm>
              <a:off x="0" y="-76200"/>
              <a:ext cx="3535680" cy="1417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E67E22"/>
                  </a:solidFill>
                  <a:latin typeface="Calibri"/>
                  <a:ea typeface="Calibri"/>
                  <a:cs typeface="Calibri"/>
                  <a:sym typeface="Calibri"/>
                </a:rPr>
                <a:t>5</a:t>
              </a:r>
              <a:endParaRPr/>
            </a:p>
          </p:txBody>
        </p:sp>
      </p:grpSp>
      <p:grpSp>
        <p:nvGrpSpPr>
          <p:cNvPr id="1566" name="Google Shape;1566;p31"/>
          <p:cNvGrpSpPr/>
          <p:nvPr/>
        </p:nvGrpSpPr>
        <p:grpSpPr>
          <a:xfrm>
            <a:off x="12106656" y="2988945"/>
            <a:ext cx="2651760" cy="668655"/>
            <a:chOff x="0" y="-38100"/>
            <a:chExt cx="3535680" cy="891540"/>
          </a:xfrm>
        </p:grpSpPr>
        <p:sp>
          <p:nvSpPr>
            <p:cNvPr id="1567" name="Google Shape;1567;p31"/>
            <p:cNvSpPr/>
            <p:nvPr/>
          </p:nvSpPr>
          <p:spPr>
            <a:xfrm>
              <a:off x="0" y="0"/>
              <a:ext cx="3535680" cy="853440"/>
            </a:xfrm>
            <a:custGeom>
              <a:rect b="b" l="l" r="r" t="t"/>
              <a:pathLst>
                <a:path extrusionOk="0" h="853440" w="3535680">
                  <a:moveTo>
                    <a:pt x="0" y="0"/>
                  </a:moveTo>
                  <a:lnTo>
                    <a:pt x="3535680" y="0"/>
                  </a:lnTo>
                  <a:lnTo>
                    <a:pt x="3535680" y="853440"/>
                  </a:lnTo>
                  <a:lnTo>
                    <a:pt x="0" y="853440"/>
                  </a:lnTo>
                  <a:close/>
                </a:path>
              </a:pathLst>
            </a:custGeom>
            <a:blipFill rotWithShape="1">
              <a:blip r:embed="rId3">
                <a:alphaModFix amt="0"/>
              </a:blip>
              <a:stretch>
                <a:fillRect b="-30723" l="0" r="0" t="-30723"/>
              </a:stretch>
            </a:blipFill>
            <a:ln>
              <a:noFill/>
            </a:ln>
          </p:spPr>
        </p:sp>
        <p:sp>
          <p:nvSpPr>
            <p:cNvPr id="1568" name="Google Shape;1568;p31"/>
            <p:cNvSpPr txBox="1"/>
            <p:nvPr/>
          </p:nvSpPr>
          <p:spPr>
            <a:xfrm>
              <a:off x="0" y="-38100"/>
              <a:ext cx="3535680" cy="891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ML</a:t>
              </a:r>
              <a:endParaRPr/>
            </a:p>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Modeli</a:t>
              </a:r>
              <a:endParaRPr/>
            </a:p>
          </p:txBody>
        </p:sp>
      </p:grpSp>
      <p:grpSp>
        <p:nvGrpSpPr>
          <p:cNvPr id="1569" name="Google Shape;1569;p31"/>
          <p:cNvGrpSpPr/>
          <p:nvPr/>
        </p:nvGrpSpPr>
        <p:grpSpPr>
          <a:xfrm>
            <a:off x="14970757" y="1894837"/>
            <a:ext cx="2702624" cy="1879664"/>
            <a:chOff x="0" y="0"/>
            <a:chExt cx="3603498" cy="2506218"/>
          </a:xfrm>
        </p:grpSpPr>
        <p:sp>
          <p:nvSpPr>
            <p:cNvPr id="1570" name="Google Shape;1570;p31"/>
            <p:cNvSpPr/>
            <p:nvPr/>
          </p:nvSpPr>
          <p:spPr>
            <a:xfrm>
              <a:off x="33909" y="33909"/>
              <a:ext cx="3535680" cy="2438400"/>
            </a:xfrm>
            <a:custGeom>
              <a:rect b="b" l="l" r="r" t="t"/>
              <a:pathLst>
                <a:path extrusionOk="0" h="2438400" w="3535680">
                  <a:moveTo>
                    <a:pt x="0" y="0"/>
                  </a:moveTo>
                  <a:lnTo>
                    <a:pt x="3535680" y="0"/>
                  </a:lnTo>
                  <a:lnTo>
                    <a:pt x="3535680" y="2438400"/>
                  </a:lnTo>
                  <a:lnTo>
                    <a:pt x="0" y="2438400"/>
                  </a:lnTo>
                  <a:close/>
                </a:path>
              </a:pathLst>
            </a:custGeom>
            <a:solidFill>
              <a:srgbClr val="121212"/>
            </a:solidFill>
            <a:ln>
              <a:noFill/>
            </a:ln>
          </p:spPr>
        </p:sp>
        <p:sp>
          <p:nvSpPr>
            <p:cNvPr id="1571" name="Google Shape;1571;p31"/>
            <p:cNvSpPr/>
            <p:nvPr/>
          </p:nvSpPr>
          <p:spPr>
            <a:xfrm>
              <a:off x="0" y="0"/>
              <a:ext cx="3603498" cy="2506218"/>
            </a:xfrm>
            <a:custGeom>
              <a:rect b="b" l="l" r="r" t="t"/>
              <a:pathLst>
                <a:path extrusionOk="0" h="2506218" w="3603498">
                  <a:moveTo>
                    <a:pt x="33909" y="0"/>
                  </a:moveTo>
                  <a:lnTo>
                    <a:pt x="3569589" y="0"/>
                  </a:lnTo>
                  <a:cubicBezTo>
                    <a:pt x="3588258" y="0"/>
                    <a:pt x="3603498" y="15113"/>
                    <a:pt x="3603498" y="33909"/>
                  </a:cubicBezTo>
                  <a:lnTo>
                    <a:pt x="3603498" y="2472309"/>
                  </a:lnTo>
                  <a:cubicBezTo>
                    <a:pt x="3603498" y="2490978"/>
                    <a:pt x="3588385" y="2506218"/>
                    <a:pt x="3569589" y="2506218"/>
                  </a:cubicBezTo>
                  <a:lnTo>
                    <a:pt x="33909" y="2506218"/>
                  </a:lnTo>
                  <a:cubicBezTo>
                    <a:pt x="15240" y="2506218"/>
                    <a:pt x="0" y="2491105"/>
                    <a:pt x="0" y="2472309"/>
                  </a:cubicBezTo>
                  <a:lnTo>
                    <a:pt x="0" y="33909"/>
                  </a:lnTo>
                  <a:cubicBezTo>
                    <a:pt x="0" y="15113"/>
                    <a:pt x="15113" y="0"/>
                    <a:pt x="33909" y="0"/>
                  </a:cubicBezTo>
                  <a:moveTo>
                    <a:pt x="33909" y="67691"/>
                  </a:moveTo>
                  <a:lnTo>
                    <a:pt x="33909" y="33909"/>
                  </a:lnTo>
                  <a:lnTo>
                    <a:pt x="67691" y="33909"/>
                  </a:lnTo>
                  <a:lnTo>
                    <a:pt x="67691" y="2472309"/>
                  </a:lnTo>
                  <a:lnTo>
                    <a:pt x="33909" y="2472309"/>
                  </a:lnTo>
                  <a:lnTo>
                    <a:pt x="33909" y="2438400"/>
                  </a:lnTo>
                  <a:lnTo>
                    <a:pt x="3569589" y="2438400"/>
                  </a:lnTo>
                  <a:lnTo>
                    <a:pt x="3569589" y="2472309"/>
                  </a:lnTo>
                  <a:lnTo>
                    <a:pt x="3535680" y="2472309"/>
                  </a:lnTo>
                  <a:lnTo>
                    <a:pt x="3535680" y="33909"/>
                  </a:lnTo>
                  <a:lnTo>
                    <a:pt x="3569589" y="33909"/>
                  </a:lnTo>
                  <a:lnTo>
                    <a:pt x="3569589" y="67691"/>
                  </a:lnTo>
                  <a:lnTo>
                    <a:pt x="33909" y="67691"/>
                  </a:lnTo>
                  <a:close/>
                </a:path>
              </a:pathLst>
            </a:cu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2" name="Google Shape;1572;p31"/>
          <p:cNvGrpSpPr/>
          <p:nvPr/>
        </p:nvGrpSpPr>
        <p:grpSpPr>
          <a:xfrm>
            <a:off x="14996160" y="1954530"/>
            <a:ext cx="2651760" cy="1062990"/>
            <a:chOff x="0" y="-76200"/>
            <a:chExt cx="3535680" cy="1417320"/>
          </a:xfrm>
        </p:grpSpPr>
        <p:sp>
          <p:nvSpPr>
            <p:cNvPr id="1573" name="Google Shape;1573;p31"/>
            <p:cNvSpPr/>
            <p:nvPr/>
          </p:nvSpPr>
          <p:spPr>
            <a:xfrm>
              <a:off x="0" y="0"/>
              <a:ext cx="3535680" cy="1341120"/>
            </a:xfrm>
            <a:custGeom>
              <a:rect b="b" l="l" r="r" t="t"/>
              <a:pathLst>
                <a:path extrusionOk="0" h="1341120" w="3535680">
                  <a:moveTo>
                    <a:pt x="0" y="0"/>
                  </a:moveTo>
                  <a:lnTo>
                    <a:pt x="3535680" y="0"/>
                  </a:lnTo>
                  <a:lnTo>
                    <a:pt x="3535680" y="1341120"/>
                  </a:lnTo>
                  <a:lnTo>
                    <a:pt x="0" y="1341120"/>
                  </a:lnTo>
                  <a:close/>
                </a:path>
              </a:pathLst>
            </a:custGeom>
            <a:blipFill rotWithShape="1">
              <a:blip r:embed="rId3">
                <a:alphaModFix amt="0"/>
              </a:blip>
              <a:stretch>
                <a:fillRect b="-1370" l="0" r="0" t="-1370"/>
              </a:stretch>
            </a:blipFill>
            <a:ln>
              <a:noFill/>
            </a:ln>
          </p:spPr>
        </p:sp>
        <p:sp>
          <p:nvSpPr>
            <p:cNvPr id="1574" name="Google Shape;1574;p31"/>
            <p:cNvSpPr txBox="1"/>
            <p:nvPr/>
          </p:nvSpPr>
          <p:spPr>
            <a:xfrm>
              <a:off x="0" y="-76200"/>
              <a:ext cx="3535680" cy="1417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400" u="none" cap="none" strike="noStrike">
                  <a:solidFill>
                    <a:srgbClr val="E74C3C"/>
                  </a:solidFill>
                  <a:latin typeface="Calibri"/>
                  <a:ea typeface="Calibri"/>
                  <a:cs typeface="Calibri"/>
                  <a:sym typeface="Calibri"/>
                </a:rPr>
                <a:t>11</a:t>
              </a:r>
              <a:endParaRPr/>
            </a:p>
          </p:txBody>
        </p:sp>
      </p:grpSp>
      <p:grpSp>
        <p:nvGrpSpPr>
          <p:cNvPr id="1575" name="Google Shape;1575;p31"/>
          <p:cNvGrpSpPr/>
          <p:nvPr/>
        </p:nvGrpSpPr>
        <p:grpSpPr>
          <a:xfrm>
            <a:off x="14996160" y="2988945"/>
            <a:ext cx="2651760" cy="668655"/>
            <a:chOff x="0" y="-38100"/>
            <a:chExt cx="3535680" cy="891540"/>
          </a:xfrm>
        </p:grpSpPr>
        <p:sp>
          <p:nvSpPr>
            <p:cNvPr id="1576" name="Google Shape;1576;p31"/>
            <p:cNvSpPr/>
            <p:nvPr/>
          </p:nvSpPr>
          <p:spPr>
            <a:xfrm>
              <a:off x="0" y="0"/>
              <a:ext cx="3535680" cy="853440"/>
            </a:xfrm>
            <a:custGeom>
              <a:rect b="b" l="l" r="r" t="t"/>
              <a:pathLst>
                <a:path extrusionOk="0" h="853440" w="3535680">
                  <a:moveTo>
                    <a:pt x="0" y="0"/>
                  </a:moveTo>
                  <a:lnTo>
                    <a:pt x="3535680" y="0"/>
                  </a:lnTo>
                  <a:lnTo>
                    <a:pt x="3535680" y="853440"/>
                  </a:lnTo>
                  <a:lnTo>
                    <a:pt x="0" y="853440"/>
                  </a:lnTo>
                  <a:close/>
                </a:path>
              </a:pathLst>
            </a:custGeom>
            <a:blipFill rotWithShape="1">
              <a:blip r:embed="rId3">
                <a:alphaModFix amt="0"/>
              </a:blip>
              <a:stretch>
                <a:fillRect b="-30723" l="0" r="0" t="-30723"/>
              </a:stretch>
            </a:blipFill>
            <a:ln>
              <a:noFill/>
            </a:ln>
          </p:spPr>
        </p:sp>
        <p:sp>
          <p:nvSpPr>
            <p:cNvPr id="1577" name="Google Shape;1577;p31"/>
            <p:cNvSpPr txBox="1"/>
            <p:nvPr/>
          </p:nvSpPr>
          <p:spPr>
            <a:xfrm>
              <a:off x="0" y="-38100"/>
              <a:ext cx="3535680" cy="89154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Dashboard</a:t>
              </a:r>
              <a:endParaRPr/>
            </a:p>
            <a:p>
              <a:pPr indent="0" lvl="0" marL="0" marR="0" rtl="0" algn="ctr">
                <a:lnSpc>
                  <a:spcPct val="120000"/>
                </a:lnSpc>
                <a:spcBef>
                  <a:spcPts val="0"/>
                </a:spcBef>
                <a:spcAft>
                  <a:spcPts val="0"/>
                </a:spcAft>
                <a:buNone/>
              </a:pPr>
              <a:r>
                <a:rPr b="0" i="0" lang="en-US" sz="1800" u="none" cap="none" strike="noStrike">
                  <a:solidFill>
                    <a:srgbClr val="FFFFFF"/>
                  </a:solidFill>
                  <a:latin typeface="Calibri"/>
                  <a:ea typeface="Calibri"/>
                  <a:cs typeface="Calibri"/>
                  <a:sym typeface="Calibri"/>
                </a:rPr>
                <a:t>Görseli</a:t>
              </a:r>
              <a:endParaRPr/>
            </a:p>
          </p:txBody>
        </p:sp>
      </p:grpSp>
      <p:grpSp>
        <p:nvGrpSpPr>
          <p:cNvPr id="1578" name="Google Shape;1578;p31"/>
          <p:cNvGrpSpPr/>
          <p:nvPr/>
        </p:nvGrpSpPr>
        <p:grpSpPr>
          <a:xfrm>
            <a:off x="457200" y="3987641"/>
            <a:ext cx="17373600" cy="584359"/>
            <a:chOff x="0" y="-47625"/>
            <a:chExt cx="23164800" cy="779145"/>
          </a:xfrm>
        </p:grpSpPr>
        <p:sp>
          <p:nvSpPr>
            <p:cNvPr id="1579" name="Google Shape;1579;p31"/>
            <p:cNvSpPr/>
            <p:nvPr/>
          </p:nvSpPr>
          <p:spPr>
            <a:xfrm>
              <a:off x="0" y="0"/>
              <a:ext cx="23164800" cy="731520"/>
            </a:xfrm>
            <a:custGeom>
              <a:rect b="b" l="l" r="r" t="t"/>
              <a:pathLst>
                <a:path extrusionOk="0" h="731520" w="23164800">
                  <a:moveTo>
                    <a:pt x="0" y="0"/>
                  </a:moveTo>
                  <a:lnTo>
                    <a:pt x="23164800" y="0"/>
                  </a:lnTo>
                  <a:lnTo>
                    <a:pt x="23164800" y="731520"/>
                  </a:lnTo>
                  <a:lnTo>
                    <a:pt x="0" y="731520"/>
                  </a:lnTo>
                  <a:close/>
                </a:path>
              </a:pathLst>
            </a:custGeom>
            <a:blipFill rotWithShape="1">
              <a:blip r:embed="rId3">
                <a:alphaModFix amt="0"/>
              </a:blip>
              <a:stretch>
                <a:fillRect b="-566980" l="0" r="0" t="-566980"/>
              </a:stretch>
            </a:blipFill>
            <a:ln>
              <a:noFill/>
            </a:ln>
          </p:spPr>
        </p:sp>
        <p:sp>
          <p:nvSpPr>
            <p:cNvPr id="1580" name="Google Shape;1580;p31"/>
            <p:cNvSpPr txBox="1"/>
            <p:nvPr/>
          </p:nvSpPr>
          <p:spPr>
            <a:xfrm>
              <a:off x="0" y="-47625"/>
              <a:ext cx="2316480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200" u="none" cap="none" strike="noStrike">
                  <a:solidFill>
                    <a:srgbClr val="121212"/>
                  </a:solidFill>
                  <a:latin typeface="Calibri"/>
                  <a:ea typeface="Calibri"/>
                  <a:cs typeface="Calibri"/>
                  <a:sym typeface="Calibri"/>
                </a:rPr>
                <a:t>Öğrenilen Dersler:</a:t>
              </a:r>
              <a:endParaRPr/>
            </a:p>
          </p:txBody>
        </p:sp>
      </p:grpSp>
      <p:grpSp>
        <p:nvGrpSpPr>
          <p:cNvPr id="1581" name="Google Shape;1581;p31"/>
          <p:cNvGrpSpPr/>
          <p:nvPr/>
        </p:nvGrpSpPr>
        <p:grpSpPr>
          <a:xfrm>
            <a:off x="447675" y="4690491"/>
            <a:ext cx="17392650" cy="750570"/>
            <a:chOff x="0" y="0"/>
            <a:chExt cx="23190200" cy="1000760"/>
          </a:xfrm>
        </p:grpSpPr>
        <p:sp>
          <p:nvSpPr>
            <p:cNvPr id="1582" name="Google Shape;1582;p31"/>
            <p:cNvSpPr/>
            <p:nvPr/>
          </p:nvSpPr>
          <p:spPr>
            <a:xfrm>
              <a:off x="12700" y="12700"/>
              <a:ext cx="23164800" cy="975360"/>
            </a:xfrm>
            <a:custGeom>
              <a:rect b="b" l="l" r="r" t="t"/>
              <a:pathLst>
                <a:path extrusionOk="0" h="975360" w="23164800">
                  <a:moveTo>
                    <a:pt x="0" y="0"/>
                  </a:moveTo>
                  <a:lnTo>
                    <a:pt x="23164800" y="0"/>
                  </a:lnTo>
                  <a:lnTo>
                    <a:pt x="23164800" y="975360"/>
                  </a:lnTo>
                  <a:lnTo>
                    <a:pt x="0" y="975360"/>
                  </a:lnTo>
                  <a:close/>
                </a:path>
              </a:pathLst>
            </a:custGeom>
            <a:solidFill>
              <a:srgbClr val="F4F4F4"/>
            </a:solidFill>
            <a:ln>
              <a:noFill/>
            </a:ln>
          </p:spPr>
        </p:sp>
        <p:sp>
          <p:nvSpPr>
            <p:cNvPr id="1583" name="Google Shape;1583;p31"/>
            <p:cNvSpPr/>
            <p:nvPr/>
          </p:nvSpPr>
          <p:spPr>
            <a:xfrm>
              <a:off x="0" y="0"/>
              <a:ext cx="23190200" cy="1000760"/>
            </a:xfrm>
            <a:custGeom>
              <a:rect b="b" l="l" r="r" t="t"/>
              <a:pathLst>
                <a:path extrusionOk="0" h="1000760" w="23190200">
                  <a:moveTo>
                    <a:pt x="12700" y="0"/>
                  </a:moveTo>
                  <a:lnTo>
                    <a:pt x="23177500" y="0"/>
                  </a:lnTo>
                  <a:cubicBezTo>
                    <a:pt x="23184486" y="0"/>
                    <a:pt x="23190200" y="5715"/>
                    <a:pt x="23190200" y="12700"/>
                  </a:cubicBezTo>
                  <a:lnTo>
                    <a:pt x="23190200" y="988060"/>
                  </a:lnTo>
                  <a:cubicBezTo>
                    <a:pt x="23190200" y="995045"/>
                    <a:pt x="23184486" y="1000760"/>
                    <a:pt x="23177500" y="1000760"/>
                  </a:cubicBezTo>
                  <a:lnTo>
                    <a:pt x="12700" y="1000760"/>
                  </a:lnTo>
                  <a:cubicBezTo>
                    <a:pt x="5715" y="1000760"/>
                    <a:pt x="0" y="995045"/>
                    <a:pt x="0" y="988060"/>
                  </a:cubicBezTo>
                  <a:lnTo>
                    <a:pt x="0" y="12700"/>
                  </a:lnTo>
                  <a:cubicBezTo>
                    <a:pt x="0" y="5715"/>
                    <a:pt x="5715" y="0"/>
                    <a:pt x="12700" y="0"/>
                  </a:cubicBezTo>
                  <a:moveTo>
                    <a:pt x="12700" y="25400"/>
                  </a:moveTo>
                  <a:lnTo>
                    <a:pt x="12700" y="12700"/>
                  </a:lnTo>
                  <a:lnTo>
                    <a:pt x="25400" y="12700"/>
                  </a:lnTo>
                  <a:lnTo>
                    <a:pt x="25400" y="988060"/>
                  </a:lnTo>
                  <a:lnTo>
                    <a:pt x="12700" y="988060"/>
                  </a:lnTo>
                  <a:lnTo>
                    <a:pt x="12700" y="975360"/>
                  </a:lnTo>
                  <a:lnTo>
                    <a:pt x="23177500" y="975360"/>
                  </a:lnTo>
                  <a:lnTo>
                    <a:pt x="23177500" y="988060"/>
                  </a:lnTo>
                  <a:lnTo>
                    <a:pt x="23164800" y="98806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4" name="Google Shape;1584;p31"/>
          <p:cNvGrpSpPr/>
          <p:nvPr/>
        </p:nvGrpSpPr>
        <p:grpSpPr>
          <a:xfrm>
            <a:off x="640080" y="4719161"/>
            <a:ext cx="17007840" cy="620935"/>
            <a:chOff x="0" y="-47625"/>
            <a:chExt cx="22677120" cy="827913"/>
          </a:xfrm>
        </p:grpSpPr>
        <p:sp>
          <p:nvSpPr>
            <p:cNvPr id="1585" name="Google Shape;1585;p31"/>
            <p:cNvSpPr/>
            <p:nvPr/>
          </p:nvSpPr>
          <p:spPr>
            <a:xfrm>
              <a:off x="0" y="0"/>
              <a:ext cx="22677120" cy="780288"/>
            </a:xfrm>
            <a:custGeom>
              <a:rect b="b" l="l" r="r" t="t"/>
              <a:pathLst>
                <a:path extrusionOk="0" h="780288" w="22677120">
                  <a:moveTo>
                    <a:pt x="0" y="0"/>
                  </a:moveTo>
                  <a:lnTo>
                    <a:pt x="22677120" y="0"/>
                  </a:lnTo>
                  <a:lnTo>
                    <a:pt x="22677120" y="780288"/>
                  </a:lnTo>
                  <a:lnTo>
                    <a:pt x="0" y="780288"/>
                  </a:lnTo>
                  <a:close/>
                </a:path>
              </a:pathLst>
            </a:custGeom>
            <a:blipFill rotWithShape="1">
              <a:blip r:embed="rId3">
                <a:alphaModFix amt="0"/>
              </a:blip>
              <a:stretch>
                <a:fillRect b="-516251" l="0" r="0" t="-516251"/>
              </a:stretch>
            </a:blipFill>
            <a:ln>
              <a:noFill/>
            </a:ln>
          </p:spPr>
        </p:sp>
        <p:sp>
          <p:nvSpPr>
            <p:cNvPr id="1586" name="Google Shape;1586;p31"/>
            <p:cNvSpPr txBox="1"/>
            <p:nvPr/>
          </p:nvSpPr>
          <p:spPr>
            <a:xfrm>
              <a:off x="0" y="-47625"/>
              <a:ext cx="2267712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Büyük veri teknolojileri birbirine entegre çalışır — Docker olmadan Kafka, Kafka olmadan Spark düşünülemez.</a:t>
              </a:r>
              <a:endParaRPr/>
            </a:p>
          </p:txBody>
        </p:sp>
      </p:grpSp>
      <p:grpSp>
        <p:nvGrpSpPr>
          <p:cNvPr id="1587" name="Google Shape;1587;p31"/>
          <p:cNvGrpSpPr/>
          <p:nvPr/>
        </p:nvGrpSpPr>
        <p:grpSpPr>
          <a:xfrm>
            <a:off x="447675" y="5531739"/>
            <a:ext cx="17392650" cy="750570"/>
            <a:chOff x="0" y="0"/>
            <a:chExt cx="23190200" cy="1000760"/>
          </a:xfrm>
        </p:grpSpPr>
        <p:sp>
          <p:nvSpPr>
            <p:cNvPr id="1588" name="Google Shape;1588;p31"/>
            <p:cNvSpPr/>
            <p:nvPr/>
          </p:nvSpPr>
          <p:spPr>
            <a:xfrm>
              <a:off x="12700" y="12700"/>
              <a:ext cx="23164800" cy="975360"/>
            </a:xfrm>
            <a:custGeom>
              <a:rect b="b" l="l" r="r" t="t"/>
              <a:pathLst>
                <a:path extrusionOk="0" h="975360" w="23164800">
                  <a:moveTo>
                    <a:pt x="0" y="0"/>
                  </a:moveTo>
                  <a:lnTo>
                    <a:pt x="23164800" y="0"/>
                  </a:lnTo>
                  <a:lnTo>
                    <a:pt x="23164800" y="975360"/>
                  </a:lnTo>
                  <a:lnTo>
                    <a:pt x="0" y="975360"/>
                  </a:lnTo>
                  <a:close/>
                </a:path>
              </a:pathLst>
            </a:custGeom>
            <a:solidFill>
              <a:srgbClr val="FFFFFF"/>
            </a:solidFill>
            <a:ln>
              <a:noFill/>
            </a:ln>
          </p:spPr>
        </p:sp>
        <p:sp>
          <p:nvSpPr>
            <p:cNvPr id="1589" name="Google Shape;1589;p31"/>
            <p:cNvSpPr/>
            <p:nvPr/>
          </p:nvSpPr>
          <p:spPr>
            <a:xfrm>
              <a:off x="0" y="0"/>
              <a:ext cx="23190200" cy="1000760"/>
            </a:xfrm>
            <a:custGeom>
              <a:rect b="b" l="l" r="r" t="t"/>
              <a:pathLst>
                <a:path extrusionOk="0" h="1000760" w="23190200">
                  <a:moveTo>
                    <a:pt x="12700" y="0"/>
                  </a:moveTo>
                  <a:lnTo>
                    <a:pt x="23177500" y="0"/>
                  </a:lnTo>
                  <a:cubicBezTo>
                    <a:pt x="23184486" y="0"/>
                    <a:pt x="23190200" y="5715"/>
                    <a:pt x="23190200" y="12700"/>
                  </a:cubicBezTo>
                  <a:lnTo>
                    <a:pt x="23190200" y="988060"/>
                  </a:lnTo>
                  <a:cubicBezTo>
                    <a:pt x="23190200" y="995045"/>
                    <a:pt x="23184486" y="1000760"/>
                    <a:pt x="23177500" y="1000760"/>
                  </a:cubicBezTo>
                  <a:lnTo>
                    <a:pt x="12700" y="1000760"/>
                  </a:lnTo>
                  <a:cubicBezTo>
                    <a:pt x="5715" y="1000760"/>
                    <a:pt x="0" y="995045"/>
                    <a:pt x="0" y="988060"/>
                  </a:cubicBezTo>
                  <a:lnTo>
                    <a:pt x="0" y="12700"/>
                  </a:lnTo>
                  <a:cubicBezTo>
                    <a:pt x="0" y="5715"/>
                    <a:pt x="5715" y="0"/>
                    <a:pt x="12700" y="0"/>
                  </a:cubicBezTo>
                  <a:moveTo>
                    <a:pt x="12700" y="25400"/>
                  </a:moveTo>
                  <a:lnTo>
                    <a:pt x="12700" y="12700"/>
                  </a:lnTo>
                  <a:lnTo>
                    <a:pt x="25400" y="12700"/>
                  </a:lnTo>
                  <a:lnTo>
                    <a:pt x="25400" y="988060"/>
                  </a:lnTo>
                  <a:lnTo>
                    <a:pt x="12700" y="988060"/>
                  </a:lnTo>
                  <a:lnTo>
                    <a:pt x="12700" y="975360"/>
                  </a:lnTo>
                  <a:lnTo>
                    <a:pt x="23177500" y="975360"/>
                  </a:lnTo>
                  <a:lnTo>
                    <a:pt x="23177500" y="988060"/>
                  </a:lnTo>
                  <a:lnTo>
                    <a:pt x="23164800" y="98806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0" name="Google Shape;1590;p31"/>
          <p:cNvGrpSpPr/>
          <p:nvPr/>
        </p:nvGrpSpPr>
        <p:grpSpPr>
          <a:xfrm>
            <a:off x="640080" y="5560409"/>
            <a:ext cx="17007840" cy="620935"/>
            <a:chOff x="0" y="-47625"/>
            <a:chExt cx="22677120" cy="827913"/>
          </a:xfrm>
        </p:grpSpPr>
        <p:sp>
          <p:nvSpPr>
            <p:cNvPr id="1591" name="Google Shape;1591;p31"/>
            <p:cNvSpPr/>
            <p:nvPr/>
          </p:nvSpPr>
          <p:spPr>
            <a:xfrm>
              <a:off x="0" y="0"/>
              <a:ext cx="22677120" cy="780288"/>
            </a:xfrm>
            <a:custGeom>
              <a:rect b="b" l="l" r="r" t="t"/>
              <a:pathLst>
                <a:path extrusionOk="0" h="780288" w="22677120">
                  <a:moveTo>
                    <a:pt x="0" y="0"/>
                  </a:moveTo>
                  <a:lnTo>
                    <a:pt x="22677120" y="0"/>
                  </a:lnTo>
                  <a:lnTo>
                    <a:pt x="22677120" y="780288"/>
                  </a:lnTo>
                  <a:lnTo>
                    <a:pt x="0" y="780288"/>
                  </a:lnTo>
                  <a:close/>
                </a:path>
              </a:pathLst>
            </a:custGeom>
            <a:blipFill rotWithShape="1">
              <a:blip r:embed="rId3">
                <a:alphaModFix amt="0"/>
              </a:blip>
              <a:stretch>
                <a:fillRect b="-516251" l="0" r="0" t="-516251"/>
              </a:stretch>
            </a:blipFill>
            <a:ln>
              <a:noFill/>
            </a:ln>
          </p:spPr>
        </p:sp>
        <p:sp>
          <p:nvSpPr>
            <p:cNvPr id="1592" name="Google Shape;1592;p31"/>
            <p:cNvSpPr txBox="1"/>
            <p:nvPr/>
          </p:nvSpPr>
          <p:spPr>
            <a:xfrm>
              <a:off x="0" y="-47625"/>
              <a:ext cx="2267712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Feature Engineering ML başarısını doğrudan etkiler — en etkili özellikler: popularity, danceability, instrumentalness.</a:t>
              </a:r>
              <a:endParaRPr/>
            </a:p>
          </p:txBody>
        </p:sp>
      </p:grpSp>
      <p:grpSp>
        <p:nvGrpSpPr>
          <p:cNvPr id="1593" name="Google Shape;1593;p31"/>
          <p:cNvGrpSpPr/>
          <p:nvPr/>
        </p:nvGrpSpPr>
        <p:grpSpPr>
          <a:xfrm>
            <a:off x="447675" y="6372987"/>
            <a:ext cx="17392650" cy="750570"/>
            <a:chOff x="0" y="0"/>
            <a:chExt cx="23190200" cy="1000760"/>
          </a:xfrm>
        </p:grpSpPr>
        <p:sp>
          <p:nvSpPr>
            <p:cNvPr id="1594" name="Google Shape;1594;p31"/>
            <p:cNvSpPr/>
            <p:nvPr/>
          </p:nvSpPr>
          <p:spPr>
            <a:xfrm>
              <a:off x="12700" y="12700"/>
              <a:ext cx="23164800" cy="975360"/>
            </a:xfrm>
            <a:custGeom>
              <a:rect b="b" l="l" r="r" t="t"/>
              <a:pathLst>
                <a:path extrusionOk="0" h="975360" w="23164800">
                  <a:moveTo>
                    <a:pt x="0" y="0"/>
                  </a:moveTo>
                  <a:lnTo>
                    <a:pt x="23164800" y="0"/>
                  </a:lnTo>
                  <a:lnTo>
                    <a:pt x="23164800" y="975360"/>
                  </a:lnTo>
                  <a:lnTo>
                    <a:pt x="0" y="975360"/>
                  </a:lnTo>
                  <a:close/>
                </a:path>
              </a:pathLst>
            </a:custGeom>
            <a:solidFill>
              <a:srgbClr val="F4F4F4"/>
            </a:solidFill>
            <a:ln>
              <a:noFill/>
            </a:ln>
          </p:spPr>
        </p:sp>
        <p:sp>
          <p:nvSpPr>
            <p:cNvPr id="1595" name="Google Shape;1595;p31"/>
            <p:cNvSpPr/>
            <p:nvPr/>
          </p:nvSpPr>
          <p:spPr>
            <a:xfrm>
              <a:off x="0" y="0"/>
              <a:ext cx="23190200" cy="1000760"/>
            </a:xfrm>
            <a:custGeom>
              <a:rect b="b" l="l" r="r" t="t"/>
              <a:pathLst>
                <a:path extrusionOk="0" h="1000760" w="23190200">
                  <a:moveTo>
                    <a:pt x="12700" y="0"/>
                  </a:moveTo>
                  <a:lnTo>
                    <a:pt x="23177500" y="0"/>
                  </a:lnTo>
                  <a:cubicBezTo>
                    <a:pt x="23184486" y="0"/>
                    <a:pt x="23190200" y="5715"/>
                    <a:pt x="23190200" y="12700"/>
                  </a:cubicBezTo>
                  <a:lnTo>
                    <a:pt x="23190200" y="988060"/>
                  </a:lnTo>
                  <a:cubicBezTo>
                    <a:pt x="23190200" y="995045"/>
                    <a:pt x="23184486" y="1000760"/>
                    <a:pt x="23177500" y="1000760"/>
                  </a:cubicBezTo>
                  <a:lnTo>
                    <a:pt x="12700" y="1000760"/>
                  </a:lnTo>
                  <a:cubicBezTo>
                    <a:pt x="5715" y="1000760"/>
                    <a:pt x="0" y="995045"/>
                    <a:pt x="0" y="988060"/>
                  </a:cubicBezTo>
                  <a:lnTo>
                    <a:pt x="0" y="12700"/>
                  </a:lnTo>
                  <a:cubicBezTo>
                    <a:pt x="0" y="5715"/>
                    <a:pt x="5715" y="0"/>
                    <a:pt x="12700" y="0"/>
                  </a:cubicBezTo>
                  <a:moveTo>
                    <a:pt x="12700" y="25400"/>
                  </a:moveTo>
                  <a:lnTo>
                    <a:pt x="12700" y="12700"/>
                  </a:lnTo>
                  <a:lnTo>
                    <a:pt x="25400" y="12700"/>
                  </a:lnTo>
                  <a:lnTo>
                    <a:pt x="25400" y="988060"/>
                  </a:lnTo>
                  <a:lnTo>
                    <a:pt x="12700" y="988060"/>
                  </a:lnTo>
                  <a:lnTo>
                    <a:pt x="12700" y="975360"/>
                  </a:lnTo>
                  <a:lnTo>
                    <a:pt x="23177500" y="975360"/>
                  </a:lnTo>
                  <a:lnTo>
                    <a:pt x="23177500" y="988060"/>
                  </a:lnTo>
                  <a:lnTo>
                    <a:pt x="23164800" y="98806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6" name="Google Shape;1596;p31"/>
          <p:cNvGrpSpPr/>
          <p:nvPr/>
        </p:nvGrpSpPr>
        <p:grpSpPr>
          <a:xfrm>
            <a:off x="640080" y="6401657"/>
            <a:ext cx="17007840" cy="620935"/>
            <a:chOff x="0" y="-47625"/>
            <a:chExt cx="22677120" cy="827913"/>
          </a:xfrm>
        </p:grpSpPr>
        <p:sp>
          <p:nvSpPr>
            <p:cNvPr id="1597" name="Google Shape;1597;p31"/>
            <p:cNvSpPr/>
            <p:nvPr/>
          </p:nvSpPr>
          <p:spPr>
            <a:xfrm>
              <a:off x="0" y="0"/>
              <a:ext cx="22677120" cy="780288"/>
            </a:xfrm>
            <a:custGeom>
              <a:rect b="b" l="l" r="r" t="t"/>
              <a:pathLst>
                <a:path extrusionOk="0" h="780288" w="22677120">
                  <a:moveTo>
                    <a:pt x="0" y="0"/>
                  </a:moveTo>
                  <a:lnTo>
                    <a:pt x="22677120" y="0"/>
                  </a:lnTo>
                  <a:lnTo>
                    <a:pt x="22677120" y="780288"/>
                  </a:lnTo>
                  <a:lnTo>
                    <a:pt x="0" y="780288"/>
                  </a:lnTo>
                  <a:close/>
                </a:path>
              </a:pathLst>
            </a:custGeom>
            <a:blipFill rotWithShape="1">
              <a:blip r:embed="rId3">
                <a:alphaModFix amt="0"/>
              </a:blip>
              <a:stretch>
                <a:fillRect b="-516251" l="0" r="0" t="-516251"/>
              </a:stretch>
            </a:blipFill>
            <a:ln>
              <a:noFill/>
            </a:ln>
          </p:spPr>
        </p:sp>
        <p:sp>
          <p:nvSpPr>
            <p:cNvPr id="1598" name="Google Shape;1598;p31"/>
            <p:cNvSpPr txBox="1"/>
            <p:nvPr/>
          </p:nvSpPr>
          <p:spPr>
            <a:xfrm>
              <a:off x="0" y="-47625"/>
              <a:ext cx="2267712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MLflow olmadan 5 modeli karşılaştırmak çok daha zor olurdu — deney takibi vazgeçilmez.</a:t>
              </a:r>
              <a:endParaRPr/>
            </a:p>
          </p:txBody>
        </p:sp>
      </p:grpSp>
      <p:grpSp>
        <p:nvGrpSpPr>
          <p:cNvPr id="1599" name="Google Shape;1599;p31"/>
          <p:cNvGrpSpPr/>
          <p:nvPr/>
        </p:nvGrpSpPr>
        <p:grpSpPr>
          <a:xfrm>
            <a:off x="447675" y="7214235"/>
            <a:ext cx="17392650" cy="750570"/>
            <a:chOff x="0" y="0"/>
            <a:chExt cx="23190200" cy="1000760"/>
          </a:xfrm>
        </p:grpSpPr>
        <p:sp>
          <p:nvSpPr>
            <p:cNvPr id="1600" name="Google Shape;1600;p31"/>
            <p:cNvSpPr/>
            <p:nvPr/>
          </p:nvSpPr>
          <p:spPr>
            <a:xfrm>
              <a:off x="12700" y="12700"/>
              <a:ext cx="23164800" cy="975360"/>
            </a:xfrm>
            <a:custGeom>
              <a:rect b="b" l="l" r="r" t="t"/>
              <a:pathLst>
                <a:path extrusionOk="0" h="975360" w="23164800">
                  <a:moveTo>
                    <a:pt x="0" y="0"/>
                  </a:moveTo>
                  <a:lnTo>
                    <a:pt x="23164800" y="0"/>
                  </a:lnTo>
                  <a:lnTo>
                    <a:pt x="23164800" y="975360"/>
                  </a:lnTo>
                  <a:lnTo>
                    <a:pt x="0" y="975360"/>
                  </a:lnTo>
                  <a:close/>
                </a:path>
              </a:pathLst>
            </a:custGeom>
            <a:solidFill>
              <a:srgbClr val="FFFFFF"/>
            </a:solidFill>
            <a:ln>
              <a:noFill/>
            </a:ln>
          </p:spPr>
        </p:sp>
        <p:sp>
          <p:nvSpPr>
            <p:cNvPr id="1601" name="Google Shape;1601;p31"/>
            <p:cNvSpPr/>
            <p:nvPr/>
          </p:nvSpPr>
          <p:spPr>
            <a:xfrm>
              <a:off x="0" y="0"/>
              <a:ext cx="23190200" cy="1000760"/>
            </a:xfrm>
            <a:custGeom>
              <a:rect b="b" l="l" r="r" t="t"/>
              <a:pathLst>
                <a:path extrusionOk="0" h="1000760" w="23190200">
                  <a:moveTo>
                    <a:pt x="12700" y="0"/>
                  </a:moveTo>
                  <a:lnTo>
                    <a:pt x="23177500" y="0"/>
                  </a:lnTo>
                  <a:cubicBezTo>
                    <a:pt x="23184486" y="0"/>
                    <a:pt x="23190200" y="5715"/>
                    <a:pt x="23190200" y="12700"/>
                  </a:cubicBezTo>
                  <a:lnTo>
                    <a:pt x="23190200" y="988060"/>
                  </a:lnTo>
                  <a:cubicBezTo>
                    <a:pt x="23190200" y="995045"/>
                    <a:pt x="23184486" y="1000760"/>
                    <a:pt x="23177500" y="1000760"/>
                  </a:cubicBezTo>
                  <a:lnTo>
                    <a:pt x="12700" y="1000760"/>
                  </a:lnTo>
                  <a:cubicBezTo>
                    <a:pt x="5715" y="1000760"/>
                    <a:pt x="0" y="995045"/>
                    <a:pt x="0" y="988060"/>
                  </a:cubicBezTo>
                  <a:lnTo>
                    <a:pt x="0" y="12700"/>
                  </a:lnTo>
                  <a:cubicBezTo>
                    <a:pt x="0" y="5715"/>
                    <a:pt x="5715" y="0"/>
                    <a:pt x="12700" y="0"/>
                  </a:cubicBezTo>
                  <a:moveTo>
                    <a:pt x="12700" y="25400"/>
                  </a:moveTo>
                  <a:lnTo>
                    <a:pt x="12700" y="12700"/>
                  </a:lnTo>
                  <a:lnTo>
                    <a:pt x="25400" y="12700"/>
                  </a:lnTo>
                  <a:lnTo>
                    <a:pt x="25400" y="988060"/>
                  </a:lnTo>
                  <a:lnTo>
                    <a:pt x="12700" y="988060"/>
                  </a:lnTo>
                  <a:lnTo>
                    <a:pt x="12700" y="975360"/>
                  </a:lnTo>
                  <a:lnTo>
                    <a:pt x="23177500" y="975360"/>
                  </a:lnTo>
                  <a:lnTo>
                    <a:pt x="23177500" y="988060"/>
                  </a:lnTo>
                  <a:lnTo>
                    <a:pt x="23164800" y="98806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2" name="Google Shape;1602;p31"/>
          <p:cNvGrpSpPr/>
          <p:nvPr/>
        </p:nvGrpSpPr>
        <p:grpSpPr>
          <a:xfrm>
            <a:off x="640080" y="7242905"/>
            <a:ext cx="17007840" cy="620935"/>
            <a:chOff x="0" y="-47625"/>
            <a:chExt cx="22677120" cy="827913"/>
          </a:xfrm>
        </p:grpSpPr>
        <p:sp>
          <p:nvSpPr>
            <p:cNvPr id="1603" name="Google Shape;1603;p31"/>
            <p:cNvSpPr/>
            <p:nvPr/>
          </p:nvSpPr>
          <p:spPr>
            <a:xfrm>
              <a:off x="0" y="0"/>
              <a:ext cx="22677120" cy="780288"/>
            </a:xfrm>
            <a:custGeom>
              <a:rect b="b" l="l" r="r" t="t"/>
              <a:pathLst>
                <a:path extrusionOk="0" h="780288" w="22677120">
                  <a:moveTo>
                    <a:pt x="0" y="0"/>
                  </a:moveTo>
                  <a:lnTo>
                    <a:pt x="22677120" y="0"/>
                  </a:lnTo>
                  <a:lnTo>
                    <a:pt x="22677120" y="780288"/>
                  </a:lnTo>
                  <a:lnTo>
                    <a:pt x="0" y="780288"/>
                  </a:lnTo>
                  <a:close/>
                </a:path>
              </a:pathLst>
            </a:custGeom>
            <a:blipFill rotWithShape="1">
              <a:blip r:embed="rId3">
                <a:alphaModFix amt="0"/>
              </a:blip>
              <a:stretch>
                <a:fillRect b="-516251" l="0" r="0" t="-516251"/>
              </a:stretch>
            </a:blipFill>
            <a:ln>
              <a:noFill/>
            </a:ln>
          </p:spPr>
        </p:sp>
        <p:sp>
          <p:nvSpPr>
            <p:cNvPr id="1604" name="Google Shape;1604;p31"/>
            <p:cNvSpPr txBox="1"/>
            <p:nvPr/>
          </p:nvSpPr>
          <p:spPr>
            <a:xfrm>
              <a:off x="0" y="-47625"/>
              <a:ext cx="2267712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Delta Lake Bronze/Silver/Gold mimarisi veri güvenilirliğini ve tekrar edilebilirliği artırır.</a:t>
              </a:r>
              <a:endParaRPr/>
            </a:p>
          </p:txBody>
        </p:sp>
      </p:grpSp>
      <p:grpSp>
        <p:nvGrpSpPr>
          <p:cNvPr id="1605" name="Google Shape;1605;p31"/>
          <p:cNvGrpSpPr/>
          <p:nvPr/>
        </p:nvGrpSpPr>
        <p:grpSpPr>
          <a:xfrm>
            <a:off x="447675" y="8055483"/>
            <a:ext cx="17392650" cy="750570"/>
            <a:chOff x="0" y="0"/>
            <a:chExt cx="23190200" cy="1000760"/>
          </a:xfrm>
        </p:grpSpPr>
        <p:sp>
          <p:nvSpPr>
            <p:cNvPr id="1606" name="Google Shape;1606;p31"/>
            <p:cNvSpPr/>
            <p:nvPr/>
          </p:nvSpPr>
          <p:spPr>
            <a:xfrm>
              <a:off x="12700" y="12700"/>
              <a:ext cx="23164800" cy="975360"/>
            </a:xfrm>
            <a:custGeom>
              <a:rect b="b" l="l" r="r" t="t"/>
              <a:pathLst>
                <a:path extrusionOk="0" h="975360" w="23164800">
                  <a:moveTo>
                    <a:pt x="0" y="0"/>
                  </a:moveTo>
                  <a:lnTo>
                    <a:pt x="23164800" y="0"/>
                  </a:lnTo>
                  <a:lnTo>
                    <a:pt x="23164800" y="975360"/>
                  </a:lnTo>
                  <a:lnTo>
                    <a:pt x="0" y="975360"/>
                  </a:lnTo>
                  <a:close/>
                </a:path>
              </a:pathLst>
            </a:custGeom>
            <a:solidFill>
              <a:srgbClr val="F4F4F4"/>
            </a:solidFill>
            <a:ln>
              <a:noFill/>
            </a:ln>
          </p:spPr>
        </p:sp>
        <p:sp>
          <p:nvSpPr>
            <p:cNvPr id="1607" name="Google Shape;1607;p31"/>
            <p:cNvSpPr/>
            <p:nvPr/>
          </p:nvSpPr>
          <p:spPr>
            <a:xfrm>
              <a:off x="0" y="0"/>
              <a:ext cx="23190200" cy="1000760"/>
            </a:xfrm>
            <a:custGeom>
              <a:rect b="b" l="l" r="r" t="t"/>
              <a:pathLst>
                <a:path extrusionOk="0" h="1000760" w="23190200">
                  <a:moveTo>
                    <a:pt x="12700" y="0"/>
                  </a:moveTo>
                  <a:lnTo>
                    <a:pt x="23177500" y="0"/>
                  </a:lnTo>
                  <a:cubicBezTo>
                    <a:pt x="23184486" y="0"/>
                    <a:pt x="23190200" y="5715"/>
                    <a:pt x="23190200" y="12700"/>
                  </a:cubicBezTo>
                  <a:lnTo>
                    <a:pt x="23190200" y="988060"/>
                  </a:lnTo>
                  <a:cubicBezTo>
                    <a:pt x="23190200" y="995045"/>
                    <a:pt x="23184486" y="1000760"/>
                    <a:pt x="23177500" y="1000760"/>
                  </a:cubicBezTo>
                  <a:lnTo>
                    <a:pt x="12700" y="1000760"/>
                  </a:lnTo>
                  <a:cubicBezTo>
                    <a:pt x="5715" y="1000760"/>
                    <a:pt x="0" y="995045"/>
                    <a:pt x="0" y="988060"/>
                  </a:cubicBezTo>
                  <a:lnTo>
                    <a:pt x="0" y="12700"/>
                  </a:lnTo>
                  <a:cubicBezTo>
                    <a:pt x="0" y="5715"/>
                    <a:pt x="5715" y="0"/>
                    <a:pt x="12700" y="0"/>
                  </a:cubicBezTo>
                  <a:moveTo>
                    <a:pt x="12700" y="25400"/>
                  </a:moveTo>
                  <a:lnTo>
                    <a:pt x="12700" y="12700"/>
                  </a:lnTo>
                  <a:lnTo>
                    <a:pt x="25400" y="12700"/>
                  </a:lnTo>
                  <a:lnTo>
                    <a:pt x="25400" y="988060"/>
                  </a:lnTo>
                  <a:lnTo>
                    <a:pt x="12700" y="988060"/>
                  </a:lnTo>
                  <a:lnTo>
                    <a:pt x="12700" y="975360"/>
                  </a:lnTo>
                  <a:lnTo>
                    <a:pt x="23177500" y="975360"/>
                  </a:lnTo>
                  <a:lnTo>
                    <a:pt x="23177500" y="988060"/>
                  </a:lnTo>
                  <a:lnTo>
                    <a:pt x="23164800" y="988060"/>
                  </a:lnTo>
                  <a:lnTo>
                    <a:pt x="23164800" y="12700"/>
                  </a:lnTo>
                  <a:lnTo>
                    <a:pt x="23177500" y="12700"/>
                  </a:lnTo>
                  <a:lnTo>
                    <a:pt x="23177500" y="25400"/>
                  </a:lnTo>
                  <a:lnTo>
                    <a:pt x="12700" y="2540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8" name="Google Shape;1608;p31"/>
          <p:cNvGrpSpPr/>
          <p:nvPr/>
        </p:nvGrpSpPr>
        <p:grpSpPr>
          <a:xfrm>
            <a:off x="640080" y="8084153"/>
            <a:ext cx="17007840" cy="620935"/>
            <a:chOff x="0" y="-47625"/>
            <a:chExt cx="22677120" cy="827913"/>
          </a:xfrm>
        </p:grpSpPr>
        <p:sp>
          <p:nvSpPr>
            <p:cNvPr id="1609" name="Google Shape;1609;p31"/>
            <p:cNvSpPr/>
            <p:nvPr/>
          </p:nvSpPr>
          <p:spPr>
            <a:xfrm>
              <a:off x="0" y="0"/>
              <a:ext cx="22677120" cy="780288"/>
            </a:xfrm>
            <a:custGeom>
              <a:rect b="b" l="l" r="r" t="t"/>
              <a:pathLst>
                <a:path extrusionOk="0" h="780288" w="22677120">
                  <a:moveTo>
                    <a:pt x="0" y="0"/>
                  </a:moveTo>
                  <a:lnTo>
                    <a:pt x="22677120" y="0"/>
                  </a:lnTo>
                  <a:lnTo>
                    <a:pt x="22677120" y="780288"/>
                  </a:lnTo>
                  <a:lnTo>
                    <a:pt x="0" y="780288"/>
                  </a:lnTo>
                  <a:close/>
                </a:path>
              </a:pathLst>
            </a:custGeom>
            <a:blipFill rotWithShape="1">
              <a:blip r:embed="rId3">
                <a:alphaModFix amt="0"/>
              </a:blip>
              <a:stretch>
                <a:fillRect b="-516251" l="0" r="0" t="-516251"/>
              </a:stretch>
            </a:blipFill>
            <a:ln>
              <a:noFill/>
            </a:ln>
          </p:spPr>
        </p:sp>
        <p:sp>
          <p:nvSpPr>
            <p:cNvPr id="1610" name="Google Shape;1610;p31"/>
            <p:cNvSpPr txBox="1"/>
            <p:nvPr/>
          </p:nvSpPr>
          <p:spPr>
            <a:xfrm>
              <a:off x="0" y="-47625"/>
              <a:ext cx="22677120" cy="82791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100" u="none" cap="none" strike="noStrike">
                  <a:solidFill>
                    <a:srgbClr val="333333"/>
                  </a:solidFill>
                  <a:latin typeface="Calibri"/>
                  <a:ea typeface="Calibri"/>
                  <a:cs typeface="Calibri"/>
                  <a:sym typeface="Calibri"/>
                </a:rPr>
                <a:t>⚙️  Büyük veri ortamında bellek yönetimi kritik — model parametrelerini dikkatli ayarlamak gerekir.</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618" name="Shape 1618"/>
        <p:cNvGrpSpPr/>
        <p:nvPr/>
      </p:nvGrpSpPr>
      <p:grpSpPr>
        <a:xfrm>
          <a:off x="0" y="0"/>
          <a:ext cx="0" cy="0"/>
          <a:chOff x="0" y="0"/>
          <a:chExt cx="0" cy="0"/>
        </a:xfrm>
      </p:grpSpPr>
      <p:grpSp>
        <p:nvGrpSpPr>
          <p:cNvPr id="1619" name="Google Shape;1619;p32"/>
          <p:cNvGrpSpPr/>
          <p:nvPr/>
        </p:nvGrpSpPr>
        <p:grpSpPr>
          <a:xfrm>
            <a:off x="-12697" y="-12697"/>
            <a:ext cx="354520" cy="10312336"/>
            <a:chOff x="0" y="0"/>
            <a:chExt cx="472694" cy="13749782"/>
          </a:xfrm>
        </p:grpSpPr>
        <p:sp>
          <p:nvSpPr>
            <p:cNvPr id="1620" name="Google Shape;1620;p32"/>
            <p:cNvSpPr/>
            <p:nvPr/>
          </p:nvSpPr>
          <p:spPr>
            <a:xfrm>
              <a:off x="16891" y="16891"/>
              <a:ext cx="438912" cy="13715999"/>
            </a:xfrm>
            <a:custGeom>
              <a:rect b="b" l="l" r="r" t="t"/>
              <a:pathLst>
                <a:path extrusionOk="0" h="13715999" w="438912">
                  <a:moveTo>
                    <a:pt x="0" y="0"/>
                  </a:moveTo>
                  <a:lnTo>
                    <a:pt x="438912" y="0"/>
                  </a:lnTo>
                  <a:lnTo>
                    <a:pt x="438912" y="13715999"/>
                  </a:lnTo>
                  <a:lnTo>
                    <a:pt x="0" y="13715999"/>
                  </a:lnTo>
                  <a:close/>
                </a:path>
              </a:pathLst>
            </a:custGeom>
            <a:solidFill>
              <a:srgbClr val="1DB954"/>
            </a:solidFill>
            <a:ln>
              <a:noFill/>
            </a:ln>
          </p:spPr>
        </p:sp>
        <p:sp>
          <p:nvSpPr>
            <p:cNvPr id="1621" name="Google Shape;1621;p32"/>
            <p:cNvSpPr/>
            <p:nvPr/>
          </p:nvSpPr>
          <p:spPr>
            <a:xfrm>
              <a:off x="0" y="0"/>
              <a:ext cx="472694" cy="13749782"/>
            </a:xfrm>
            <a:custGeom>
              <a:rect b="b" l="l" r="r" t="t"/>
              <a:pathLst>
                <a:path extrusionOk="0" h="13749782" w="472694">
                  <a:moveTo>
                    <a:pt x="16891" y="0"/>
                  </a:moveTo>
                  <a:lnTo>
                    <a:pt x="455803" y="0"/>
                  </a:lnTo>
                  <a:cubicBezTo>
                    <a:pt x="465201" y="0"/>
                    <a:pt x="472694" y="7620"/>
                    <a:pt x="472694" y="16891"/>
                  </a:cubicBezTo>
                  <a:lnTo>
                    <a:pt x="472694" y="13732890"/>
                  </a:lnTo>
                  <a:cubicBezTo>
                    <a:pt x="472694" y="13742290"/>
                    <a:pt x="465074" y="13749782"/>
                    <a:pt x="455803"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455803" y="13716000"/>
                  </a:lnTo>
                  <a:lnTo>
                    <a:pt x="455803" y="13732890"/>
                  </a:lnTo>
                  <a:lnTo>
                    <a:pt x="438912" y="13732890"/>
                  </a:lnTo>
                  <a:lnTo>
                    <a:pt x="438912" y="16891"/>
                  </a:lnTo>
                  <a:lnTo>
                    <a:pt x="455803" y="16891"/>
                  </a:lnTo>
                  <a:lnTo>
                    <a:pt x="455803"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2" name="Google Shape;1622;p32"/>
          <p:cNvGrpSpPr/>
          <p:nvPr/>
        </p:nvGrpSpPr>
        <p:grpSpPr>
          <a:xfrm>
            <a:off x="731520" y="1707356"/>
            <a:ext cx="16459200" cy="1767364"/>
            <a:chOff x="0" y="-161925"/>
            <a:chExt cx="21945600" cy="2356485"/>
          </a:xfrm>
        </p:grpSpPr>
        <p:sp>
          <p:nvSpPr>
            <p:cNvPr id="1623" name="Google Shape;1623;p32"/>
            <p:cNvSpPr/>
            <p:nvPr/>
          </p:nvSpPr>
          <p:spPr>
            <a:xfrm>
              <a:off x="0" y="0"/>
              <a:ext cx="21945600" cy="2194560"/>
            </a:xfrm>
            <a:custGeom>
              <a:rect b="b" l="l" r="r" t="t"/>
              <a:pathLst>
                <a:path extrusionOk="0" h="2194560" w="21945600">
                  <a:moveTo>
                    <a:pt x="0" y="0"/>
                  </a:moveTo>
                  <a:lnTo>
                    <a:pt x="21945600" y="0"/>
                  </a:lnTo>
                  <a:lnTo>
                    <a:pt x="21945600" y="2194560"/>
                  </a:lnTo>
                  <a:lnTo>
                    <a:pt x="0" y="2194560"/>
                  </a:lnTo>
                  <a:close/>
                </a:path>
              </a:pathLst>
            </a:custGeom>
            <a:blipFill rotWithShape="1">
              <a:blip r:embed="rId3">
                <a:alphaModFix amt="0"/>
              </a:blip>
              <a:stretch>
                <a:fillRect b="-144856" l="0" r="0" t="-144856"/>
              </a:stretch>
            </a:blipFill>
            <a:ln>
              <a:noFill/>
            </a:ln>
          </p:spPr>
        </p:sp>
        <p:sp>
          <p:nvSpPr>
            <p:cNvPr id="1624" name="Google Shape;1624;p32"/>
            <p:cNvSpPr txBox="1"/>
            <p:nvPr/>
          </p:nvSpPr>
          <p:spPr>
            <a:xfrm>
              <a:off x="0" y="-161925"/>
              <a:ext cx="21945600" cy="235648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8400" u="none" cap="none" strike="noStrike">
                  <a:solidFill>
                    <a:srgbClr val="FFFFFF"/>
                  </a:solidFill>
                  <a:latin typeface="Calibri"/>
                  <a:ea typeface="Calibri"/>
                  <a:cs typeface="Calibri"/>
                  <a:sym typeface="Calibri"/>
                </a:rPr>
                <a:t>Teşekkürler 🎵</a:t>
              </a:r>
              <a:endParaRPr/>
            </a:p>
          </p:txBody>
        </p:sp>
      </p:grpSp>
      <p:grpSp>
        <p:nvGrpSpPr>
          <p:cNvPr id="1625" name="Google Shape;1625;p32"/>
          <p:cNvGrpSpPr/>
          <p:nvPr/>
        </p:nvGrpSpPr>
        <p:grpSpPr>
          <a:xfrm>
            <a:off x="731520" y="3509010"/>
            <a:ext cx="16459200" cy="1062990"/>
            <a:chOff x="0" y="-76200"/>
            <a:chExt cx="21945600" cy="1417320"/>
          </a:xfrm>
        </p:grpSpPr>
        <p:sp>
          <p:nvSpPr>
            <p:cNvPr id="1626" name="Google Shape;1626;p32"/>
            <p:cNvSpPr/>
            <p:nvPr/>
          </p:nvSpPr>
          <p:spPr>
            <a:xfrm>
              <a:off x="0" y="0"/>
              <a:ext cx="21945600" cy="1341120"/>
            </a:xfrm>
            <a:custGeom>
              <a:rect b="b" l="l" r="r" t="t"/>
              <a:pathLst>
                <a:path extrusionOk="0" h="1341120" w="21945600">
                  <a:moveTo>
                    <a:pt x="0" y="0"/>
                  </a:moveTo>
                  <a:lnTo>
                    <a:pt x="21945600" y="0"/>
                  </a:lnTo>
                  <a:lnTo>
                    <a:pt x="21945600" y="1341120"/>
                  </a:lnTo>
                  <a:lnTo>
                    <a:pt x="0" y="1341120"/>
                  </a:lnTo>
                  <a:close/>
                </a:path>
              </a:pathLst>
            </a:custGeom>
            <a:blipFill rotWithShape="1">
              <a:blip r:embed="rId3">
                <a:alphaModFix amt="0"/>
              </a:blip>
              <a:stretch>
                <a:fillRect b="-268837" l="0" r="0" t="-268837"/>
              </a:stretch>
            </a:blipFill>
            <a:ln>
              <a:noFill/>
            </a:ln>
          </p:spPr>
        </p:sp>
        <p:sp>
          <p:nvSpPr>
            <p:cNvPr id="1627" name="Google Shape;1627;p32"/>
            <p:cNvSpPr txBox="1"/>
            <p:nvPr/>
          </p:nvSpPr>
          <p:spPr>
            <a:xfrm>
              <a:off x="0" y="-76200"/>
              <a:ext cx="21945600"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4000" u="none" cap="none" strike="noStrike">
                  <a:solidFill>
                    <a:srgbClr val="1DB954"/>
                  </a:solidFill>
                  <a:latin typeface="Calibri"/>
                  <a:ea typeface="Calibri"/>
                  <a:cs typeface="Calibri"/>
                  <a:sym typeface="Calibri"/>
                </a:rPr>
                <a:t>Sorularınız için hazırız!</a:t>
              </a:r>
              <a:endParaRPr/>
            </a:p>
          </p:txBody>
        </p:sp>
      </p:grpSp>
      <p:grpSp>
        <p:nvGrpSpPr>
          <p:cNvPr id="1628" name="Google Shape;1628;p32"/>
          <p:cNvGrpSpPr/>
          <p:nvPr/>
        </p:nvGrpSpPr>
        <p:grpSpPr>
          <a:xfrm>
            <a:off x="718823" y="4833623"/>
            <a:ext cx="7340536" cy="116778"/>
            <a:chOff x="0" y="0"/>
            <a:chExt cx="9787382" cy="155704"/>
          </a:xfrm>
        </p:grpSpPr>
        <p:sp>
          <p:nvSpPr>
            <p:cNvPr id="1629" name="Google Shape;1629;p32"/>
            <p:cNvSpPr/>
            <p:nvPr/>
          </p:nvSpPr>
          <p:spPr>
            <a:xfrm>
              <a:off x="16891" y="16891"/>
              <a:ext cx="9753600" cy="121920"/>
            </a:xfrm>
            <a:custGeom>
              <a:rect b="b" l="l" r="r" t="t"/>
              <a:pathLst>
                <a:path extrusionOk="0" h="121920" w="9753600">
                  <a:moveTo>
                    <a:pt x="0" y="0"/>
                  </a:moveTo>
                  <a:lnTo>
                    <a:pt x="9753600" y="0"/>
                  </a:lnTo>
                  <a:lnTo>
                    <a:pt x="9753600" y="121920"/>
                  </a:lnTo>
                  <a:lnTo>
                    <a:pt x="0" y="121920"/>
                  </a:lnTo>
                  <a:close/>
                </a:path>
              </a:pathLst>
            </a:custGeom>
            <a:solidFill>
              <a:srgbClr val="1DB954"/>
            </a:solidFill>
            <a:ln>
              <a:noFill/>
            </a:ln>
          </p:spPr>
        </p:sp>
        <p:sp>
          <p:nvSpPr>
            <p:cNvPr id="1630" name="Google Shape;1630;p32"/>
            <p:cNvSpPr/>
            <p:nvPr/>
          </p:nvSpPr>
          <p:spPr>
            <a:xfrm>
              <a:off x="0" y="0"/>
              <a:ext cx="9787382" cy="155704"/>
            </a:xfrm>
            <a:custGeom>
              <a:rect b="b" l="l" r="r" t="t"/>
              <a:pathLst>
                <a:path extrusionOk="0" h="155704" w="9787382">
                  <a:moveTo>
                    <a:pt x="16891" y="0"/>
                  </a:moveTo>
                  <a:lnTo>
                    <a:pt x="9770491" y="0"/>
                  </a:lnTo>
                  <a:cubicBezTo>
                    <a:pt x="9779889" y="0"/>
                    <a:pt x="9787382" y="7620"/>
                    <a:pt x="9787382" y="16891"/>
                  </a:cubicBezTo>
                  <a:lnTo>
                    <a:pt x="9787382" y="138811"/>
                  </a:lnTo>
                  <a:cubicBezTo>
                    <a:pt x="9787382" y="148209"/>
                    <a:pt x="9779762" y="155702"/>
                    <a:pt x="977049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9770491" y="121920"/>
                  </a:lnTo>
                  <a:lnTo>
                    <a:pt x="9770491" y="138811"/>
                  </a:lnTo>
                  <a:lnTo>
                    <a:pt x="9753600" y="138811"/>
                  </a:lnTo>
                  <a:lnTo>
                    <a:pt x="9753600" y="16891"/>
                  </a:lnTo>
                  <a:lnTo>
                    <a:pt x="9770491" y="16891"/>
                  </a:lnTo>
                  <a:lnTo>
                    <a:pt x="9770491" y="33909"/>
                  </a:lnTo>
                  <a:lnTo>
                    <a:pt x="16891" y="33909"/>
                  </a:lnTo>
                  <a:close/>
                </a:path>
              </a:pathLst>
            </a:custGeom>
            <a:solidFill>
              <a:srgbClr val="1DB9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1" name="Google Shape;1631;p32"/>
          <p:cNvGrpSpPr/>
          <p:nvPr/>
        </p:nvGrpSpPr>
        <p:grpSpPr>
          <a:xfrm>
            <a:off x="731520" y="5183505"/>
            <a:ext cx="16459200" cy="613791"/>
            <a:chOff x="0" y="-38100"/>
            <a:chExt cx="21945600" cy="818388"/>
          </a:xfrm>
        </p:grpSpPr>
        <p:sp>
          <p:nvSpPr>
            <p:cNvPr id="1632" name="Google Shape;1632;p32"/>
            <p:cNvSpPr/>
            <p:nvPr/>
          </p:nvSpPr>
          <p:spPr>
            <a:xfrm>
              <a:off x="0" y="0"/>
              <a:ext cx="21945600" cy="780288"/>
            </a:xfrm>
            <a:custGeom>
              <a:rect b="b" l="l" r="r" t="t"/>
              <a:pathLst>
                <a:path extrusionOk="0" h="780288" w="21945600">
                  <a:moveTo>
                    <a:pt x="0" y="0"/>
                  </a:moveTo>
                  <a:lnTo>
                    <a:pt x="21945600" y="0"/>
                  </a:lnTo>
                  <a:lnTo>
                    <a:pt x="21945600" y="780288"/>
                  </a:lnTo>
                  <a:lnTo>
                    <a:pt x="0" y="780288"/>
                  </a:lnTo>
                  <a:close/>
                </a:path>
              </a:pathLst>
            </a:custGeom>
            <a:blipFill rotWithShape="1">
              <a:blip r:embed="rId3">
                <a:alphaModFix amt="0"/>
              </a:blip>
              <a:stretch>
                <a:fillRect b="-498005" l="0" r="0" t="-498005"/>
              </a:stretch>
            </a:blipFill>
            <a:ln>
              <a:noFill/>
            </a:ln>
          </p:spPr>
        </p:sp>
        <p:sp>
          <p:nvSpPr>
            <p:cNvPr id="1633" name="Google Shape;1633;p32"/>
            <p:cNvSpPr txBox="1"/>
            <p:nvPr/>
          </p:nvSpPr>
          <p:spPr>
            <a:xfrm>
              <a:off x="0" y="-38100"/>
              <a:ext cx="21945600" cy="818388"/>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0" i="0" lang="en-US" sz="2400" u="none" cap="none" strike="noStrike">
                  <a:solidFill>
                    <a:srgbClr val="AAAAAA"/>
                  </a:solidFill>
                  <a:latin typeface="Calibri"/>
                  <a:ea typeface="Calibri"/>
                  <a:cs typeface="Calibri"/>
                  <a:sym typeface="Calibri"/>
                </a:rPr>
                <a:t>🐙  GitHub: github.com/ceylinatli/spotify-bigdata-project</a:t>
              </a:r>
              <a:endParaRPr/>
            </a:p>
          </p:txBody>
        </p:sp>
      </p:grpSp>
      <p:grpSp>
        <p:nvGrpSpPr>
          <p:cNvPr id="1634" name="Google Shape;1634;p32"/>
          <p:cNvGrpSpPr/>
          <p:nvPr/>
        </p:nvGrpSpPr>
        <p:grpSpPr>
          <a:xfrm>
            <a:off x="731520" y="5878449"/>
            <a:ext cx="16459200" cy="613791"/>
            <a:chOff x="0" y="-38100"/>
            <a:chExt cx="21945600" cy="818388"/>
          </a:xfrm>
        </p:grpSpPr>
        <p:sp>
          <p:nvSpPr>
            <p:cNvPr id="1635" name="Google Shape;1635;p32"/>
            <p:cNvSpPr/>
            <p:nvPr/>
          </p:nvSpPr>
          <p:spPr>
            <a:xfrm>
              <a:off x="0" y="0"/>
              <a:ext cx="21945600" cy="780288"/>
            </a:xfrm>
            <a:custGeom>
              <a:rect b="b" l="l" r="r" t="t"/>
              <a:pathLst>
                <a:path extrusionOk="0" h="780288" w="21945600">
                  <a:moveTo>
                    <a:pt x="0" y="0"/>
                  </a:moveTo>
                  <a:lnTo>
                    <a:pt x="21945600" y="0"/>
                  </a:lnTo>
                  <a:lnTo>
                    <a:pt x="21945600" y="780288"/>
                  </a:lnTo>
                  <a:lnTo>
                    <a:pt x="0" y="780288"/>
                  </a:lnTo>
                  <a:close/>
                </a:path>
              </a:pathLst>
            </a:custGeom>
            <a:blipFill rotWithShape="1">
              <a:blip r:embed="rId3">
                <a:alphaModFix amt="0"/>
              </a:blip>
              <a:stretch>
                <a:fillRect b="-498005" l="0" r="0" t="-498005"/>
              </a:stretch>
            </a:blipFill>
            <a:ln>
              <a:noFill/>
            </a:ln>
          </p:spPr>
        </p:sp>
        <p:sp>
          <p:nvSpPr>
            <p:cNvPr id="1636" name="Google Shape;1636;p32"/>
            <p:cNvSpPr txBox="1"/>
            <p:nvPr/>
          </p:nvSpPr>
          <p:spPr>
            <a:xfrm>
              <a:off x="0" y="-38100"/>
              <a:ext cx="21945600" cy="818388"/>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0" i="0" lang="en-US" sz="2400" u="none" cap="none" strike="noStrike">
                  <a:solidFill>
                    <a:srgbClr val="AAAAAA"/>
                  </a:solidFill>
                  <a:latin typeface="Calibri"/>
                  <a:ea typeface="Calibri"/>
                  <a:cs typeface="Calibri"/>
                  <a:sym typeface="Calibri"/>
                </a:rPr>
                <a:t>📊  MLflow UI: localhost:5000</a:t>
              </a:r>
              <a:endParaRPr/>
            </a:p>
          </p:txBody>
        </p:sp>
      </p:grpSp>
      <p:grpSp>
        <p:nvGrpSpPr>
          <p:cNvPr id="1637" name="Google Shape;1637;p32"/>
          <p:cNvGrpSpPr/>
          <p:nvPr/>
        </p:nvGrpSpPr>
        <p:grpSpPr>
          <a:xfrm>
            <a:off x="731520" y="6573393"/>
            <a:ext cx="16459200" cy="613791"/>
            <a:chOff x="0" y="-38100"/>
            <a:chExt cx="21945600" cy="818388"/>
          </a:xfrm>
        </p:grpSpPr>
        <p:sp>
          <p:nvSpPr>
            <p:cNvPr id="1638" name="Google Shape;1638;p32"/>
            <p:cNvSpPr/>
            <p:nvPr/>
          </p:nvSpPr>
          <p:spPr>
            <a:xfrm>
              <a:off x="0" y="0"/>
              <a:ext cx="21945600" cy="780288"/>
            </a:xfrm>
            <a:custGeom>
              <a:rect b="b" l="l" r="r" t="t"/>
              <a:pathLst>
                <a:path extrusionOk="0" h="780288" w="21945600">
                  <a:moveTo>
                    <a:pt x="0" y="0"/>
                  </a:moveTo>
                  <a:lnTo>
                    <a:pt x="21945600" y="0"/>
                  </a:lnTo>
                  <a:lnTo>
                    <a:pt x="21945600" y="780288"/>
                  </a:lnTo>
                  <a:lnTo>
                    <a:pt x="0" y="780288"/>
                  </a:lnTo>
                  <a:close/>
                </a:path>
              </a:pathLst>
            </a:custGeom>
            <a:blipFill rotWithShape="1">
              <a:blip r:embed="rId3">
                <a:alphaModFix amt="0"/>
              </a:blip>
              <a:stretch>
                <a:fillRect b="-498005" l="0" r="0" t="-498005"/>
              </a:stretch>
            </a:blipFill>
            <a:ln>
              <a:noFill/>
            </a:ln>
          </p:spPr>
        </p:sp>
        <p:sp>
          <p:nvSpPr>
            <p:cNvPr id="1639" name="Google Shape;1639;p32"/>
            <p:cNvSpPr txBox="1"/>
            <p:nvPr/>
          </p:nvSpPr>
          <p:spPr>
            <a:xfrm>
              <a:off x="0" y="-38100"/>
              <a:ext cx="21945600" cy="818388"/>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None/>
              </a:pPr>
              <a:r>
                <a:rPr b="0" i="0" lang="en-US" sz="2400" u="none" cap="none" strike="noStrike">
                  <a:solidFill>
                    <a:srgbClr val="AAAAAA"/>
                  </a:solidFill>
                  <a:latin typeface="Calibri"/>
                  <a:ea typeface="Calibri"/>
                  <a:cs typeface="Calibri"/>
                  <a:sym typeface="Calibri"/>
                </a:rPr>
                <a:t>📓  Jupyter: localhost:8888</a:t>
              </a:r>
              <a:endParaRPr/>
            </a:p>
          </p:txBody>
        </p:sp>
      </p:grpSp>
      <p:grpSp>
        <p:nvGrpSpPr>
          <p:cNvPr id="1640" name="Google Shape;1640;p32"/>
          <p:cNvGrpSpPr/>
          <p:nvPr/>
        </p:nvGrpSpPr>
        <p:grpSpPr>
          <a:xfrm>
            <a:off x="731520" y="8383905"/>
            <a:ext cx="16459200" cy="577215"/>
            <a:chOff x="0" y="-38100"/>
            <a:chExt cx="21945600" cy="769620"/>
          </a:xfrm>
        </p:grpSpPr>
        <p:sp>
          <p:nvSpPr>
            <p:cNvPr id="1641" name="Google Shape;1641;p32"/>
            <p:cNvSpPr/>
            <p:nvPr/>
          </p:nvSpPr>
          <p:spPr>
            <a:xfrm>
              <a:off x="0" y="0"/>
              <a:ext cx="21945600" cy="731520"/>
            </a:xfrm>
            <a:custGeom>
              <a:rect b="b" l="l" r="r" t="t"/>
              <a:pathLst>
                <a:path extrusionOk="0" h="731520" w="21945600">
                  <a:moveTo>
                    <a:pt x="0" y="0"/>
                  </a:moveTo>
                  <a:lnTo>
                    <a:pt x="21945600" y="0"/>
                  </a:lnTo>
                  <a:lnTo>
                    <a:pt x="21945600" y="731520"/>
                  </a:lnTo>
                  <a:lnTo>
                    <a:pt x="0" y="731520"/>
                  </a:lnTo>
                  <a:close/>
                </a:path>
              </a:pathLst>
            </a:custGeom>
            <a:blipFill rotWithShape="1">
              <a:blip r:embed="rId3">
                <a:alphaModFix amt="0"/>
              </a:blip>
              <a:stretch>
                <a:fillRect b="-534522" l="0" r="0" t="-534522"/>
              </a:stretch>
            </a:blipFill>
            <a:ln>
              <a:noFill/>
            </a:ln>
          </p:spPr>
        </p:sp>
        <p:sp>
          <p:nvSpPr>
            <p:cNvPr id="1642" name="Google Shape;1642;p32"/>
            <p:cNvSpPr txBox="1"/>
            <p:nvPr/>
          </p:nvSpPr>
          <p:spPr>
            <a:xfrm>
              <a:off x="0" y="-38100"/>
              <a:ext cx="21945600" cy="7696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2000" u="none" cap="none" strike="noStrike">
                  <a:solidFill>
                    <a:srgbClr val="555555"/>
                  </a:solidFill>
                  <a:latin typeface="Calibri"/>
                  <a:ea typeface="Calibri"/>
                  <a:cs typeface="Calibri"/>
                  <a:sym typeface="Calibri"/>
                </a:rPr>
                <a:t>Büyük Veri Analizine Giriş  |  Dr. Ayşe Gül Eker  |  Mayıs 2026</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